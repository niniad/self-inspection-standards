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1.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4"/>
  </p:sldMasterIdLst>
  <p:notesMasterIdLst>
    <p:notesMasterId r:id="rId67"/>
  </p:notesMasterIdLst>
  <p:sldIdLst>
    <p:sldId id="460" r:id="rId5"/>
    <p:sldId id="532" r:id="rId6"/>
    <p:sldId id="463" r:id="rId7"/>
    <p:sldId id="483" r:id="rId8"/>
    <p:sldId id="499" r:id="rId9"/>
    <p:sldId id="536" r:id="rId10"/>
    <p:sldId id="528" r:id="rId11"/>
    <p:sldId id="537" r:id="rId12"/>
    <p:sldId id="468" r:id="rId13"/>
    <p:sldId id="465" r:id="rId14"/>
    <p:sldId id="500" r:id="rId15"/>
    <p:sldId id="540" r:id="rId16"/>
    <p:sldId id="469" r:id="rId17"/>
    <p:sldId id="470" r:id="rId18"/>
    <p:sldId id="525" r:id="rId19"/>
    <p:sldId id="471" r:id="rId20"/>
    <p:sldId id="502" r:id="rId21"/>
    <p:sldId id="524" r:id="rId22"/>
    <p:sldId id="511" r:id="rId23"/>
    <p:sldId id="514" r:id="rId24"/>
    <p:sldId id="515" r:id="rId25"/>
    <p:sldId id="518" r:id="rId26"/>
    <p:sldId id="534" r:id="rId27"/>
    <p:sldId id="533" r:id="rId28"/>
    <p:sldId id="472" r:id="rId29"/>
    <p:sldId id="542" r:id="rId30"/>
    <p:sldId id="473" r:id="rId31"/>
    <p:sldId id="485" r:id="rId32"/>
    <p:sldId id="474" r:id="rId33"/>
    <p:sldId id="467" r:id="rId34"/>
    <p:sldId id="561" r:id="rId35"/>
    <p:sldId id="565" r:id="rId36"/>
    <p:sldId id="563" r:id="rId37"/>
    <p:sldId id="477" r:id="rId38"/>
    <p:sldId id="560" r:id="rId39"/>
    <p:sldId id="478" r:id="rId40"/>
    <p:sldId id="482" r:id="rId41"/>
    <p:sldId id="522" r:id="rId42"/>
    <p:sldId id="520" r:id="rId43"/>
    <p:sldId id="516" r:id="rId44"/>
    <p:sldId id="539" r:id="rId45"/>
    <p:sldId id="479" r:id="rId46"/>
    <p:sldId id="480" r:id="rId47"/>
    <p:sldId id="513" r:id="rId48"/>
    <p:sldId id="496" r:id="rId49"/>
    <p:sldId id="559" r:id="rId50"/>
    <p:sldId id="543" r:id="rId51"/>
    <p:sldId id="544" r:id="rId52"/>
    <p:sldId id="545" r:id="rId53"/>
    <p:sldId id="546" r:id="rId54"/>
    <p:sldId id="547" r:id="rId55"/>
    <p:sldId id="548" r:id="rId56"/>
    <p:sldId id="549" r:id="rId57"/>
    <p:sldId id="550" r:id="rId58"/>
    <p:sldId id="551" r:id="rId59"/>
    <p:sldId id="552" r:id="rId60"/>
    <p:sldId id="553" r:id="rId61"/>
    <p:sldId id="554" r:id="rId62"/>
    <p:sldId id="555" r:id="rId63"/>
    <p:sldId id="556" r:id="rId64"/>
    <p:sldId id="557" r:id="rId65"/>
    <p:sldId id="456" r:id="rId66"/>
  </p:sldIdLst>
  <p:sldSz cx="12192000" cy="6858000"/>
  <p:notesSz cx="6858000" cy="9144000"/>
  <p:custDataLst>
    <p:tags r:id="rId68"/>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A073014-B63A-C805-781D-E4DD6E6E0214}" name="継太 熊捕" initials="継熊" userId="95d27f7bdf51c205" providerId="Windows Live"/>
  <p188:author id="{E723EF5A-5AE6-60CB-892A-AEC87E9AC41A}" name="作成者" initials="作成者" userId="作成者" providerId="None"/>
  <p188:author id="{F2289B92-0439-331A-CABE-9F67D1927513}" name="kumatori.k" initials="ku" userId="S::kumatori.k_ms02.jicpa.or.jp#ext#@airwatero365.onmicrosoft.com::c596f59a-9b76-4462-a12c-4d58f8526d9c" providerId="AD"/>
  <p188:author id="{BC47CFC7-B015-8A36-4B51-B435DCD891B4}" name="Fumito Yamada" initials="YF" userId="Fumito Yamad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DFB"/>
    <a:srgbClr val="B4D3DF"/>
    <a:srgbClr val="3D03FC"/>
    <a:srgbClr val="C7C7C7"/>
    <a:srgbClr val="FF9933"/>
    <a:srgbClr val="EFEBE4"/>
    <a:srgbClr val="FFCC99"/>
    <a:srgbClr val="FFCCCC"/>
    <a:srgbClr val="FF9966"/>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019BDA-A3CA-4761-8324-5571B75338E1}" v="1278" dt="2026-04-29T08:19:13.492"/>
    <p1510:client id="{48B0ED86-CFFE-4BD7-958F-4CE3D5F3CFA8}" v="450" dt="2026-04-29T08:35:03.446"/>
    <p1510:client id="{D9AAF092-A748-42DB-B428-C3EBCBF1D649}" v="2476" dt="2026-04-29T08:42:14.09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127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tags" Target="tags/tag1.xml"/><Relationship Id="rId7" Type="http://schemas.openxmlformats.org/officeDocument/2006/relationships/slide" Target="slides/slide3.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3613AB-4F79-45A8-91C7-3DF1E2118B03}" type="datetimeFigureOut">
              <a:rPr kumimoji="1" lang="ja-JP" altLang="en-US" smtClean="0"/>
              <a:t>2026/4/30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6E3CD4-BAE7-44E0-9DA9-C52FA6EAD41C}" type="slidenum">
              <a:rPr kumimoji="1" lang="ja-JP" altLang="en-US" smtClean="0"/>
              <a:t>‹#›</a:t>
            </a:fld>
            <a:endParaRPr kumimoji="1" lang="ja-JP" altLang="en-US"/>
          </a:p>
        </p:txBody>
      </p:sp>
    </p:spTree>
    <p:extLst>
      <p:ext uri="{BB962C8B-B14F-4D97-AF65-F5344CB8AC3E}">
        <p14:creationId xmlns:p14="http://schemas.microsoft.com/office/powerpoint/2010/main" val="41991225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a:t>
            </a:fld>
            <a:endParaRPr kumimoji="1" lang="ja-JP" altLang="en-US"/>
          </a:p>
        </p:txBody>
      </p:sp>
    </p:spTree>
    <p:extLst>
      <p:ext uri="{BB962C8B-B14F-4D97-AF65-F5344CB8AC3E}">
        <p14:creationId xmlns:p14="http://schemas.microsoft.com/office/powerpoint/2010/main" val="3488717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3</a:t>
            </a:fld>
            <a:endParaRPr kumimoji="1" lang="ja-JP" altLang="en-US"/>
          </a:p>
        </p:txBody>
      </p:sp>
    </p:spTree>
    <p:extLst>
      <p:ext uri="{BB962C8B-B14F-4D97-AF65-F5344CB8AC3E}">
        <p14:creationId xmlns:p14="http://schemas.microsoft.com/office/powerpoint/2010/main" val="3643621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5</a:t>
            </a:fld>
            <a:endParaRPr kumimoji="1" lang="ja-JP" altLang="en-US"/>
          </a:p>
        </p:txBody>
      </p:sp>
    </p:spTree>
    <p:extLst>
      <p:ext uri="{BB962C8B-B14F-4D97-AF65-F5344CB8AC3E}">
        <p14:creationId xmlns:p14="http://schemas.microsoft.com/office/powerpoint/2010/main" val="2769552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10</a:t>
            </a:fld>
            <a:endParaRPr kumimoji="1" lang="ja-JP" altLang="en-US"/>
          </a:p>
        </p:txBody>
      </p:sp>
    </p:spTree>
    <p:extLst>
      <p:ext uri="{BB962C8B-B14F-4D97-AF65-F5344CB8AC3E}">
        <p14:creationId xmlns:p14="http://schemas.microsoft.com/office/powerpoint/2010/main" val="567963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11</a:t>
            </a:fld>
            <a:endParaRPr kumimoji="1" lang="ja-JP" altLang="en-US"/>
          </a:p>
        </p:txBody>
      </p:sp>
    </p:spTree>
    <p:extLst>
      <p:ext uri="{BB962C8B-B14F-4D97-AF65-F5344CB8AC3E}">
        <p14:creationId xmlns:p14="http://schemas.microsoft.com/office/powerpoint/2010/main" val="1331329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D2B06-E42C-6526-4383-FCD8ACF0729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EB91B0-688A-9EBC-D705-3C54E9861BC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0BFFD93-70BA-EB7F-5C59-9DF87D83318D}"/>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E5B3AF3A-A6F6-9828-0022-12679F7C37A7}"/>
              </a:ext>
            </a:extLst>
          </p:cNvPr>
          <p:cNvSpPr>
            <a:spLocks noGrp="1"/>
          </p:cNvSpPr>
          <p:nvPr>
            <p:ph type="sldNum" sz="quarter" idx="5"/>
          </p:nvPr>
        </p:nvSpPr>
        <p:spPr/>
        <p:txBody>
          <a:bodyPr/>
          <a:lstStyle/>
          <a:p>
            <a:fld id="{C36E3CD4-BAE7-44E0-9DA9-C52FA6EAD41C}" type="slidenum">
              <a:rPr kumimoji="1" lang="ja-JP" altLang="en-US" smtClean="0"/>
              <a:t>12</a:t>
            </a:fld>
            <a:endParaRPr kumimoji="1" lang="ja-JP" altLang="en-US"/>
          </a:p>
        </p:txBody>
      </p:sp>
    </p:spTree>
    <p:extLst>
      <p:ext uri="{BB962C8B-B14F-4D97-AF65-F5344CB8AC3E}">
        <p14:creationId xmlns:p14="http://schemas.microsoft.com/office/powerpoint/2010/main" val="3990280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16</a:t>
            </a:fld>
            <a:endParaRPr kumimoji="1" lang="ja-JP" altLang="en-US"/>
          </a:p>
        </p:txBody>
      </p:sp>
    </p:spTree>
    <p:extLst>
      <p:ext uri="{BB962C8B-B14F-4D97-AF65-F5344CB8AC3E}">
        <p14:creationId xmlns:p14="http://schemas.microsoft.com/office/powerpoint/2010/main" val="20652988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17</a:t>
            </a:fld>
            <a:endParaRPr kumimoji="1" lang="ja-JP" altLang="en-US"/>
          </a:p>
        </p:txBody>
      </p:sp>
    </p:spTree>
    <p:extLst>
      <p:ext uri="{BB962C8B-B14F-4D97-AF65-F5344CB8AC3E}">
        <p14:creationId xmlns:p14="http://schemas.microsoft.com/office/powerpoint/2010/main" val="3192234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18</a:t>
            </a:fld>
            <a:endParaRPr kumimoji="1" lang="ja-JP" altLang="en-US"/>
          </a:p>
        </p:txBody>
      </p:sp>
    </p:spTree>
    <p:extLst>
      <p:ext uri="{BB962C8B-B14F-4D97-AF65-F5344CB8AC3E}">
        <p14:creationId xmlns:p14="http://schemas.microsoft.com/office/powerpoint/2010/main" val="9336635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23</a:t>
            </a:fld>
            <a:endParaRPr kumimoji="1" lang="ja-JP" altLang="en-US"/>
          </a:p>
        </p:txBody>
      </p:sp>
    </p:spTree>
    <p:extLst>
      <p:ext uri="{BB962C8B-B14F-4D97-AF65-F5344CB8AC3E}">
        <p14:creationId xmlns:p14="http://schemas.microsoft.com/office/powerpoint/2010/main" val="41607989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24</a:t>
            </a:fld>
            <a:endParaRPr kumimoji="1" lang="ja-JP" altLang="en-US"/>
          </a:p>
        </p:txBody>
      </p:sp>
    </p:spTree>
    <p:extLst>
      <p:ext uri="{BB962C8B-B14F-4D97-AF65-F5344CB8AC3E}">
        <p14:creationId xmlns:p14="http://schemas.microsoft.com/office/powerpoint/2010/main" val="23035226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25</a:t>
            </a:fld>
            <a:endParaRPr kumimoji="1" lang="ja-JP" altLang="en-US"/>
          </a:p>
        </p:txBody>
      </p:sp>
    </p:spTree>
    <p:extLst>
      <p:ext uri="{BB962C8B-B14F-4D97-AF65-F5344CB8AC3E}">
        <p14:creationId xmlns:p14="http://schemas.microsoft.com/office/powerpoint/2010/main" val="19520639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7519A-168C-9818-5723-796437A6EB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CFAD37D-D2A5-61B6-2A79-D60F6A98D9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208C923-A42E-F05B-8238-E6353CDD1C1A}"/>
              </a:ext>
            </a:extLst>
          </p:cNvPr>
          <p:cNvSpPr>
            <a:spLocks noGrp="1"/>
          </p:cNvSpPr>
          <p:nvPr>
            <p:ph type="body" idx="1"/>
          </p:nvPr>
        </p:nvSpPr>
        <p:spPr/>
        <p:txBody>
          <a:bodyPr/>
          <a:lstStyle/>
          <a:p>
            <a:endParaRPr kumimoji="1" lang="ja-JP" altLang="en-US">
              <a:highlight>
                <a:srgbClr val="FFFF00"/>
              </a:highlight>
            </a:endParaRPr>
          </a:p>
        </p:txBody>
      </p:sp>
      <p:sp>
        <p:nvSpPr>
          <p:cNvPr id="4" name="スライド番号プレースホルダー 3">
            <a:extLst>
              <a:ext uri="{FF2B5EF4-FFF2-40B4-BE49-F238E27FC236}">
                <a16:creationId xmlns:a16="http://schemas.microsoft.com/office/drawing/2014/main" id="{4E6D8314-C923-F323-0A44-F9A309942D7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6E3CD4-BAE7-44E0-9DA9-C52FA6EAD41C}" type="slidenum">
              <a:rPr kumimoji="1" lang="ja-JP" altLang="en-US" sz="1200" b="0" i="0" u="none" strike="noStrike" kern="1200" cap="none" spc="0" normalizeH="0" baseline="0" noProof="0" smtClean="0">
                <a:ln>
                  <a:noFill/>
                </a:ln>
                <a:solidFill>
                  <a:prstClr val="black"/>
                </a:solidFill>
                <a:effectLst/>
                <a:uLnTx/>
                <a:uFillTx/>
                <a:latin typeface="游ゴシック" panose="0211000402020202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1" lang="ja-JP" altLang="en-US" sz="12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endParaRPr>
          </a:p>
        </p:txBody>
      </p:sp>
    </p:spTree>
    <p:extLst>
      <p:ext uri="{BB962C8B-B14F-4D97-AF65-F5344CB8AC3E}">
        <p14:creationId xmlns:p14="http://schemas.microsoft.com/office/powerpoint/2010/main" val="39758823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28</a:t>
            </a:fld>
            <a:endParaRPr kumimoji="1" lang="ja-JP" altLang="en-US"/>
          </a:p>
        </p:txBody>
      </p:sp>
    </p:spTree>
    <p:extLst>
      <p:ext uri="{BB962C8B-B14F-4D97-AF65-F5344CB8AC3E}">
        <p14:creationId xmlns:p14="http://schemas.microsoft.com/office/powerpoint/2010/main" val="1090137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35</a:t>
            </a:fld>
            <a:endParaRPr kumimoji="1" lang="ja-JP" altLang="en-US"/>
          </a:p>
        </p:txBody>
      </p:sp>
    </p:spTree>
    <p:extLst>
      <p:ext uri="{BB962C8B-B14F-4D97-AF65-F5344CB8AC3E}">
        <p14:creationId xmlns:p14="http://schemas.microsoft.com/office/powerpoint/2010/main" val="3557421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38</a:t>
            </a:fld>
            <a:endParaRPr kumimoji="1" lang="ja-JP" altLang="en-US"/>
          </a:p>
        </p:txBody>
      </p:sp>
    </p:spTree>
    <p:extLst>
      <p:ext uri="{BB962C8B-B14F-4D97-AF65-F5344CB8AC3E}">
        <p14:creationId xmlns:p14="http://schemas.microsoft.com/office/powerpoint/2010/main" val="42609629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8D035-D2A7-B099-65A7-26CCF4D66A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D35D1-C179-A153-6F4F-42BA9F2738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3EBAF5B-A160-247F-1A50-37F6C3DF824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BB0455C-4383-46CA-96B0-2D843C0AD5A7}"/>
              </a:ext>
            </a:extLst>
          </p:cNvPr>
          <p:cNvSpPr>
            <a:spLocks noGrp="1"/>
          </p:cNvSpPr>
          <p:nvPr>
            <p:ph type="sldNum" sz="quarter" idx="5"/>
          </p:nvPr>
        </p:nvSpPr>
        <p:spPr/>
        <p:txBody>
          <a:bodyPr/>
          <a:lstStyle/>
          <a:p>
            <a:fld id="{C36E3CD4-BAE7-44E0-9DA9-C52FA6EAD41C}" type="slidenum">
              <a:rPr kumimoji="1" lang="ja-JP" altLang="en-US" smtClean="0"/>
              <a:t>39</a:t>
            </a:fld>
            <a:endParaRPr kumimoji="1" lang="ja-JP" altLang="en-US"/>
          </a:p>
        </p:txBody>
      </p:sp>
    </p:spTree>
    <p:extLst>
      <p:ext uri="{BB962C8B-B14F-4D97-AF65-F5344CB8AC3E}">
        <p14:creationId xmlns:p14="http://schemas.microsoft.com/office/powerpoint/2010/main" val="2129167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44</a:t>
            </a:fld>
            <a:endParaRPr kumimoji="1" lang="ja-JP" altLang="en-US"/>
          </a:p>
        </p:txBody>
      </p:sp>
    </p:spTree>
    <p:extLst>
      <p:ext uri="{BB962C8B-B14F-4D97-AF65-F5344CB8AC3E}">
        <p14:creationId xmlns:p14="http://schemas.microsoft.com/office/powerpoint/2010/main" val="3773886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45</a:t>
            </a:fld>
            <a:endParaRPr kumimoji="1" lang="ja-JP" altLang="en-US"/>
          </a:p>
        </p:txBody>
      </p:sp>
    </p:spTree>
    <p:extLst>
      <p:ext uri="{BB962C8B-B14F-4D97-AF65-F5344CB8AC3E}">
        <p14:creationId xmlns:p14="http://schemas.microsoft.com/office/powerpoint/2010/main" val="26934333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D4F20-0627-24A3-C874-4B051EBC3DE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72D0B19-48F1-C722-BECC-2FB94859C0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A31FFC7-8E17-0DE2-624C-B869522A78F6}"/>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3200494-74E5-EE0C-7A3B-D44B7B1B9D03}"/>
              </a:ext>
            </a:extLst>
          </p:cNvPr>
          <p:cNvSpPr>
            <a:spLocks noGrp="1"/>
          </p:cNvSpPr>
          <p:nvPr>
            <p:ph type="sldNum" sz="quarter" idx="5"/>
          </p:nvPr>
        </p:nvSpPr>
        <p:spPr/>
        <p:txBody>
          <a:bodyPr/>
          <a:lstStyle/>
          <a:p>
            <a:fld id="{C36E3CD4-BAE7-44E0-9DA9-C52FA6EAD41C}" type="slidenum">
              <a:rPr kumimoji="1" lang="ja-JP" altLang="en-US" smtClean="0"/>
              <a:t>46</a:t>
            </a:fld>
            <a:endParaRPr kumimoji="1" lang="ja-JP" altLang="en-US"/>
          </a:p>
        </p:txBody>
      </p:sp>
    </p:spTree>
    <p:extLst>
      <p:ext uri="{BB962C8B-B14F-4D97-AF65-F5344CB8AC3E}">
        <p14:creationId xmlns:p14="http://schemas.microsoft.com/office/powerpoint/2010/main" val="11950593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47</a:t>
            </a:fld>
            <a:endParaRPr kumimoji="1" lang="ja-JP" altLang="en-US"/>
          </a:p>
        </p:txBody>
      </p:sp>
    </p:spTree>
    <p:extLst>
      <p:ext uri="{BB962C8B-B14F-4D97-AF65-F5344CB8AC3E}">
        <p14:creationId xmlns:p14="http://schemas.microsoft.com/office/powerpoint/2010/main" val="1361662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48</a:t>
            </a:fld>
            <a:endParaRPr kumimoji="1" lang="ja-JP" altLang="en-US"/>
          </a:p>
        </p:txBody>
      </p:sp>
    </p:spTree>
    <p:extLst>
      <p:ext uri="{BB962C8B-B14F-4D97-AF65-F5344CB8AC3E}">
        <p14:creationId xmlns:p14="http://schemas.microsoft.com/office/powerpoint/2010/main" val="29517286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6E3CD4-BAE7-44E0-9DA9-C52FA6EAD41C}" type="slidenum">
              <a:rPr kumimoji="1" lang="ja-JP" altLang="en-US" smtClean="0"/>
              <a:t>49</a:t>
            </a:fld>
            <a:endParaRPr kumimoji="1" lang="ja-JP" altLang="en-US"/>
          </a:p>
        </p:txBody>
      </p:sp>
    </p:spTree>
    <p:extLst>
      <p:ext uri="{BB962C8B-B14F-4D97-AF65-F5344CB8AC3E}">
        <p14:creationId xmlns:p14="http://schemas.microsoft.com/office/powerpoint/2010/main" val="7175326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F96FF-9F91-88D7-BA81-881B8C1F58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A47F0B-5364-599A-E526-5A1B7C71DD3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B46892-0E7A-92DE-D570-914622E861CF}"/>
              </a:ext>
            </a:extLst>
          </p:cNvPr>
          <p:cNvSpPr>
            <a:spLocks noGrp="1"/>
          </p:cNvSpPr>
          <p:nvPr>
            <p:ph type="body" idx="1"/>
          </p:nvPr>
        </p:nvSpPr>
        <p:spPr/>
        <p:txBody>
          <a:bodyPr/>
          <a:lstStyle/>
          <a:p>
            <a:endParaRPr kumimoji="1" lang="en-US" altLang="ja-JP"/>
          </a:p>
          <a:p>
            <a:endParaRPr kumimoji="1" lang="ja-JP" altLang="en-US"/>
          </a:p>
        </p:txBody>
      </p:sp>
      <p:sp>
        <p:nvSpPr>
          <p:cNvPr id="4" name="スライド番号プレースホルダー 3">
            <a:extLst>
              <a:ext uri="{FF2B5EF4-FFF2-40B4-BE49-F238E27FC236}">
                <a16:creationId xmlns:a16="http://schemas.microsoft.com/office/drawing/2014/main" id="{5FA28BA2-37C9-7326-CC22-677ECF5C46D8}"/>
              </a:ext>
            </a:extLst>
          </p:cNvPr>
          <p:cNvSpPr>
            <a:spLocks noGrp="1"/>
          </p:cNvSpPr>
          <p:nvPr>
            <p:ph type="sldNum" sz="quarter" idx="5"/>
          </p:nvPr>
        </p:nvSpPr>
        <p:spPr/>
        <p:txBody>
          <a:bodyPr/>
          <a:lstStyle/>
          <a:p>
            <a:fld id="{C36E3CD4-BAE7-44E0-9DA9-C52FA6EAD41C}" type="slidenum">
              <a:rPr kumimoji="1" lang="ja-JP" altLang="en-US" smtClean="0"/>
              <a:t>50</a:t>
            </a:fld>
            <a:endParaRPr kumimoji="1" lang="ja-JP" altLang="en-US"/>
          </a:p>
        </p:txBody>
      </p:sp>
    </p:spTree>
    <p:extLst>
      <p:ext uri="{BB962C8B-B14F-4D97-AF65-F5344CB8AC3E}">
        <p14:creationId xmlns:p14="http://schemas.microsoft.com/office/powerpoint/2010/main" val="30171019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D6334-C197-9B9B-2EB5-E83109EA34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819E4B-560B-A6F1-A510-7C0C980E4CE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7B3190F-9F0B-75C0-819A-B943485D0C43}"/>
              </a:ext>
            </a:extLst>
          </p:cNvPr>
          <p:cNvSpPr>
            <a:spLocks noGrp="1"/>
          </p:cNvSpPr>
          <p:nvPr>
            <p:ph type="body" idx="1"/>
          </p:nvPr>
        </p:nvSpPr>
        <p:spPr>
          <a:xfrm>
            <a:off x="693751" y="4400550"/>
            <a:ext cx="5486400" cy="3600450"/>
          </a:xfrm>
        </p:spPr>
        <p:txBody>
          <a:bodyPr/>
          <a:lstStyle/>
          <a:p>
            <a:endParaRPr lang="en-US" altLang="ja-JP"/>
          </a:p>
        </p:txBody>
      </p:sp>
      <p:sp>
        <p:nvSpPr>
          <p:cNvPr id="4" name="スライド番号プレースホルダー 3">
            <a:extLst>
              <a:ext uri="{FF2B5EF4-FFF2-40B4-BE49-F238E27FC236}">
                <a16:creationId xmlns:a16="http://schemas.microsoft.com/office/drawing/2014/main" id="{680487E6-C334-D0F8-551A-91EEDA52F4F1}"/>
              </a:ext>
            </a:extLst>
          </p:cNvPr>
          <p:cNvSpPr>
            <a:spLocks noGrp="1"/>
          </p:cNvSpPr>
          <p:nvPr>
            <p:ph type="sldNum" sz="quarter" idx="5"/>
          </p:nvPr>
        </p:nvSpPr>
        <p:spPr/>
        <p:txBody>
          <a:bodyPr/>
          <a:lstStyle/>
          <a:p>
            <a:fld id="{C36E3CD4-BAE7-44E0-9DA9-C52FA6EAD41C}" type="slidenum">
              <a:rPr kumimoji="1" lang="ja-JP" altLang="en-US" smtClean="0"/>
              <a:t>51</a:t>
            </a:fld>
            <a:endParaRPr kumimoji="1" lang="ja-JP" altLang="en-US"/>
          </a:p>
        </p:txBody>
      </p:sp>
    </p:spTree>
    <p:extLst>
      <p:ext uri="{BB962C8B-B14F-4D97-AF65-F5344CB8AC3E}">
        <p14:creationId xmlns:p14="http://schemas.microsoft.com/office/powerpoint/2010/main" val="3372130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51759-F62A-528E-E643-6E14CFD202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D59B8E4-6A5A-1C52-BBAC-A8D64D4074C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7CBC4F0-CCCA-F48A-6AAB-0816E8C190A8}"/>
              </a:ext>
            </a:extLst>
          </p:cNvPr>
          <p:cNvSpPr>
            <a:spLocks noGrp="1"/>
          </p:cNvSpPr>
          <p:nvPr>
            <p:ph type="body" idx="1"/>
          </p:nvPr>
        </p:nvSpPr>
        <p:spPr/>
        <p:txBody>
          <a:bodyPr/>
          <a:lstStyle/>
          <a:p>
            <a:endParaRPr lang="en-US" altLang="ja-JP"/>
          </a:p>
        </p:txBody>
      </p:sp>
      <p:sp>
        <p:nvSpPr>
          <p:cNvPr id="4" name="スライド番号プレースホルダー 3">
            <a:extLst>
              <a:ext uri="{FF2B5EF4-FFF2-40B4-BE49-F238E27FC236}">
                <a16:creationId xmlns:a16="http://schemas.microsoft.com/office/drawing/2014/main" id="{755413E0-28E2-C7D7-875E-99816A82870F}"/>
              </a:ext>
            </a:extLst>
          </p:cNvPr>
          <p:cNvSpPr>
            <a:spLocks noGrp="1"/>
          </p:cNvSpPr>
          <p:nvPr>
            <p:ph type="sldNum" sz="quarter" idx="5"/>
          </p:nvPr>
        </p:nvSpPr>
        <p:spPr/>
        <p:txBody>
          <a:bodyPr/>
          <a:lstStyle/>
          <a:p>
            <a:fld id="{C36E3CD4-BAE7-44E0-9DA9-C52FA6EAD41C}" type="slidenum">
              <a:rPr kumimoji="1" lang="ja-JP" altLang="en-US" smtClean="0"/>
              <a:t>52</a:t>
            </a:fld>
            <a:endParaRPr kumimoji="1" lang="ja-JP" altLang="en-US"/>
          </a:p>
        </p:txBody>
      </p:sp>
    </p:spTree>
    <p:extLst>
      <p:ext uri="{BB962C8B-B14F-4D97-AF65-F5344CB8AC3E}">
        <p14:creationId xmlns:p14="http://schemas.microsoft.com/office/powerpoint/2010/main" val="40196072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B9E54-6878-CC4D-F35A-534624384F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DAA0EC-A776-1F1D-E2C8-6C555E8FB1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8DDC3A-ECD3-A884-954D-65AED00D051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1F8B9A47-5EDA-8B4D-9463-FF76D156BDD5}"/>
              </a:ext>
            </a:extLst>
          </p:cNvPr>
          <p:cNvSpPr>
            <a:spLocks noGrp="1"/>
          </p:cNvSpPr>
          <p:nvPr>
            <p:ph type="sldNum" sz="quarter" idx="5"/>
          </p:nvPr>
        </p:nvSpPr>
        <p:spPr/>
        <p:txBody>
          <a:bodyPr/>
          <a:lstStyle/>
          <a:p>
            <a:fld id="{C36E3CD4-BAE7-44E0-9DA9-C52FA6EAD41C}" type="slidenum">
              <a:rPr kumimoji="1" lang="ja-JP" altLang="en-US" smtClean="0"/>
              <a:t>53</a:t>
            </a:fld>
            <a:endParaRPr kumimoji="1" lang="ja-JP" altLang="en-US"/>
          </a:p>
        </p:txBody>
      </p:sp>
    </p:spTree>
    <p:extLst>
      <p:ext uri="{BB962C8B-B14F-4D97-AF65-F5344CB8AC3E}">
        <p14:creationId xmlns:p14="http://schemas.microsoft.com/office/powerpoint/2010/main" val="345550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6CC4D-89F7-81E2-F7C0-CCC17F7168C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9FF9AA-5812-A24B-DD33-0799371E8D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EB896B-88D6-77B0-F343-832C47FFEE24}"/>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456F5FF-77D8-D3B0-30CF-C9934F6A2AC4}"/>
              </a:ext>
            </a:extLst>
          </p:cNvPr>
          <p:cNvSpPr>
            <a:spLocks noGrp="1"/>
          </p:cNvSpPr>
          <p:nvPr>
            <p:ph type="sldNum" sz="quarter" idx="5"/>
          </p:nvPr>
        </p:nvSpPr>
        <p:spPr/>
        <p:txBody>
          <a:bodyPr/>
          <a:lstStyle/>
          <a:p>
            <a:fld id="{C36E3CD4-BAE7-44E0-9DA9-C52FA6EAD41C}" type="slidenum">
              <a:rPr kumimoji="1" lang="ja-JP" altLang="en-US" smtClean="0"/>
              <a:t>54</a:t>
            </a:fld>
            <a:endParaRPr kumimoji="1" lang="ja-JP" altLang="en-US"/>
          </a:p>
        </p:txBody>
      </p:sp>
    </p:spTree>
    <p:extLst>
      <p:ext uri="{BB962C8B-B14F-4D97-AF65-F5344CB8AC3E}">
        <p14:creationId xmlns:p14="http://schemas.microsoft.com/office/powerpoint/2010/main" val="28306504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BEA96-A5C9-56F2-6957-DADBA56CADA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9D699C-2189-3800-7E52-17759E8E6E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4EB0DDD-0DB6-0A38-477C-4F088140243F}"/>
              </a:ext>
            </a:extLst>
          </p:cNvPr>
          <p:cNvSpPr>
            <a:spLocks noGrp="1"/>
          </p:cNvSpPr>
          <p:nvPr>
            <p:ph type="body" idx="1"/>
          </p:nvPr>
        </p:nvSpPr>
        <p:spPr/>
        <p:txBody>
          <a:bodyPr/>
          <a:lstStyle/>
          <a:p>
            <a:endParaRPr lang="en-US" altLang="ja-JP"/>
          </a:p>
          <a:p>
            <a:endParaRPr lang="en-US" altLang="ja-JP"/>
          </a:p>
          <a:p>
            <a:endParaRPr lang="en-US" altLang="ja-JP"/>
          </a:p>
          <a:p>
            <a:endParaRPr lang="en-US" altLang="ja-JP"/>
          </a:p>
          <a:p>
            <a:endParaRPr lang="en-US" altLang="ja-JP"/>
          </a:p>
          <a:p>
            <a:endParaRPr lang="en-US" altLang="ja-JP"/>
          </a:p>
          <a:p>
            <a:endParaRPr kumimoji="1" lang="ja-JP" altLang="en-US"/>
          </a:p>
        </p:txBody>
      </p:sp>
      <p:sp>
        <p:nvSpPr>
          <p:cNvPr id="4" name="スライド番号プレースホルダー 3">
            <a:extLst>
              <a:ext uri="{FF2B5EF4-FFF2-40B4-BE49-F238E27FC236}">
                <a16:creationId xmlns:a16="http://schemas.microsoft.com/office/drawing/2014/main" id="{53586B86-807B-8F40-C864-6C637DE8C704}"/>
              </a:ext>
            </a:extLst>
          </p:cNvPr>
          <p:cNvSpPr>
            <a:spLocks noGrp="1"/>
          </p:cNvSpPr>
          <p:nvPr>
            <p:ph type="sldNum" sz="quarter" idx="5"/>
          </p:nvPr>
        </p:nvSpPr>
        <p:spPr/>
        <p:txBody>
          <a:bodyPr/>
          <a:lstStyle/>
          <a:p>
            <a:fld id="{C36E3CD4-BAE7-44E0-9DA9-C52FA6EAD41C}" type="slidenum">
              <a:rPr kumimoji="1" lang="ja-JP" altLang="en-US" smtClean="0"/>
              <a:t>55</a:t>
            </a:fld>
            <a:endParaRPr kumimoji="1" lang="ja-JP" altLang="en-US"/>
          </a:p>
        </p:txBody>
      </p:sp>
    </p:spTree>
    <p:extLst>
      <p:ext uri="{BB962C8B-B14F-4D97-AF65-F5344CB8AC3E}">
        <p14:creationId xmlns:p14="http://schemas.microsoft.com/office/powerpoint/2010/main" val="11550015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472A0-2BCA-7E38-0155-CB3ED59074F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093A24-04E5-4146-32BF-1D5785657F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CE1B02-D5D1-015F-39E5-D14C986AC16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8CFDC4B-46D7-9D53-20C6-E0A91C6D3779}"/>
              </a:ext>
            </a:extLst>
          </p:cNvPr>
          <p:cNvSpPr>
            <a:spLocks noGrp="1"/>
          </p:cNvSpPr>
          <p:nvPr>
            <p:ph type="sldNum" sz="quarter" idx="5"/>
          </p:nvPr>
        </p:nvSpPr>
        <p:spPr/>
        <p:txBody>
          <a:bodyPr/>
          <a:lstStyle/>
          <a:p>
            <a:fld id="{C36E3CD4-BAE7-44E0-9DA9-C52FA6EAD41C}" type="slidenum">
              <a:rPr kumimoji="1" lang="ja-JP" altLang="en-US" smtClean="0"/>
              <a:t>56</a:t>
            </a:fld>
            <a:endParaRPr kumimoji="1" lang="ja-JP" altLang="en-US"/>
          </a:p>
        </p:txBody>
      </p:sp>
    </p:spTree>
    <p:extLst>
      <p:ext uri="{BB962C8B-B14F-4D97-AF65-F5344CB8AC3E}">
        <p14:creationId xmlns:p14="http://schemas.microsoft.com/office/powerpoint/2010/main" val="37768629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2D7B3-3EA4-83D4-2682-39F428EE223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33C6A9-4495-F061-CD41-460117F5D79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C29AD87-1C1D-2B65-764C-DA8E26CD6E7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BDB1A94-1E6D-FFF0-7F40-5BF2A6936D8F}"/>
              </a:ext>
            </a:extLst>
          </p:cNvPr>
          <p:cNvSpPr>
            <a:spLocks noGrp="1"/>
          </p:cNvSpPr>
          <p:nvPr>
            <p:ph type="sldNum" sz="quarter" idx="5"/>
          </p:nvPr>
        </p:nvSpPr>
        <p:spPr/>
        <p:txBody>
          <a:bodyPr/>
          <a:lstStyle/>
          <a:p>
            <a:fld id="{C36E3CD4-BAE7-44E0-9DA9-C52FA6EAD41C}" type="slidenum">
              <a:rPr kumimoji="1" lang="ja-JP" altLang="en-US" smtClean="0"/>
              <a:t>57</a:t>
            </a:fld>
            <a:endParaRPr kumimoji="1" lang="ja-JP" altLang="en-US"/>
          </a:p>
        </p:txBody>
      </p:sp>
    </p:spTree>
    <p:extLst>
      <p:ext uri="{BB962C8B-B14F-4D97-AF65-F5344CB8AC3E}">
        <p14:creationId xmlns:p14="http://schemas.microsoft.com/office/powerpoint/2010/main" val="14107206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B72EF-25CE-F177-52B4-9A0BF1284B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0B5713D-ECB6-1E6D-6805-E0C005716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5564C78-471D-DD14-2EB6-97B3912165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a:p>
        </p:txBody>
      </p:sp>
      <p:sp>
        <p:nvSpPr>
          <p:cNvPr id="4" name="スライド番号プレースホルダー 3">
            <a:extLst>
              <a:ext uri="{FF2B5EF4-FFF2-40B4-BE49-F238E27FC236}">
                <a16:creationId xmlns:a16="http://schemas.microsoft.com/office/drawing/2014/main" id="{7B68DD67-3990-423C-7C3F-88599AA4D6BE}"/>
              </a:ext>
            </a:extLst>
          </p:cNvPr>
          <p:cNvSpPr>
            <a:spLocks noGrp="1"/>
          </p:cNvSpPr>
          <p:nvPr>
            <p:ph type="sldNum" sz="quarter" idx="5"/>
          </p:nvPr>
        </p:nvSpPr>
        <p:spPr/>
        <p:txBody>
          <a:bodyPr/>
          <a:lstStyle/>
          <a:p>
            <a:fld id="{C36E3CD4-BAE7-44E0-9DA9-C52FA6EAD41C}" type="slidenum">
              <a:rPr kumimoji="1" lang="ja-JP" altLang="en-US" smtClean="0"/>
              <a:t>58</a:t>
            </a:fld>
            <a:endParaRPr kumimoji="1" lang="ja-JP" altLang="en-US"/>
          </a:p>
        </p:txBody>
      </p:sp>
    </p:spTree>
    <p:extLst>
      <p:ext uri="{BB962C8B-B14F-4D97-AF65-F5344CB8AC3E}">
        <p14:creationId xmlns:p14="http://schemas.microsoft.com/office/powerpoint/2010/main" val="10544309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8FB2F-A128-8F5A-A36F-FF30BE3A1A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4B1CF59-C84F-D659-3776-B60B051A195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BCE030-7901-9ABD-2EEF-93B059EA52F7}"/>
              </a:ext>
            </a:extLst>
          </p:cNvPr>
          <p:cNvSpPr>
            <a:spLocks noGrp="1"/>
          </p:cNvSpPr>
          <p:nvPr>
            <p:ph type="body" idx="1"/>
          </p:nvPr>
        </p:nvSpPr>
        <p:spPr/>
        <p:txBody>
          <a:bodyPr/>
          <a:lstStyle/>
          <a:p>
            <a:endParaRPr lang="en-US" altLang="ja-JP"/>
          </a:p>
          <a:p>
            <a:endParaRPr lang="en-US" altLang="ja-JP"/>
          </a:p>
        </p:txBody>
      </p:sp>
      <p:sp>
        <p:nvSpPr>
          <p:cNvPr id="4" name="スライド番号プレースホルダー 3">
            <a:extLst>
              <a:ext uri="{FF2B5EF4-FFF2-40B4-BE49-F238E27FC236}">
                <a16:creationId xmlns:a16="http://schemas.microsoft.com/office/drawing/2014/main" id="{EFF55380-C5F3-3814-4354-CA3C4E80E2D3}"/>
              </a:ext>
            </a:extLst>
          </p:cNvPr>
          <p:cNvSpPr>
            <a:spLocks noGrp="1"/>
          </p:cNvSpPr>
          <p:nvPr>
            <p:ph type="sldNum" sz="quarter" idx="5"/>
          </p:nvPr>
        </p:nvSpPr>
        <p:spPr/>
        <p:txBody>
          <a:bodyPr/>
          <a:lstStyle/>
          <a:p>
            <a:fld id="{C36E3CD4-BAE7-44E0-9DA9-C52FA6EAD41C}" type="slidenum">
              <a:rPr kumimoji="1" lang="ja-JP" altLang="en-US" smtClean="0"/>
              <a:t>59</a:t>
            </a:fld>
            <a:endParaRPr kumimoji="1" lang="ja-JP" altLang="en-US"/>
          </a:p>
        </p:txBody>
      </p:sp>
    </p:spTree>
    <p:extLst>
      <p:ext uri="{BB962C8B-B14F-4D97-AF65-F5344CB8AC3E}">
        <p14:creationId xmlns:p14="http://schemas.microsoft.com/office/powerpoint/2010/main" val="41834788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C4297-CBD0-2EFB-C53A-8E1606823E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C2D462-921D-2CE3-C02A-46C19B75729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D74A0A-AAB5-F1E5-58AB-59ED92F5BA17}"/>
              </a:ext>
            </a:extLst>
          </p:cNvPr>
          <p:cNvSpPr>
            <a:spLocks noGrp="1"/>
          </p:cNvSpPr>
          <p:nvPr>
            <p:ph type="body" idx="1"/>
          </p:nvPr>
        </p:nvSpPr>
        <p:spPr/>
        <p:txBody>
          <a:bodyPr/>
          <a:lstStyle/>
          <a:p>
            <a:endParaRPr kumimoji="1" lang="ja-JP" altLang="en-US">
              <a:highlight>
                <a:srgbClr val="FFFF00"/>
              </a:highlight>
            </a:endParaRPr>
          </a:p>
        </p:txBody>
      </p:sp>
      <p:sp>
        <p:nvSpPr>
          <p:cNvPr id="4" name="スライド番号プレースホルダー 3">
            <a:extLst>
              <a:ext uri="{FF2B5EF4-FFF2-40B4-BE49-F238E27FC236}">
                <a16:creationId xmlns:a16="http://schemas.microsoft.com/office/drawing/2014/main" id="{F7FAFD75-A02C-AA45-0F5E-B52CB9C6CD99}"/>
              </a:ext>
            </a:extLst>
          </p:cNvPr>
          <p:cNvSpPr>
            <a:spLocks noGrp="1"/>
          </p:cNvSpPr>
          <p:nvPr>
            <p:ph type="sldNum" sz="quarter" idx="5"/>
          </p:nvPr>
        </p:nvSpPr>
        <p:spPr/>
        <p:txBody>
          <a:bodyPr/>
          <a:lstStyle/>
          <a:p>
            <a:fld id="{C36E3CD4-BAE7-44E0-9DA9-C52FA6EAD41C}" type="slidenum">
              <a:rPr kumimoji="1" lang="ja-JP" altLang="en-US" smtClean="0"/>
              <a:t>60</a:t>
            </a:fld>
            <a:endParaRPr kumimoji="1" lang="ja-JP" altLang="en-US"/>
          </a:p>
        </p:txBody>
      </p:sp>
    </p:spTree>
    <p:extLst>
      <p:ext uri="{BB962C8B-B14F-4D97-AF65-F5344CB8AC3E}">
        <p14:creationId xmlns:p14="http://schemas.microsoft.com/office/powerpoint/2010/main" val="25159146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C9FCD-D1EE-D55B-F854-EDDBC2CDF3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C4A313-0C58-9055-D7D7-87E9804E0AA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1E0127-804D-E40C-4165-72EFB1AC9DA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6EB37E3-1F71-870F-3FA7-CC401CC224D2}"/>
              </a:ext>
            </a:extLst>
          </p:cNvPr>
          <p:cNvSpPr>
            <a:spLocks noGrp="1"/>
          </p:cNvSpPr>
          <p:nvPr>
            <p:ph type="sldNum" sz="quarter" idx="5"/>
          </p:nvPr>
        </p:nvSpPr>
        <p:spPr/>
        <p:txBody>
          <a:bodyPr/>
          <a:lstStyle/>
          <a:p>
            <a:fld id="{C36E3CD4-BAE7-44E0-9DA9-C52FA6EAD41C}" type="slidenum">
              <a:rPr kumimoji="1" lang="ja-JP" altLang="en-US" smtClean="0"/>
              <a:t>61</a:t>
            </a:fld>
            <a:endParaRPr kumimoji="1" lang="ja-JP" altLang="en-US"/>
          </a:p>
        </p:txBody>
      </p:sp>
    </p:spTree>
    <p:extLst>
      <p:ext uri="{BB962C8B-B14F-4D97-AF65-F5344CB8AC3E}">
        <p14:creationId xmlns:p14="http://schemas.microsoft.com/office/powerpoint/2010/main" val="15991498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Master" Target="../slideMasters/slideMaster1.xml"/><Relationship Id="rId1" Type="http://schemas.openxmlformats.org/officeDocument/2006/relationships/themeOverride" Target="../theme/themeOverride3.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表紙">
    <p:spTree>
      <p:nvGrpSpPr>
        <p:cNvPr id="1" name=""/>
        <p:cNvGrpSpPr/>
        <p:nvPr/>
      </p:nvGrpSpPr>
      <p:grpSpPr>
        <a:xfrm>
          <a:off x="0" y="0"/>
          <a:ext cx="0" cy="0"/>
          <a:chOff x="0" y="0"/>
          <a:chExt cx="0" cy="0"/>
        </a:xfrm>
      </p:grpSpPr>
      <p:pic>
        <p:nvPicPr>
          <p:cNvPr id="5" name="背景">
            <a:extLst>
              <a:ext uri="{FF2B5EF4-FFF2-40B4-BE49-F238E27FC236}">
                <a16:creationId xmlns:a16="http://schemas.microsoft.com/office/drawing/2014/main" id="{6A80A0E6-B741-2B3B-DA81-176D216FC603}"/>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863" y="0"/>
            <a:ext cx="12182136" cy="6853783"/>
          </a:xfrm>
          <a:prstGeom prst="rect">
            <a:avLst/>
          </a:prstGeom>
        </p:spPr>
      </p:pic>
      <p:grpSp>
        <p:nvGrpSpPr>
          <p:cNvPr id="4" name="タイトル下線">
            <a:extLst>
              <a:ext uri="{FF2B5EF4-FFF2-40B4-BE49-F238E27FC236}">
                <a16:creationId xmlns:a16="http://schemas.microsoft.com/office/drawing/2014/main" id="{1BE0DBE2-9DB3-695D-696C-B2102051361C}"/>
              </a:ext>
            </a:extLst>
          </p:cNvPr>
          <p:cNvGrpSpPr/>
          <p:nvPr userDrawn="1"/>
        </p:nvGrpSpPr>
        <p:grpSpPr>
          <a:xfrm>
            <a:off x="236020" y="4754148"/>
            <a:ext cx="9540253" cy="0"/>
            <a:chOff x="515938" y="5489244"/>
            <a:chExt cx="9540253" cy="0"/>
          </a:xfrm>
        </p:grpSpPr>
        <p:cxnSp>
          <p:nvCxnSpPr>
            <p:cNvPr id="8" name="直線コネクタ 7">
              <a:extLst>
                <a:ext uri="{FF2B5EF4-FFF2-40B4-BE49-F238E27FC236}">
                  <a16:creationId xmlns:a16="http://schemas.microsoft.com/office/drawing/2014/main" id="{E95DB289-2C5E-5CC8-FACA-C920FC68513C}"/>
                </a:ext>
              </a:extLst>
            </p:cNvPr>
            <p:cNvCxnSpPr/>
            <p:nvPr userDrawn="1"/>
          </p:nvCxnSpPr>
          <p:spPr>
            <a:xfrm>
              <a:off x="515938" y="5489244"/>
              <a:ext cx="9529762" cy="0"/>
            </a:xfrm>
            <a:prstGeom prst="line">
              <a:avLst/>
            </a:prstGeom>
            <a:ln w="285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B62C3F24-769C-2C86-61AD-AF2347AA5B6F}"/>
                </a:ext>
              </a:extLst>
            </p:cNvPr>
            <p:cNvCxnSpPr>
              <a:cxnSpLocks/>
            </p:cNvCxnSpPr>
            <p:nvPr userDrawn="1"/>
          </p:nvCxnSpPr>
          <p:spPr>
            <a:xfrm>
              <a:off x="7049018" y="5489244"/>
              <a:ext cx="3007173" cy="0"/>
            </a:xfrm>
            <a:prstGeom prst="line">
              <a:avLst/>
            </a:prstGeom>
            <a:ln w="28575" cap="rnd">
              <a:solidFill>
                <a:srgbClr val="9192E1"/>
              </a:solidFill>
              <a:round/>
            </a:ln>
          </p:spPr>
          <p:style>
            <a:lnRef idx="1">
              <a:schemeClr val="accent1"/>
            </a:lnRef>
            <a:fillRef idx="0">
              <a:schemeClr val="accent1"/>
            </a:fillRef>
            <a:effectRef idx="0">
              <a:schemeClr val="accent1"/>
            </a:effectRef>
            <a:fontRef idx="minor">
              <a:schemeClr val="tx1"/>
            </a:fontRef>
          </p:style>
        </p:cxnSp>
      </p:grpSp>
      <p:sp>
        <p:nvSpPr>
          <p:cNvPr id="2" name="テキスト ボックス 1">
            <a:extLst>
              <a:ext uri="{FF2B5EF4-FFF2-40B4-BE49-F238E27FC236}">
                <a16:creationId xmlns:a16="http://schemas.microsoft.com/office/drawing/2014/main" id="{39AF791D-8392-AD5D-FCC1-8DBBA8CF6468}"/>
              </a:ext>
            </a:extLst>
          </p:cNvPr>
          <p:cNvSpPr txBox="1"/>
          <p:nvPr userDrawn="1"/>
        </p:nvSpPr>
        <p:spPr>
          <a:xfrm>
            <a:off x="236020" y="69211"/>
            <a:ext cx="1899736" cy="296607"/>
          </a:xfrm>
          <a:prstGeom prst="roundRect">
            <a:avLst/>
          </a:prstGeom>
          <a:solidFill>
            <a:schemeClr val="bg1"/>
          </a:solidFill>
          <a:ln w="19050">
            <a:solidFill>
              <a:srgbClr val="C00000">
                <a:alpha val="81176"/>
              </a:srgbClr>
            </a:solidFill>
          </a:ln>
        </p:spPr>
        <p:txBody>
          <a:bodyPr wrap="square" lIns="0" tIns="0" rIns="0" bIns="0" rtlCol="0">
            <a:spAutoFit/>
          </a:bodyPr>
          <a:lstStyle/>
          <a:p>
            <a:pPr algn="ctr">
              <a:lnSpc>
                <a:spcPct val="120000"/>
              </a:lnSpc>
            </a:pPr>
            <a:r>
              <a:rPr lang="en-US" altLang="ja-JP" sz="1600" b="0" i="0">
                <a:solidFill>
                  <a:srgbClr val="C00000"/>
                </a:solidFill>
                <a:effectLst/>
                <a:latin typeface="Segoe Sans"/>
              </a:rPr>
              <a:t>Confidential</a:t>
            </a:r>
            <a:endParaRPr kumimoji="1" lang="ja-JP" altLang="en-US" sz="1600" b="0" spc="110" baseline="0">
              <a:solidFill>
                <a:srgbClr val="C00000"/>
              </a:solidFill>
            </a:endParaRPr>
          </a:p>
        </p:txBody>
      </p:sp>
      <p:pic>
        <p:nvPicPr>
          <p:cNvPr id="3" name="ロゴ" descr="挿絵 が含まれている画像&#10;&#10;自動的に生成された説明">
            <a:extLst>
              <a:ext uri="{FF2B5EF4-FFF2-40B4-BE49-F238E27FC236}">
                <a16:creationId xmlns:a16="http://schemas.microsoft.com/office/drawing/2014/main" id="{E8A58942-A59E-7EC0-AFB0-6BFC8BE3299A}"/>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21724" y="477545"/>
            <a:ext cx="2225059" cy="649717"/>
          </a:xfrm>
          <a:prstGeom prst="rect">
            <a:avLst/>
          </a:prstGeom>
        </p:spPr>
      </p:pic>
      <p:sp>
        <p:nvSpPr>
          <p:cNvPr id="10" name="タイトル 17">
            <a:extLst>
              <a:ext uri="{FF2B5EF4-FFF2-40B4-BE49-F238E27FC236}">
                <a16:creationId xmlns:a16="http://schemas.microsoft.com/office/drawing/2014/main" id="{C34950F2-A574-8F05-21B2-58C7B62775EA}"/>
              </a:ext>
            </a:extLst>
          </p:cNvPr>
          <p:cNvSpPr>
            <a:spLocks noGrp="1"/>
          </p:cNvSpPr>
          <p:nvPr>
            <p:ph type="title"/>
          </p:nvPr>
        </p:nvSpPr>
        <p:spPr>
          <a:xfrm>
            <a:off x="236700" y="3332892"/>
            <a:ext cx="5762884" cy="1341746"/>
          </a:xfrm>
          <a:prstGeom prst="rect">
            <a:avLst/>
          </a:prstGeom>
        </p:spPr>
        <p:txBody>
          <a:bodyPr lIns="0" tIns="0" rIns="0" bIns="0" anchor="ctr" anchorCtr="0"/>
          <a:lstStyle>
            <a:lvl1pPr>
              <a:lnSpc>
                <a:spcPct val="110000"/>
              </a:lnSpc>
              <a:defRPr sz="4400" spc="200" baseline="0">
                <a:solidFill>
                  <a:schemeClr val="tx1"/>
                </a:solidFill>
                <a:latin typeface="+mj-lt"/>
                <a:ea typeface="+mj-ea"/>
              </a:defRPr>
            </a:lvl1pPr>
          </a:lstStyle>
          <a:p>
            <a:r>
              <a:rPr kumimoji="1" lang="ja-JP" altLang="en-US"/>
              <a:t>マスター タイトルの書式設定</a:t>
            </a:r>
          </a:p>
        </p:txBody>
      </p:sp>
      <p:sp>
        <p:nvSpPr>
          <p:cNvPr id="11" name="テキスト プレースホルダー 11">
            <a:extLst>
              <a:ext uri="{FF2B5EF4-FFF2-40B4-BE49-F238E27FC236}">
                <a16:creationId xmlns:a16="http://schemas.microsoft.com/office/drawing/2014/main" id="{A98030EC-D9E9-DF4E-9163-C57FA3113FD8}"/>
              </a:ext>
            </a:extLst>
          </p:cNvPr>
          <p:cNvSpPr>
            <a:spLocks noGrp="1"/>
          </p:cNvSpPr>
          <p:nvPr>
            <p:ph type="body" sz="quarter" idx="10"/>
          </p:nvPr>
        </p:nvSpPr>
        <p:spPr>
          <a:xfrm>
            <a:off x="236020" y="4840759"/>
            <a:ext cx="4854575" cy="581025"/>
          </a:xfrm>
        </p:spPr>
        <p:txBody>
          <a:bodyPr anchor="ctr"/>
          <a:lstStyle>
            <a:lvl1pPr marL="0" indent="0">
              <a:buNone/>
              <a:defRPr b="0">
                <a:solidFill>
                  <a:srgbClr val="262626"/>
                </a:solidFill>
              </a:defRPr>
            </a:lvl1pPr>
          </a:lstStyle>
          <a:p>
            <a:pPr lvl="0"/>
            <a:r>
              <a:rPr kumimoji="1" lang="ja-JP" altLang="en-US"/>
              <a:t>マスター テキストの書式設定</a:t>
            </a:r>
          </a:p>
        </p:txBody>
      </p:sp>
      <p:sp>
        <p:nvSpPr>
          <p:cNvPr id="15" name="テキスト プレースホルダー 11">
            <a:extLst>
              <a:ext uri="{FF2B5EF4-FFF2-40B4-BE49-F238E27FC236}">
                <a16:creationId xmlns:a16="http://schemas.microsoft.com/office/drawing/2014/main" id="{1B86F2C1-B14E-7EE3-7558-48CB5385EA54}"/>
              </a:ext>
            </a:extLst>
          </p:cNvPr>
          <p:cNvSpPr>
            <a:spLocks noGrp="1"/>
          </p:cNvSpPr>
          <p:nvPr>
            <p:ph type="body" sz="quarter" idx="11" hasCustomPrompt="1"/>
          </p:nvPr>
        </p:nvSpPr>
        <p:spPr>
          <a:xfrm>
            <a:off x="506187" y="6260115"/>
            <a:ext cx="2611955" cy="333638"/>
          </a:xfrm>
        </p:spPr>
        <p:txBody>
          <a:bodyPr anchor="ctr"/>
          <a:lstStyle>
            <a:lvl1pPr marL="0" indent="0">
              <a:buNone/>
              <a:defRPr sz="2000" b="0">
                <a:solidFill>
                  <a:srgbClr val="262626"/>
                </a:solidFill>
              </a:defRPr>
            </a:lvl1pPr>
          </a:lstStyle>
          <a:p>
            <a:pPr lvl="0"/>
            <a:r>
              <a:rPr kumimoji="1" lang="en-US" altLang="ja-JP"/>
              <a:t>YYYY/MM/DD</a:t>
            </a:r>
            <a:endParaRPr kumimoji="1" lang="ja-JP" altLang="en-US"/>
          </a:p>
        </p:txBody>
      </p:sp>
      <p:sp>
        <p:nvSpPr>
          <p:cNvPr id="16" name="テキスト プレースホルダー 11">
            <a:extLst>
              <a:ext uri="{FF2B5EF4-FFF2-40B4-BE49-F238E27FC236}">
                <a16:creationId xmlns:a16="http://schemas.microsoft.com/office/drawing/2014/main" id="{CC003124-F3C3-5899-7B07-478D37DC6768}"/>
              </a:ext>
            </a:extLst>
          </p:cNvPr>
          <p:cNvSpPr>
            <a:spLocks noGrp="1"/>
          </p:cNvSpPr>
          <p:nvPr>
            <p:ph type="body" sz="quarter" idx="12" hasCustomPrompt="1"/>
          </p:nvPr>
        </p:nvSpPr>
        <p:spPr>
          <a:xfrm>
            <a:off x="506187" y="5556758"/>
            <a:ext cx="4854575" cy="581025"/>
          </a:xfrm>
        </p:spPr>
        <p:txBody>
          <a:bodyPr anchor="ctr"/>
          <a:lstStyle>
            <a:lvl1pPr marL="0" indent="0">
              <a:buNone/>
              <a:defRPr b="0">
                <a:solidFill>
                  <a:srgbClr val="262626"/>
                </a:solidFill>
              </a:defRPr>
            </a:lvl1pPr>
          </a:lstStyle>
          <a:p>
            <a:pPr lvl="0"/>
            <a:r>
              <a:rPr kumimoji="1" lang="ja-JP" altLang="en-US"/>
              <a:t>部署名：</a:t>
            </a:r>
          </a:p>
        </p:txBody>
      </p:sp>
    </p:spTree>
    <p:extLst>
      <p:ext uri="{BB962C8B-B14F-4D97-AF65-F5344CB8AC3E}">
        <p14:creationId xmlns:p14="http://schemas.microsoft.com/office/powerpoint/2010/main" val="3858856221"/>
      </p:ext>
    </p:extLst>
  </p:cSld>
  <p:clrMapOvr>
    <a:masterClrMapping/>
  </p:clrMapOvr>
  <p:hf hdr="0" ftr="0"/>
  <p:extLst>
    <p:ext uri="{DCECCB84-F9BA-43D5-87BE-67443E8EF086}">
      <p15:sldGuideLst xmlns:p15="http://schemas.microsoft.com/office/powerpoint/2012/main">
        <p15:guide id="1" pos="32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目次">
    <p:spTree>
      <p:nvGrpSpPr>
        <p:cNvPr id="1" name=""/>
        <p:cNvGrpSpPr/>
        <p:nvPr/>
      </p:nvGrpSpPr>
      <p:grpSpPr>
        <a:xfrm>
          <a:off x="0" y="0"/>
          <a:ext cx="0" cy="0"/>
          <a:chOff x="0" y="0"/>
          <a:chExt cx="0" cy="0"/>
        </a:xfrm>
      </p:grpSpPr>
      <p:sp>
        <p:nvSpPr>
          <p:cNvPr id="8" name="ページ数">
            <a:extLst>
              <a:ext uri="{FF2B5EF4-FFF2-40B4-BE49-F238E27FC236}">
                <a16:creationId xmlns:a16="http://schemas.microsoft.com/office/drawing/2014/main" id="{9EF8CCD8-BFC0-786A-1DCA-D57E236B6BBD}"/>
              </a:ext>
            </a:extLst>
          </p:cNvPr>
          <p:cNvSpPr>
            <a:spLocks/>
          </p:cNvSpPr>
          <p:nvPr userDrawn="1"/>
        </p:nvSpPr>
        <p:spPr>
          <a:xfrm>
            <a:off x="11633201" y="6503323"/>
            <a:ext cx="456799" cy="353005"/>
          </a:xfrm>
          <a:prstGeom prst="rect">
            <a:avLst/>
          </a:prstGeom>
          <a:noFill/>
          <a:ln w="12623" cap="flat">
            <a:noFill/>
            <a:prstDash val="solid"/>
            <a:miter/>
          </a:ln>
        </p:spPr>
        <p:txBody>
          <a:bodyPr wrap="none" lIns="0" tIns="3600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17" name="コピーライト">
            <a:extLst>
              <a:ext uri="{FF2B5EF4-FFF2-40B4-BE49-F238E27FC236}">
                <a16:creationId xmlns:a16="http://schemas.microsoft.com/office/drawing/2014/main" id="{076D0CA4-A3CF-AE0E-C0FB-82BDEB268EDD}"/>
              </a:ext>
            </a:extLst>
          </p:cNvPr>
          <p:cNvSpPr>
            <a:spLocks/>
          </p:cNvSpPr>
          <p:nvPr userDrawn="1"/>
        </p:nvSpPr>
        <p:spPr>
          <a:xfrm>
            <a:off x="7715247" y="6625313"/>
            <a:ext cx="3817941" cy="142176"/>
          </a:xfrm>
          <a:prstGeom prst="rect">
            <a:avLst/>
          </a:prstGeom>
          <a:noFill/>
          <a:ln w="12623" cap="flat">
            <a:noFill/>
            <a:prstDash val="solid"/>
            <a:miter/>
          </a:ln>
        </p:spPr>
        <p:txBody>
          <a:bodyPr wrap="none" lIns="0" tIns="0" rIns="0" bIns="0" rtlCol="0" anchor="ctr"/>
          <a:lstStyle/>
          <a:p>
            <a:pPr algn="r">
              <a:lnSpc>
                <a:spcPct val="100000"/>
              </a:lnSpc>
            </a:pPr>
            <a:r>
              <a:rPr lang="en-US" altLang="ja-JP" sz="700" spc="50" baseline="0">
                <a:solidFill>
                  <a:schemeClr val="tx2"/>
                </a:solidFill>
                <a:latin typeface="+mj-lt"/>
              </a:rPr>
              <a:t>© AIR WATER INC. All Rights Reserved.</a:t>
            </a:r>
          </a:p>
        </p:txBody>
      </p:sp>
      <p:cxnSp>
        <p:nvCxnSpPr>
          <p:cNvPr id="19" name="ページ線">
            <a:extLst>
              <a:ext uri="{FF2B5EF4-FFF2-40B4-BE49-F238E27FC236}">
                <a16:creationId xmlns:a16="http://schemas.microsoft.com/office/drawing/2014/main" id="{97F157F2-8D91-DE1A-64BE-ACCB909CE796}"/>
              </a:ext>
            </a:extLst>
          </p:cNvPr>
          <p:cNvCxnSpPr>
            <a:cxnSpLocks/>
          </p:cNvCxnSpPr>
          <p:nvPr userDrawn="1"/>
        </p:nvCxnSpPr>
        <p:spPr>
          <a:xfrm>
            <a:off x="11633201" y="6624401"/>
            <a:ext cx="0" cy="144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pic>
        <p:nvPicPr>
          <p:cNvPr id="5" name="ロゴ" descr="挿絵 が含まれている画像&#10;&#10;自動的に生成された説明">
            <a:extLst>
              <a:ext uri="{FF2B5EF4-FFF2-40B4-BE49-F238E27FC236}">
                <a16:creationId xmlns:a16="http://schemas.microsoft.com/office/drawing/2014/main" id="{CEC72B1B-373B-F2FC-2323-13C8156AA35A}"/>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373596" y="279936"/>
            <a:ext cx="1451472" cy="423970"/>
          </a:xfrm>
          <a:prstGeom prst="rect">
            <a:avLst/>
          </a:prstGeom>
        </p:spPr>
      </p:pic>
      <p:sp>
        <p:nvSpPr>
          <p:cNvPr id="7" name="テキスト プレースホルダー 6">
            <a:extLst>
              <a:ext uri="{FF2B5EF4-FFF2-40B4-BE49-F238E27FC236}">
                <a16:creationId xmlns:a16="http://schemas.microsoft.com/office/drawing/2014/main" id="{C91DC7DF-4CC8-DE92-59BA-35BB04B8413A}"/>
              </a:ext>
            </a:extLst>
          </p:cNvPr>
          <p:cNvSpPr>
            <a:spLocks noGrp="1"/>
          </p:cNvSpPr>
          <p:nvPr>
            <p:ph type="body" sz="quarter" idx="10"/>
          </p:nvPr>
        </p:nvSpPr>
        <p:spPr>
          <a:xfrm>
            <a:off x="4062413" y="1001713"/>
            <a:ext cx="6438900" cy="2008187"/>
          </a:xfrm>
        </p:spPr>
        <p:txBody>
          <a:bodyPr/>
          <a:lstStyle>
            <a:lvl1pPr marL="0" indent="0">
              <a:buNone/>
              <a:defRPr/>
            </a:lvl1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p:txBody>
      </p:sp>
      <p:cxnSp>
        <p:nvCxnSpPr>
          <p:cNvPr id="11" name="直線コネクタ 10">
            <a:extLst>
              <a:ext uri="{FF2B5EF4-FFF2-40B4-BE49-F238E27FC236}">
                <a16:creationId xmlns:a16="http://schemas.microsoft.com/office/drawing/2014/main" id="{BA7FF9B8-7284-51B7-76D6-F26F2F1948C9}"/>
              </a:ext>
            </a:extLst>
          </p:cNvPr>
          <p:cNvCxnSpPr/>
          <p:nvPr userDrawn="1"/>
        </p:nvCxnSpPr>
        <p:spPr>
          <a:xfrm>
            <a:off x="3935413" y="1001713"/>
            <a:ext cx="0" cy="432000"/>
          </a:xfrm>
          <a:prstGeom prst="line">
            <a:avLst/>
          </a:prstGeom>
          <a:ln w="53975" cap="rnd">
            <a:solidFill>
              <a:srgbClr val="00B0F0"/>
            </a:solidFill>
            <a:round/>
          </a:ln>
        </p:spPr>
        <p:style>
          <a:lnRef idx="1">
            <a:schemeClr val="accent1"/>
          </a:lnRef>
          <a:fillRef idx="0">
            <a:schemeClr val="accent1"/>
          </a:fillRef>
          <a:effectRef idx="0">
            <a:schemeClr val="accent1"/>
          </a:effectRef>
          <a:fontRef idx="minor">
            <a:schemeClr val="tx1"/>
          </a:fontRef>
        </p:style>
      </p:cxnSp>
      <p:sp>
        <p:nvSpPr>
          <p:cNvPr id="2" name="Agenda背景">
            <a:extLst>
              <a:ext uri="{FF2B5EF4-FFF2-40B4-BE49-F238E27FC236}">
                <a16:creationId xmlns:a16="http://schemas.microsoft.com/office/drawing/2014/main" id="{0C6397F4-3340-057E-FAA0-265A18215DED}"/>
              </a:ext>
            </a:extLst>
          </p:cNvPr>
          <p:cNvSpPr/>
          <p:nvPr userDrawn="1"/>
        </p:nvSpPr>
        <p:spPr>
          <a:xfrm>
            <a:off x="0" y="0"/>
            <a:ext cx="3240000" cy="3240000"/>
          </a:xfrm>
          <a:prstGeom prst="rect">
            <a:avLst/>
          </a:prstGeom>
          <a:gradFill flip="none" rotWithShape="1">
            <a:gsLst>
              <a:gs pos="0">
                <a:schemeClr val="accent2"/>
              </a:gs>
              <a:gs pos="100000">
                <a:srgbClr val="22237D"/>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C453728B-1521-6E58-6652-3D6C6F804E7E}"/>
              </a:ext>
            </a:extLst>
          </p:cNvPr>
          <p:cNvCxnSpPr>
            <a:cxnSpLocks/>
          </p:cNvCxnSpPr>
          <p:nvPr userDrawn="1"/>
        </p:nvCxnSpPr>
        <p:spPr>
          <a:xfrm rot="5400000">
            <a:off x="1452058" y="1880350"/>
            <a:ext cx="335885"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4" name="Agenda">
            <a:extLst>
              <a:ext uri="{FF2B5EF4-FFF2-40B4-BE49-F238E27FC236}">
                <a16:creationId xmlns:a16="http://schemas.microsoft.com/office/drawing/2014/main" id="{AC253966-FF14-6901-46C0-4D2CC9B660D2}"/>
              </a:ext>
            </a:extLst>
          </p:cNvPr>
          <p:cNvSpPr txBox="1"/>
          <p:nvPr userDrawn="1"/>
        </p:nvSpPr>
        <p:spPr>
          <a:xfrm>
            <a:off x="686550" y="973263"/>
            <a:ext cx="1866900" cy="603114"/>
          </a:xfrm>
          <a:prstGeom prst="rect">
            <a:avLst/>
          </a:prstGeom>
          <a:noFill/>
        </p:spPr>
        <p:txBody>
          <a:bodyPr wrap="square" lIns="0" tIns="0" rIns="0" bIns="0" rtlCol="0" anchor="ctr">
            <a:spAutoFit/>
          </a:bodyPr>
          <a:lstStyle/>
          <a:p>
            <a:pPr algn="ctr">
              <a:lnSpc>
                <a:spcPct val="120000"/>
              </a:lnSpc>
            </a:pPr>
            <a:r>
              <a:rPr kumimoji="1" lang="en-US" altLang="ja-JP" sz="3600" b="1" spc="0" baseline="0">
                <a:solidFill>
                  <a:schemeClr val="bg1"/>
                </a:solidFill>
                <a:latin typeface="+mj-lt"/>
              </a:rPr>
              <a:t>Agenda</a:t>
            </a:r>
            <a:endParaRPr kumimoji="1" lang="ja-JP" altLang="en-US" sz="3600" b="1" spc="0" baseline="0">
              <a:solidFill>
                <a:schemeClr val="bg1"/>
              </a:solidFill>
              <a:latin typeface="+mj-lt"/>
            </a:endParaRPr>
          </a:p>
        </p:txBody>
      </p:sp>
      <p:sp>
        <p:nvSpPr>
          <p:cNvPr id="10" name="目次">
            <a:extLst>
              <a:ext uri="{FF2B5EF4-FFF2-40B4-BE49-F238E27FC236}">
                <a16:creationId xmlns:a16="http://schemas.microsoft.com/office/drawing/2014/main" id="{C75F1C0F-EDFD-8A62-BCB7-9BCE037468DE}"/>
              </a:ext>
            </a:extLst>
          </p:cNvPr>
          <p:cNvSpPr txBox="1"/>
          <p:nvPr userDrawn="1"/>
        </p:nvSpPr>
        <p:spPr>
          <a:xfrm>
            <a:off x="1404000" y="2272477"/>
            <a:ext cx="432000" cy="215444"/>
          </a:xfrm>
          <a:prstGeom prst="rect">
            <a:avLst/>
          </a:prstGeom>
          <a:noFill/>
        </p:spPr>
        <p:txBody>
          <a:bodyPr wrap="square" lIns="0" tIns="0" rIns="0" bIns="0" rtlCol="0" anchor="ctr">
            <a:spAutoFit/>
          </a:bodyPr>
          <a:lstStyle/>
          <a:p>
            <a:pPr algn="ctr">
              <a:lnSpc>
                <a:spcPct val="100000"/>
              </a:lnSpc>
            </a:pPr>
            <a:r>
              <a:rPr kumimoji="1" lang="ja-JP" altLang="en-US" sz="1400" b="1" spc="0" baseline="0">
                <a:solidFill>
                  <a:schemeClr val="bg1"/>
                </a:solidFill>
                <a:latin typeface="+mj-ea"/>
                <a:ea typeface="+mj-ea"/>
              </a:rPr>
              <a:t>目</a:t>
            </a:r>
            <a:r>
              <a:rPr kumimoji="1" lang="ja-JP" altLang="en-US" sz="1200" b="1" spc="0" baseline="0">
                <a:solidFill>
                  <a:schemeClr val="bg1"/>
                </a:solidFill>
                <a:latin typeface="+mj-ea"/>
                <a:ea typeface="+mj-ea"/>
              </a:rPr>
              <a:t> </a:t>
            </a:r>
            <a:r>
              <a:rPr kumimoji="1" lang="ja-JP" altLang="en-US" sz="1400" b="1" spc="0" baseline="0">
                <a:solidFill>
                  <a:schemeClr val="bg1"/>
                </a:solidFill>
                <a:latin typeface="+mj-ea"/>
                <a:ea typeface="+mj-ea"/>
              </a:rPr>
              <a:t>次</a:t>
            </a:r>
          </a:p>
        </p:txBody>
      </p:sp>
    </p:spTree>
    <p:extLst>
      <p:ext uri="{BB962C8B-B14F-4D97-AF65-F5344CB8AC3E}">
        <p14:creationId xmlns:p14="http://schemas.microsoft.com/office/powerpoint/2010/main" val="2972539907"/>
      </p:ext>
    </p:extLst>
  </p:cSld>
  <p:clrMapOvr>
    <a:masterClrMapping/>
  </p:clrMapOvr>
  <p:hf hdr="0" ftr="0" dt="0"/>
  <p:extLst>
    <p:ext uri="{DCECCB84-F9BA-43D5-87BE-67443E8EF086}">
      <p15:sldGuideLst xmlns:p15="http://schemas.microsoft.com/office/powerpoint/2012/main">
        <p15:guide id="1" pos="247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章タイトル">
    <p:spTree>
      <p:nvGrpSpPr>
        <p:cNvPr id="1" name=""/>
        <p:cNvGrpSpPr/>
        <p:nvPr/>
      </p:nvGrpSpPr>
      <p:grpSpPr>
        <a:xfrm>
          <a:off x="0" y="0"/>
          <a:ext cx="0" cy="0"/>
          <a:chOff x="0" y="0"/>
          <a:chExt cx="0" cy="0"/>
        </a:xfrm>
      </p:grpSpPr>
      <p:pic>
        <p:nvPicPr>
          <p:cNvPr id="7" name="背景">
            <a:extLst>
              <a:ext uri="{FF2B5EF4-FFF2-40B4-BE49-F238E27FC236}">
                <a16:creationId xmlns:a16="http://schemas.microsoft.com/office/drawing/2014/main" id="{A17FAF41-57C4-C04D-D24B-1120D810F0E2}"/>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86" y="0"/>
            <a:ext cx="12189628" cy="6857998"/>
          </a:xfrm>
          <a:prstGeom prst="rect">
            <a:avLst/>
          </a:prstGeom>
        </p:spPr>
      </p:pic>
      <p:sp>
        <p:nvSpPr>
          <p:cNvPr id="4" name="ページ数">
            <a:extLst>
              <a:ext uri="{FF2B5EF4-FFF2-40B4-BE49-F238E27FC236}">
                <a16:creationId xmlns:a16="http://schemas.microsoft.com/office/drawing/2014/main" id="{431D8C4E-1014-D02C-8F8A-1A697AC6074C}"/>
              </a:ext>
            </a:extLst>
          </p:cNvPr>
          <p:cNvSpPr>
            <a:spLocks/>
          </p:cNvSpPr>
          <p:nvPr userDrawn="1"/>
        </p:nvSpPr>
        <p:spPr>
          <a:xfrm>
            <a:off x="11633201" y="6503323"/>
            <a:ext cx="456799" cy="353005"/>
          </a:xfrm>
          <a:prstGeom prst="rect">
            <a:avLst/>
          </a:prstGeom>
          <a:noFill/>
          <a:ln w="12623" cap="flat">
            <a:noFill/>
            <a:prstDash val="solid"/>
            <a:miter/>
          </a:ln>
        </p:spPr>
        <p:txBody>
          <a:bodyPr wrap="none" lIns="0" tIns="3600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6" name="コピーライト">
            <a:extLst>
              <a:ext uri="{FF2B5EF4-FFF2-40B4-BE49-F238E27FC236}">
                <a16:creationId xmlns:a16="http://schemas.microsoft.com/office/drawing/2014/main" id="{FA8BBE3D-8A74-8D0E-5787-FC4FDFC19DB7}"/>
              </a:ext>
            </a:extLst>
          </p:cNvPr>
          <p:cNvSpPr>
            <a:spLocks/>
          </p:cNvSpPr>
          <p:nvPr userDrawn="1"/>
        </p:nvSpPr>
        <p:spPr>
          <a:xfrm>
            <a:off x="7715247" y="6625313"/>
            <a:ext cx="3817941" cy="142176"/>
          </a:xfrm>
          <a:prstGeom prst="rect">
            <a:avLst/>
          </a:prstGeom>
          <a:noFill/>
          <a:ln w="12623" cap="flat">
            <a:noFill/>
            <a:prstDash val="solid"/>
            <a:miter/>
          </a:ln>
        </p:spPr>
        <p:txBody>
          <a:bodyPr wrap="none" lIns="0" tIns="0" rIns="0" bIns="0" rtlCol="0" anchor="ctr"/>
          <a:lstStyle/>
          <a:p>
            <a:pPr algn="r">
              <a:lnSpc>
                <a:spcPct val="100000"/>
              </a:lnSpc>
            </a:pPr>
            <a:r>
              <a:rPr lang="en-US" altLang="ja-JP" sz="700" spc="50" baseline="0">
                <a:solidFill>
                  <a:schemeClr val="tx2"/>
                </a:solidFill>
                <a:latin typeface="+mj-lt"/>
              </a:rPr>
              <a:t>© AIR WATER INC. All Rights Reserved.</a:t>
            </a:r>
          </a:p>
        </p:txBody>
      </p:sp>
      <p:cxnSp>
        <p:nvCxnSpPr>
          <p:cNvPr id="8" name="ページ線">
            <a:extLst>
              <a:ext uri="{FF2B5EF4-FFF2-40B4-BE49-F238E27FC236}">
                <a16:creationId xmlns:a16="http://schemas.microsoft.com/office/drawing/2014/main" id="{870190B8-EDD9-DDA9-A293-33B6A7E6E050}"/>
              </a:ext>
            </a:extLst>
          </p:cNvPr>
          <p:cNvCxnSpPr>
            <a:cxnSpLocks/>
          </p:cNvCxnSpPr>
          <p:nvPr userDrawn="1"/>
        </p:nvCxnSpPr>
        <p:spPr>
          <a:xfrm>
            <a:off x="11633201" y="6624401"/>
            <a:ext cx="0" cy="144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テキスト プレースホルダー 12">
            <a:extLst>
              <a:ext uri="{FF2B5EF4-FFF2-40B4-BE49-F238E27FC236}">
                <a16:creationId xmlns:a16="http://schemas.microsoft.com/office/drawing/2014/main" id="{94929B88-2B14-E44A-B3B3-E8BCFF86927A}"/>
              </a:ext>
            </a:extLst>
          </p:cNvPr>
          <p:cNvSpPr>
            <a:spLocks noGrp="1"/>
          </p:cNvSpPr>
          <p:nvPr>
            <p:ph type="body" sz="quarter" idx="12"/>
          </p:nvPr>
        </p:nvSpPr>
        <p:spPr>
          <a:xfrm>
            <a:off x="3003550" y="2749550"/>
            <a:ext cx="6184900" cy="1358900"/>
          </a:xfrm>
        </p:spPr>
        <p:txBody>
          <a:bodyPr anchor="ctr"/>
          <a:lstStyle>
            <a:lvl1pPr marL="0" indent="0" algn="ctr">
              <a:buNone/>
              <a:defRPr sz="3200">
                <a:solidFill>
                  <a:schemeClr val="bg1"/>
                </a:solidFill>
              </a:defRPr>
            </a:lvl1pPr>
          </a:lstStyle>
          <a:p>
            <a:pPr lvl="0"/>
            <a:r>
              <a:rPr kumimoji="1" lang="ja-JP" altLang="en-US"/>
              <a:t>マスター テキストの書式設定</a:t>
            </a:r>
          </a:p>
        </p:txBody>
      </p:sp>
      <p:pic>
        <p:nvPicPr>
          <p:cNvPr id="14" name="ロゴ" descr="挿絵 が含まれている画像&#10;&#10;自動的に生成された説明">
            <a:extLst>
              <a:ext uri="{FF2B5EF4-FFF2-40B4-BE49-F238E27FC236}">
                <a16:creationId xmlns:a16="http://schemas.microsoft.com/office/drawing/2014/main" id="{0ECDD9A3-2EE7-27BC-7F6D-10D644953A86}"/>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373596" y="279936"/>
            <a:ext cx="1451472" cy="423970"/>
          </a:xfrm>
          <a:prstGeom prst="rect">
            <a:avLst/>
          </a:prstGeom>
        </p:spPr>
      </p:pic>
    </p:spTree>
    <p:extLst>
      <p:ext uri="{BB962C8B-B14F-4D97-AF65-F5344CB8AC3E}">
        <p14:creationId xmlns:p14="http://schemas.microsoft.com/office/powerpoint/2010/main" val="1131208097"/>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コンテンツ（プレースホルダー1か所）">
    <p:spTree>
      <p:nvGrpSpPr>
        <p:cNvPr id="1" name=""/>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5FBF7CF8-432E-5272-CDC3-DA1530EB8294}"/>
              </a:ext>
            </a:extLst>
          </p:cNvPr>
          <p:cNvSpPr/>
          <p:nvPr userDrawn="1"/>
        </p:nvSpPr>
        <p:spPr>
          <a:xfrm>
            <a:off x="-3" y="0"/>
            <a:ext cx="12192006" cy="6858000"/>
          </a:xfrm>
          <a:prstGeom prst="rect">
            <a:avLst/>
          </a:prstGeom>
          <a:gradFill flip="none" rotWithShape="1">
            <a:gsLst>
              <a:gs pos="100000">
                <a:schemeClr val="accent2"/>
              </a:gs>
              <a:gs pos="0">
                <a:schemeClr val="accent1"/>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1 つの角を丸める 9">
            <a:extLst>
              <a:ext uri="{FF2B5EF4-FFF2-40B4-BE49-F238E27FC236}">
                <a16:creationId xmlns:a16="http://schemas.microsoft.com/office/drawing/2014/main" id="{E18769A5-B72D-FCE8-1C65-79F730988A4B}"/>
              </a:ext>
            </a:extLst>
          </p:cNvPr>
          <p:cNvSpPr/>
          <p:nvPr userDrawn="1"/>
        </p:nvSpPr>
        <p:spPr>
          <a:xfrm rot="16200000">
            <a:off x="2739573" y="-2594430"/>
            <a:ext cx="6858000" cy="12046860"/>
          </a:xfrm>
          <a:prstGeom prst="round1Rect">
            <a:avLst>
              <a:gd name="adj" fmla="val 4886"/>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kumimoji="1" lang="ja-JP" altLang="en-US"/>
          </a:p>
        </p:txBody>
      </p:sp>
      <p:cxnSp>
        <p:nvCxnSpPr>
          <p:cNvPr id="15" name="直線コネクタ 14">
            <a:extLst>
              <a:ext uri="{FF2B5EF4-FFF2-40B4-BE49-F238E27FC236}">
                <a16:creationId xmlns:a16="http://schemas.microsoft.com/office/drawing/2014/main" id="{B6603386-11E4-3465-28AA-9F9B40104F61}"/>
              </a:ext>
            </a:extLst>
          </p:cNvPr>
          <p:cNvCxnSpPr>
            <a:cxnSpLocks/>
          </p:cNvCxnSpPr>
          <p:nvPr userDrawn="1"/>
        </p:nvCxnSpPr>
        <p:spPr>
          <a:xfrm>
            <a:off x="660000" y="840085"/>
            <a:ext cx="108720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装飾左上">
            <a:extLst>
              <a:ext uri="{FF2B5EF4-FFF2-40B4-BE49-F238E27FC236}">
                <a16:creationId xmlns:a16="http://schemas.microsoft.com/office/drawing/2014/main" id="{C7BFFCBF-1A80-35D3-4E8A-61470D229723}"/>
              </a:ext>
            </a:extLst>
          </p:cNvPr>
          <p:cNvGrpSpPr/>
          <p:nvPr userDrawn="1"/>
        </p:nvGrpSpPr>
        <p:grpSpPr>
          <a:xfrm>
            <a:off x="63225" y="119586"/>
            <a:ext cx="486894" cy="558991"/>
            <a:chOff x="63225" y="119586"/>
            <a:chExt cx="486894" cy="558991"/>
          </a:xfrm>
        </p:grpSpPr>
        <p:sp>
          <p:nvSpPr>
            <p:cNvPr id="16" name="楕円 15">
              <a:extLst>
                <a:ext uri="{FF2B5EF4-FFF2-40B4-BE49-F238E27FC236}">
                  <a16:creationId xmlns:a16="http://schemas.microsoft.com/office/drawing/2014/main" id="{A629D73C-3B9A-7E8B-EF59-F69B07051A94}"/>
                </a:ext>
              </a:extLst>
            </p:cNvPr>
            <p:cNvSpPr>
              <a:spLocks noChangeAspect="1"/>
            </p:cNvSpPr>
            <p:nvPr userDrawn="1"/>
          </p:nvSpPr>
          <p:spPr>
            <a:xfrm>
              <a:off x="300527" y="119586"/>
              <a:ext cx="104525" cy="104525"/>
            </a:xfrm>
            <a:prstGeom prst="ellipse">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2000" b="1">
                <a:solidFill>
                  <a:schemeClr val="bg1"/>
                </a:solidFill>
                <a:latin typeface="+mj-lt"/>
                <a:ea typeface="+mj-ea"/>
              </a:endParaRPr>
            </a:p>
          </p:txBody>
        </p:sp>
        <p:sp>
          <p:nvSpPr>
            <p:cNvPr id="17" name="楕円 16">
              <a:extLst>
                <a:ext uri="{FF2B5EF4-FFF2-40B4-BE49-F238E27FC236}">
                  <a16:creationId xmlns:a16="http://schemas.microsoft.com/office/drawing/2014/main" id="{39022279-2618-410B-2C61-4910D2C2BEA7}"/>
                </a:ext>
              </a:extLst>
            </p:cNvPr>
            <p:cNvSpPr/>
            <p:nvPr userDrawn="1"/>
          </p:nvSpPr>
          <p:spPr>
            <a:xfrm>
              <a:off x="63225" y="215449"/>
              <a:ext cx="225781" cy="225781"/>
            </a:xfrm>
            <a:prstGeom prst="ellipse">
              <a:avLst/>
            </a:prstGeom>
            <a:noFill/>
            <a:ln w="12700" cap="rnd">
              <a:gradFill flip="none" rotWithShape="1">
                <a:gsLst>
                  <a:gs pos="0">
                    <a:schemeClr val="accent2"/>
                  </a:gs>
                  <a:gs pos="100000">
                    <a:schemeClr val="accent1"/>
                  </a:gs>
                </a:gsLst>
                <a:lin ang="2700000" scaled="1"/>
                <a:tileRect/>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ja-JP" altLang="en-US"/>
            </a:p>
          </p:txBody>
        </p:sp>
        <p:pic>
          <p:nvPicPr>
            <p:cNvPr id="18" name="グラフィックス 17">
              <a:extLst>
                <a:ext uri="{FF2B5EF4-FFF2-40B4-BE49-F238E27FC236}">
                  <a16:creationId xmlns:a16="http://schemas.microsoft.com/office/drawing/2014/main" id="{7953A341-139B-F814-FEA6-F11A34DFEC1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4508" y="292814"/>
              <a:ext cx="375611" cy="385763"/>
            </a:xfrm>
            <a:prstGeom prst="rect">
              <a:avLst/>
            </a:prstGeom>
          </p:spPr>
        </p:pic>
      </p:grpSp>
      <p:sp>
        <p:nvSpPr>
          <p:cNvPr id="4" name="ページ数">
            <a:extLst>
              <a:ext uri="{FF2B5EF4-FFF2-40B4-BE49-F238E27FC236}">
                <a16:creationId xmlns:a16="http://schemas.microsoft.com/office/drawing/2014/main" id="{474B4902-60EB-7D23-0776-8ABC74F57C9E}"/>
              </a:ext>
            </a:extLst>
          </p:cNvPr>
          <p:cNvSpPr>
            <a:spLocks/>
          </p:cNvSpPr>
          <p:nvPr userDrawn="1"/>
        </p:nvSpPr>
        <p:spPr>
          <a:xfrm>
            <a:off x="11633201" y="6503323"/>
            <a:ext cx="456799" cy="353005"/>
          </a:xfrm>
          <a:prstGeom prst="rect">
            <a:avLst/>
          </a:prstGeom>
          <a:noFill/>
          <a:ln w="12623" cap="flat">
            <a:noFill/>
            <a:prstDash val="solid"/>
            <a:miter/>
          </a:ln>
        </p:spPr>
        <p:txBody>
          <a:bodyPr wrap="none" lIns="0" tIns="3600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a:solidFill>
                <a:schemeClr val="tx2"/>
              </a:solidFill>
              <a:latin typeface="+mj-lt"/>
            </a:endParaRPr>
          </a:p>
        </p:txBody>
      </p:sp>
      <p:sp>
        <p:nvSpPr>
          <p:cNvPr id="8" name="コピーライト">
            <a:extLst>
              <a:ext uri="{FF2B5EF4-FFF2-40B4-BE49-F238E27FC236}">
                <a16:creationId xmlns:a16="http://schemas.microsoft.com/office/drawing/2014/main" id="{2FA81BE5-4DA4-40E5-AB90-92DBF41C4E1A}"/>
              </a:ext>
            </a:extLst>
          </p:cNvPr>
          <p:cNvSpPr>
            <a:spLocks/>
          </p:cNvSpPr>
          <p:nvPr userDrawn="1"/>
        </p:nvSpPr>
        <p:spPr>
          <a:xfrm>
            <a:off x="7715247" y="6625313"/>
            <a:ext cx="3817941" cy="142176"/>
          </a:xfrm>
          <a:prstGeom prst="rect">
            <a:avLst/>
          </a:prstGeom>
          <a:noFill/>
          <a:ln w="12623" cap="flat">
            <a:noFill/>
            <a:prstDash val="solid"/>
            <a:miter/>
          </a:ln>
        </p:spPr>
        <p:txBody>
          <a:bodyPr wrap="none" lIns="0" tIns="0" rIns="0" bIns="0" rtlCol="0" anchor="ctr"/>
          <a:lstStyle/>
          <a:p>
            <a:pPr algn="r">
              <a:lnSpc>
                <a:spcPct val="100000"/>
              </a:lnSpc>
            </a:pPr>
            <a:r>
              <a:rPr lang="en-US" altLang="ja-JP" sz="700" spc="50" baseline="0">
                <a:solidFill>
                  <a:schemeClr val="tx2"/>
                </a:solidFill>
                <a:latin typeface="+mj-lt"/>
              </a:rPr>
              <a:t>© AIR WATER INC. All Rights Reserved.</a:t>
            </a:r>
          </a:p>
        </p:txBody>
      </p:sp>
      <p:cxnSp>
        <p:nvCxnSpPr>
          <p:cNvPr id="9" name="ページ線">
            <a:extLst>
              <a:ext uri="{FF2B5EF4-FFF2-40B4-BE49-F238E27FC236}">
                <a16:creationId xmlns:a16="http://schemas.microsoft.com/office/drawing/2014/main" id="{4C2C7EC0-7D87-3B4F-563C-7E294911E9FA}"/>
              </a:ext>
            </a:extLst>
          </p:cNvPr>
          <p:cNvCxnSpPr>
            <a:cxnSpLocks/>
          </p:cNvCxnSpPr>
          <p:nvPr userDrawn="1"/>
        </p:nvCxnSpPr>
        <p:spPr>
          <a:xfrm>
            <a:off x="11633201" y="6624401"/>
            <a:ext cx="0" cy="144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5" name="テキスト プレースホルダー 7">
            <a:extLst>
              <a:ext uri="{FF2B5EF4-FFF2-40B4-BE49-F238E27FC236}">
                <a16:creationId xmlns:a16="http://schemas.microsoft.com/office/drawing/2014/main" id="{5E8FDAF1-D7DD-DC36-5425-7F8309994C80}"/>
              </a:ext>
            </a:extLst>
          </p:cNvPr>
          <p:cNvSpPr>
            <a:spLocks noGrp="1"/>
          </p:cNvSpPr>
          <p:nvPr>
            <p:ph type="body" sz="quarter" idx="10"/>
          </p:nvPr>
        </p:nvSpPr>
        <p:spPr>
          <a:xfrm>
            <a:off x="660400" y="4361688"/>
            <a:ext cx="5400000" cy="2127336"/>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29" name="タイトル 1">
            <a:extLst>
              <a:ext uri="{FF2B5EF4-FFF2-40B4-BE49-F238E27FC236}">
                <a16:creationId xmlns:a16="http://schemas.microsoft.com/office/drawing/2014/main" id="{8ECF2492-0AC0-AA41-EA51-D4B683DC8BCD}"/>
              </a:ext>
            </a:extLst>
          </p:cNvPr>
          <p:cNvSpPr>
            <a:spLocks noGrp="1"/>
          </p:cNvSpPr>
          <p:nvPr>
            <p:ph type="title"/>
          </p:nvPr>
        </p:nvSpPr>
        <p:spPr>
          <a:xfrm>
            <a:off x="660000" y="365508"/>
            <a:ext cx="5610171" cy="371961"/>
          </a:xfrm>
          <a:prstGeom prst="rect">
            <a:avLst/>
          </a:prstGeom>
        </p:spPr>
        <p:txBody>
          <a:bodyPr lIns="0" tIns="36000" rIns="0" bIns="0"/>
          <a:lstStyle>
            <a:lvl1pPr>
              <a:defRPr sz="2000" spc="110" baseline="0"/>
            </a:lvl1pPr>
          </a:lstStyle>
          <a:p>
            <a:r>
              <a:rPr kumimoji="1" lang="ja-JP" altLang="en-US"/>
              <a:t>マスター タイトルの書式設定</a:t>
            </a:r>
          </a:p>
        </p:txBody>
      </p:sp>
      <p:sp>
        <p:nvSpPr>
          <p:cNvPr id="30" name="テキスト ボックス 29">
            <a:extLst>
              <a:ext uri="{FF2B5EF4-FFF2-40B4-BE49-F238E27FC236}">
                <a16:creationId xmlns:a16="http://schemas.microsoft.com/office/drawing/2014/main" id="{A8B7B8C8-2010-FB61-01E5-911946852D23}"/>
              </a:ext>
            </a:extLst>
          </p:cNvPr>
          <p:cNvSpPr txBox="1"/>
          <p:nvPr userDrawn="1"/>
        </p:nvSpPr>
        <p:spPr>
          <a:xfrm>
            <a:off x="659998" y="55080"/>
            <a:ext cx="1899736" cy="296607"/>
          </a:xfrm>
          <a:prstGeom prst="roundRect">
            <a:avLst/>
          </a:prstGeom>
          <a:solidFill>
            <a:schemeClr val="bg1"/>
          </a:solidFill>
          <a:ln w="19050">
            <a:solidFill>
              <a:srgbClr val="C00000">
                <a:alpha val="81176"/>
              </a:srgbClr>
            </a:solidFill>
          </a:ln>
        </p:spPr>
        <p:txBody>
          <a:bodyPr wrap="square" lIns="0" tIns="0" rIns="0" bIns="0" rtlCol="0">
            <a:spAutoFit/>
          </a:bodyPr>
          <a:lstStyle/>
          <a:p>
            <a:pPr algn="ctr">
              <a:lnSpc>
                <a:spcPct val="120000"/>
              </a:lnSpc>
            </a:pPr>
            <a:r>
              <a:rPr lang="en-US" altLang="ja-JP" sz="1600" b="0" i="0">
                <a:solidFill>
                  <a:srgbClr val="C00000"/>
                </a:solidFill>
                <a:effectLst/>
                <a:latin typeface="Segoe Sans"/>
              </a:rPr>
              <a:t>Confidential</a:t>
            </a:r>
            <a:endParaRPr kumimoji="1" lang="ja-JP" altLang="en-US" sz="1600" b="0" spc="110" baseline="0">
              <a:solidFill>
                <a:srgbClr val="C00000"/>
              </a:solidFill>
            </a:endParaRPr>
          </a:p>
        </p:txBody>
      </p:sp>
      <p:pic>
        <p:nvPicPr>
          <p:cNvPr id="31" name="ロゴ" descr="挿絵 が含まれている画像&#10;&#10;自動的に生成された説明">
            <a:extLst>
              <a:ext uri="{FF2B5EF4-FFF2-40B4-BE49-F238E27FC236}">
                <a16:creationId xmlns:a16="http://schemas.microsoft.com/office/drawing/2014/main" id="{9B16D908-4B93-E89B-2333-D5F8031CCAFB}"/>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0373596" y="279936"/>
            <a:ext cx="1451472" cy="423970"/>
          </a:xfrm>
          <a:prstGeom prst="rect">
            <a:avLst/>
          </a:prstGeom>
        </p:spPr>
      </p:pic>
      <p:sp>
        <p:nvSpPr>
          <p:cNvPr id="6" name="テキスト プレースホルダー 9">
            <a:extLst>
              <a:ext uri="{FF2B5EF4-FFF2-40B4-BE49-F238E27FC236}">
                <a16:creationId xmlns:a16="http://schemas.microsoft.com/office/drawing/2014/main" id="{DCFE790C-F4D2-0CB8-D9BB-66F62A0484F2}"/>
              </a:ext>
            </a:extLst>
          </p:cNvPr>
          <p:cNvSpPr>
            <a:spLocks noGrp="1"/>
          </p:cNvSpPr>
          <p:nvPr>
            <p:ph type="body" sz="quarter" idx="11"/>
          </p:nvPr>
        </p:nvSpPr>
        <p:spPr>
          <a:xfrm rot="16200000">
            <a:off x="1109999" y="652977"/>
            <a:ext cx="900000" cy="1800000"/>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vert" lIns="36000" tIns="36000" rIns="36000" bIns="36000" rtlCol="0" anchor="ctr" anchorCtr="1"/>
          <a:lstStyle>
            <a:lvl1pPr algn="l">
              <a:lnSpc>
                <a:spcPct val="100000"/>
              </a:lnSpc>
              <a:defRPr lang="ja-JP" altLang="en-US" sz="1600" b="0" i="0" u="none" strike="noStrike" cap="none" spc="0" normalizeH="0" dirty="0" smtClean="0">
                <a:ln>
                  <a:noFill/>
                </a:ln>
                <a:solidFill>
                  <a:srgbClr val="FFFFFF"/>
                </a:solidFill>
                <a:effectLst/>
                <a:uLnTx/>
                <a:uFillTx/>
                <a:latin typeface="+mn-ea"/>
              </a:defRPr>
            </a:lvl1pPr>
          </a:lstStyle>
          <a:p>
            <a:pPr marR="0" lvl="0" algn="ctr" fontAlgn="auto">
              <a:lnSpc>
                <a:spcPct val="100000"/>
              </a:lnSpc>
              <a:spcBef>
                <a:spcPts val="0"/>
              </a:spcBef>
              <a:spcAft>
                <a:spcPts val="0"/>
              </a:spcAft>
              <a:buClrTx/>
              <a:buSzTx/>
              <a:buFontTx/>
              <a:tabLst/>
            </a:pPr>
            <a:r>
              <a:rPr kumimoji="1" lang="ja-JP" altLang="en-US"/>
              <a:t>マスター テキストの書式設定</a:t>
            </a:r>
          </a:p>
        </p:txBody>
      </p:sp>
      <p:sp>
        <p:nvSpPr>
          <p:cNvPr id="7" name="テキスト プレースホルダー 13">
            <a:extLst>
              <a:ext uri="{FF2B5EF4-FFF2-40B4-BE49-F238E27FC236}">
                <a16:creationId xmlns:a16="http://schemas.microsoft.com/office/drawing/2014/main" id="{C6E38E77-5159-E2BB-57B5-7061B7F0F1D8}"/>
              </a:ext>
            </a:extLst>
          </p:cNvPr>
          <p:cNvSpPr>
            <a:spLocks noGrp="1"/>
          </p:cNvSpPr>
          <p:nvPr>
            <p:ph type="body" sz="quarter" idx="12"/>
          </p:nvPr>
        </p:nvSpPr>
        <p:spPr>
          <a:xfrm>
            <a:off x="2459999" y="1102977"/>
            <a:ext cx="6300000" cy="900000"/>
          </a:xfrm>
          <a:solidFill>
            <a:srgbClr val="E1E3EB"/>
          </a:solidFill>
          <a:ln>
            <a:noFill/>
          </a:ln>
        </p:spPr>
        <p:txBody>
          <a:bodyPr anchor="ctr"/>
          <a:lstStyle>
            <a:lvl1pPr>
              <a:lnSpc>
                <a:spcPct val="100000"/>
              </a:lnSpc>
              <a:defRPr sz="1600">
                <a:solidFill>
                  <a:schemeClr val="tx1"/>
                </a:solidFill>
              </a:defRPr>
            </a:lvl1pPr>
          </a:lstStyle>
          <a:p>
            <a:pPr lvl="0"/>
            <a:r>
              <a:rPr kumimoji="1" lang="ja-JP" altLang="en-US"/>
              <a:t>マスター テキストの書式設定</a:t>
            </a:r>
          </a:p>
        </p:txBody>
      </p:sp>
      <p:sp>
        <p:nvSpPr>
          <p:cNvPr id="11" name="テキスト プレースホルダー 9">
            <a:extLst>
              <a:ext uri="{FF2B5EF4-FFF2-40B4-BE49-F238E27FC236}">
                <a16:creationId xmlns:a16="http://schemas.microsoft.com/office/drawing/2014/main" id="{32AFDB5C-E398-B625-8CE0-BF35F6E51FD0}"/>
              </a:ext>
            </a:extLst>
          </p:cNvPr>
          <p:cNvSpPr>
            <a:spLocks noGrp="1"/>
          </p:cNvSpPr>
          <p:nvPr>
            <p:ph type="body" sz="quarter" idx="13"/>
          </p:nvPr>
        </p:nvSpPr>
        <p:spPr>
          <a:xfrm rot="16200000">
            <a:off x="1109999" y="1715101"/>
            <a:ext cx="900000" cy="1800000"/>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vert" lIns="36000" tIns="36000" rIns="36000" bIns="36000" rtlCol="0" anchor="ctr" anchorCtr="1">
            <a:noAutofit/>
          </a:bodyPr>
          <a:lstStyle>
            <a:lvl1pPr>
              <a:lnSpc>
                <a:spcPct val="100000"/>
              </a:lnSpc>
              <a:defRPr lang="ja-JP" altLang="en-US" sz="1600" b="0" i="0" u="none" strike="noStrike" cap="none" spc="0" normalizeH="0" dirty="0" smtClean="0">
                <a:ln>
                  <a:noFill/>
                </a:ln>
                <a:solidFill>
                  <a:srgbClr val="FFFFFF"/>
                </a:solidFill>
                <a:effectLst/>
                <a:uLnTx/>
                <a:uFillTx/>
                <a:latin typeface="+mn-ea"/>
              </a:defRPr>
            </a:lvl1pPr>
          </a:lstStyle>
          <a:p>
            <a:pPr marR="0" lvl="0" algn="ctr" fontAlgn="auto">
              <a:lnSpc>
                <a:spcPct val="100000"/>
              </a:lnSpc>
              <a:spcBef>
                <a:spcPts val="0"/>
              </a:spcBef>
              <a:spcAft>
                <a:spcPts val="0"/>
              </a:spcAft>
              <a:buClrTx/>
              <a:buSzTx/>
              <a:buFontTx/>
              <a:tabLst/>
            </a:pPr>
            <a:r>
              <a:rPr kumimoji="1" lang="ja-JP" altLang="en-US"/>
              <a:t>マスター テキストの書式設定</a:t>
            </a:r>
          </a:p>
        </p:txBody>
      </p:sp>
      <p:sp>
        <p:nvSpPr>
          <p:cNvPr id="13" name="テキスト プレースホルダー 13">
            <a:extLst>
              <a:ext uri="{FF2B5EF4-FFF2-40B4-BE49-F238E27FC236}">
                <a16:creationId xmlns:a16="http://schemas.microsoft.com/office/drawing/2014/main" id="{1F973966-0CF4-4221-11A9-28EAFF914935}"/>
              </a:ext>
            </a:extLst>
          </p:cNvPr>
          <p:cNvSpPr>
            <a:spLocks noGrp="1"/>
          </p:cNvSpPr>
          <p:nvPr>
            <p:ph type="body" sz="quarter" idx="14"/>
          </p:nvPr>
        </p:nvSpPr>
        <p:spPr>
          <a:xfrm>
            <a:off x="2459999" y="2165101"/>
            <a:ext cx="6300000" cy="900000"/>
          </a:xfrm>
          <a:solidFill>
            <a:srgbClr val="E1E3EB"/>
          </a:solidFill>
          <a:ln>
            <a:noFill/>
          </a:ln>
        </p:spPr>
        <p:txBody>
          <a:bodyPr anchor="ctr"/>
          <a:lstStyle>
            <a:lvl1pPr>
              <a:lnSpc>
                <a:spcPct val="100000"/>
              </a:lnSpc>
              <a:defRPr sz="1600">
                <a:solidFill>
                  <a:schemeClr val="tx1"/>
                </a:solidFill>
              </a:defRPr>
            </a:lvl1pPr>
          </a:lstStyle>
          <a:p>
            <a:pPr lvl="0"/>
            <a:r>
              <a:rPr kumimoji="1" lang="ja-JP" altLang="en-US"/>
              <a:t>マスター テキストの書式設定</a:t>
            </a:r>
          </a:p>
        </p:txBody>
      </p:sp>
      <p:sp>
        <p:nvSpPr>
          <p:cNvPr id="24" name="テキスト プレースホルダー 9">
            <a:extLst>
              <a:ext uri="{FF2B5EF4-FFF2-40B4-BE49-F238E27FC236}">
                <a16:creationId xmlns:a16="http://schemas.microsoft.com/office/drawing/2014/main" id="{7269EE5B-5DF0-B5BD-1362-3E895712C9A2}"/>
              </a:ext>
            </a:extLst>
          </p:cNvPr>
          <p:cNvSpPr>
            <a:spLocks noGrp="1"/>
          </p:cNvSpPr>
          <p:nvPr>
            <p:ph type="body" sz="quarter" idx="15"/>
          </p:nvPr>
        </p:nvSpPr>
        <p:spPr>
          <a:xfrm rot="16200000">
            <a:off x="1109999" y="2777225"/>
            <a:ext cx="900000" cy="1800000"/>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vert" lIns="36000" tIns="36000" rIns="36000" bIns="36000" rtlCol="0" anchor="ctr" anchorCtr="1">
            <a:noAutofit/>
          </a:bodyPr>
          <a:lstStyle>
            <a:lvl1pPr>
              <a:lnSpc>
                <a:spcPct val="100000"/>
              </a:lnSpc>
              <a:defRPr lang="ja-JP" altLang="en-US" sz="1600" b="0" i="0" u="none" strike="noStrike" cap="none" spc="0" normalizeH="0" dirty="0" smtClean="0">
                <a:ln>
                  <a:noFill/>
                </a:ln>
                <a:solidFill>
                  <a:srgbClr val="FFFFFF"/>
                </a:solidFill>
                <a:effectLst/>
                <a:uLnTx/>
                <a:uFillTx/>
                <a:latin typeface="+mn-ea"/>
              </a:defRPr>
            </a:lvl1pPr>
          </a:lstStyle>
          <a:p>
            <a:pPr marR="0" lvl="0" algn="ctr" fontAlgn="auto">
              <a:lnSpc>
                <a:spcPct val="100000"/>
              </a:lnSpc>
              <a:spcBef>
                <a:spcPts val="0"/>
              </a:spcBef>
              <a:spcAft>
                <a:spcPts val="0"/>
              </a:spcAft>
              <a:buClrTx/>
              <a:buSzTx/>
              <a:buFontTx/>
              <a:tabLst/>
            </a:pPr>
            <a:r>
              <a:rPr kumimoji="1" lang="ja-JP" altLang="en-US"/>
              <a:t>マスター テキストの書式設定</a:t>
            </a:r>
          </a:p>
        </p:txBody>
      </p:sp>
      <p:sp>
        <p:nvSpPr>
          <p:cNvPr id="25" name="テキスト プレースホルダー 13">
            <a:extLst>
              <a:ext uri="{FF2B5EF4-FFF2-40B4-BE49-F238E27FC236}">
                <a16:creationId xmlns:a16="http://schemas.microsoft.com/office/drawing/2014/main" id="{F1AADA0C-DD48-4265-8817-BCD0A27208B6}"/>
              </a:ext>
            </a:extLst>
          </p:cNvPr>
          <p:cNvSpPr>
            <a:spLocks noGrp="1"/>
          </p:cNvSpPr>
          <p:nvPr>
            <p:ph type="body" sz="quarter" idx="16"/>
          </p:nvPr>
        </p:nvSpPr>
        <p:spPr>
          <a:xfrm>
            <a:off x="2459999" y="3227225"/>
            <a:ext cx="6300000" cy="900000"/>
          </a:xfrm>
          <a:solidFill>
            <a:srgbClr val="E1E3EB"/>
          </a:solidFill>
          <a:ln>
            <a:noFill/>
          </a:ln>
        </p:spPr>
        <p:txBody>
          <a:bodyPr anchor="ctr"/>
          <a:lstStyle>
            <a:lvl1pPr>
              <a:lnSpc>
                <a:spcPct val="100000"/>
              </a:lnSpc>
              <a:defRPr sz="1600">
                <a:solidFill>
                  <a:schemeClr val="tx1"/>
                </a:solidFill>
              </a:defRPr>
            </a:lvl1pPr>
          </a:lstStyle>
          <a:p>
            <a:pPr lvl="0"/>
            <a:r>
              <a:rPr kumimoji="1" lang="ja-JP" altLang="en-US"/>
              <a:t>マスター テキストの書式設定</a:t>
            </a:r>
          </a:p>
        </p:txBody>
      </p:sp>
    </p:spTree>
    <p:extLst>
      <p:ext uri="{BB962C8B-B14F-4D97-AF65-F5344CB8AC3E}">
        <p14:creationId xmlns:p14="http://schemas.microsoft.com/office/powerpoint/2010/main" val="2151949364"/>
      </p:ext>
    </p:extLst>
  </p:cSld>
  <p:clrMapOvr>
    <a:masterClrMapping/>
  </p:clrMapOvr>
  <p:hf hdr="0" ftr="0" dt="0"/>
  <p:extLst>
    <p:ext uri="{DCECCB84-F9BA-43D5-87BE-67443E8EF086}">
      <p15:sldGuideLst xmlns:p15="http://schemas.microsoft.com/office/powerpoint/2012/main">
        <p15:guide id="1" pos="7265">
          <p15:clr>
            <a:srgbClr val="FBAE40"/>
          </p15:clr>
        </p15:guide>
        <p15:guide id="2" orient="horz" pos="686">
          <p15:clr>
            <a:srgbClr val="FBAE40"/>
          </p15:clr>
        </p15:guide>
        <p15:guide id="3" pos="415">
          <p15:clr>
            <a:srgbClr val="FBAE40"/>
          </p15:clr>
        </p15:guide>
        <p15:guide id="4" orient="horz" pos="391">
          <p15:clr>
            <a:srgbClr val="FBAE40"/>
          </p15:clr>
        </p15:guide>
        <p15:guide id="5" orient="horz" pos="406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3_裏表紙（エンド）">
    <p:spTree>
      <p:nvGrpSpPr>
        <p:cNvPr id="1" name=""/>
        <p:cNvGrpSpPr/>
        <p:nvPr/>
      </p:nvGrpSpPr>
      <p:grpSpPr>
        <a:xfrm>
          <a:off x="0" y="0"/>
          <a:ext cx="0" cy="0"/>
          <a:chOff x="0" y="0"/>
          <a:chExt cx="0" cy="0"/>
        </a:xfrm>
      </p:grpSpPr>
      <p:pic>
        <p:nvPicPr>
          <p:cNvPr id="2" name="ロゴ" descr="挿絵 が含まれている画像&#10;&#10;自動的に生成された説明">
            <a:extLst>
              <a:ext uri="{FF2B5EF4-FFF2-40B4-BE49-F238E27FC236}">
                <a16:creationId xmlns:a16="http://schemas.microsoft.com/office/drawing/2014/main" id="{1BFEA67F-66E0-94A9-787F-3097CC1C2D6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288706" y="2901270"/>
            <a:ext cx="3614589" cy="1055460"/>
          </a:xfrm>
          <a:prstGeom prst="rect">
            <a:avLst/>
          </a:prstGeom>
        </p:spPr>
      </p:pic>
    </p:spTree>
    <p:extLst>
      <p:ext uri="{BB962C8B-B14F-4D97-AF65-F5344CB8AC3E}">
        <p14:creationId xmlns:p14="http://schemas.microsoft.com/office/powerpoint/2010/main" val="53618638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6E7345C-A205-9805-27EF-BB92ED98328E}"/>
              </a:ext>
            </a:extLst>
          </p:cNvPr>
          <p:cNvGraphicFramePr>
            <a:graphicFrameLocks noChangeAspect="1"/>
          </p:cNvGraphicFramePr>
          <p:nvPr userDrawn="1">
            <p:custDataLst>
              <p:tags r:id="rId7"/>
            </p:custDataLst>
            <p:extLst>
              <p:ext uri="{D42A27DB-BD31-4B8C-83A1-F6EECF244321}">
                <p14:modId xmlns:p14="http://schemas.microsoft.com/office/powerpoint/2010/main" val="5037674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8" imgW="512" imgH="511" progId="TCLayout.ActiveDocument.1">
                  <p:embed/>
                </p:oleObj>
              </mc:Choice>
              <mc:Fallback>
                <p:oleObj name="think-cellスライド" r:id="rId8" imgW="512" imgH="511" progId="TCLayout.ActiveDocument.1">
                  <p:embed/>
                  <p:pic>
                    <p:nvPicPr>
                      <p:cNvPr id="3" name="think-cell data - do not delete" hidden="1">
                        <a:extLst>
                          <a:ext uri="{FF2B5EF4-FFF2-40B4-BE49-F238E27FC236}">
                            <a16:creationId xmlns:a16="http://schemas.microsoft.com/office/drawing/2014/main" id="{B6E7345C-A205-9805-27EF-BB92ED98328E}"/>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41" name="タイトル プレースホルダー 1">
            <a:extLst>
              <a:ext uri="{FF2B5EF4-FFF2-40B4-BE49-F238E27FC236}">
                <a16:creationId xmlns:a16="http://schemas.microsoft.com/office/drawing/2014/main" id="{8EE092A6-D83A-5625-E6A0-464AB02436A1}"/>
              </a:ext>
            </a:extLst>
          </p:cNvPr>
          <p:cNvSpPr>
            <a:spLocks noGrp="1" noChangeAspect="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42" name="テキスト プレースホルダー 2">
            <a:extLst>
              <a:ext uri="{FF2B5EF4-FFF2-40B4-BE49-F238E27FC236}">
                <a16:creationId xmlns:a16="http://schemas.microsoft.com/office/drawing/2014/main" id="{28738AA0-071A-D6E8-857E-2C6F503B862A}"/>
              </a:ext>
            </a:extLst>
          </p:cNvPr>
          <p:cNvSpPr>
            <a:spLocks noGrp="1" noChangeAspect="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
        <p:nvSpPr>
          <p:cNvPr id="47" name="スライド番号プレースホルダー 5">
            <a:extLst>
              <a:ext uri="{FF2B5EF4-FFF2-40B4-BE49-F238E27FC236}">
                <a16:creationId xmlns:a16="http://schemas.microsoft.com/office/drawing/2014/main" id="{C94D6D13-5CA7-B2B1-0C5A-D9DD15CD3F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662F5B-00DE-48A3-8288-BD8A1455FDA5}" type="slidenum">
              <a:rPr kumimoji="1" lang="ja-JP" altLang="en-US" smtClean="0"/>
              <a:t>‹#›</a:t>
            </a:fld>
            <a:endParaRPr kumimoji="1" lang="ja-JP" altLang="en-US"/>
          </a:p>
        </p:txBody>
      </p:sp>
    </p:spTree>
    <p:extLst>
      <p:ext uri="{BB962C8B-B14F-4D97-AF65-F5344CB8AC3E}">
        <p14:creationId xmlns:p14="http://schemas.microsoft.com/office/powerpoint/2010/main" val="1413027900"/>
      </p:ext>
    </p:extLst>
  </p:cSld>
  <p:clrMap bg1="lt1" tx1="dk1" bg2="lt2" tx2="dk2" accent1="accent1" accent2="accent2" accent3="accent3" accent4="accent4" accent5="accent5" accent6="accent6" hlink="hlink" folHlink="folHlink"/>
  <p:sldLayoutIdLst>
    <p:sldLayoutId id="2147483730" r:id="rId1"/>
    <p:sldLayoutId id="2147483704" r:id="rId2"/>
    <p:sldLayoutId id="2147483705" r:id="rId3"/>
    <p:sldLayoutId id="2147483706" r:id="rId4"/>
    <p:sldLayoutId id="2147483715" r:id="rId5"/>
  </p:sldLayoutIdLst>
  <p:hf hdr="0" ftr="0" dt="0"/>
  <p:txStyles>
    <p:titleStyle>
      <a:lvl1pPr algn="l" defTabSz="914400" rtl="0" eaLnBrk="1" latinLnBrk="0" hangingPunct="1">
        <a:lnSpc>
          <a:spcPct val="120000"/>
        </a:lnSpc>
        <a:spcBef>
          <a:spcPct val="0"/>
        </a:spcBef>
        <a:buNone/>
        <a:defRPr kumimoji="1" sz="4400" b="1" kern="1200" spc="110" baseline="0">
          <a:solidFill>
            <a:srgbClr val="22237D"/>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4.xml"/><Relationship Id="rId1" Type="http://schemas.openxmlformats.org/officeDocument/2006/relationships/tags" Target="../tags/tag3.xml"/><Relationship Id="rId5" Type="http://schemas.openxmlformats.org/officeDocument/2006/relationships/image" Target="../media/image8.sv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9.png"/><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tags" Target="../tags/tag6.x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7.xml"/><Relationship Id="rId6" Type="http://schemas.openxmlformats.org/officeDocument/2006/relationships/image" Target="../media/image11.png"/><Relationship Id="rId5" Type="http://schemas.openxmlformats.org/officeDocument/2006/relationships/image" Target="../media/image10.emf"/><Relationship Id="rId4" Type="http://schemas.openxmlformats.org/officeDocument/2006/relationships/oleObject" Target="../embeddings/oleObject5.bin"/></Relationships>
</file>

<file path=ppt/slides/_rels/slide29.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2" Type="http://schemas.openxmlformats.org/officeDocument/2006/relationships/tags" Target="../tags/tag9.xml"/><Relationship Id="rId16" Type="http://schemas.openxmlformats.org/officeDocument/2006/relationships/image" Target="../media/image12.emf"/><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oleObject" Target="../embeddings/oleObject6.bin"/><Relationship Id="rId10" Type="http://schemas.openxmlformats.org/officeDocument/2006/relationships/tags" Target="../tags/tag17.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4.xml"/><Relationship Id="rId5" Type="http://schemas.openxmlformats.org/officeDocument/2006/relationships/image" Target="../media/image16.svg"/><Relationship Id="rId4" Type="http://schemas.openxmlformats.org/officeDocument/2006/relationships/image" Target="../media/image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tags" Target="../tags/tag21.xml"/><Relationship Id="rId4" Type="http://schemas.openxmlformats.org/officeDocument/2006/relationships/image" Target="../media/image1.emf"/></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8662A-D05C-617E-6A7F-1A6D83A47C35}"/>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BD7A2EB-C2B6-8A52-8A51-753D4AB44077}"/>
              </a:ext>
            </a:extLst>
          </p:cNvPr>
          <p:cNvSpPr>
            <a:spLocks noGrp="1"/>
          </p:cNvSpPr>
          <p:nvPr>
            <p:ph type="body" sz="quarter" idx="12"/>
          </p:nvPr>
        </p:nvSpPr>
        <p:spPr>
          <a:xfrm>
            <a:off x="2042017" y="2749550"/>
            <a:ext cx="8129506" cy="1358900"/>
          </a:xfrm>
        </p:spPr>
        <p:txBody>
          <a:bodyPr/>
          <a:lstStyle/>
          <a:p>
            <a:r>
              <a:rPr kumimoji="1" lang="ja-JP" altLang="en-US"/>
              <a:t>不正・誤謬事案の説明</a:t>
            </a:r>
          </a:p>
        </p:txBody>
      </p:sp>
      <p:sp>
        <p:nvSpPr>
          <p:cNvPr id="5" name="TextBox 4">
            <a:extLst>
              <a:ext uri="{FF2B5EF4-FFF2-40B4-BE49-F238E27FC236}">
                <a16:creationId xmlns:a16="http://schemas.microsoft.com/office/drawing/2014/main" id="{A5F550C1-2FC4-F680-91E7-390A04F10FF8}"/>
              </a:ext>
            </a:extLst>
          </p:cNvPr>
          <p:cNvSpPr txBox="1"/>
          <p:nvPr/>
        </p:nvSpPr>
        <p:spPr>
          <a:xfrm>
            <a:off x="495312" y="495041"/>
            <a:ext cx="4122603" cy="465384"/>
          </a:xfrm>
          <a:prstGeom prst="rect">
            <a:avLst/>
          </a:prstGeom>
          <a:solidFill>
            <a:srgbClr val="FFFF00"/>
          </a:solidFill>
          <a:ln>
            <a:solidFill>
              <a:srgbClr val="FFFF00"/>
            </a:solidFill>
          </a:ln>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nSpc>
                <a:spcPct val="120000"/>
              </a:lnSpc>
            </a:pPr>
            <a:r>
              <a:rPr lang="ja-JP" altLang="en-US" sz="2800" b="1" spc="110">
                <a:cs typeface="Segoe UI"/>
              </a:rPr>
              <a:t>自主点検　補足参考資料</a:t>
            </a:r>
            <a:endParaRPr kumimoji="1" lang="en-US" sz="2800" b="1" spc="110" baseline="0"/>
          </a:p>
        </p:txBody>
      </p:sp>
      <p:sp>
        <p:nvSpPr>
          <p:cNvPr id="6" name="TextBox 5">
            <a:extLst>
              <a:ext uri="{FF2B5EF4-FFF2-40B4-BE49-F238E27FC236}">
                <a16:creationId xmlns:a16="http://schemas.microsoft.com/office/drawing/2014/main" id="{0E36C5DB-45EB-4803-5F02-EA2099AE1E7A}"/>
              </a:ext>
            </a:extLst>
          </p:cNvPr>
          <p:cNvSpPr txBox="1"/>
          <p:nvPr/>
        </p:nvSpPr>
        <p:spPr>
          <a:xfrm>
            <a:off x="1201556" y="1247748"/>
            <a:ext cx="10134926" cy="980974"/>
          </a:xfrm>
          <a:prstGeom prst="rect">
            <a:avLst/>
          </a:prstGeom>
          <a:solidFill>
            <a:srgbClr val="FFFF00"/>
          </a:solidFill>
          <a:ln>
            <a:solidFill>
              <a:srgbClr val="FFFF00"/>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20000"/>
              </a:lnSpc>
            </a:pPr>
            <a:r>
              <a:rPr lang="ja-JP" altLang="en-US" sz="2800" b="1" spc="110">
                <a:cs typeface="Segoe UI"/>
              </a:rPr>
              <a:t>3/6の「調査結果概況説明会」資料を再掲、</a:t>
            </a:r>
          </a:p>
          <a:p>
            <a:pPr>
              <a:lnSpc>
                <a:spcPct val="120000"/>
              </a:lnSpc>
            </a:pPr>
            <a:r>
              <a:rPr lang="ja-JP" altLang="en-US" sz="2800" b="1" spc="110">
                <a:cs typeface="Segoe UI"/>
              </a:rPr>
              <a:t>＋特に</a:t>
            </a:r>
            <a:r>
              <a:rPr lang="ja-JP" altLang="en-US" sz="2800" b="1" spc="110">
                <a:solidFill>
                  <a:srgbClr val="FF0000"/>
                </a:solidFill>
                <a:cs typeface="Segoe UI"/>
              </a:rPr>
              <a:t>自主点検の参考となる補足説明資料を追加</a:t>
            </a:r>
            <a:r>
              <a:rPr lang="ja-JP" altLang="en-US" sz="2800" b="1" spc="110">
                <a:cs typeface="Segoe UI"/>
              </a:rPr>
              <a:t>しています</a:t>
            </a:r>
          </a:p>
        </p:txBody>
      </p:sp>
    </p:spTree>
    <p:extLst>
      <p:ext uri="{BB962C8B-B14F-4D97-AF65-F5344CB8AC3E}">
        <p14:creationId xmlns:p14="http://schemas.microsoft.com/office/powerpoint/2010/main" val="994663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972FCD-2C36-84D5-AE6B-4A9F6E183FF0}"/>
              </a:ext>
            </a:extLst>
          </p:cNvPr>
          <p:cNvSpPr>
            <a:spLocks noGrp="1"/>
          </p:cNvSpPr>
          <p:nvPr>
            <p:ph type="title"/>
          </p:nvPr>
        </p:nvSpPr>
        <p:spPr>
          <a:xfrm>
            <a:off x="660000" y="365508"/>
            <a:ext cx="8274450" cy="370800"/>
          </a:xfrm>
          <a:noFill/>
          <a:ln>
            <a:noFill/>
          </a:ln>
        </p:spPr>
        <p:txBody>
          <a:bodyPr>
            <a:normAutofit/>
          </a:bodyPr>
          <a:lstStyle/>
          <a:p>
            <a:r>
              <a:rPr lang="ja-JP" altLang="en-US">
                <a:cs typeface="Segoe UI"/>
              </a:rPr>
              <a:t>目次　（3/6説明資料への補足追記と自主点検チェックリストとの対応）</a:t>
            </a:r>
          </a:p>
        </p:txBody>
      </p:sp>
      <p:graphicFrame>
        <p:nvGraphicFramePr>
          <p:cNvPr id="13" name="Table 12">
            <a:extLst>
              <a:ext uri="{FF2B5EF4-FFF2-40B4-BE49-F238E27FC236}">
                <a16:creationId xmlns:a16="http://schemas.microsoft.com/office/drawing/2014/main" id="{AFEB9D6E-1436-3A7D-CE2F-9BD4F6C3B1A7}"/>
              </a:ext>
            </a:extLst>
          </p:cNvPr>
          <p:cNvGraphicFramePr>
            <a:graphicFrameLocks noGrp="1"/>
          </p:cNvGraphicFramePr>
          <p:nvPr>
            <p:extLst>
              <p:ext uri="{D42A27DB-BD31-4B8C-83A1-F6EECF244321}">
                <p14:modId xmlns:p14="http://schemas.microsoft.com/office/powerpoint/2010/main" val="3495026759"/>
              </p:ext>
            </p:extLst>
          </p:nvPr>
        </p:nvGraphicFramePr>
        <p:xfrm>
          <a:off x="660000" y="888657"/>
          <a:ext cx="10728001" cy="5658601"/>
        </p:xfrm>
        <a:graphic>
          <a:graphicData uri="http://schemas.openxmlformats.org/drawingml/2006/table">
            <a:tbl>
              <a:tblPr bandRow="1">
                <a:tableStyleId>{5C22544A-7EE6-4342-B048-85BDC9FD1C3A}</a:tableStyleId>
              </a:tblPr>
              <a:tblGrid>
                <a:gridCol w="4927301">
                  <a:extLst>
                    <a:ext uri="{9D8B030D-6E8A-4147-A177-3AD203B41FA5}">
                      <a16:colId xmlns:a16="http://schemas.microsoft.com/office/drawing/2014/main" val="1523103299"/>
                    </a:ext>
                  </a:extLst>
                </a:gridCol>
                <a:gridCol w="1021715">
                  <a:extLst>
                    <a:ext uri="{9D8B030D-6E8A-4147-A177-3AD203B41FA5}">
                      <a16:colId xmlns:a16="http://schemas.microsoft.com/office/drawing/2014/main" val="1775586482"/>
                    </a:ext>
                  </a:extLst>
                </a:gridCol>
                <a:gridCol w="510856">
                  <a:extLst>
                    <a:ext uri="{9D8B030D-6E8A-4147-A177-3AD203B41FA5}">
                      <a16:colId xmlns:a16="http://schemas.microsoft.com/office/drawing/2014/main" val="3458348322"/>
                    </a:ext>
                  </a:extLst>
                </a:gridCol>
                <a:gridCol w="4268129">
                  <a:extLst>
                    <a:ext uri="{9D8B030D-6E8A-4147-A177-3AD203B41FA5}">
                      <a16:colId xmlns:a16="http://schemas.microsoft.com/office/drawing/2014/main" val="2688680624"/>
                    </a:ext>
                  </a:extLst>
                </a:gridCol>
              </a:tblGrid>
              <a:tr h="275944">
                <a:tc>
                  <a:txBody>
                    <a:bodyPr/>
                    <a:lstStyle/>
                    <a:p>
                      <a:pPr algn="ctr" fontAlgn="ctr">
                        <a:buNone/>
                      </a:pPr>
                      <a:r>
                        <a:rPr lang="en-US" sz="1200" b="1">
                          <a:solidFill>
                            <a:srgbClr val="FFFFFF"/>
                          </a:solidFill>
                          <a:effectLst/>
                          <a:latin typeface="BIZ UDPゴシック (太字)"/>
                        </a:rPr>
                        <a:t>3/6調査結果概況説明説明資料（再掲）</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3D64"/>
                    </a:solidFill>
                  </a:tcPr>
                </a:tc>
                <a:tc>
                  <a:txBody>
                    <a:bodyPr/>
                    <a:lstStyle/>
                    <a:p>
                      <a:pPr algn="ctr" fontAlgn="ctr">
                        <a:buNone/>
                      </a:pPr>
                      <a:r>
                        <a:rPr lang="en-US" sz="1200" b="1">
                          <a:solidFill>
                            <a:srgbClr val="FFFFFF"/>
                          </a:solidFill>
                          <a:effectLst/>
                          <a:latin typeface="BIZ UDPゴシック (太字)"/>
                        </a:rPr>
                        <a:t>補足ページ</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3D64"/>
                    </a:solidFill>
                  </a:tcPr>
                </a:tc>
                <a:tc gridSpan="2">
                  <a:txBody>
                    <a:bodyPr/>
                    <a:lstStyle/>
                    <a:p>
                      <a:pPr algn="ctr" fontAlgn="ctr">
                        <a:buNone/>
                      </a:pPr>
                      <a:r>
                        <a:rPr lang="en-US" sz="1200" b="1">
                          <a:solidFill>
                            <a:srgbClr val="FFFFFF"/>
                          </a:solidFill>
                          <a:effectLst/>
                          <a:latin typeface="BIZ UDPゴシック (太字)"/>
                        </a:rPr>
                        <a:t>自主点検チェックリストとの対応</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500C42"/>
                      </a:solidFill>
                      <a:prstDash val="solid"/>
                      <a:round/>
                      <a:headEnd type="none" w="med" len="med"/>
                      <a:tailEnd type="none" w="med" len="med"/>
                    </a:lnR>
                    <a:lnT w="6350" cap="flat" cmpd="sng" algn="ctr">
                      <a:solidFill>
                        <a:srgbClr val="B0C04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3D64"/>
                    </a:solidFill>
                  </a:tcPr>
                </a:tc>
                <a:tc hMerge="1">
                  <a:txBody>
                    <a:bodyPr/>
                    <a:lstStyle/>
                    <a:p>
                      <a:endParaRPr lang="en-US"/>
                    </a:p>
                  </a:txBody>
                  <a:tcPr marL="9525" marR="9525" marT="9525" anchor="ctr">
                    <a:lnL w="6350" cap="flat" cmpd="sng" algn="ctr">
                      <a:solidFill>
                        <a:srgbClr val="500C42"/>
                      </a:solidFill>
                      <a:prstDash val="solid"/>
                      <a:round/>
                      <a:headEnd type="none" w="med" len="med"/>
                      <a:tailEnd type="none" w="med" len="med"/>
                    </a:lnL>
                    <a:lnR w="6350" cap="flat" cmpd="sng" algn="ctr">
                      <a:solidFill>
                        <a:srgbClr val="500C42"/>
                      </a:solidFill>
                      <a:prstDash val="solid"/>
                      <a:round/>
                      <a:headEnd type="none" w="med" len="med"/>
                      <a:tailEnd type="none" w="med" len="med"/>
                    </a:lnR>
                    <a:lnT w="6350" cap="flat" cmpd="sng" algn="ctr">
                      <a:solidFill>
                        <a:srgbClr val="500C42"/>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53D64"/>
                    </a:solidFill>
                  </a:tcPr>
                </a:tc>
                <a:extLst>
                  <a:ext uri="{0D108BD9-81ED-4DB2-BD59-A6C34878D82A}">
                    <a16:rowId xmlns:a16="http://schemas.microsoft.com/office/drawing/2014/main" val="1280455158"/>
                  </a:ext>
                </a:extLst>
              </a:tr>
              <a:tr h="485406">
                <a:tc>
                  <a:txBody>
                    <a:bodyPr/>
                    <a:lstStyle/>
                    <a:p>
                      <a:pPr marL="72000" fontAlgn="ctr">
                        <a:buNone/>
                      </a:pPr>
                      <a:r>
                        <a:rPr lang="en-US" sz="1200">
                          <a:effectLst/>
                          <a:latin typeface="BIZ UDPゴシック (太字)"/>
                        </a:rPr>
                        <a:t>3-1.二重取引による売上の過大計上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P.3</a:t>
                      </a:r>
                      <a:r>
                        <a:rPr lang="ja-JP" altLang="en-US" sz="1200">
                          <a:effectLst/>
                          <a:latin typeface="BIZ UDPゴシック (太字)"/>
                        </a:rPr>
                        <a:t>～</a:t>
                      </a:r>
                      <a:r>
                        <a:rPr lang="en-US" altLang="ja-JP" sz="1200">
                          <a:effectLst/>
                          <a:latin typeface="BIZ UDPゴシック (太字)"/>
                        </a:rPr>
                        <a:t>8</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2-1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err="1">
                          <a:effectLst/>
                          <a:latin typeface="BIZ UDPゴシック (太字)"/>
                        </a:rPr>
                        <a:t>全体商流の中で、自社が複数回登場しないか、自社に加えてグループ会社が登場しないか</a:t>
                      </a:r>
                      <a:r>
                        <a:rPr lang="en-US" sz="1200">
                          <a:effectLst/>
                          <a:latin typeface="BIZ UDPゴシック (太字)"/>
                        </a:rPr>
                        <a: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970407261"/>
                  </a:ext>
                </a:extLst>
              </a:tr>
              <a:tr h="274548">
                <a:tc>
                  <a:txBody>
                    <a:bodyPr/>
                    <a:lstStyle/>
                    <a:p>
                      <a:pPr marL="72000" fontAlgn="ctr">
                        <a:buNone/>
                      </a:pPr>
                      <a:r>
                        <a:rPr lang="en-US" sz="1200">
                          <a:effectLst/>
                          <a:latin typeface="BIZ UDPゴシック (太字)"/>
                        </a:rPr>
                        <a:t>3-2.スルー取引による売上の過大計上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P.9</a:t>
                      </a:r>
                      <a:r>
                        <a:rPr lang="ja-JP" altLang="en-US" sz="1200">
                          <a:effectLst/>
                          <a:latin typeface="BIZ UDPゴシック (太字)"/>
                        </a:rPr>
                        <a:t>～</a:t>
                      </a:r>
                      <a:r>
                        <a:rPr lang="en-US" altLang="ja-JP" sz="1200">
                          <a:effectLst/>
                          <a:latin typeface="BIZ UDPゴシック (太字)"/>
                        </a:rPr>
                        <a:t>12</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2-2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a:effectLst/>
                          <a:latin typeface="BIZ UDPゴシック (太字)"/>
                        </a:rPr>
                        <a:t>商流上、付加価値を生んでいない取引が含まれていないか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1142775705"/>
                  </a:ext>
                </a:extLst>
              </a:tr>
              <a:tr h="274548">
                <a:tc>
                  <a:txBody>
                    <a:bodyPr/>
                    <a:lstStyle/>
                    <a:p>
                      <a:pPr marL="72000" fontAlgn="ctr">
                        <a:buNone/>
                      </a:pPr>
                      <a:r>
                        <a:rPr lang="en-US" sz="1200">
                          <a:effectLst/>
                          <a:latin typeface="BIZ UDPゴシック (太字)"/>
                        </a:rPr>
                        <a:t>3-3.検収未完了や分割検収による売上の前倒し計上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P.13</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3-2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a:effectLst/>
                          <a:latin typeface="BIZ UDPゴシック (太字)"/>
                        </a:rPr>
                        <a:t>検収基準が曖昧な取引が存在していないか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817718905"/>
                  </a:ext>
                </a:extLst>
              </a:tr>
              <a:tr h="274548">
                <a:tc>
                  <a:txBody>
                    <a:bodyPr/>
                    <a:lstStyle/>
                    <a:p>
                      <a:pPr marL="72000" fontAlgn="ctr">
                        <a:buNone/>
                      </a:pPr>
                      <a:r>
                        <a:rPr lang="en-US" sz="1200">
                          <a:effectLst/>
                          <a:latin typeface="BIZ UDPゴシック (太字)"/>
                        </a:rPr>
                        <a:t>3-4.既完了案件の売上の後倒し計上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200">
                          <a:effectLst/>
                          <a:latin typeface="BIZ UDPゴシック (太字)"/>
                        </a:rPr>
                        <a:t>P.14</a:t>
                      </a:r>
                      <a:endParaRPr lang="ja-JP" altLang="en-US" sz="1200" b="0" i="0" u="none" strike="noStrike" noProof="0">
                        <a:solidFill>
                          <a:srgbClr val="262626"/>
                        </a:solidFill>
                        <a:effectLst/>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3-1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r>
                        <a:rPr lang="en-US" sz="1200">
                          <a:effectLst/>
                          <a:latin typeface="BIZ UDPゴシック (太字)"/>
                        </a:rPr>
                        <a:t>1つの取引を意図的に分割して売上計上していないか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3810902"/>
                  </a:ext>
                </a:extLst>
              </a:tr>
              <a:tr h="274548">
                <a:tc>
                  <a:txBody>
                    <a:bodyPr/>
                    <a:lstStyle/>
                    <a:p>
                      <a:pPr marL="72000" fontAlgn="ctr">
                        <a:buNone/>
                      </a:pPr>
                      <a:r>
                        <a:rPr lang="en-US" sz="1200">
                          <a:effectLst/>
                          <a:latin typeface="BIZ UDPゴシック (太字)"/>
                        </a:rPr>
                        <a:t>3-5.未出荷取引による売上の過大計上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P.15</a:t>
                      </a:r>
                      <a:r>
                        <a:rPr lang="ja-JP" altLang="en-US" sz="1200">
                          <a:effectLst/>
                          <a:latin typeface="BIZ UDPゴシック (太字)"/>
                        </a:rPr>
                        <a:t>～</a:t>
                      </a:r>
                      <a:r>
                        <a:rPr lang="en-US" altLang="ja-JP" sz="1200">
                          <a:effectLst/>
                          <a:latin typeface="BIZ UDPゴシック (太字)"/>
                        </a:rPr>
                        <a:t>18</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4-1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err="1">
                          <a:effectLst/>
                          <a:latin typeface="BIZ UDPゴシック (太字)"/>
                        </a:rPr>
                        <a:t>請求済未出荷売上（預り売上）を計上していないか</a:t>
                      </a:r>
                      <a:r>
                        <a:rPr lang="en-US" sz="1200">
                          <a:effectLst/>
                          <a:latin typeface="BIZ UDPゴシック (太字)"/>
                        </a:rPr>
                        <a: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404475224"/>
                  </a:ext>
                </a:extLst>
              </a:tr>
              <a:tr h="485406">
                <a:tc>
                  <a:txBody>
                    <a:bodyPr/>
                    <a:lstStyle/>
                    <a:p>
                      <a:pPr marL="72000" fontAlgn="ctr">
                        <a:buNone/>
                      </a:pPr>
                      <a:r>
                        <a:rPr lang="en-US" sz="1200">
                          <a:effectLst/>
                          <a:latin typeface="BIZ UDPゴシック (太字)"/>
                        </a:rPr>
                        <a:t>3-6.赤字案件、部門間や工事案件等の原価付替</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altLang="ja-JP" sz="1200">
                          <a:effectLst/>
                          <a:latin typeface="BIZ UDPゴシック (太字)"/>
                        </a:rPr>
                        <a:t>P.19</a:t>
                      </a:r>
                      <a:r>
                        <a:rPr lang="ja-JP" altLang="en-US" sz="1200">
                          <a:effectLst/>
                          <a:latin typeface="BIZ UDPゴシック (太字)"/>
                        </a:rPr>
                        <a:t>～</a:t>
                      </a:r>
                      <a:r>
                        <a:rPr lang="en-US" altLang="ja-JP" sz="1200">
                          <a:effectLst/>
                          <a:latin typeface="BIZ UDPゴシック (太字)"/>
                        </a:rPr>
                        <a:t>26</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6-1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a:effectLst/>
                          <a:latin typeface="BIZ UDPゴシック (太字)"/>
                        </a:rPr>
                        <a:t>原価の振替・修正について、承認者・理由が記録・保存されているか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3977906444"/>
                  </a:ext>
                </a:extLst>
              </a:tr>
              <a:tr h="274548">
                <a:tc>
                  <a:txBody>
                    <a:bodyPr/>
                    <a:lstStyle/>
                    <a:p>
                      <a:pPr marL="72000" fontAlgn="ctr">
                        <a:buNone/>
                      </a:pPr>
                      <a:r>
                        <a:rPr lang="en-US" sz="1200">
                          <a:effectLst/>
                          <a:latin typeface="BIZ UDPゴシック (太字)"/>
                        </a:rPr>
                        <a:t>3-7.部門等の費用付替</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P.27,28</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7-1</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r>
                        <a:rPr lang="ja-JP" altLang="en-US" sz="1200">
                          <a:effectLst/>
                          <a:latin typeface="BIZ UDPゴシック (太字)"/>
                        </a:rPr>
                        <a:t>セグメント間・会社間で恣意的な利益移動が行われていないか</a:t>
                      </a:r>
                      <a:endParaRPr lang="en-US" altLang="ja-JP"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12043875"/>
                  </a:ext>
                </a:extLst>
              </a:tr>
              <a:tr h="274548">
                <a:tc>
                  <a:txBody>
                    <a:bodyPr/>
                    <a:lstStyle/>
                    <a:p>
                      <a:pPr marL="72000" fontAlgn="ctr">
                        <a:buNone/>
                      </a:pPr>
                      <a:r>
                        <a:rPr lang="en-US" sz="1200">
                          <a:effectLst/>
                          <a:latin typeface="BIZ UDPゴシック (太字)"/>
                        </a:rPr>
                        <a:t>3-8.費用の前倒し・後倒し</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P.29</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8-4</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r>
                        <a:rPr lang="ja-JP" altLang="en-US" sz="1200">
                          <a:effectLst/>
                          <a:latin typeface="BIZ UDPゴシック (太字)"/>
                        </a:rPr>
                        <a:t>当期に計上すべき費用が翌期の計上となっていないか</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72815245"/>
                  </a:ext>
                </a:extLst>
              </a:tr>
              <a:tr h="274548">
                <a:tc>
                  <a:txBody>
                    <a:bodyPr/>
                    <a:lstStyle/>
                    <a:p>
                      <a:pPr marL="72000" fontAlgn="ctr">
                        <a:buNone/>
                      </a:pPr>
                      <a:r>
                        <a:rPr lang="en-US" sz="1200">
                          <a:effectLst/>
                          <a:latin typeface="BIZ UDPゴシック (太字)"/>
                        </a:rPr>
                        <a:t>3-9.在庫過大計上・過少計上、在庫評価損の計上漏れ</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P.30</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200">
                        <a:effectLst/>
                        <a:latin typeface="BIZ UDPゴシック (太字)"/>
                      </a:endParaRP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92778339"/>
                  </a:ext>
                </a:extLst>
              </a:tr>
              <a:tr h="274548">
                <a:tc>
                  <a:txBody>
                    <a:bodyPr/>
                    <a:lstStyle/>
                    <a:p>
                      <a:pPr marL="72000" fontAlgn="ctr">
                        <a:buNone/>
                      </a:pPr>
                      <a:r>
                        <a:rPr lang="en-US" sz="1200">
                          <a:effectLst/>
                          <a:latin typeface="BIZ UDPゴシック (太字)"/>
                        </a:rPr>
                        <a:t>3-10.減損損失の先送り・計上漏れ</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P.31</a:t>
                      </a:r>
                      <a:r>
                        <a:rPr lang="ja-JP" altLang="en-US" sz="1200">
                          <a:effectLst/>
                          <a:latin typeface="BIZ UDPゴシック (太字)"/>
                        </a:rPr>
                        <a:t>～</a:t>
                      </a:r>
                      <a:r>
                        <a:rPr lang="en-US" altLang="ja-JP" sz="1200">
                          <a:effectLst/>
                          <a:latin typeface="BIZ UDPゴシック (太字)"/>
                        </a:rPr>
                        <a:t>33</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9-4</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ja-JP" altLang="en-US" sz="1200">
                          <a:effectLst/>
                          <a:latin typeface="BIZ UDPゴシック (太字)"/>
                        </a:rPr>
                        <a:t>減損兆候の有無を検討したか</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2004029788"/>
                  </a:ext>
                </a:extLst>
              </a:tr>
              <a:tr h="485406">
                <a:tc>
                  <a:txBody>
                    <a:bodyPr/>
                    <a:lstStyle/>
                    <a:p>
                      <a:pPr marL="72000" fontAlgn="ctr">
                        <a:buNone/>
                      </a:pPr>
                      <a:r>
                        <a:rPr lang="en-US" sz="1200">
                          <a:effectLst/>
                          <a:latin typeface="BIZ UDPゴシック (太字)"/>
                        </a:rPr>
                        <a:t>3-11.固定資産の除却損漏れ</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P.34,35</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9-1</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ja-JP" altLang="en-US" sz="1200">
                          <a:effectLst/>
                          <a:latin typeface="BIZ UDPゴシック (太字)"/>
                        </a:rPr>
                        <a:t>当期に実施した除却について、証憑に基づき適切な処理がされているか</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4229177976"/>
                  </a:ext>
                </a:extLst>
              </a:tr>
              <a:tr h="274548">
                <a:tc>
                  <a:txBody>
                    <a:bodyPr/>
                    <a:lstStyle/>
                    <a:p>
                      <a:pPr marL="72000" fontAlgn="ctr">
                        <a:buNone/>
                      </a:pPr>
                      <a:r>
                        <a:rPr lang="en-US" sz="1200">
                          <a:effectLst/>
                          <a:latin typeface="BIZ UDPゴシック (太字)"/>
                        </a:rPr>
                        <a:t>3-12.資産性のない支出の固定資産計上</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P.36</a:t>
                      </a:r>
                      <a:r>
                        <a:rPr lang="ja-JP" altLang="en-US" sz="1200">
                          <a:effectLst/>
                          <a:latin typeface="BIZ UDPゴシック (太字)"/>
                        </a:rPr>
                        <a:t>～</a:t>
                      </a:r>
                      <a:r>
                        <a:rPr lang="en-US" altLang="ja-JP" sz="1200">
                          <a:effectLst/>
                          <a:latin typeface="BIZ UDPゴシック (太字)"/>
                        </a:rPr>
                        <a:t>41</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9-2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err="1">
                          <a:effectLst/>
                          <a:latin typeface="BIZ UDPゴシック (太字)"/>
                        </a:rPr>
                        <a:t>修繕費や研究費などの費用を資産化しているものはないか</a:t>
                      </a:r>
                      <a:r>
                        <a:rPr lang="en-US" sz="1200">
                          <a:effectLst/>
                          <a:latin typeface="BIZ UDPゴシック (太字)"/>
                        </a:rPr>
                        <a: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2361417426"/>
                  </a:ext>
                </a:extLst>
              </a:tr>
              <a:tr h="274548">
                <a:tc>
                  <a:txBody>
                    <a:bodyPr/>
                    <a:lstStyle/>
                    <a:p>
                      <a:pPr marL="72000" fontAlgn="ctr">
                        <a:buNone/>
                      </a:pPr>
                      <a:r>
                        <a:rPr lang="en-US" sz="1200">
                          <a:effectLst/>
                          <a:latin typeface="BIZ UDPゴシック (太字)"/>
                        </a:rPr>
                        <a:t>3-13.のれんの減損漏れ</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P.42</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9-4</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r>
                        <a:rPr lang="ja-JP" altLang="en-US" sz="1200">
                          <a:effectLst/>
                          <a:latin typeface="BIZ UDPゴシック (太字)"/>
                        </a:rPr>
                        <a:t>減損兆候の有無を検討したか</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3186036"/>
                  </a:ext>
                </a:extLst>
              </a:tr>
              <a:tr h="485406">
                <a:tc>
                  <a:txBody>
                    <a:bodyPr/>
                    <a:lstStyle/>
                    <a:p>
                      <a:pPr marL="72000" fontAlgn="ctr">
                        <a:buNone/>
                      </a:pPr>
                      <a:r>
                        <a:rPr lang="en-US" sz="1200">
                          <a:effectLst/>
                          <a:latin typeface="BIZ UDPゴシック (太字)"/>
                        </a:rPr>
                        <a:t>3-14.賞与引当金の計上時期操作</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ja-JP" sz="1200">
                          <a:effectLst/>
                          <a:latin typeface="BIZ UDPゴシック (太字)"/>
                        </a:rPr>
                        <a:t>P.43</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10-1,2,3</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r>
                        <a:rPr lang="ja-JP" altLang="en-US" sz="1200">
                          <a:effectLst/>
                          <a:latin typeface="BIZ UDPゴシック (太字)"/>
                        </a:rPr>
                        <a:t>賞与引当金が適切な時期に計上され、見積金額は根拠が明確であるか。</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7128511"/>
                  </a:ext>
                </a:extLst>
              </a:tr>
              <a:tr h="274548">
                <a:tc>
                  <a:txBody>
                    <a:bodyPr/>
                    <a:lstStyle/>
                    <a:p>
                      <a:pPr marL="72000" fontAlgn="ctr">
                        <a:buNone/>
                      </a:pPr>
                      <a:r>
                        <a:rPr lang="en-US" sz="1200">
                          <a:effectLst/>
                          <a:latin typeface="BIZ UDPゴシック (太字)"/>
                        </a:rPr>
                        <a:t>3-15.資産除去債務の計上漏れ</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P.44,45</a:t>
                      </a: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algn="ctr" fontAlgn="ctr">
                        <a:buNone/>
                      </a:pPr>
                      <a:r>
                        <a:rPr lang="en-US" sz="1200">
                          <a:effectLst/>
                          <a:latin typeface="BIZ UDPゴシック (太字)"/>
                        </a:rPr>
                        <a:t>9-3 </a:t>
                      </a: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tc>
                  <a:txBody>
                    <a:bodyPr/>
                    <a:lstStyle/>
                    <a:p>
                      <a:pPr fontAlgn="ctr">
                        <a:buNone/>
                      </a:pPr>
                      <a:r>
                        <a:rPr lang="en-US" sz="1200" err="1">
                          <a:effectLst/>
                          <a:latin typeface="BIZ UDPゴシック (太字)"/>
                        </a:rPr>
                        <a:t>資産除去債務の計上要否の検討を実施しているか</a:t>
                      </a:r>
                      <a:r>
                        <a:rPr lang="en-US" sz="1200">
                          <a:effectLst/>
                          <a:latin typeface="BIZ UDPゴシック (太字)"/>
                        </a:rPr>
                        <a:t> </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AEDFB"/>
                    </a:solidFill>
                  </a:tcPr>
                </a:tc>
                <a:extLst>
                  <a:ext uri="{0D108BD9-81ED-4DB2-BD59-A6C34878D82A}">
                    <a16:rowId xmlns:a16="http://schemas.microsoft.com/office/drawing/2014/main" val="2229405793"/>
                  </a:ext>
                </a:extLst>
              </a:tr>
              <a:tr h="274548">
                <a:tc>
                  <a:txBody>
                    <a:bodyPr/>
                    <a:lstStyle/>
                    <a:p>
                      <a:pPr marL="72000" fontAlgn="ctr">
                        <a:buNone/>
                      </a:pPr>
                      <a:r>
                        <a:rPr lang="ja-JP" altLang="en-US" sz="1200">
                          <a:effectLst/>
                          <a:latin typeface="BIZ UDPゴシック (太字)"/>
                        </a:rPr>
                        <a:t>補足参考資料 収益認識基準</a:t>
                      </a:r>
                      <a:r>
                        <a:rPr lang="en-US" altLang="ja-JP" sz="1200">
                          <a:effectLst/>
                          <a:latin typeface="BIZ UDPゴシック (太字)"/>
                        </a:rPr>
                        <a:t>5</a:t>
                      </a:r>
                      <a:r>
                        <a:rPr lang="ja-JP" altLang="en-US" sz="1200">
                          <a:effectLst/>
                          <a:latin typeface="BIZ UDPゴシック (太字)"/>
                        </a:rPr>
                        <a:t>ステップの解説</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sz="1200">
                          <a:effectLst/>
                          <a:latin typeface="BIZ UDPゴシック (太字)"/>
                        </a:rPr>
                        <a:t>P.46</a:t>
                      </a:r>
                      <a:r>
                        <a:rPr lang="ja-JP" altLang="en-US" sz="1200">
                          <a:effectLst/>
                          <a:latin typeface="BIZ UDPゴシック (太字)"/>
                        </a:rPr>
                        <a:t>～</a:t>
                      </a:r>
                      <a:r>
                        <a:rPr lang="en-US" altLang="ja-JP" sz="1200">
                          <a:effectLst/>
                          <a:latin typeface="BIZ UDPゴシック (太字)"/>
                        </a:rPr>
                        <a:t>61</a:t>
                      </a: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sz="1200">
                        <a:effectLst/>
                        <a:latin typeface="BIZ UDPゴシック (太字)"/>
                      </a:endParaRPr>
                    </a:p>
                  </a:txBody>
                  <a:tcPr marL="9525" marR="9525" marT="9525"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fontAlgn="ctr">
                        <a:buNone/>
                      </a:pPr>
                      <a:endParaRPr lang="en-US" sz="1200">
                        <a:effectLst/>
                        <a:latin typeface="BIZ UDPゴシック (太字)"/>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41585207"/>
                  </a:ext>
                </a:extLst>
              </a:tr>
            </a:tbl>
          </a:graphicData>
        </a:graphic>
      </p:graphicFrame>
      <p:sp>
        <p:nvSpPr>
          <p:cNvPr id="2" name="テキスト ボックス 1">
            <a:extLst>
              <a:ext uri="{FF2B5EF4-FFF2-40B4-BE49-F238E27FC236}">
                <a16:creationId xmlns:a16="http://schemas.microsoft.com/office/drawing/2014/main" id="{3685A2AD-0799-FA2B-DD16-5F55EA1D22BF}"/>
              </a:ext>
            </a:extLst>
          </p:cNvPr>
          <p:cNvSpPr txBox="1"/>
          <p:nvPr/>
        </p:nvSpPr>
        <p:spPr>
          <a:xfrm>
            <a:off x="660000" y="6492492"/>
            <a:ext cx="5252427" cy="298223"/>
          </a:xfrm>
          <a:prstGeom prst="rect">
            <a:avLst/>
          </a:prstGeom>
          <a:noFill/>
        </p:spPr>
        <p:txBody>
          <a:bodyPr wrap="square" lIns="0" tIns="0" rIns="0" bIns="0" rtlCol="0">
            <a:spAutoFit/>
          </a:bodyPr>
          <a:lstStyle/>
          <a:p>
            <a:pPr algn="l">
              <a:lnSpc>
                <a:spcPct val="120000"/>
              </a:lnSpc>
            </a:pPr>
            <a:r>
              <a:rPr kumimoji="1" lang="en-US" altLang="ja-JP" spc="110" baseline="0"/>
              <a:t>※</a:t>
            </a:r>
            <a:r>
              <a:rPr kumimoji="1" lang="ja-JP" altLang="en-US" spc="110" baseline="0"/>
              <a:t>青塗部分に補足説明資料を追加しております。</a:t>
            </a:r>
          </a:p>
        </p:txBody>
      </p:sp>
    </p:spTree>
    <p:extLst>
      <p:ext uri="{BB962C8B-B14F-4D97-AF65-F5344CB8AC3E}">
        <p14:creationId xmlns:p14="http://schemas.microsoft.com/office/powerpoint/2010/main" val="1683175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DFDC5D1-8442-B4D3-4105-B144C4648A0D}"/>
              </a:ext>
            </a:extLst>
          </p:cNvPr>
          <p:cNvSpPr>
            <a:spLocks noGrp="1"/>
          </p:cNvSpPr>
          <p:nvPr>
            <p:ph type="title"/>
          </p:nvPr>
        </p:nvSpPr>
        <p:spPr/>
        <p:txBody>
          <a:bodyPr>
            <a:normAutofit/>
          </a:bodyPr>
          <a:lstStyle/>
          <a:p>
            <a:r>
              <a:rPr lang="en-US" altLang="ja-JP"/>
              <a:t>3-1.</a:t>
            </a:r>
            <a:r>
              <a:rPr lang="ja-JP" altLang="en-US"/>
              <a:t>二重取引による売上の過大計上</a:t>
            </a:r>
          </a:p>
        </p:txBody>
      </p:sp>
      <p:sp>
        <p:nvSpPr>
          <p:cNvPr id="2" name="正方形/長方形 1">
            <a:extLst>
              <a:ext uri="{FF2B5EF4-FFF2-40B4-BE49-F238E27FC236}">
                <a16:creationId xmlns:a16="http://schemas.microsoft.com/office/drawing/2014/main" id="{178E41C0-978C-EC9C-EF91-BDE812E4BE1E}"/>
              </a:ext>
            </a:extLst>
          </p:cNvPr>
          <p:cNvSpPr/>
          <p:nvPr/>
        </p:nvSpPr>
        <p:spPr bwMode="gray">
          <a:xfrm>
            <a:off x="2127658" y="1639615"/>
            <a:ext cx="9720000" cy="1548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東日本におけるローリー車を使う物流において、「二重商流」</a:t>
            </a:r>
            <a:r>
              <a:rPr lang="en-US" altLang="ja-JP" sz="1400" baseline="30000"/>
              <a:t> *1</a:t>
            </a:r>
            <a:r>
              <a:rPr lang="ja-JP" altLang="en-US" sz="1400">
                <a:solidFill>
                  <a:prstClr val="black"/>
                </a:solidFill>
                <a:latin typeface="+mn-ea"/>
              </a:rPr>
              <a:t>が存在することにより以下の問題が発生している</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「二重商流」の中の一部に外部業者</a:t>
            </a:r>
            <a:r>
              <a:rPr lang="en-US" altLang="ja-JP" sz="1400" baseline="30000">
                <a:solidFill>
                  <a:prstClr val="black"/>
                </a:solidFill>
              </a:rPr>
              <a:t>*2</a:t>
            </a:r>
            <a:r>
              <a:rPr lang="ja-JP" altLang="en-US" sz="1400">
                <a:solidFill>
                  <a:prstClr val="black"/>
                </a:solidFill>
                <a:latin typeface="+mn-ea"/>
              </a:rPr>
              <a:t>が含まれる場合、</a:t>
            </a:r>
            <a:r>
              <a:rPr lang="en-US" altLang="ja-JP" sz="1400">
                <a:solidFill>
                  <a:prstClr val="black"/>
                </a:solidFill>
                <a:latin typeface="+mn-ea"/>
              </a:rPr>
              <a:t>AW</a:t>
            </a:r>
            <a:r>
              <a:rPr lang="ja-JP" altLang="en-US" sz="1400">
                <a:solidFill>
                  <a:prstClr val="black"/>
                </a:solidFill>
                <a:latin typeface="+mn-ea"/>
              </a:rPr>
              <a:t>連結財務諸表上、仕入と売上が二重に計上されたまま、連結修正仕訳で消去されていない</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同一会社による</a:t>
            </a:r>
            <a:r>
              <a:rPr lang="en-US" altLang="ja-JP" sz="1400">
                <a:solidFill>
                  <a:prstClr val="black"/>
                </a:solidFill>
                <a:latin typeface="+mn-ea"/>
              </a:rPr>
              <a:t>2</a:t>
            </a:r>
            <a:r>
              <a:rPr lang="ja-JP" altLang="en-US" sz="1400">
                <a:solidFill>
                  <a:prstClr val="black"/>
                </a:solidFill>
                <a:latin typeface="+mn-ea"/>
              </a:rPr>
              <a:t>回以上の取引が同一の「二重商流」の中に含まれる場合、個別財務諸表上においても、仕入と売上が二重に計上されたままになっている</a:t>
            </a:r>
            <a:endParaRPr lang="en-US" altLang="ja-JP" sz="1400">
              <a:solidFill>
                <a:prstClr val="black"/>
              </a:solidFill>
              <a:latin typeface="+mn-ea"/>
            </a:endParaRPr>
          </a:p>
          <a:p>
            <a:pPr marL="271463" indent="-180975" defTabSz="990589">
              <a:spcBef>
                <a:spcPts val="300"/>
              </a:spcBef>
              <a:buSzPct val="100000"/>
              <a:buFont typeface="Wingdings" panose="05000000000000000000" pitchFamily="2" charset="2"/>
              <a:buChar char="Ø"/>
            </a:pPr>
            <a:r>
              <a:rPr lang="ja-JP" altLang="en-US" sz="1400">
                <a:latin typeface="+mn-ea"/>
              </a:rPr>
              <a:t>二重取引による売上の過大計上は、</a:t>
            </a:r>
            <a:r>
              <a:rPr lang="en-US" altLang="ja-JP" sz="1400">
                <a:latin typeface="+mn-ea"/>
              </a:rPr>
              <a:t>AW</a:t>
            </a:r>
            <a:r>
              <a:rPr lang="ja-JP" altLang="en-US" sz="1400">
                <a:latin typeface="+mn-ea"/>
              </a:rPr>
              <a:t>東日本以外にもエコロッカ、</a:t>
            </a:r>
            <a:r>
              <a:rPr lang="en-US" altLang="ja-JP" sz="1400">
                <a:latin typeface="+mn-ea"/>
              </a:rPr>
              <a:t>AWMX</a:t>
            </a:r>
            <a:r>
              <a:rPr lang="ja-JP" altLang="en-US" sz="1400">
                <a:latin typeface="+mn-ea"/>
              </a:rPr>
              <a:t>、</a:t>
            </a:r>
            <a:r>
              <a:rPr lang="en-US" altLang="ja-JP" sz="1400">
                <a:latin typeface="+mn-ea"/>
              </a:rPr>
              <a:t>AW</a:t>
            </a:r>
            <a:r>
              <a:rPr lang="ja-JP" altLang="en-US" sz="1400">
                <a:latin typeface="+mn-ea"/>
              </a:rPr>
              <a:t>本社等、複数社で発見されている</a:t>
            </a:r>
          </a:p>
        </p:txBody>
      </p:sp>
      <p:sp>
        <p:nvSpPr>
          <p:cNvPr id="11" name="正方形/長方形 10">
            <a:extLst>
              <a:ext uri="{FF2B5EF4-FFF2-40B4-BE49-F238E27FC236}">
                <a16:creationId xmlns:a16="http://schemas.microsoft.com/office/drawing/2014/main" id="{6EF9D809-2B3F-DB10-710D-6B647443B802}"/>
              </a:ext>
            </a:extLst>
          </p:cNvPr>
          <p:cNvSpPr/>
          <p:nvPr/>
        </p:nvSpPr>
        <p:spPr bwMode="gray">
          <a:xfrm>
            <a:off x="507602" y="1639615"/>
            <a:ext cx="1260000" cy="1548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8804AC94-40A9-17B3-F89E-E60F9FDC0838}"/>
              </a:ext>
            </a:extLst>
          </p:cNvPr>
          <p:cNvSpPr txBox="1">
            <a:spLocks/>
          </p:cNvSpPr>
          <p:nvPr/>
        </p:nvSpPr>
        <p:spPr>
          <a:xfrm>
            <a:off x="659995" y="919865"/>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二重商流や二重取引等により、二重計上となっている仕入や売上を個別・連結財務諸表で適切に消去するために、二重商流や二重取引等の情報を網羅的に把握、収集する仕組みを整備・運用することが必要です</a:t>
            </a:r>
          </a:p>
        </p:txBody>
      </p:sp>
      <p:sp>
        <p:nvSpPr>
          <p:cNvPr id="4" name="テキスト プレースホルダー 3">
            <a:extLst>
              <a:ext uri="{FF2B5EF4-FFF2-40B4-BE49-F238E27FC236}">
                <a16:creationId xmlns:a16="http://schemas.microsoft.com/office/drawing/2014/main" id="{D497D5A7-A4C7-C98A-45F4-966006A9032B}"/>
              </a:ext>
            </a:extLst>
          </p:cNvPr>
          <p:cNvSpPr txBox="1">
            <a:spLocks/>
          </p:cNvSpPr>
          <p:nvPr/>
        </p:nvSpPr>
        <p:spPr>
          <a:xfrm>
            <a:off x="628692" y="6140364"/>
            <a:ext cx="8853060" cy="468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200" b="0">
                <a:solidFill>
                  <a:schemeClr val="tx1"/>
                </a:solidFill>
              </a:rPr>
              <a:t>*1</a:t>
            </a:r>
            <a:r>
              <a:rPr lang="ja-JP" altLang="en-US" sz="1200" b="0">
                <a:solidFill>
                  <a:schemeClr val="tx1"/>
                </a:solidFill>
              </a:rPr>
              <a:t>：「二重商流」とは</a:t>
            </a:r>
            <a:r>
              <a:rPr lang="en-US" altLang="ja-JP" sz="1200" b="0">
                <a:solidFill>
                  <a:schemeClr val="tx1"/>
                </a:solidFill>
              </a:rPr>
              <a:t>1</a:t>
            </a:r>
            <a:r>
              <a:rPr lang="ja-JP" altLang="en-US" sz="1200" b="0">
                <a:solidFill>
                  <a:schemeClr val="tx1"/>
                </a:solidFill>
              </a:rPr>
              <a:t>つの商流の中に</a:t>
            </a:r>
            <a:r>
              <a:rPr lang="en-US" altLang="ja-JP" sz="1200" b="0">
                <a:solidFill>
                  <a:schemeClr val="tx1"/>
                </a:solidFill>
              </a:rPr>
              <a:t>2</a:t>
            </a:r>
            <a:r>
              <a:rPr lang="ja-JP" altLang="en-US" sz="1200" b="0">
                <a:solidFill>
                  <a:schemeClr val="tx1"/>
                </a:solidFill>
              </a:rPr>
              <a:t>社以上の</a:t>
            </a:r>
            <a:r>
              <a:rPr lang="en-US" altLang="ja-JP" sz="1200" b="0">
                <a:solidFill>
                  <a:schemeClr val="tx1"/>
                </a:solidFill>
              </a:rPr>
              <a:t>AW</a:t>
            </a:r>
            <a:r>
              <a:rPr lang="ja-JP" altLang="en-US" sz="1200" b="0">
                <a:solidFill>
                  <a:schemeClr val="tx1"/>
                </a:solidFill>
              </a:rPr>
              <a:t>グループ会社</a:t>
            </a:r>
            <a:r>
              <a:rPr lang="en-US" altLang="ja-JP" sz="1200" b="0">
                <a:solidFill>
                  <a:schemeClr val="tx1"/>
                </a:solidFill>
              </a:rPr>
              <a:t>(AW</a:t>
            </a:r>
            <a:r>
              <a:rPr lang="ja-JP" altLang="en-US" sz="1200" b="0">
                <a:solidFill>
                  <a:schemeClr val="tx1"/>
                </a:solidFill>
              </a:rPr>
              <a:t>本社及び連結子会社</a:t>
            </a:r>
            <a:r>
              <a:rPr lang="en-US" altLang="ja-JP" sz="1200" b="0">
                <a:solidFill>
                  <a:schemeClr val="tx1"/>
                </a:solidFill>
              </a:rPr>
              <a:t>)</a:t>
            </a:r>
            <a:r>
              <a:rPr lang="ja-JP" altLang="en-US" sz="1200" b="0">
                <a:solidFill>
                  <a:schemeClr val="tx1"/>
                </a:solidFill>
              </a:rPr>
              <a:t>が含まれることをいう</a:t>
            </a:r>
            <a:br>
              <a:rPr lang="en-US" altLang="ja-JP" sz="1200" b="0">
                <a:solidFill>
                  <a:schemeClr val="tx1"/>
                </a:solidFill>
              </a:rPr>
            </a:br>
            <a:r>
              <a:rPr lang="en-US" altLang="ja-JP" sz="1200" b="0">
                <a:solidFill>
                  <a:schemeClr val="tx1"/>
                </a:solidFill>
              </a:rPr>
              <a:t>*2</a:t>
            </a:r>
            <a:r>
              <a:rPr lang="ja-JP" altLang="en-US" sz="1200" b="0">
                <a:solidFill>
                  <a:schemeClr val="tx1"/>
                </a:solidFill>
              </a:rPr>
              <a:t>：外部業者には、連結外一般事業会社の他、非連結子会社、持分法関連会社、及び持分法非適用関連会社を含む</a:t>
            </a:r>
          </a:p>
        </p:txBody>
      </p:sp>
      <p:sp>
        <p:nvSpPr>
          <p:cNvPr id="5" name="テキスト ボックス 4">
            <a:extLst>
              <a:ext uri="{FF2B5EF4-FFF2-40B4-BE49-F238E27FC236}">
                <a16:creationId xmlns:a16="http://schemas.microsoft.com/office/drawing/2014/main" id="{71F839A3-2EC9-9451-38E4-541A92209A5E}"/>
              </a:ext>
            </a:extLst>
          </p:cNvPr>
          <p:cNvSpPr txBox="1"/>
          <p:nvPr/>
        </p:nvSpPr>
        <p:spPr>
          <a:xfrm>
            <a:off x="573505" y="3258709"/>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A</a:t>
            </a:r>
            <a:r>
              <a:rPr lang="ja-JP" altLang="en-US" sz="1600" b="1"/>
              <a:t>：</a:t>
            </a:r>
            <a:r>
              <a:rPr lang="en-US" altLang="ja-JP" sz="1600" b="1"/>
              <a:t>AW</a:t>
            </a:r>
            <a:r>
              <a:rPr lang="ja-JP" altLang="en-US" sz="1600" b="1"/>
              <a:t>連結会社と</a:t>
            </a:r>
            <a:r>
              <a:rPr lang="en-US" altLang="ja-JP" sz="1600" b="1"/>
              <a:t>AW</a:t>
            </a:r>
            <a:r>
              <a:rPr lang="ja-JP" altLang="en-US" sz="1600" b="1"/>
              <a:t>連結会社の間に連結対象外の会社が挟まれるもの</a:t>
            </a:r>
          </a:p>
        </p:txBody>
      </p:sp>
      <p:sp>
        <p:nvSpPr>
          <p:cNvPr id="6" name="正方形/長方形 5">
            <a:extLst>
              <a:ext uri="{FF2B5EF4-FFF2-40B4-BE49-F238E27FC236}">
                <a16:creationId xmlns:a16="http://schemas.microsoft.com/office/drawing/2014/main" id="{51D25072-D9A1-4592-60E9-D8192B9F0EA1}"/>
              </a:ext>
            </a:extLst>
          </p:cNvPr>
          <p:cNvSpPr/>
          <p:nvPr/>
        </p:nvSpPr>
        <p:spPr>
          <a:xfrm>
            <a:off x="566768" y="4445550"/>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(a)AWI</a:t>
            </a:r>
            <a:endParaRPr kumimoji="1" lang="ja-JP" altLang="en-US" sz="1600">
              <a:solidFill>
                <a:schemeClr val="tx1"/>
              </a:solidFill>
              <a:latin typeface="+mn-ea"/>
              <a:cs typeface="Meiryo UI" panose="020B0604030504040204" pitchFamily="50" charset="-128"/>
            </a:endParaRPr>
          </a:p>
        </p:txBody>
      </p:sp>
      <p:sp>
        <p:nvSpPr>
          <p:cNvPr id="7" name="正方形/長方形 6">
            <a:extLst>
              <a:ext uri="{FF2B5EF4-FFF2-40B4-BE49-F238E27FC236}">
                <a16:creationId xmlns:a16="http://schemas.microsoft.com/office/drawing/2014/main" id="{4DA53CAC-4622-C159-6BD0-C83006AB81FD}"/>
              </a:ext>
            </a:extLst>
          </p:cNvPr>
          <p:cNvSpPr/>
          <p:nvPr/>
        </p:nvSpPr>
        <p:spPr>
          <a:xfrm>
            <a:off x="2953384" y="4445550"/>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(b)AW</a:t>
            </a:r>
            <a:r>
              <a:rPr kumimoji="1" lang="ja-JP" altLang="en-US" sz="1600">
                <a:solidFill>
                  <a:schemeClr val="tx1"/>
                </a:solidFill>
                <a:latin typeface="+mn-ea"/>
                <a:cs typeface="Meiryo UI" panose="020B0604030504040204" pitchFamily="50" charset="-128"/>
              </a:rPr>
              <a:t>東日本</a:t>
            </a:r>
          </a:p>
        </p:txBody>
      </p:sp>
      <p:sp>
        <p:nvSpPr>
          <p:cNvPr id="8" name="正方形/長方形 7">
            <a:extLst>
              <a:ext uri="{FF2B5EF4-FFF2-40B4-BE49-F238E27FC236}">
                <a16:creationId xmlns:a16="http://schemas.microsoft.com/office/drawing/2014/main" id="{F8EC2946-22B4-3595-539B-673EC1D5F03F}"/>
              </a:ext>
            </a:extLst>
          </p:cNvPr>
          <p:cNvSpPr/>
          <p:nvPr/>
        </p:nvSpPr>
        <p:spPr>
          <a:xfrm>
            <a:off x="5340000" y="4445550"/>
            <a:ext cx="1512000" cy="396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(c)V</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9" name="正方形/長方形 8">
            <a:extLst>
              <a:ext uri="{FF2B5EF4-FFF2-40B4-BE49-F238E27FC236}">
                <a16:creationId xmlns:a16="http://schemas.microsoft.com/office/drawing/2014/main" id="{407AB9B3-FB74-39E7-BF2F-B63296F0B72E}"/>
              </a:ext>
            </a:extLst>
          </p:cNvPr>
          <p:cNvSpPr/>
          <p:nvPr/>
        </p:nvSpPr>
        <p:spPr>
          <a:xfrm>
            <a:off x="7726616" y="4445550"/>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10" name="正方形/長方形 9">
            <a:extLst>
              <a:ext uri="{FF2B5EF4-FFF2-40B4-BE49-F238E27FC236}">
                <a16:creationId xmlns:a16="http://schemas.microsoft.com/office/drawing/2014/main" id="{1B3F63CA-11A5-606E-EFC6-F5E167FCC19B}"/>
              </a:ext>
            </a:extLst>
          </p:cNvPr>
          <p:cNvSpPr/>
          <p:nvPr/>
        </p:nvSpPr>
        <p:spPr>
          <a:xfrm>
            <a:off x="10113232" y="4445550"/>
            <a:ext cx="1512000" cy="396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2" name="テキスト プレースホルダー 3">
            <a:extLst>
              <a:ext uri="{FF2B5EF4-FFF2-40B4-BE49-F238E27FC236}">
                <a16:creationId xmlns:a16="http://schemas.microsoft.com/office/drawing/2014/main" id="{10B1CD62-C7D6-EFE4-53F2-4D3F4D2B922A}"/>
              </a:ext>
            </a:extLst>
          </p:cNvPr>
          <p:cNvSpPr txBox="1">
            <a:spLocks/>
          </p:cNvSpPr>
          <p:nvPr/>
        </p:nvSpPr>
        <p:spPr>
          <a:xfrm>
            <a:off x="566768" y="3491191"/>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メーカー</a:t>
            </a:r>
          </a:p>
        </p:txBody>
      </p:sp>
      <p:sp>
        <p:nvSpPr>
          <p:cNvPr id="14" name="テキスト プレースホルダー 3">
            <a:extLst>
              <a:ext uri="{FF2B5EF4-FFF2-40B4-BE49-F238E27FC236}">
                <a16:creationId xmlns:a16="http://schemas.microsoft.com/office/drawing/2014/main" id="{64E4A06A-4839-6EFF-44C7-9FF598B4F6D8}"/>
              </a:ext>
            </a:extLst>
          </p:cNvPr>
          <p:cNvSpPr txBox="1">
            <a:spLocks/>
          </p:cNvSpPr>
          <p:nvPr/>
        </p:nvSpPr>
        <p:spPr>
          <a:xfrm>
            <a:off x="566768" y="4054540"/>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sp>
        <p:nvSpPr>
          <p:cNvPr id="15" name="テキスト プレースホルダー 3">
            <a:extLst>
              <a:ext uri="{FF2B5EF4-FFF2-40B4-BE49-F238E27FC236}">
                <a16:creationId xmlns:a16="http://schemas.microsoft.com/office/drawing/2014/main" id="{EAE99060-763E-904E-3A7F-42ADC8C67B5D}"/>
              </a:ext>
            </a:extLst>
          </p:cNvPr>
          <p:cNvSpPr txBox="1">
            <a:spLocks/>
          </p:cNvSpPr>
          <p:nvPr/>
        </p:nvSpPr>
        <p:spPr>
          <a:xfrm>
            <a:off x="2953384" y="4054540"/>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6" name="テキスト プレースホルダー 3">
            <a:extLst>
              <a:ext uri="{FF2B5EF4-FFF2-40B4-BE49-F238E27FC236}">
                <a16:creationId xmlns:a16="http://schemas.microsoft.com/office/drawing/2014/main" id="{82DA2991-1E0E-D5F9-ECBC-B4061B2D2DB0}"/>
              </a:ext>
            </a:extLst>
          </p:cNvPr>
          <p:cNvSpPr txBox="1">
            <a:spLocks/>
          </p:cNvSpPr>
          <p:nvPr/>
        </p:nvSpPr>
        <p:spPr>
          <a:xfrm>
            <a:off x="5340000" y="4054540"/>
            <a:ext cx="1512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7" name="テキスト プレースホルダー 3">
            <a:extLst>
              <a:ext uri="{FF2B5EF4-FFF2-40B4-BE49-F238E27FC236}">
                <a16:creationId xmlns:a16="http://schemas.microsoft.com/office/drawing/2014/main" id="{9F62685B-56F8-C56C-8CEB-FD2529C152EF}"/>
              </a:ext>
            </a:extLst>
          </p:cNvPr>
          <p:cNvSpPr txBox="1">
            <a:spLocks/>
          </p:cNvSpPr>
          <p:nvPr/>
        </p:nvSpPr>
        <p:spPr>
          <a:xfrm>
            <a:off x="10113232" y="4054540"/>
            <a:ext cx="1512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8" name="テキスト プレースホルダー 3">
            <a:extLst>
              <a:ext uri="{FF2B5EF4-FFF2-40B4-BE49-F238E27FC236}">
                <a16:creationId xmlns:a16="http://schemas.microsoft.com/office/drawing/2014/main" id="{7EA91065-7B87-CF45-4239-DB432F18D327}"/>
              </a:ext>
            </a:extLst>
          </p:cNvPr>
          <p:cNvSpPr txBox="1">
            <a:spLocks/>
          </p:cNvSpPr>
          <p:nvPr/>
        </p:nvSpPr>
        <p:spPr>
          <a:xfrm>
            <a:off x="7726616" y="4054540"/>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9" name="テキスト プレースホルダー 3">
            <a:extLst>
              <a:ext uri="{FF2B5EF4-FFF2-40B4-BE49-F238E27FC236}">
                <a16:creationId xmlns:a16="http://schemas.microsoft.com/office/drawing/2014/main" id="{A4F26373-E2A5-51D5-6832-F7A740552049}"/>
              </a:ext>
            </a:extLst>
          </p:cNvPr>
          <p:cNvSpPr txBox="1">
            <a:spLocks/>
          </p:cNvSpPr>
          <p:nvPr/>
        </p:nvSpPr>
        <p:spPr>
          <a:xfrm>
            <a:off x="5340000" y="3491191"/>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外部業者</a:t>
            </a:r>
          </a:p>
        </p:txBody>
      </p:sp>
      <p:sp>
        <p:nvSpPr>
          <p:cNvPr id="20" name="テキスト プレースホルダー 3">
            <a:extLst>
              <a:ext uri="{FF2B5EF4-FFF2-40B4-BE49-F238E27FC236}">
                <a16:creationId xmlns:a16="http://schemas.microsoft.com/office/drawing/2014/main" id="{18D6517B-3891-FEA9-A597-85B92E0EE855}"/>
              </a:ext>
            </a:extLst>
          </p:cNvPr>
          <p:cNvSpPr txBox="1">
            <a:spLocks/>
          </p:cNvSpPr>
          <p:nvPr/>
        </p:nvSpPr>
        <p:spPr>
          <a:xfrm>
            <a:off x="10005232" y="3491191"/>
            <a:ext cx="1620000" cy="504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外部供給先</a:t>
            </a:r>
            <a:br>
              <a:rPr lang="en-US" altLang="ja-JP" sz="1600" b="0">
                <a:solidFill>
                  <a:schemeClr val="tx1"/>
                </a:solidFill>
              </a:rPr>
            </a:br>
            <a:r>
              <a:rPr lang="ja-JP" altLang="en-US" sz="1600" b="0">
                <a:solidFill>
                  <a:schemeClr val="tx1"/>
                </a:solidFill>
              </a:rPr>
              <a:t>エンドユーザー</a:t>
            </a:r>
          </a:p>
        </p:txBody>
      </p:sp>
      <p:cxnSp>
        <p:nvCxnSpPr>
          <p:cNvPr id="21" name="直線矢印コネクタ 20">
            <a:extLst>
              <a:ext uri="{FF2B5EF4-FFF2-40B4-BE49-F238E27FC236}">
                <a16:creationId xmlns:a16="http://schemas.microsoft.com/office/drawing/2014/main" id="{B6157A03-E3FA-63C6-3D16-5CD86BF66096}"/>
              </a:ext>
            </a:extLst>
          </p:cNvPr>
          <p:cNvCxnSpPr>
            <a:cxnSpLocks/>
            <a:stCxn id="6" idx="3"/>
            <a:endCxn id="7" idx="1"/>
          </p:cNvCxnSpPr>
          <p:nvPr/>
        </p:nvCxnSpPr>
        <p:spPr>
          <a:xfrm>
            <a:off x="2078768" y="4643550"/>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DCBC4F8C-718B-EFE7-674B-969667AA06C8}"/>
              </a:ext>
            </a:extLst>
          </p:cNvPr>
          <p:cNvCxnSpPr>
            <a:cxnSpLocks/>
            <a:stCxn id="7" idx="3"/>
            <a:endCxn id="8" idx="1"/>
          </p:cNvCxnSpPr>
          <p:nvPr/>
        </p:nvCxnSpPr>
        <p:spPr>
          <a:xfrm>
            <a:off x="4465384" y="4643550"/>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42B47FFE-57EA-20F8-424C-AD24FC5303A2}"/>
              </a:ext>
            </a:extLst>
          </p:cNvPr>
          <p:cNvCxnSpPr>
            <a:cxnSpLocks/>
            <a:stCxn id="8" idx="3"/>
            <a:endCxn id="9" idx="1"/>
          </p:cNvCxnSpPr>
          <p:nvPr/>
        </p:nvCxnSpPr>
        <p:spPr>
          <a:xfrm>
            <a:off x="6852000" y="4643550"/>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64E1224E-57D4-A015-DCEB-52221A0CC577}"/>
              </a:ext>
            </a:extLst>
          </p:cNvPr>
          <p:cNvCxnSpPr>
            <a:cxnSpLocks/>
            <a:stCxn id="9" idx="3"/>
            <a:endCxn id="10" idx="1"/>
          </p:cNvCxnSpPr>
          <p:nvPr/>
        </p:nvCxnSpPr>
        <p:spPr>
          <a:xfrm>
            <a:off x="9238616" y="4643550"/>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D338F0C7-0FF5-09FE-B86D-9B9E7B2FB4E8}"/>
              </a:ext>
            </a:extLst>
          </p:cNvPr>
          <p:cNvSpPr txBox="1"/>
          <p:nvPr/>
        </p:nvSpPr>
        <p:spPr>
          <a:xfrm>
            <a:off x="1217698" y="5206969"/>
            <a:ext cx="10620000" cy="864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Arial" panose="020B0604020202020204" pitchFamily="34" charset="0"/>
              <a:buChar char="•"/>
            </a:pPr>
            <a:r>
              <a:rPr lang="en-US" altLang="ja-JP" sz="1600"/>
              <a:t>(b)(d)AW</a:t>
            </a:r>
            <a:r>
              <a:rPr lang="ja-JP" altLang="en-US" sz="1600"/>
              <a:t>東日本</a:t>
            </a:r>
            <a:r>
              <a:rPr lang="ja-JP" altLang="en-US" sz="1600">
                <a:solidFill>
                  <a:srgbClr val="FF0000"/>
                </a:solidFill>
              </a:rPr>
              <a:t>個別財務諸表上で仕入、売上の二重計上</a:t>
            </a:r>
            <a:r>
              <a:rPr lang="ja-JP" altLang="en-US" sz="1600"/>
              <a:t>がされたままである</a:t>
            </a:r>
            <a:endParaRPr lang="en-US" altLang="ja-JP" sz="1600"/>
          </a:p>
          <a:p>
            <a:pPr indent="-285750">
              <a:buFont typeface="Arial" panose="020B0604020202020204" pitchFamily="34" charset="0"/>
              <a:buChar char="•"/>
            </a:pPr>
            <a:r>
              <a:rPr lang="en-US" altLang="ja-JP" sz="1600"/>
              <a:t>(b)(d)AW</a:t>
            </a:r>
            <a:r>
              <a:rPr lang="ja-JP" altLang="en-US" sz="1600"/>
              <a:t>東日本による仕入、売上の二重計上は連結修正仕訳で消去されないため、</a:t>
            </a:r>
            <a:r>
              <a:rPr lang="ja-JP" altLang="en-US" sz="1600">
                <a:solidFill>
                  <a:srgbClr val="FF0000"/>
                </a:solidFill>
              </a:rPr>
              <a:t>連結財務諸表上、仕入と売上が二重計上</a:t>
            </a:r>
            <a:r>
              <a:rPr lang="ja-JP" altLang="en-US" sz="1600"/>
              <a:t>されたままである</a:t>
            </a:r>
          </a:p>
        </p:txBody>
      </p:sp>
      <p:sp>
        <p:nvSpPr>
          <p:cNvPr id="22" name="Oval 66">
            <a:extLst>
              <a:ext uri="{FF2B5EF4-FFF2-40B4-BE49-F238E27FC236}">
                <a16:creationId xmlns:a16="http://schemas.microsoft.com/office/drawing/2014/main" id="{7C33C9F1-3AC1-052D-4628-951FC2887102}"/>
              </a:ext>
            </a:extLst>
          </p:cNvPr>
          <p:cNvSpPr>
            <a:spLocks noChangeArrowheads="1"/>
          </p:cNvSpPr>
          <p:nvPr/>
        </p:nvSpPr>
        <p:spPr bwMode="gray">
          <a:xfrm>
            <a:off x="4722353" y="4712946"/>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
        <p:nvSpPr>
          <p:cNvPr id="23" name="Oval 66">
            <a:extLst>
              <a:ext uri="{FF2B5EF4-FFF2-40B4-BE49-F238E27FC236}">
                <a16:creationId xmlns:a16="http://schemas.microsoft.com/office/drawing/2014/main" id="{668E9846-C57A-049B-E285-D2BE5F3E754D}"/>
              </a:ext>
            </a:extLst>
          </p:cNvPr>
          <p:cNvSpPr>
            <a:spLocks noChangeArrowheads="1"/>
          </p:cNvSpPr>
          <p:nvPr/>
        </p:nvSpPr>
        <p:spPr bwMode="gray">
          <a:xfrm>
            <a:off x="9495585" y="4713800"/>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2</a:t>
            </a:r>
          </a:p>
        </p:txBody>
      </p:sp>
      <p:pic>
        <p:nvPicPr>
          <p:cNvPr id="26" name="グラフィックス 25" descr="チェック マーク 単色塗りつぶし">
            <a:extLst>
              <a:ext uri="{FF2B5EF4-FFF2-40B4-BE49-F238E27FC236}">
                <a16:creationId xmlns:a16="http://schemas.microsoft.com/office/drawing/2014/main" id="{0A87C08C-0926-B03E-1655-9695075796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9698" y="5294005"/>
            <a:ext cx="468000" cy="468000"/>
          </a:xfrm>
          <a:prstGeom prst="rect">
            <a:avLst/>
          </a:prstGeom>
        </p:spPr>
      </p:pic>
      <p:sp>
        <p:nvSpPr>
          <p:cNvPr id="25" name="正方形/長方形 24">
            <a:extLst>
              <a:ext uri="{FF2B5EF4-FFF2-40B4-BE49-F238E27FC236}">
                <a16:creationId xmlns:a16="http://schemas.microsoft.com/office/drawing/2014/main" id="{87C21662-4272-CD69-33F4-35EE2445E970}"/>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2042447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E3B9A-F68A-86BB-9821-12E89ABB382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FE3658D-3B13-A029-E555-7D1153600BE3}"/>
              </a:ext>
            </a:extLst>
          </p:cNvPr>
          <p:cNvSpPr>
            <a:spLocks noGrp="1"/>
          </p:cNvSpPr>
          <p:nvPr>
            <p:ph type="title"/>
          </p:nvPr>
        </p:nvSpPr>
        <p:spPr/>
        <p:txBody>
          <a:bodyPr>
            <a:normAutofit/>
          </a:bodyPr>
          <a:lstStyle/>
          <a:p>
            <a:r>
              <a:rPr lang="en-US" altLang="ja-JP"/>
              <a:t>3-1.</a:t>
            </a:r>
            <a:r>
              <a:rPr lang="ja-JP" altLang="en-US"/>
              <a:t>二重取引による売上の過大計上</a:t>
            </a:r>
          </a:p>
        </p:txBody>
      </p:sp>
      <p:sp>
        <p:nvSpPr>
          <p:cNvPr id="5" name="テキスト ボックス 4">
            <a:extLst>
              <a:ext uri="{FF2B5EF4-FFF2-40B4-BE49-F238E27FC236}">
                <a16:creationId xmlns:a16="http://schemas.microsoft.com/office/drawing/2014/main" id="{6D1E8120-72AA-C4B8-B2A5-DB7E2FD865BD}"/>
              </a:ext>
            </a:extLst>
          </p:cNvPr>
          <p:cNvSpPr txBox="1"/>
          <p:nvPr/>
        </p:nvSpPr>
        <p:spPr>
          <a:xfrm>
            <a:off x="573505" y="897017"/>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B</a:t>
            </a:r>
            <a:r>
              <a:rPr lang="ja-JP" altLang="en-US" sz="1600" b="1"/>
              <a:t>：</a:t>
            </a:r>
            <a:r>
              <a:rPr lang="en-US" altLang="ja-JP" sz="1600" b="1"/>
              <a:t>AW</a:t>
            </a:r>
            <a:r>
              <a:rPr lang="ja-JP" altLang="en-US" sz="1600" b="1"/>
              <a:t>連結会社と</a:t>
            </a:r>
            <a:r>
              <a:rPr lang="en-US" altLang="ja-JP" sz="1600" b="1"/>
              <a:t>AW</a:t>
            </a:r>
            <a:r>
              <a:rPr lang="ja-JP" altLang="en-US" sz="1600" b="1"/>
              <a:t>連結会社の間に連結対象会社が挟まれるもの</a:t>
            </a:r>
          </a:p>
        </p:txBody>
      </p:sp>
      <p:sp>
        <p:nvSpPr>
          <p:cNvPr id="6" name="正方形/長方形 5">
            <a:extLst>
              <a:ext uri="{FF2B5EF4-FFF2-40B4-BE49-F238E27FC236}">
                <a16:creationId xmlns:a16="http://schemas.microsoft.com/office/drawing/2014/main" id="{7B6630D1-B78D-E7BC-287C-8FC733050E1F}"/>
              </a:ext>
            </a:extLst>
          </p:cNvPr>
          <p:cNvSpPr/>
          <p:nvPr/>
        </p:nvSpPr>
        <p:spPr>
          <a:xfrm>
            <a:off x="2814683" y="2005460"/>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(a’)AWI</a:t>
            </a:r>
            <a:endParaRPr kumimoji="1" lang="ja-JP" altLang="en-US" sz="1600">
              <a:solidFill>
                <a:schemeClr val="tx1"/>
              </a:solidFill>
              <a:latin typeface="+mn-ea"/>
              <a:cs typeface="Meiryo UI" panose="020B0604030504040204" pitchFamily="50" charset="-128"/>
            </a:endParaRPr>
          </a:p>
        </p:txBody>
      </p:sp>
      <p:sp>
        <p:nvSpPr>
          <p:cNvPr id="7" name="正方形/長方形 6">
            <a:extLst>
              <a:ext uri="{FF2B5EF4-FFF2-40B4-BE49-F238E27FC236}">
                <a16:creationId xmlns:a16="http://schemas.microsoft.com/office/drawing/2014/main" id="{EE487B81-ED77-62FA-7315-488893E8D7BC}"/>
              </a:ext>
            </a:extLst>
          </p:cNvPr>
          <p:cNvSpPr/>
          <p:nvPr/>
        </p:nvSpPr>
        <p:spPr>
          <a:xfrm>
            <a:off x="4660312" y="2005460"/>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(b)AW</a:t>
            </a:r>
            <a:r>
              <a:rPr kumimoji="1" lang="ja-JP" altLang="en-US" sz="1600">
                <a:solidFill>
                  <a:schemeClr val="tx1"/>
                </a:solidFill>
                <a:latin typeface="+mn-ea"/>
                <a:cs typeface="Meiryo UI" panose="020B0604030504040204" pitchFamily="50" charset="-128"/>
              </a:rPr>
              <a:t>東日本</a:t>
            </a:r>
          </a:p>
        </p:txBody>
      </p:sp>
      <p:sp>
        <p:nvSpPr>
          <p:cNvPr id="8" name="正方形/長方形 7">
            <a:extLst>
              <a:ext uri="{FF2B5EF4-FFF2-40B4-BE49-F238E27FC236}">
                <a16:creationId xmlns:a16="http://schemas.microsoft.com/office/drawing/2014/main" id="{D26E1630-8F72-3908-75CB-72C6E50DEAAC}"/>
              </a:ext>
            </a:extLst>
          </p:cNvPr>
          <p:cNvSpPr/>
          <p:nvPr/>
        </p:nvSpPr>
        <p:spPr>
          <a:xfrm>
            <a:off x="6505941" y="2005460"/>
            <a:ext cx="1080000" cy="50400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(c)</a:t>
            </a:r>
            <a:r>
              <a:rPr lang="ja-JP" altLang="en-US" sz="1600">
                <a:solidFill>
                  <a:schemeClr val="tx1"/>
                </a:solidFill>
                <a:latin typeface="+mn-ea"/>
                <a:cs typeface="Meiryo UI" panose="020B0604030504040204" pitchFamily="50" charset="-128"/>
              </a:rPr>
              <a:t>新潟ガス工業</a:t>
            </a:r>
            <a:endParaRPr kumimoji="1" lang="ja-JP" altLang="en-US" sz="1600">
              <a:solidFill>
                <a:schemeClr val="tx1"/>
              </a:solidFill>
              <a:latin typeface="+mn-ea"/>
              <a:cs typeface="Meiryo UI" panose="020B0604030504040204" pitchFamily="50" charset="-128"/>
            </a:endParaRPr>
          </a:p>
        </p:txBody>
      </p:sp>
      <p:sp>
        <p:nvSpPr>
          <p:cNvPr id="9" name="正方形/長方形 8">
            <a:extLst>
              <a:ext uri="{FF2B5EF4-FFF2-40B4-BE49-F238E27FC236}">
                <a16:creationId xmlns:a16="http://schemas.microsoft.com/office/drawing/2014/main" id="{9603F299-9104-7F4F-3F10-C2EAD64A7264}"/>
              </a:ext>
            </a:extLst>
          </p:cNvPr>
          <p:cNvSpPr/>
          <p:nvPr/>
        </p:nvSpPr>
        <p:spPr>
          <a:xfrm>
            <a:off x="8351570" y="2005460"/>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10" name="正方形/長方形 9">
            <a:extLst>
              <a:ext uri="{FF2B5EF4-FFF2-40B4-BE49-F238E27FC236}">
                <a16:creationId xmlns:a16="http://schemas.microsoft.com/office/drawing/2014/main" id="{8A487D08-C889-E8C1-9B55-734EC7741709}"/>
              </a:ext>
            </a:extLst>
          </p:cNvPr>
          <p:cNvSpPr/>
          <p:nvPr/>
        </p:nvSpPr>
        <p:spPr>
          <a:xfrm>
            <a:off x="10197199" y="2005460"/>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2" name="テキスト プレースホルダー 3">
            <a:extLst>
              <a:ext uri="{FF2B5EF4-FFF2-40B4-BE49-F238E27FC236}">
                <a16:creationId xmlns:a16="http://schemas.microsoft.com/office/drawing/2014/main" id="{D0FA07E9-8AE5-D9E1-1EC0-06DEA0F11F0A}"/>
              </a:ext>
            </a:extLst>
          </p:cNvPr>
          <p:cNvSpPr txBox="1">
            <a:spLocks/>
          </p:cNvSpPr>
          <p:nvPr/>
        </p:nvSpPr>
        <p:spPr>
          <a:xfrm>
            <a:off x="2598683" y="1062602"/>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仕入先</a:t>
            </a:r>
          </a:p>
        </p:txBody>
      </p:sp>
      <p:sp>
        <p:nvSpPr>
          <p:cNvPr id="14" name="テキスト プレースホルダー 3">
            <a:extLst>
              <a:ext uri="{FF2B5EF4-FFF2-40B4-BE49-F238E27FC236}">
                <a16:creationId xmlns:a16="http://schemas.microsoft.com/office/drawing/2014/main" id="{4FA9D1B3-E7ED-CEBE-CE9E-58D01FB0155D}"/>
              </a:ext>
            </a:extLst>
          </p:cNvPr>
          <p:cNvSpPr txBox="1">
            <a:spLocks/>
          </p:cNvSpPr>
          <p:nvPr/>
        </p:nvSpPr>
        <p:spPr>
          <a:xfrm>
            <a:off x="2706683" y="1609924"/>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sp>
        <p:nvSpPr>
          <p:cNvPr id="15" name="テキスト プレースホルダー 3">
            <a:extLst>
              <a:ext uri="{FF2B5EF4-FFF2-40B4-BE49-F238E27FC236}">
                <a16:creationId xmlns:a16="http://schemas.microsoft.com/office/drawing/2014/main" id="{715497D2-8948-14C7-E6DD-4914787E9D94}"/>
              </a:ext>
            </a:extLst>
          </p:cNvPr>
          <p:cNvSpPr txBox="1">
            <a:spLocks/>
          </p:cNvSpPr>
          <p:nvPr/>
        </p:nvSpPr>
        <p:spPr>
          <a:xfrm>
            <a:off x="4552312" y="1609924"/>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7" name="テキスト プレースホルダー 3">
            <a:extLst>
              <a:ext uri="{FF2B5EF4-FFF2-40B4-BE49-F238E27FC236}">
                <a16:creationId xmlns:a16="http://schemas.microsoft.com/office/drawing/2014/main" id="{52C6965C-E1CC-C7DC-A667-2E94E480FDDC}"/>
              </a:ext>
            </a:extLst>
          </p:cNvPr>
          <p:cNvSpPr txBox="1">
            <a:spLocks/>
          </p:cNvSpPr>
          <p:nvPr/>
        </p:nvSpPr>
        <p:spPr>
          <a:xfrm>
            <a:off x="10197199" y="1609924"/>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8" name="テキスト プレースホルダー 3">
            <a:extLst>
              <a:ext uri="{FF2B5EF4-FFF2-40B4-BE49-F238E27FC236}">
                <a16:creationId xmlns:a16="http://schemas.microsoft.com/office/drawing/2014/main" id="{02FDAEC4-E239-2CAB-B1B2-BEB2120AD31F}"/>
              </a:ext>
            </a:extLst>
          </p:cNvPr>
          <p:cNvSpPr txBox="1">
            <a:spLocks/>
          </p:cNvSpPr>
          <p:nvPr/>
        </p:nvSpPr>
        <p:spPr>
          <a:xfrm>
            <a:off x="8221837" y="1609924"/>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9" name="テキスト プレースホルダー 3">
            <a:extLst>
              <a:ext uri="{FF2B5EF4-FFF2-40B4-BE49-F238E27FC236}">
                <a16:creationId xmlns:a16="http://schemas.microsoft.com/office/drawing/2014/main" id="{ADA385C0-01DE-208B-998B-DC3F17BDDA70}"/>
              </a:ext>
            </a:extLst>
          </p:cNvPr>
          <p:cNvSpPr txBox="1">
            <a:spLocks/>
          </p:cNvSpPr>
          <p:nvPr/>
        </p:nvSpPr>
        <p:spPr>
          <a:xfrm>
            <a:off x="6262941" y="1062602"/>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運搬・充填</a:t>
            </a:r>
          </a:p>
        </p:txBody>
      </p:sp>
      <p:sp>
        <p:nvSpPr>
          <p:cNvPr id="20" name="テキスト プレースホルダー 3">
            <a:extLst>
              <a:ext uri="{FF2B5EF4-FFF2-40B4-BE49-F238E27FC236}">
                <a16:creationId xmlns:a16="http://schemas.microsoft.com/office/drawing/2014/main" id="{0A65C087-5354-312F-C5DD-2D523AA483E2}"/>
              </a:ext>
            </a:extLst>
          </p:cNvPr>
          <p:cNvSpPr txBox="1">
            <a:spLocks/>
          </p:cNvSpPr>
          <p:nvPr/>
        </p:nvSpPr>
        <p:spPr>
          <a:xfrm>
            <a:off x="9927199" y="1062602"/>
            <a:ext cx="1620000" cy="504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外部供給先</a:t>
            </a:r>
            <a:br>
              <a:rPr lang="en-US" altLang="ja-JP" sz="1600" b="0">
                <a:solidFill>
                  <a:schemeClr val="tx1"/>
                </a:solidFill>
              </a:rPr>
            </a:br>
            <a:r>
              <a:rPr lang="ja-JP" altLang="en-US" sz="1600" b="0">
                <a:solidFill>
                  <a:schemeClr val="tx1"/>
                </a:solidFill>
              </a:rPr>
              <a:t>エンドユーザー</a:t>
            </a:r>
          </a:p>
        </p:txBody>
      </p:sp>
      <p:cxnSp>
        <p:nvCxnSpPr>
          <p:cNvPr id="21" name="直線矢印コネクタ 20">
            <a:extLst>
              <a:ext uri="{FF2B5EF4-FFF2-40B4-BE49-F238E27FC236}">
                <a16:creationId xmlns:a16="http://schemas.microsoft.com/office/drawing/2014/main" id="{78E00FCF-BF71-2CC4-4F7C-8C88CEE9BDD2}"/>
              </a:ext>
            </a:extLst>
          </p:cNvPr>
          <p:cNvCxnSpPr>
            <a:cxnSpLocks/>
            <a:stCxn id="6" idx="3"/>
            <a:endCxn id="7" idx="1"/>
          </p:cNvCxnSpPr>
          <p:nvPr/>
        </p:nvCxnSpPr>
        <p:spPr>
          <a:xfrm>
            <a:off x="3894683" y="2257460"/>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D91FF4A-58B2-0F9E-83CB-C21A2A6CFD6D}"/>
              </a:ext>
            </a:extLst>
          </p:cNvPr>
          <p:cNvCxnSpPr>
            <a:cxnSpLocks/>
            <a:stCxn id="7" idx="3"/>
            <a:endCxn id="8" idx="1"/>
          </p:cNvCxnSpPr>
          <p:nvPr/>
        </p:nvCxnSpPr>
        <p:spPr>
          <a:xfrm>
            <a:off x="5740312" y="2257460"/>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AB044A0-7D98-DAB5-D7CB-76E8E04567E2}"/>
              </a:ext>
            </a:extLst>
          </p:cNvPr>
          <p:cNvCxnSpPr>
            <a:cxnSpLocks/>
            <a:stCxn id="8" idx="3"/>
            <a:endCxn id="9" idx="1"/>
          </p:cNvCxnSpPr>
          <p:nvPr/>
        </p:nvCxnSpPr>
        <p:spPr>
          <a:xfrm>
            <a:off x="7585941" y="2257460"/>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731C3E04-D0D3-AA65-FB3B-7B8EF873A5AD}"/>
              </a:ext>
            </a:extLst>
          </p:cNvPr>
          <p:cNvCxnSpPr>
            <a:cxnSpLocks/>
            <a:stCxn id="9" idx="3"/>
            <a:endCxn id="10" idx="1"/>
          </p:cNvCxnSpPr>
          <p:nvPr/>
        </p:nvCxnSpPr>
        <p:spPr>
          <a:xfrm>
            <a:off x="9431570" y="2257460"/>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9E69A586-31E8-0A89-E077-695C382F4A06}"/>
              </a:ext>
            </a:extLst>
          </p:cNvPr>
          <p:cNvSpPr txBox="1"/>
          <p:nvPr/>
        </p:nvSpPr>
        <p:spPr>
          <a:xfrm>
            <a:off x="1217698" y="2543240"/>
            <a:ext cx="10620000" cy="54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en-US" altLang="ja-JP" sz="1600"/>
              <a:t>(b)(d)AW</a:t>
            </a:r>
            <a:r>
              <a:rPr lang="ja-JP" altLang="en-US" sz="1600"/>
              <a:t>東日本</a:t>
            </a:r>
            <a:r>
              <a:rPr lang="ja-JP" altLang="en-US" sz="1600">
                <a:solidFill>
                  <a:srgbClr val="FF0000"/>
                </a:solidFill>
              </a:rPr>
              <a:t>個別財務諸表上</a:t>
            </a:r>
            <a:r>
              <a:rPr lang="ja-JP" altLang="en-US" sz="1600"/>
              <a:t>で</a:t>
            </a:r>
            <a:r>
              <a:rPr lang="ja-JP" altLang="en-US" sz="1600">
                <a:solidFill>
                  <a:srgbClr val="FF0000"/>
                </a:solidFill>
              </a:rPr>
              <a:t>仕入、売上の二重計上</a:t>
            </a:r>
            <a:r>
              <a:rPr lang="ja-JP" altLang="en-US" sz="1600"/>
              <a:t>がされたままである</a:t>
            </a:r>
          </a:p>
        </p:txBody>
      </p:sp>
      <p:sp>
        <p:nvSpPr>
          <p:cNvPr id="22" name="正方形/長方形 21">
            <a:extLst>
              <a:ext uri="{FF2B5EF4-FFF2-40B4-BE49-F238E27FC236}">
                <a16:creationId xmlns:a16="http://schemas.microsoft.com/office/drawing/2014/main" id="{F7DC5CB4-D00F-40DF-D098-266C16789280}"/>
              </a:ext>
            </a:extLst>
          </p:cNvPr>
          <p:cNvSpPr/>
          <p:nvPr/>
        </p:nvSpPr>
        <p:spPr>
          <a:xfrm>
            <a:off x="969054" y="2005460"/>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t>
            </a:r>
            <a:r>
              <a:rPr lang="ja-JP" altLang="en-US" sz="1600">
                <a:solidFill>
                  <a:schemeClr val="tx1"/>
                </a:solidFill>
                <a:latin typeface="+mn-ea"/>
                <a:cs typeface="Meiryo UI" panose="020B0604030504040204" pitchFamily="50" charset="-128"/>
              </a:rPr>
              <a:t>日本ヘリウム</a:t>
            </a:r>
            <a:endParaRPr kumimoji="1" lang="ja-JP" altLang="en-US" sz="1600">
              <a:solidFill>
                <a:schemeClr val="tx1"/>
              </a:solidFill>
              <a:latin typeface="+mn-ea"/>
              <a:cs typeface="Meiryo UI" panose="020B0604030504040204" pitchFamily="50" charset="-128"/>
            </a:endParaRPr>
          </a:p>
        </p:txBody>
      </p:sp>
      <p:sp>
        <p:nvSpPr>
          <p:cNvPr id="23" name="テキスト プレースホルダー 3">
            <a:extLst>
              <a:ext uri="{FF2B5EF4-FFF2-40B4-BE49-F238E27FC236}">
                <a16:creationId xmlns:a16="http://schemas.microsoft.com/office/drawing/2014/main" id="{94424E68-DE70-4FDD-60CB-40EF0DB35CB4}"/>
              </a:ext>
            </a:extLst>
          </p:cNvPr>
          <p:cNvSpPr txBox="1">
            <a:spLocks/>
          </p:cNvSpPr>
          <p:nvPr/>
        </p:nvSpPr>
        <p:spPr>
          <a:xfrm>
            <a:off x="6397941" y="1609924"/>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cxnSp>
        <p:nvCxnSpPr>
          <p:cNvPr id="74" name="直線矢印コネクタ 73">
            <a:extLst>
              <a:ext uri="{FF2B5EF4-FFF2-40B4-BE49-F238E27FC236}">
                <a16:creationId xmlns:a16="http://schemas.microsoft.com/office/drawing/2014/main" id="{3AEE7468-9C83-9329-DFB7-844E02A72EAC}"/>
              </a:ext>
            </a:extLst>
          </p:cNvPr>
          <p:cNvCxnSpPr>
            <a:cxnSpLocks/>
            <a:stCxn id="22" idx="3"/>
            <a:endCxn id="6" idx="1"/>
          </p:cNvCxnSpPr>
          <p:nvPr/>
        </p:nvCxnSpPr>
        <p:spPr>
          <a:xfrm>
            <a:off x="2049054" y="2257460"/>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77" name="テキスト プレースホルダー 3">
            <a:extLst>
              <a:ext uri="{FF2B5EF4-FFF2-40B4-BE49-F238E27FC236}">
                <a16:creationId xmlns:a16="http://schemas.microsoft.com/office/drawing/2014/main" id="{A9300766-ED31-8383-C907-DA01A52003E4}"/>
              </a:ext>
            </a:extLst>
          </p:cNvPr>
          <p:cNvSpPr txBox="1">
            <a:spLocks/>
          </p:cNvSpPr>
          <p:nvPr/>
        </p:nvSpPr>
        <p:spPr>
          <a:xfrm>
            <a:off x="861054" y="1609924"/>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29" name="テキスト ボックス 128">
            <a:extLst>
              <a:ext uri="{FF2B5EF4-FFF2-40B4-BE49-F238E27FC236}">
                <a16:creationId xmlns:a16="http://schemas.microsoft.com/office/drawing/2014/main" id="{AB35F589-665F-3F92-EE13-355C09D454E0}"/>
              </a:ext>
            </a:extLst>
          </p:cNvPr>
          <p:cNvSpPr txBox="1"/>
          <p:nvPr/>
        </p:nvSpPr>
        <p:spPr>
          <a:xfrm>
            <a:off x="584588" y="3139473"/>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C</a:t>
            </a:r>
            <a:r>
              <a:rPr lang="ja-JP" altLang="en-US" sz="1600" b="1"/>
              <a:t>：</a:t>
            </a:r>
            <a:r>
              <a:rPr lang="en-US" altLang="ja-JP" sz="1600" b="1"/>
              <a:t>AW</a:t>
            </a:r>
            <a:r>
              <a:rPr lang="ja-JP" altLang="en-US" sz="1600" b="1"/>
              <a:t>連結会社と</a:t>
            </a:r>
            <a:r>
              <a:rPr lang="en-US" altLang="ja-JP" sz="1600" b="1"/>
              <a:t>AW</a:t>
            </a:r>
            <a:r>
              <a:rPr lang="ja-JP" altLang="en-US" sz="1600" b="1"/>
              <a:t>連結会社の間に、連結外会社が挟まれるもの(連結の別会社間の場合)</a:t>
            </a:r>
          </a:p>
        </p:txBody>
      </p:sp>
      <p:sp>
        <p:nvSpPr>
          <p:cNvPr id="130" name="正方形/長方形 129">
            <a:extLst>
              <a:ext uri="{FF2B5EF4-FFF2-40B4-BE49-F238E27FC236}">
                <a16:creationId xmlns:a16="http://schemas.microsoft.com/office/drawing/2014/main" id="{FE127FBE-5DBE-BC0D-16A9-667F8C73CF83}"/>
              </a:ext>
            </a:extLst>
          </p:cNvPr>
          <p:cNvSpPr/>
          <p:nvPr/>
        </p:nvSpPr>
        <p:spPr>
          <a:xfrm>
            <a:off x="2825766" y="4208844"/>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t>
            </a:r>
            <a:r>
              <a:rPr lang="en-US" altLang="ja-JP" sz="1600">
                <a:solidFill>
                  <a:schemeClr val="tx1"/>
                </a:solidFill>
                <a:latin typeface="+mn-ea"/>
                <a:cs typeface="Meiryo UI" panose="020B0604030504040204" pitchFamily="50" charset="-128"/>
              </a:rPr>
              <a:t>b</a:t>
            </a:r>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新潟ガス工業</a:t>
            </a:r>
          </a:p>
        </p:txBody>
      </p:sp>
      <p:sp>
        <p:nvSpPr>
          <p:cNvPr id="131" name="正方形/長方形 130">
            <a:extLst>
              <a:ext uri="{FF2B5EF4-FFF2-40B4-BE49-F238E27FC236}">
                <a16:creationId xmlns:a16="http://schemas.microsoft.com/office/drawing/2014/main" id="{4D77D149-D142-C699-D0BD-B6F2EEBE8F8D}"/>
              </a:ext>
            </a:extLst>
          </p:cNvPr>
          <p:cNvSpPr/>
          <p:nvPr/>
        </p:nvSpPr>
        <p:spPr>
          <a:xfrm>
            <a:off x="4671395" y="4208844"/>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(c)</a:t>
            </a:r>
            <a:r>
              <a:rPr lang="en-US" altLang="ja-JP" sz="1600">
                <a:solidFill>
                  <a:schemeClr val="tx1"/>
                </a:solidFill>
                <a:latin typeface="+mn-ea"/>
                <a:cs typeface="Meiryo UI" panose="020B0604030504040204" pitchFamily="50" charset="-128"/>
              </a:rPr>
              <a:t>V</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32" name="正方形/長方形 131">
            <a:extLst>
              <a:ext uri="{FF2B5EF4-FFF2-40B4-BE49-F238E27FC236}">
                <a16:creationId xmlns:a16="http://schemas.microsoft.com/office/drawing/2014/main" id="{F18D22B2-53A0-958B-F528-0E728124BBC2}"/>
              </a:ext>
            </a:extLst>
          </p:cNvPr>
          <p:cNvSpPr/>
          <p:nvPr/>
        </p:nvSpPr>
        <p:spPr>
          <a:xfrm>
            <a:off x="6517024" y="4208844"/>
            <a:ext cx="1080000" cy="50400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(d)AWI</a:t>
            </a:r>
            <a:endParaRPr kumimoji="1" lang="ja-JP" altLang="en-US" sz="1600">
              <a:solidFill>
                <a:schemeClr val="tx1"/>
              </a:solidFill>
              <a:latin typeface="+mn-ea"/>
              <a:cs typeface="Meiryo UI" panose="020B0604030504040204" pitchFamily="50" charset="-128"/>
            </a:endParaRPr>
          </a:p>
        </p:txBody>
      </p:sp>
      <p:sp>
        <p:nvSpPr>
          <p:cNvPr id="133" name="正方形/長方形 132">
            <a:extLst>
              <a:ext uri="{FF2B5EF4-FFF2-40B4-BE49-F238E27FC236}">
                <a16:creationId xmlns:a16="http://schemas.microsoft.com/office/drawing/2014/main" id="{0CD8BD01-4291-8768-920A-FFE123AC7C91}"/>
              </a:ext>
            </a:extLst>
          </p:cNvPr>
          <p:cNvSpPr/>
          <p:nvPr/>
        </p:nvSpPr>
        <p:spPr>
          <a:xfrm>
            <a:off x="8362653" y="4208844"/>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134" name="正方形/長方形 133">
            <a:extLst>
              <a:ext uri="{FF2B5EF4-FFF2-40B4-BE49-F238E27FC236}">
                <a16:creationId xmlns:a16="http://schemas.microsoft.com/office/drawing/2014/main" id="{98C053D5-1EB4-E0ED-36B8-FCF71B46B34E}"/>
              </a:ext>
            </a:extLst>
          </p:cNvPr>
          <p:cNvSpPr/>
          <p:nvPr/>
        </p:nvSpPr>
        <p:spPr>
          <a:xfrm>
            <a:off x="10208282" y="4208844"/>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(f)W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35" name="テキスト プレースホルダー 3">
            <a:extLst>
              <a:ext uri="{FF2B5EF4-FFF2-40B4-BE49-F238E27FC236}">
                <a16:creationId xmlns:a16="http://schemas.microsoft.com/office/drawing/2014/main" id="{1E3D2CED-D92C-CCAE-1000-2BA0B8D20806}"/>
              </a:ext>
            </a:extLst>
          </p:cNvPr>
          <p:cNvSpPr txBox="1">
            <a:spLocks/>
          </p:cNvSpPr>
          <p:nvPr/>
        </p:nvSpPr>
        <p:spPr>
          <a:xfrm>
            <a:off x="839157" y="3265986"/>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外部仕入先</a:t>
            </a:r>
          </a:p>
        </p:txBody>
      </p:sp>
      <p:sp>
        <p:nvSpPr>
          <p:cNvPr id="136" name="テキスト プレースホルダー 3">
            <a:extLst>
              <a:ext uri="{FF2B5EF4-FFF2-40B4-BE49-F238E27FC236}">
                <a16:creationId xmlns:a16="http://schemas.microsoft.com/office/drawing/2014/main" id="{B7E37B9F-2604-D236-5517-3DBB8FC4AC58}"/>
              </a:ext>
            </a:extLst>
          </p:cNvPr>
          <p:cNvSpPr txBox="1">
            <a:spLocks/>
          </p:cNvSpPr>
          <p:nvPr/>
        </p:nvSpPr>
        <p:spPr>
          <a:xfrm>
            <a:off x="2717766" y="3813308"/>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38" name="テキスト プレースホルダー 3">
            <a:extLst>
              <a:ext uri="{FF2B5EF4-FFF2-40B4-BE49-F238E27FC236}">
                <a16:creationId xmlns:a16="http://schemas.microsoft.com/office/drawing/2014/main" id="{D962D278-F7F1-A02C-A33C-6BEAA2AF8234}"/>
              </a:ext>
            </a:extLst>
          </p:cNvPr>
          <p:cNvSpPr txBox="1">
            <a:spLocks/>
          </p:cNvSpPr>
          <p:nvPr/>
        </p:nvSpPr>
        <p:spPr>
          <a:xfrm>
            <a:off x="10208282" y="3813308"/>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39" name="テキスト プレースホルダー 3">
            <a:extLst>
              <a:ext uri="{FF2B5EF4-FFF2-40B4-BE49-F238E27FC236}">
                <a16:creationId xmlns:a16="http://schemas.microsoft.com/office/drawing/2014/main" id="{B625E334-0D91-9D55-7EF4-D14CEFAA6BAE}"/>
              </a:ext>
            </a:extLst>
          </p:cNvPr>
          <p:cNvSpPr txBox="1">
            <a:spLocks/>
          </p:cNvSpPr>
          <p:nvPr/>
        </p:nvSpPr>
        <p:spPr>
          <a:xfrm>
            <a:off x="8232920" y="3813308"/>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140" name="テキスト プレースホルダー 3">
            <a:extLst>
              <a:ext uri="{FF2B5EF4-FFF2-40B4-BE49-F238E27FC236}">
                <a16:creationId xmlns:a16="http://schemas.microsoft.com/office/drawing/2014/main" id="{80FAB550-A3ED-D2E4-E15C-8DF943A64CC6}"/>
              </a:ext>
            </a:extLst>
          </p:cNvPr>
          <p:cNvSpPr txBox="1">
            <a:spLocks/>
          </p:cNvSpPr>
          <p:nvPr/>
        </p:nvSpPr>
        <p:spPr>
          <a:xfrm>
            <a:off x="4455395" y="3265583"/>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外部業者</a:t>
            </a:r>
          </a:p>
        </p:txBody>
      </p:sp>
      <p:sp>
        <p:nvSpPr>
          <p:cNvPr id="141" name="テキスト プレースホルダー 3">
            <a:extLst>
              <a:ext uri="{FF2B5EF4-FFF2-40B4-BE49-F238E27FC236}">
                <a16:creationId xmlns:a16="http://schemas.microsoft.com/office/drawing/2014/main" id="{ACEE8FC4-EB6A-3099-5F11-5C1BF8392F1B}"/>
              </a:ext>
            </a:extLst>
          </p:cNvPr>
          <p:cNvSpPr txBox="1">
            <a:spLocks/>
          </p:cNvSpPr>
          <p:nvPr/>
        </p:nvSpPr>
        <p:spPr>
          <a:xfrm>
            <a:off x="9938282" y="3265986"/>
            <a:ext cx="1620000" cy="504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外部供給先</a:t>
            </a:r>
            <a:br>
              <a:rPr lang="en-US" altLang="ja-JP" sz="1600" b="0">
                <a:solidFill>
                  <a:schemeClr val="tx1"/>
                </a:solidFill>
              </a:rPr>
            </a:br>
            <a:r>
              <a:rPr lang="ja-JP" altLang="en-US" sz="1600" b="0">
                <a:solidFill>
                  <a:schemeClr val="tx1"/>
                </a:solidFill>
              </a:rPr>
              <a:t>エンドユーザー</a:t>
            </a:r>
          </a:p>
        </p:txBody>
      </p:sp>
      <p:cxnSp>
        <p:nvCxnSpPr>
          <p:cNvPr id="142" name="直線矢印コネクタ 141">
            <a:extLst>
              <a:ext uri="{FF2B5EF4-FFF2-40B4-BE49-F238E27FC236}">
                <a16:creationId xmlns:a16="http://schemas.microsoft.com/office/drawing/2014/main" id="{07D0A99C-462C-2D4C-03F5-CF8D1E45232A}"/>
              </a:ext>
            </a:extLst>
          </p:cNvPr>
          <p:cNvCxnSpPr>
            <a:cxnSpLocks/>
            <a:stCxn id="130" idx="3"/>
            <a:endCxn id="131" idx="1"/>
          </p:cNvCxnSpPr>
          <p:nvPr/>
        </p:nvCxnSpPr>
        <p:spPr>
          <a:xfrm>
            <a:off x="3905766" y="4460844"/>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43" name="直線矢印コネクタ 142">
            <a:extLst>
              <a:ext uri="{FF2B5EF4-FFF2-40B4-BE49-F238E27FC236}">
                <a16:creationId xmlns:a16="http://schemas.microsoft.com/office/drawing/2014/main" id="{560EA555-4682-647A-444B-0DDA5C500E13}"/>
              </a:ext>
            </a:extLst>
          </p:cNvPr>
          <p:cNvCxnSpPr>
            <a:cxnSpLocks/>
            <a:stCxn id="131" idx="3"/>
            <a:endCxn id="132" idx="1"/>
          </p:cNvCxnSpPr>
          <p:nvPr/>
        </p:nvCxnSpPr>
        <p:spPr>
          <a:xfrm>
            <a:off x="5751395" y="4460844"/>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44" name="直線矢印コネクタ 143">
            <a:extLst>
              <a:ext uri="{FF2B5EF4-FFF2-40B4-BE49-F238E27FC236}">
                <a16:creationId xmlns:a16="http://schemas.microsoft.com/office/drawing/2014/main" id="{573652F0-45F8-2552-259B-E70645901D6C}"/>
              </a:ext>
            </a:extLst>
          </p:cNvPr>
          <p:cNvCxnSpPr>
            <a:cxnSpLocks/>
            <a:stCxn id="132" idx="3"/>
            <a:endCxn id="133" idx="1"/>
          </p:cNvCxnSpPr>
          <p:nvPr/>
        </p:nvCxnSpPr>
        <p:spPr>
          <a:xfrm>
            <a:off x="7597024" y="4460844"/>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49D6C4F7-381F-548B-3E5B-5572138659EE}"/>
              </a:ext>
            </a:extLst>
          </p:cNvPr>
          <p:cNvCxnSpPr>
            <a:cxnSpLocks/>
            <a:stCxn id="133" idx="3"/>
            <a:endCxn id="134" idx="1"/>
          </p:cNvCxnSpPr>
          <p:nvPr/>
        </p:nvCxnSpPr>
        <p:spPr>
          <a:xfrm>
            <a:off x="9442653" y="4460844"/>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49" name="テキスト ボックス 148">
            <a:extLst>
              <a:ext uri="{FF2B5EF4-FFF2-40B4-BE49-F238E27FC236}">
                <a16:creationId xmlns:a16="http://schemas.microsoft.com/office/drawing/2014/main" id="{C8C0250B-E24F-0CEE-43BA-4986955796EA}"/>
              </a:ext>
            </a:extLst>
          </p:cNvPr>
          <p:cNvSpPr txBox="1"/>
          <p:nvPr/>
        </p:nvSpPr>
        <p:spPr>
          <a:xfrm>
            <a:off x="1228781" y="4980233"/>
            <a:ext cx="9728388" cy="570095"/>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en-US" altLang="ja-JP" sz="1600"/>
              <a:t>(b)</a:t>
            </a:r>
            <a:r>
              <a:rPr lang="ja-JP" altLang="en-US" sz="1600"/>
              <a:t>～</a:t>
            </a:r>
            <a:r>
              <a:rPr lang="en-US" altLang="ja-JP" sz="1600"/>
              <a:t>(d)</a:t>
            </a:r>
            <a:r>
              <a:rPr lang="ja-JP" altLang="en-US" sz="1600"/>
              <a:t>の間の仕入、売上の二重計上は連結修正仕訳で消去されないため、</a:t>
            </a:r>
            <a:br>
              <a:rPr lang="en-US" altLang="ja-JP" sz="1600"/>
            </a:br>
            <a:r>
              <a:rPr lang="ja-JP" altLang="en-US" sz="1600">
                <a:solidFill>
                  <a:srgbClr val="FF0000"/>
                </a:solidFill>
              </a:rPr>
              <a:t>連結財務諸表上、仕入と売上が二重計上</a:t>
            </a:r>
            <a:r>
              <a:rPr lang="ja-JP" altLang="en-US" sz="1600"/>
              <a:t>されたままである</a:t>
            </a:r>
          </a:p>
        </p:txBody>
      </p:sp>
      <p:sp>
        <p:nvSpPr>
          <p:cNvPr id="150" name="正方形/長方形 149">
            <a:extLst>
              <a:ext uri="{FF2B5EF4-FFF2-40B4-BE49-F238E27FC236}">
                <a16:creationId xmlns:a16="http://schemas.microsoft.com/office/drawing/2014/main" id="{46648DBA-8CB2-7CDC-C6A4-35134404D1A6}"/>
              </a:ext>
            </a:extLst>
          </p:cNvPr>
          <p:cNvSpPr/>
          <p:nvPr/>
        </p:nvSpPr>
        <p:spPr>
          <a:xfrm>
            <a:off x="980137" y="4208844"/>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(a)Z</a:t>
            </a:r>
            <a:r>
              <a:rPr kumimoji="1" lang="ja-JP" altLang="en-US" sz="1600">
                <a:solidFill>
                  <a:schemeClr val="tx1"/>
                </a:solidFill>
                <a:latin typeface="+mn-ea"/>
                <a:cs typeface="Meiryo UI" panose="020B0604030504040204" pitchFamily="50" charset="-128"/>
              </a:rPr>
              <a:t>社</a:t>
            </a:r>
          </a:p>
        </p:txBody>
      </p:sp>
      <p:sp>
        <p:nvSpPr>
          <p:cNvPr id="151" name="テキスト プレースホルダー 3">
            <a:extLst>
              <a:ext uri="{FF2B5EF4-FFF2-40B4-BE49-F238E27FC236}">
                <a16:creationId xmlns:a16="http://schemas.microsoft.com/office/drawing/2014/main" id="{36562CC6-B72A-5D8E-8010-EE48C6F81C75}"/>
              </a:ext>
            </a:extLst>
          </p:cNvPr>
          <p:cNvSpPr txBox="1">
            <a:spLocks/>
          </p:cNvSpPr>
          <p:nvPr/>
        </p:nvSpPr>
        <p:spPr>
          <a:xfrm>
            <a:off x="6409024" y="3813308"/>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cxnSp>
        <p:nvCxnSpPr>
          <p:cNvPr id="152" name="直線矢印コネクタ 151">
            <a:extLst>
              <a:ext uri="{FF2B5EF4-FFF2-40B4-BE49-F238E27FC236}">
                <a16:creationId xmlns:a16="http://schemas.microsoft.com/office/drawing/2014/main" id="{198B86AF-C307-BB06-6CCD-547A6F3516E9}"/>
              </a:ext>
            </a:extLst>
          </p:cNvPr>
          <p:cNvCxnSpPr>
            <a:cxnSpLocks/>
            <a:stCxn id="150" idx="3"/>
            <a:endCxn id="130" idx="1"/>
          </p:cNvCxnSpPr>
          <p:nvPr/>
        </p:nvCxnSpPr>
        <p:spPr>
          <a:xfrm>
            <a:off x="2060137" y="4460844"/>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54" name="テキスト プレースホルダー 3">
            <a:extLst>
              <a:ext uri="{FF2B5EF4-FFF2-40B4-BE49-F238E27FC236}">
                <a16:creationId xmlns:a16="http://schemas.microsoft.com/office/drawing/2014/main" id="{05B4ECD2-9294-A862-4E06-DF7069E73BD7}"/>
              </a:ext>
            </a:extLst>
          </p:cNvPr>
          <p:cNvSpPr txBox="1">
            <a:spLocks/>
          </p:cNvSpPr>
          <p:nvPr/>
        </p:nvSpPr>
        <p:spPr>
          <a:xfrm>
            <a:off x="993591" y="3807736"/>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55" name="テキスト プレースホルダー 3">
            <a:extLst>
              <a:ext uri="{FF2B5EF4-FFF2-40B4-BE49-F238E27FC236}">
                <a16:creationId xmlns:a16="http://schemas.microsoft.com/office/drawing/2014/main" id="{A96DCEA6-4763-2EDB-4270-72CAFA71E532}"/>
              </a:ext>
            </a:extLst>
          </p:cNvPr>
          <p:cNvSpPr txBox="1">
            <a:spLocks/>
          </p:cNvSpPr>
          <p:nvPr/>
        </p:nvSpPr>
        <p:spPr>
          <a:xfrm>
            <a:off x="4689179" y="3807736"/>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156" name="正方形/長方形 155">
            <a:extLst>
              <a:ext uri="{FF2B5EF4-FFF2-40B4-BE49-F238E27FC236}">
                <a16:creationId xmlns:a16="http://schemas.microsoft.com/office/drawing/2014/main" id="{D31CA91C-F988-82AA-30B5-C5F368732BE5}"/>
              </a:ext>
            </a:extLst>
          </p:cNvPr>
          <p:cNvSpPr/>
          <p:nvPr/>
        </p:nvSpPr>
        <p:spPr>
          <a:xfrm>
            <a:off x="2598683" y="4172398"/>
            <a:ext cx="5106341" cy="76583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 name="Oval 66">
            <a:extLst>
              <a:ext uri="{FF2B5EF4-FFF2-40B4-BE49-F238E27FC236}">
                <a16:creationId xmlns:a16="http://schemas.microsoft.com/office/drawing/2014/main" id="{AA5E706C-B655-6B7C-491A-E395C9E549B1}"/>
              </a:ext>
            </a:extLst>
          </p:cNvPr>
          <p:cNvSpPr>
            <a:spLocks noChangeArrowheads="1"/>
          </p:cNvSpPr>
          <p:nvPr/>
        </p:nvSpPr>
        <p:spPr bwMode="gray">
          <a:xfrm>
            <a:off x="5942787" y="2319715"/>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
        <p:nvSpPr>
          <p:cNvPr id="4" name="Oval 66">
            <a:extLst>
              <a:ext uri="{FF2B5EF4-FFF2-40B4-BE49-F238E27FC236}">
                <a16:creationId xmlns:a16="http://schemas.microsoft.com/office/drawing/2014/main" id="{17F83D1E-22FC-55D4-BFFF-43EAF106F1C6}"/>
              </a:ext>
            </a:extLst>
          </p:cNvPr>
          <p:cNvSpPr>
            <a:spLocks noChangeArrowheads="1"/>
          </p:cNvSpPr>
          <p:nvPr/>
        </p:nvSpPr>
        <p:spPr bwMode="gray">
          <a:xfrm>
            <a:off x="9645128" y="2314789"/>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2</a:t>
            </a:r>
          </a:p>
        </p:txBody>
      </p:sp>
      <p:pic>
        <p:nvPicPr>
          <p:cNvPr id="11" name="グラフィックス 10" descr="チェック マーク 単色塗りつぶし">
            <a:extLst>
              <a:ext uri="{FF2B5EF4-FFF2-40B4-BE49-F238E27FC236}">
                <a16:creationId xmlns:a16="http://schemas.microsoft.com/office/drawing/2014/main" id="{F28E8E98-6467-D851-DEE5-E7D771513F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781" y="2558870"/>
            <a:ext cx="468000" cy="468000"/>
          </a:xfrm>
          <a:prstGeom prst="rect">
            <a:avLst/>
          </a:prstGeom>
        </p:spPr>
      </p:pic>
      <p:pic>
        <p:nvPicPr>
          <p:cNvPr id="16" name="グラフィックス 15" descr="チェック マーク 単色塗りつぶし">
            <a:extLst>
              <a:ext uri="{FF2B5EF4-FFF2-40B4-BE49-F238E27FC236}">
                <a16:creationId xmlns:a16="http://schemas.microsoft.com/office/drawing/2014/main" id="{F3216CCF-6100-9C9B-B4D2-BFDFBABDDE6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0781" y="4998233"/>
            <a:ext cx="468000" cy="468000"/>
          </a:xfrm>
          <a:prstGeom prst="rect">
            <a:avLst/>
          </a:prstGeom>
        </p:spPr>
      </p:pic>
      <p:sp>
        <p:nvSpPr>
          <p:cNvPr id="25" name="Oval 66">
            <a:extLst>
              <a:ext uri="{FF2B5EF4-FFF2-40B4-BE49-F238E27FC236}">
                <a16:creationId xmlns:a16="http://schemas.microsoft.com/office/drawing/2014/main" id="{3AE2882B-5469-E973-7743-942BE69F3A91}"/>
              </a:ext>
            </a:extLst>
          </p:cNvPr>
          <p:cNvSpPr>
            <a:spLocks noChangeArrowheads="1"/>
          </p:cNvSpPr>
          <p:nvPr/>
        </p:nvSpPr>
        <p:spPr bwMode="gray">
          <a:xfrm>
            <a:off x="4108241" y="4512549"/>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
        <p:nvSpPr>
          <p:cNvPr id="26" name="Oval 66">
            <a:extLst>
              <a:ext uri="{FF2B5EF4-FFF2-40B4-BE49-F238E27FC236}">
                <a16:creationId xmlns:a16="http://schemas.microsoft.com/office/drawing/2014/main" id="{185B9B41-3F11-389C-B985-36B6C87FA5A8}"/>
              </a:ext>
            </a:extLst>
          </p:cNvPr>
          <p:cNvSpPr>
            <a:spLocks noChangeArrowheads="1"/>
          </p:cNvSpPr>
          <p:nvPr/>
        </p:nvSpPr>
        <p:spPr bwMode="gray">
          <a:xfrm>
            <a:off x="7799499" y="4512549"/>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2</a:t>
            </a:r>
          </a:p>
        </p:txBody>
      </p:sp>
      <p:sp>
        <p:nvSpPr>
          <p:cNvPr id="27" name="テキスト ボックス 26">
            <a:extLst>
              <a:ext uri="{FF2B5EF4-FFF2-40B4-BE49-F238E27FC236}">
                <a16:creationId xmlns:a16="http://schemas.microsoft.com/office/drawing/2014/main" id="{9725E740-40DE-949F-D5B0-7154FA35E449}"/>
              </a:ext>
            </a:extLst>
          </p:cNvPr>
          <p:cNvSpPr txBox="1"/>
          <p:nvPr/>
        </p:nvSpPr>
        <p:spPr>
          <a:xfrm>
            <a:off x="1117600" y="5651839"/>
            <a:ext cx="10159599" cy="910202"/>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b="1">
                <a:solidFill>
                  <a:schemeClr val="accent1"/>
                </a:solidFill>
              </a:rPr>
              <a:t>必ずしも二重取引が全て禁止というわけではないものの、</a:t>
            </a:r>
            <a:r>
              <a:rPr lang="ja-JP" altLang="en-US" sz="1600" b="1" u="sng">
                <a:solidFill>
                  <a:schemeClr val="accent1"/>
                </a:solidFill>
              </a:rPr>
              <a:t>役割のない会社が商流に入る取引は無くすよう商流の整理をお願いいたします</a:t>
            </a:r>
            <a:r>
              <a:rPr lang="ja-JP" altLang="en-US" sz="1600" b="1">
                <a:solidFill>
                  <a:schemeClr val="accent1"/>
                </a:solidFill>
              </a:rPr>
              <a:t>。二重取引がある場合、二重となっている売上と仕入を把握するために商流の情報を網羅的に把握、収集することが肝要です。</a:t>
            </a:r>
          </a:p>
        </p:txBody>
      </p:sp>
      <p:sp>
        <p:nvSpPr>
          <p:cNvPr id="29" name="正方形/長方形 28">
            <a:extLst>
              <a:ext uri="{FF2B5EF4-FFF2-40B4-BE49-F238E27FC236}">
                <a16:creationId xmlns:a16="http://schemas.microsoft.com/office/drawing/2014/main" id="{4351085C-F015-2510-9D72-4B6CCE4D4A2E}"/>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25731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DFDC5D1-8442-B4D3-4105-B144C4648A0D}"/>
              </a:ext>
            </a:extLst>
          </p:cNvPr>
          <p:cNvSpPr>
            <a:spLocks noGrp="1"/>
          </p:cNvSpPr>
          <p:nvPr>
            <p:ph type="title"/>
          </p:nvPr>
        </p:nvSpPr>
        <p:spPr/>
        <p:txBody>
          <a:bodyPr>
            <a:normAutofit/>
          </a:bodyPr>
          <a:lstStyle/>
          <a:p>
            <a:r>
              <a:rPr lang="en-US" altLang="ja-JP"/>
              <a:t>3-1.</a:t>
            </a:r>
            <a:r>
              <a:rPr lang="ja-JP" altLang="en-US"/>
              <a:t>二重取引による売上の過大計上</a:t>
            </a:r>
          </a:p>
        </p:txBody>
      </p:sp>
      <p:sp>
        <p:nvSpPr>
          <p:cNvPr id="2" name="正方形/長方形 1">
            <a:extLst>
              <a:ext uri="{FF2B5EF4-FFF2-40B4-BE49-F238E27FC236}">
                <a16:creationId xmlns:a16="http://schemas.microsoft.com/office/drawing/2014/main" id="{178E41C0-978C-EC9C-EF91-BDE812E4BE1E}"/>
              </a:ext>
            </a:extLst>
          </p:cNvPr>
          <p:cNvSpPr/>
          <p:nvPr/>
        </p:nvSpPr>
        <p:spPr bwMode="gray">
          <a:xfrm>
            <a:off x="2127658" y="2263295"/>
            <a:ext cx="9720000" cy="1856123"/>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A</a:t>
            </a:r>
            <a:r>
              <a:rPr lang="ja-JP" altLang="en-US" sz="1400">
                <a:solidFill>
                  <a:prstClr val="black"/>
                </a:solidFill>
                <a:latin typeface="+mn-ea"/>
                <a:sym typeface="Wingdings" panose="05000000000000000000" pitchFamily="2" charset="2"/>
              </a:rPr>
              <a:t>：</a:t>
            </a:r>
            <a:r>
              <a:rPr lang="ja-JP" altLang="en-US" sz="1400" b="1">
                <a:solidFill>
                  <a:srgbClr val="FF0000"/>
                </a:solidFill>
                <a:latin typeface="+mn-ea"/>
                <a:sym typeface="Wingdings" panose="05000000000000000000" pitchFamily="2" charset="2"/>
              </a:rPr>
              <a:t>各社にて</a:t>
            </a:r>
            <a:r>
              <a:rPr lang="ja-JP" altLang="en-US" sz="1400">
                <a:solidFill>
                  <a:prstClr val="black"/>
                </a:solidFill>
                <a:latin typeface="+mn-ea"/>
              </a:rPr>
              <a:t>二重計上となっている仕入・売上の取り消し。</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B</a:t>
            </a:r>
            <a:r>
              <a:rPr lang="ja-JP" altLang="en-US" sz="1400">
                <a:solidFill>
                  <a:prstClr val="black"/>
                </a:solidFill>
                <a:latin typeface="+mn-ea"/>
                <a:sym typeface="Wingdings" panose="05000000000000000000" pitchFamily="2" charset="2"/>
              </a:rPr>
              <a:t>：（会社法監査を受ける会社のみ）</a:t>
            </a:r>
            <a:r>
              <a:rPr lang="ja-JP" altLang="en-US" sz="1400" b="1">
                <a:solidFill>
                  <a:srgbClr val="FF0000"/>
                </a:solidFill>
                <a:latin typeface="+mn-ea"/>
                <a:sym typeface="Wingdings" panose="05000000000000000000" pitchFamily="2" charset="2"/>
              </a:rPr>
              <a:t>各社にて</a:t>
            </a:r>
            <a:r>
              <a:rPr lang="ja-JP" altLang="en-US" sz="1400">
                <a:solidFill>
                  <a:prstClr val="black"/>
                </a:solidFill>
                <a:latin typeface="+mn-ea"/>
              </a:rPr>
              <a:t>二重計上となっている仕入・売上の取り消し。</a:t>
            </a:r>
            <a:endParaRPr lang="en-US" altLang="ja-JP" sz="1400">
              <a:solidFill>
                <a:prstClr val="black"/>
              </a:solidFill>
              <a:latin typeface="+mn-ea"/>
            </a:endParaRPr>
          </a:p>
          <a:p>
            <a:pPr marL="90487" defTabSz="990589">
              <a:spcBef>
                <a:spcPts val="300"/>
              </a:spcBef>
              <a:buSzPct val="100000"/>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C</a:t>
            </a:r>
            <a:r>
              <a:rPr lang="ja-JP" altLang="en-US" sz="1400">
                <a:solidFill>
                  <a:prstClr val="black"/>
                </a:solidFill>
                <a:latin typeface="+mn-ea"/>
                <a:sym typeface="Wingdings" panose="05000000000000000000" pitchFamily="2" charset="2"/>
              </a:rPr>
              <a:t>：</a:t>
            </a:r>
            <a:r>
              <a:rPr lang="ja-JP" altLang="en-US" sz="1400" b="1">
                <a:solidFill>
                  <a:srgbClr val="FF0000"/>
                </a:solidFill>
                <a:latin typeface="+mn-ea"/>
                <a:sym typeface="Wingdings" panose="05000000000000000000" pitchFamily="2" charset="2"/>
              </a:rPr>
              <a:t>本社経理にて</a:t>
            </a:r>
            <a:r>
              <a:rPr lang="ja-JP" altLang="en-US" sz="1400">
                <a:solidFill>
                  <a:prstClr val="black"/>
                </a:solidFill>
                <a:latin typeface="+mn-ea"/>
                <a:sym typeface="Wingdings" panose="05000000000000000000" pitchFamily="2" charset="2"/>
              </a:rPr>
              <a:t>二重計上となっている仕入・売上の取り消し</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各社レベルでは正しい会計処理であり、</a:t>
            </a:r>
            <a:r>
              <a:rPr lang="ja-JP" altLang="en-US" sz="1400" b="1" u="sng">
                <a:solidFill>
                  <a:srgbClr val="FF0000"/>
                </a:solidFill>
                <a:latin typeface="+mn-ea"/>
              </a:rPr>
              <a:t>各社では修正不要</a:t>
            </a:r>
            <a:endParaRPr lang="en-US" altLang="ja-JP" sz="1400" b="1" u="sng">
              <a:solidFill>
                <a:srgbClr val="FF0000"/>
              </a:solidFill>
              <a:latin typeface="+mn-ea"/>
            </a:endParaRPr>
          </a:p>
          <a:p>
            <a:pPr marL="625475" lvl="1" indent="-285750" defTabSz="990589">
              <a:spcBef>
                <a:spcPts val="300"/>
              </a:spcBef>
              <a:buSzPct val="100000"/>
              <a:buFont typeface="Arial" panose="020B0604020202020204" pitchFamily="34" charset="0"/>
              <a:buChar char="•"/>
            </a:pPr>
            <a:r>
              <a:rPr lang="ja-JP" altLang="en-US" sz="1400">
                <a:latin typeface="+mn-ea"/>
              </a:rPr>
              <a:t>連結財務諸表の観点では取り消しが必要</a:t>
            </a:r>
          </a:p>
        </p:txBody>
      </p:sp>
      <p:sp>
        <p:nvSpPr>
          <p:cNvPr id="11" name="正方形/長方形 10">
            <a:extLst>
              <a:ext uri="{FF2B5EF4-FFF2-40B4-BE49-F238E27FC236}">
                <a16:creationId xmlns:a16="http://schemas.microsoft.com/office/drawing/2014/main" id="{6EF9D809-2B3F-DB10-710D-6B647443B802}"/>
              </a:ext>
            </a:extLst>
          </p:cNvPr>
          <p:cNvSpPr/>
          <p:nvPr/>
        </p:nvSpPr>
        <p:spPr bwMode="gray">
          <a:xfrm>
            <a:off x="507601" y="2263295"/>
            <a:ext cx="1260000" cy="1856123"/>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必要な</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会計処理</a:t>
            </a:r>
            <a:endParaRPr lang="en-US" altLang="ja-JP" sz="1400" b="1">
              <a:solidFill>
                <a:schemeClr val="bg1"/>
              </a:solidFill>
              <a:latin typeface="+mn-ea"/>
            </a:endParaRPr>
          </a:p>
        </p:txBody>
      </p:sp>
      <p:sp>
        <p:nvSpPr>
          <p:cNvPr id="25" name="正方形/長方形 24">
            <a:extLst>
              <a:ext uri="{FF2B5EF4-FFF2-40B4-BE49-F238E27FC236}">
                <a16:creationId xmlns:a16="http://schemas.microsoft.com/office/drawing/2014/main" id="{A496787D-AF90-BD47-3670-FDB8A1B2E21F}"/>
              </a:ext>
            </a:extLst>
          </p:cNvPr>
          <p:cNvSpPr/>
          <p:nvPr/>
        </p:nvSpPr>
        <p:spPr bwMode="gray">
          <a:xfrm>
            <a:off x="2127658" y="4265112"/>
            <a:ext cx="9720000" cy="216661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A</a:t>
            </a:r>
            <a:r>
              <a:rPr lang="ja-JP" altLang="en-US" sz="1400">
                <a:solidFill>
                  <a:prstClr val="black"/>
                </a:solidFill>
                <a:latin typeface="+mn-ea"/>
                <a:sym typeface="Wingdings" panose="05000000000000000000" pitchFamily="2" charset="2"/>
              </a:rPr>
              <a:t>：報告事項なし</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各社にて取り消し処理で完結</a:t>
            </a:r>
            <a:endParaRPr lang="en-US" altLang="ja-JP" sz="1400">
              <a:solidFill>
                <a:prstClr val="black"/>
              </a:solidFill>
              <a:latin typeface="+mn-ea"/>
            </a:endParaRPr>
          </a:p>
          <a:p>
            <a:pPr marL="90487" defTabSz="990589">
              <a:spcBef>
                <a:spcPts val="300"/>
              </a:spcBef>
              <a:buSzPct val="100000"/>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B</a:t>
            </a:r>
            <a:r>
              <a:rPr lang="ja-JP" altLang="en-US" sz="1400">
                <a:solidFill>
                  <a:prstClr val="black"/>
                </a:solidFill>
                <a:latin typeface="+mn-ea"/>
                <a:sym typeface="Wingdings" panose="05000000000000000000" pitchFamily="2" charset="2"/>
              </a:rPr>
              <a:t>：該当の商流、修正対象の金額</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グループ内取引において各社の認識額に相違が発生する可能性があり、連結財務諸表作成の観点から収集が必要</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タイプ</a:t>
            </a:r>
            <a:r>
              <a:rPr lang="en-US" altLang="ja-JP" sz="1400">
                <a:solidFill>
                  <a:prstClr val="black"/>
                </a:solidFill>
                <a:latin typeface="+mn-ea"/>
              </a:rPr>
              <a:t>C</a:t>
            </a:r>
            <a:r>
              <a:rPr lang="ja-JP" altLang="en-US" sz="1400">
                <a:solidFill>
                  <a:prstClr val="black"/>
                </a:solidFill>
                <a:latin typeface="+mn-ea"/>
                <a:sym typeface="Wingdings" panose="05000000000000000000" pitchFamily="2" charset="2"/>
              </a:rPr>
              <a:t>：該当の商流、取引額</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把握できる範囲内で一連の商流にかかわるすべてのグループ会社を連絡</a:t>
            </a:r>
            <a:endParaRPr lang="ja-JP" altLang="en-US" sz="1400">
              <a:latin typeface="+mn-ea"/>
            </a:endParaRPr>
          </a:p>
        </p:txBody>
      </p:sp>
      <p:sp>
        <p:nvSpPr>
          <p:cNvPr id="29" name="正方形/長方形 28">
            <a:extLst>
              <a:ext uri="{FF2B5EF4-FFF2-40B4-BE49-F238E27FC236}">
                <a16:creationId xmlns:a16="http://schemas.microsoft.com/office/drawing/2014/main" id="{F45F667D-2090-BFB4-4728-1703B94767E5}"/>
              </a:ext>
            </a:extLst>
          </p:cNvPr>
          <p:cNvSpPr/>
          <p:nvPr/>
        </p:nvSpPr>
        <p:spPr bwMode="gray">
          <a:xfrm>
            <a:off x="507602" y="4265111"/>
            <a:ext cx="1260000" cy="216661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en-US" altLang="ja-JP" sz="1400" b="1">
                <a:solidFill>
                  <a:schemeClr val="bg1"/>
                </a:solidFill>
                <a:latin typeface="+mn-ea"/>
              </a:rPr>
              <a:t>AWI</a:t>
            </a:r>
            <a:r>
              <a:rPr lang="ja-JP" altLang="en-US" sz="1400" b="1">
                <a:solidFill>
                  <a:schemeClr val="bg1"/>
                </a:solidFill>
                <a:latin typeface="+mn-ea"/>
              </a:rPr>
              <a:t>経理への</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連絡事項</a:t>
            </a:r>
            <a:endParaRPr lang="en-US" altLang="ja-JP" sz="1400" b="1">
              <a:solidFill>
                <a:schemeClr val="bg1"/>
              </a:solidFill>
              <a:latin typeface="+mn-ea"/>
            </a:endParaRPr>
          </a:p>
        </p:txBody>
      </p:sp>
      <p:sp>
        <p:nvSpPr>
          <p:cNvPr id="30" name="テキスト プレースホルダー 3">
            <a:extLst>
              <a:ext uri="{FF2B5EF4-FFF2-40B4-BE49-F238E27FC236}">
                <a16:creationId xmlns:a16="http://schemas.microsoft.com/office/drawing/2014/main" id="{256DC9AA-0FDD-65B8-FD29-C17B496D4552}"/>
              </a:ext>
            </a:extLst>
          </p:cNvPr>
          <p:cNvSpPr txBox="1">
            <a:spLocks/>
          </p:cNvSpPr>
          <p:nvPr/>
        </p:nvSpPr>
        <p:spPr>
          <a:xfrm>
            <a:off x="586104" y="745941"/>
            <a:ext cx="11187663" cy="539476"/>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二重取引について該当のある場合、以下の会計処理及び</a:t>
            </a:r>
            <a:r>
              <a:rPr lang="en-US" altLang="ja-JP" sz="1800" b="0"/>
              <a:t>AWI</a:t>
            </a:r>
            <a:r>
              <a:rPr lang="ja-JP" altLang="en-US" sz="1800" b="0"/>
              <a:t>経理への連絡をお願いします。</a:t>
            </a:r>
          </a:p>
        </p:txBody>
      </p:sp>
      <p:sp>
        <p:nvSpPr>
          <p:cNvPr id="4" name="正方形/長方形 3">
            <a:extLst>
              <a:ext uri="{FF2B5EF4-FFF2-40B4-BE49-F238E27FC236}">
                <a16:creationId xmlns:a16="http://schemas.microsoft.com/office/drawing/2014/main" id="{855FCA76-03DB-E415-2214-06AFDBBD635D}"/>
              </a:ext>
            </a:extLst>
          </p:cNvPr>
          <p:cNvSpPr/>
          <p:nvPr/>
        </p:nvSpPr>
        <p:spPr bwMode="gray">
          <a:xfrm>
            <a:off x="507602" y="1203231"/>
            <a:ext cx="1259999" cy="905929"/>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チェック</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ポイント</a:t>
            </a:r>
            <a:endParaRPr lang="en-US" altLang="ja-JP" sz="1400" b="1">
              <a:solidFill>
                <a:schemeClr val="bg1"/>
              </a:solidFill>
              <a:latin typeface="+mn-ea"/>
            </a:endParaRPr>
          </a:p>
        </p:txBody>
      </p:sp>
      <p:sp>
        <p:nvSpPr>
          <p:cNvPr id="5" name="正方形/長方形 4">
            <a:extLst>
              <a:ext uri="{FF2B5EF4-FFF2-40B4-BE49-F238E27FC236}">
                <a16:creationId xmlns:a16="http://schemas.microsoft.com/office/drawing/2014/main" id="{D0B61E67-DABF-873D-7696-2DAECAD2B8DE}"/>
              </a:ext>
            </a:extLst>
          </p:cNvPr>
          <p:cNvSpPr/>
          <p:nvPr/>
        </p:nvSpPr>
        <p:spPr bwMode="gray">
          <a:xfrm>
            <a:off x="2127658" y="1203231"/>
            <a:ext cx="9720000" cy="905928"/>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433387" indent="-342900" defTabSz="990589">
              <a:spcBef>
                <a:spcPts val="300"/>
              </a:spcBef>
              <a:buSzPct val="100000"/>
              <a:buFont typeface="+mj-lt"/>
              <a:buAutoNum type="arabicPeriod"/>
            </a:pPr>
            <a:r>
              <a:rPr lang="ja-JP" altLang="en-US" sz="1400">
                <a:latin typeface="+mn-ea"/>
              </a:rPr>
              <a:t>売上と仕入が連結グループ内</a:t>
            </a:r>
            <a:r>
              <a:rPr lang="en-US" altLang="ja-JP" sz="1400">
                <a:latin typeface="+mn-ea"/>
              </a:rPr>
              <a:t>(</a:t>
            </a:r>
            <a:r>
              <a:rPr lang="ja-JP" altLang="en-US" sz="1400">
                <a:latin typeface="+mn-ea"/>
              </a:rPr>
              <a:t>もしくは取引先</a:t>
            </a:r>
            <a:r>
              <a:rPr lang="en-US" altLang="ja-JP" sz="1400">
                <a:latin typeface="+mn-ea"/>
              </a:rPr>
              <a:t>)</a:t>
            </a:r>
            <a:r>
              <a:rPr lang="ja-JP" altLang="en-US" sz="1400">
                <a:latin typeface="+mn-ea"/>
              </a:rPr>
              <a:t>で複数回計上されていないか</a:t>
            </a:r>
            <a:endParaRPr lang="en-US" altLang="ja-JP" sz="1400">
              <a:latin typeface="+mn-ea"/>
            </a:endParaRPr>
          </a:p>
          <a:p>
            <a:pPr marL="433387" indent="-342900" defTabSz="990589">
              <a:spcBef>
                <a:spcPts val="300"/>
              </a:spcBef>
              <a:buSzPct val="100000"/>
              <a:buFont typeface="+mj-lt"/>
              <a:buAutoNum type="arabicPeriod"/>
            </a:pPr>
            <a:r>
              <a:rPr lang="ja-JP" altLang="en-US" sz="1400">
                <a:latin typeface="+mn-ea"/>
              </a:rPr>
              <a:t>計上されている場合、当該取引の経済合理性が認められるか</a:t>
            </a:r>
            <a:endParaRPr lang="en-US" altLang="ja-JP" sz="1400">
              <a:latin typeface="+mn-ea"/>
            </a:endParaRPr>
          </a:p>
          <a:p>
            <a:pPr marL="90487" defTabSz="990589">
              <a:spcBef>
                <a:spcPts val="300"/>
              </a:spcBef>
              <a:buSzPct val="100000"/>
            </a:pPr>
            <a:r>
              <a:rPr lang="ja-JP" altLang="en-US" sz="1400">
                <a:latin typeface="+mn-ea"/>
              </a:rPr>
              <a:t>　　　</a:t>
            </a:r>
            <a:r>
              <a:rPr lang="en-US" altLang="ja-JP" sz="1400">
                <a:latin typeface="+mn-ea"/>
              </a:rPr>
              <a:t>(</a:t>
            </a:r>
            <a:r>
              <a:rPr lang="ja-JP" altLang="en-US" sz="1400">
                <a:latin typeface="+mn-ea"/>
              </a:rPr>
              <a:t>役割のない帳簿上だけの取引ではないか</a:t>
            </a:r>
            <a:r>
              <a:rPr lang="en-US" altLang="ja-JP" sz="1400">
                <a:latin typeface="+mn-ea"/>
              </a:rPr>
              <a:t>)</a:t>
            </a:r>
            <a:endParaRPr lang="ja-JP" altLang="en-US" sz="1400">
              <a:latin typeface="+mn-ea"/>
            </a:endParaRPr>
          </a:p>
        </p:txBody>
      </p:sp>
    </p:spTree>
    <p:extLst>
      <p:ext uri="{BB962C8B-B14F-4D97-AF65-F5344CB8AC3E}">
        <p14:creationId xmlns:p14="http://schemas.microsoft.com/office/powerpoint/2010/main" val="36819073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0C5A-EC94-DC3B-5EC1-C64E88273B7B}"/>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0691E9EB-C4AF-E7FD-F739-324E7AF81D53}"/>
              </a:ext>
            </a:extLst>
          </p:cNvPr>
          <p:cNvSpPr txBox="1"/>
          <p:nvPr/>
        </p:nvSpPr>
        <p:spPr>
          <a:xfrm>
            <a:off x="604813" y="1014273"/>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A</a:t>
            </a:r>
            <a:r>
              <a:rPr lang="ja-JP" altLang="en-US" sz="1600" b="1"/>
              <a:t>：</a:t>
            </a:r>
            <a:r>
              <a:rPr lang="en-US" altLang="ja-JP" sz="1600" b="1"/>
              <a:t>AW</a:t>
            </a:r>
            <a:r>
              <a:rPr lang="ja-JP" altLang="en-US" sz="1600" b="1"/>
              <a:t>連結会社と</a:t>
            </a:r>
            <a:r>
              <a:rPr lang="en-US" altLang="ja-JP" sz="1600" b="1"/>
              <a:t>AW</a:t>
            </a:r>
            <a:r>
              <a:rPr lang="ja-JP" altLang="en-US" sz="1600" b="1"/>
              <a:t>連結会社の間に連結対象外の会社が挟まれるもの</a:t>
            </a:r>
          </a:p>
        </p:txBody>
      </p:sp>
      <p:sp>
        <p:nvSpPr>
          <p:cNvPr id="12" name="正方形/長方形 11">
            <a:extLst>
              <a:ext uri="{FF2B5EF4-FFF2-40B4-BE49-F238E27FC236}">
                <a16:creationId xmlns:a16="http://schemas.microsoft.com/office/drawing/2014/main" id="{36AC0433-450F-AC67-5CC1-5EBC9EDB31EE}"/>
              </a:ext>
            </a:extLst>
          </p:cNvPr>
          <p:cNvSpPr/>
          <p:nvPr/>
        </p:nvSpPr>
        <p:spPr>
          <a:xfrm>
            <a:off x="598076" y="2201114"/>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(a)AWI</a:t>
            </a:r>
            <a:endParaRPr kumimoji="1" lang="ja-JP" altLang="en-US" sz="1600">
              <a:solidFill>
                <a:schemeClr val="tx1"/>
              </a:solidFill>
              <a:latin typeface="+mn-ea"/>
              <a:cs typeface="Meiryo UI" panose="020B0604030504040204" pitchFamily="50" charset="-128"/>
            </a:endParaRPr>
          </a:p>
        </p:txBody>
      </p:sp>
      <p:sp>
        <p:nvSpPr>
          <p:cNvPr id="13" name="正方形/長方形 12">
            <a:extLst>
              <a:ext uri="{FF2B5EF4-FFF2-40B4-BE49-F238E27FC236}">
                <a16:creationId xmlns:a16="http://schemas.microsoft.com/office/drawing/2014/main" id="{0485BA33-5937-0FC4-3904-508D0AB3F9FB}"/>
              </a:ext>
            </a:extLst>
          </p:cNvPr>
          <p:cNvSpPr/>
          <p:nvPr/>
        </p:nvSpPr>
        <p:spPr>
          <a:xfrm>
            <a:off x="2984692" y="2201114"/>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(b)AW</a:t>
            </a:r>
            <a:r>
              <a:rPr kumimoji="1" lang="ja-JP" altLang="en-US" sz="1600">
                <a:solidFill>
                  <a:schemeClr val="tx1"/>
                </a:solidFill>
                <a:latin typeface="+mn-ea"/>
                <a:cs typeface="Meiryo UI" panose="020B0604030504040204" pitchFamily="50" charset="-128"/>
              </a:rPr>
              <a:t>東日本</a:t>
            </a:r>
          </a:p>
        </p:txBody>
      </p:sp>
      <p:sp>
        <p:nvSpPr>
          <p:cNvPr id="14" name="正方形/長方形 13">
            <a:extLst>
              <a:ext uri="{FF2B5EF4-FFF2-40B4-BE49-F238E27FC236}">
                <a16:creationId xmlns:a16="http://schemas.microsoft.com/office/drawing/2014/main" id="{64DAE262-BF1D-8D6F-DE19-358C977AE8EB}"/>
              </a:ext>
            </a:extLst>
          </p:cNvPr>
          <p:cNvSpPr/>
          <p:nvPr/>
        </p:nvSpPr>
        <p:spPr>
          <a:xfrm>
            <a:off x="5371308" y="2201114"/>
            <a:ext cx="1512000" cy="396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(c)V</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5" name="正方形/長方形 14">
            <a:extLst>
              <a:ext uri="{FF2B5EF4-FFF2-40B4-BE49-F238E27FC236}">
                <a16:creationId xmlns:a16="http://schemas.microsoft.com/office/drawing/2014/main" id="{BD653655-A533-FA5D-B80D-B6BFCE547FE1}"/>
              </a:ext>
            </a:extLst>
          </p:cNvPr>
          <p:cNvSpPr/>
          <p:nvPr/>
        </p:nvSpPr>
        <p:spPr>
          <a:xfrm>
            <a:off x="7757924" y="2201114"/>
            <a:ext cx="1512000" cy="39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FCA91DE0-F1CD-5C99-553B-74DA3F947129}"/>
              </a:ext>
            </a:extLst>
          </p:cNvPr>
          <p:cNvSpPr/>
          <p:nvPr/>
        </p:nvSpPr>
        <p:spPr>
          <a:xfrm>
            <a:off x="10144540" y="2201114"/>
            <a:ext cx="1512000" cy="396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7" name="テキスト プレースホルダー 3">
            <a:extLst>
              <a:ext uri="{FF2B5EF4-FFF2-40B4-BE49-F238E27FC236}">
                <a16:creationId xmlns:a16="http://schemas.microsoft.com/office/drawing/2014/main" id="{76875122-C96D-BDC2-6B26-81404C56208B}"/>
              </a:ext>
            </a:extLst>
          </p:cNvPr>
          <p:cNvSpPr txBox="1">
            <a:spLocks/>
          </p:cNvSpPr>
          <p:nvPr/>
        </p:nvSpPr>
        <p:spPr>
          <a:xfrm>
            <a:off x="598076" y="1246755"/>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メーカー</a:t>
            </a:r>
          </a:p>
        </p:txBody>
      </p:sp>
      <p:sp>
        <p:nvSpPr>
          <p:cNvPr id="18" name="テキスト プレースホルダー 3">
            <a:extLst>
              <a:ext uri="{FF2B5EF4-FFF2-40B4-BE49-F238E27FC236}">
                <a16:creationId xmlns:a16="http://schemas.microsoft.com/office/drawing/2014/main" id="{DF29BB95-6AE1-711D-8A98-B0D5C6746866}"/>
              </a:ext>
            </a:extLst>
          </p:cNvPr>
          <p:cNvSpPr txBox="1">
            <a:spLocks/>
          </p:cNvSpPr>
          <p:nvPr/>
        </p:nvSpPr>
        <p:spPr>
          <a:xfrm>
            <a:off x="598076" y="1810104"/>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sp>
        <p:nvSpPr>
          <p:cNvPr id="19" name="テキスト プレースホルダー 3">
            <a:extLst>
              <a:ext uri="{FF2B5EF4-FFF2-40B4-BE49-F238E27FC236}">
                <a16:creationId xmlns:a16="http://schemas.microsoft.com/office/drawing/2014/main" id="{48F2B789-A04D-76A5-87D0-61C21E2DADFA}"/>
              </a:ext>
            </a:extLst>
          </p:cNvPr>
          <p:cNvSpPr txBox="1">
            <a:spLocks/>
          </p:cNvSpPr>
          <p:nvPr/>
        </p:nvSpPr>
        <p:spPr>
          <a:xfrm>
            <a:off x="2984692" y="1810104"/>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20" name="テキスト プレースホルダー 3">
            <a:extLst>
              <a:ext uri="{FF2B5EF4-FFF2-40B4-BE49-F238E27FC236}">
                <a16:creationId xmlns:a16="http://schemas.microsoft.com/office/drawing/2014/main" id="{B2B4C2C2-E6B9-F3BE-E06D-99F60A16D334}"/>
              </a:ext>
            </a:extLst>
          </p:cNvPr>
          <p:cNvSpPr txBox="1">
            <a:spLocks/>
          </p:cNvSpPr>
          <p:nvPr/>
        </p:nvSpPr>
        <p:spPr>
          <a:xfrm>
            <a:off x="5371308" y="1810104"/>
            <a:ext cx="1512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21" name="テキスト プレースホルダー 3">
            <a:extLst>
              <a:ext uri="{FF2B5EF4-FFF2-40B4-BE49-F238E27FC236}">
                <a16:creationId xmlns:a16="http://schemas.microsoft.com/office/drawing/2014/main" id="{99C5DBBD-D6CC-298C-6430-1E5E3B162755}"/>
              </a:ext>
            </a:extLst>
          </p:cNvPr>
          <p:cNvSpPr txBox="1">
            <a:spLocks/>
          </p:cNvSpPr>
          <p:nvPr/>
        </p:nvSpPr>
        <p:spPr>
          <a:xfrm>
            <a:off x="10144540" y="1810104"/>
            <a:ext cx="1512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22" name="テキスト プレースホルダー 3">
            <a:extLst>
              <a:ext uri="{FF2B5EF4-FFF2-40B4-BE49-F238E27FC236}">
                <a16:creationId xmlns:a16="http://schemas.microsoft.com/office/drawing/2014/main" id="{FE982DE9-964E-73C6-6DD1-AFAF51F0513C}"/>
              </a:ext>
            </a:extLst>
          </p:cNvPr>
          <p:cNvSpPr txBox="1">
            <a:spLocks/>
          </p:cNvSpPr>
          <p:nvPr/>
        </p:nvSpPr>
        <p:spPr>
          <a:xfrm>
            <a:off x="7757924" y="1810104"/>
            <a:ext cx="1512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23" name="テキスト プレースホルダー 3">
            <a:extLst>
              <a:ext uri="{FF2B5EF4-FFF2-40B4-BE49-F238E27FC236}">
                <a16:creationId xmlns:a16="http://schemas.microsoft.com/office/drawing/2014/main" id="{1801BF9E-A0CF-3F80-D38D-CB3DE2A6214F}"/>
              </a:ext>
            </a:extLst>
          </p:cNvPr>
          <p:cNvSpPr txBox="1">
            <a:spLocks/>
          </p:cNvSpPr>
          <p:nvPr/>
        </p:nvSpPr>
        <p:spPr>
          <a:xfrm>
            <a:off x="5371308" y="1246755"/>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外部業者</a:t>
            </a:r>
          </a:p>
        </p:txBody>
      </p:sp>
      <p:sp>
        <p:nvSpPr>
          <p:cNvPr id="24" name="テキスト プレースホルダー 3">
            <a:extLst>
              <a:ext uri="{FF2B5EF4-FFF2-40B4-BE49-F238E27FC236}">
                <a16:creationId xmlns:a16="http://schemas.microsoft.com/office/drawing/2014/main" id="{CB447A52-D59C-F485-90DF-7183F1F39DA2}"/>
              </a:ext>
            </a:extLst>
          </p:cNvPr>
          <p:cNvSpPr txBox="1">
            <a:spLocks/>
          </p:cNvSpPr>
          <p:nvPr/>
        </p:nvSpPr>
        <p:spPr>
          <a:xfrm>
            <a:off x="10036540" y="1246755"/>
            <a:ext cx="1620000" cy="504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外部供給先</a:t>
            </a:r>
            <a:br>
              <a:rPr lang="en-US" altLang="ja-JP" sz="1600" b="0">
                <a:solidFill>
                  <a:schemeClr val="tx1"/>
                </a:solidFill>
              </a:rPr>
            </a:br>
            <a:r>
              <a:rPr lang="ja-JP" altLang="en-US" sz="1600" b="0">
                <a:solidFill>
                  <a:schemeClr val="tx1"/>
                </a:solidFill>
              </a:rPr>
              <a:t>エンドユーザー</a:t>
            </a:r>
          </a:p>
        </p:txBody>
      </p:sp>
      <p:cxnSp>
        <p:nvCxnSpPr>
          <p:cNvPr id="25" name="直線矢印コネクタ 24">
            <a:extLst>
              <a:ext uri="{FF2B5EF4-FFF2-40B4-BE49-F238E27FC236}">
                <a16:creationId xmlns:a16="http://schemas.microsoft.com/office/drawing/2014/main" id="{FD8900FC-A21A-122F-54AD-AF720106519F}"/>
              </a:ext>
            </a:extLst>
          </p:cNvPr>
          <p:cNvCxnSpPr>
            <a:cxnSpLocks/>
            <a:stCxn id="12" idx="3"/>
            <a:endCxn id="13" idx="1"/>
          </p:cNvCxnSpPr>
          <p:nvPr/>
        </p:nvCxnSpPr>
        <p:spPr>
          <a:xfrm>
            <a:off x="2110076" y="2399114"/>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6" name="直線矢印コネクタ 25">
            <a:extLst>
              <a:ext uri="{FF2B5EF4-FFF2-40B4-BE49-F238E27FC236}">
                <a16:creationId xmlns:a16="http://schemas.microsoft.com/office/drawing/2014/main" id="{BC598204-85DC-819A-CDEA-DEFBFCEE4FCF}"/>
              </a:ext>
            </a:extLst>
          </p:cNvPr>
          <p:cNvCxnSpPr>
            <a:cxnSpLocks/>
            <a:stCxn id="13" idx="3"/>
            <a:endCxn id="14" idx="1"/>
          </p:cNvCxnSpPr>
          <p:nvPr/>
        </p:nvCxnSpPr>
        <p:spPr>
          <a:xfrm>
            <a:off x="4496692" y="2399114"/>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C062C093-A4DB-9F57-DF24-EC62525DBC8F}"/>
              </a:ext>
            </a:extLst>
          </p:cNvPr>
          <p:cNvCxnSpPr>
            <a:cxnSpLocks/>
            <a:stCxn id="14" idx="3"/>
            <a:endCxn id="15" idx="1"/>
          </p:cNvCxnSpPr>
          <p:nvPr/>
        </p:nvCxnSpPr>
        <p:spPr>
          <a:xfrm>
            <a:off x="6883308" y="2399114"/>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7">
            <a:extLst>
              <a:ext uri="{FF2B5EF4-FFF2-40B4-BE49-F238E27FC236}">
                <a16:creationId xmlns:a16="http://schemas.microsoft.com/office/drawing/2014/main" id="{F88A2AF0-D03C-3B28-93AC-D867FCC58B8D}"/>
              </a:ext>
            </a:extLst>
          </p:cNvPr>
          <p:cNvCxnSpPr>
            <a:cxnSpLocks/>
            <a:stCxn id="15" idx="3"/>
            <a:endCxn id="16" idx="1"/>
          </p:cNvCxnSpPr>
          <p:nvPr/>
        </p:nvCxnSpPr>
        <p:spPr>
          <a:xfrm>
            <a:off x="9269924" y="2399114"/>
            <a:ext cx="87461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DF978D43-0753-74E5-473D-7F914A11FEA3}"/>
              </a:ext>
            </a:extLst>
          </p:cNvPr>
          <p:cNvSpPr txBox="1"/>
          <p:nvPr/>
        </p:nvSpPr>
        <p:spPr>
          <a:xfrm>
            <a:off x="1245141" y="2896726"/>
            <a:ext cx="10411400" cy="911873"/>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Arial" panose="020B0604020202020204" pitchFamily="34" charset="0"/>
              <a:buChar char="•"/>
            </a:pPr>
            <a:r>
              <a:rPr lang="en-US" altLang="ja-JP" sz="1600"/>
              <a:t>(b)(d)AW</a:t>
            </a:r>
            <a:r>
              <a:rPr lang="ja-JP" altLang="en-US" sz="1600"/>
              <a:t>東日本</a:t>
            </a:r>
            <a:r>
              <a:rPr lang="ja-JP" altLang="en-US" sz="1600">
                <a:solidFill>
                  <a:srgbClr val="FF0000"/>
                </a:solidFill>
              </a:rPr>
              <a:t>個別財務諸表上で仕入</a:t>
            </a:r>
            <a:r>
              <a:rPr lang="en-US" altLang="ja-JP" sz="1600">
                <a:solidFill>
                  <a:srgbClr val="FF0000"/>
                </a:solidFill>
              </a:rPr>
              <a:t>90</a:t>
            </a:r>
            <a:r>
              <a:rPr lang="ja-JP" altLang="en-US" sz="1600">
                <a:solidFill>
                  <a:srgbClr val="FF0000"/>
                </a:solidFill>
              </a:rPr>
              <a:t>と売上高</a:t>
            </a:r>
            <a:r>
              <a:rPr lang="en-US" altLang="ja-JP" sz="1600">
                <a:solidFill>
                  <a:srgbClr val="FF0000"/>
                </a:solidFill>
              </a:rPr>
              <a:t>100</a:t>
            </a:r>
            <a:r>
              <a:rPr lang="ja-JP" altLang="en-US" sz="1600">
                <a:solidFill>
                  <a:srgbClr val="FF0000"/>
                </a:solidFill>
              </a:rPr>
              <a:t>、仕入</a:t>
            </a:r>
            <a:r>
              <a:rPr lang="en-US" altLang="ja-JP" sz="1600">
                <a:solidFill>
                  <a:srgbClr val="FF0000"/>
                </a:solidFill>
              </a:rPr>
              <a:t>105</a:t>
            </a:r>
            <a:r>
              <a:rPr lang="ja-JP" altLang="en-US" sz="1600">
                <a:solidFill>
                  <a:srgbClr val="FF0000"/>
                </a:solidFill>
              </a:rPr>
              <a:t>と売上</a:t>
            </a:r>
            <a:r>
              <a:rPr lang="en-US" altLang="ja-JP" sz="1600">
                <a:solidFill>
                  <a:srgbClr val="FF0000"/>
                </a:solidFill>
              </a:rPr>
              <a:t>115</a:t>
            </a:r>
            <a:r>
              <a:rPr lang="ja-JP" altLang="en-US" sz="1600">
                <a:solidFill>
                  <a:srgbClr val="FF0000"/>
                </a:solidFill>
              </a:rPr>
              <a:t>が二重計上</a:t>
            </a:r>
            <a:r>
              <a:rPr lang="ja-JP" altLang="en-US" sz="1600"/>
              <a:t>がされたまま</a:t>
            </a:r>
            <a:br>
              <a:rPr lang="en-US" altLang="ja-JP" sz="1600"/>
            </a:br>
            <a:r>
              <a:rPr lang="ja-JP" altLang="en-US" sz="1600"/>
              <a:t>（仕入総額</a:t>
            </a:r>
            <a:r>
              <a:rPr lang="en-US" altLang="ja-JP" sz="1600"/>
              <a:t>195</a:t>
            </a:r>
            <a:r>
              <a:rPr lang="ja-JP" altLang="en-US" sz="1600"/>
              <a:t>、売上総額</a:t>
            </a:r>
            <a:r>
              <a:rPr lang="en-US" altLang="ja-JP" sz="1600"/>
              <a:t>215</a:t>
            </a:r>
            <a:r>
              <a:rPr lang="ja-JP" altLang="en-US" sz="1600"/>
              <a:t>として計上）</a:t>
            </a:r>
            <a:endParaRPr lang="en-US" altLang="ja-JP" sz="1600"/>
          </a:p>
          <a:p>
            <a:pPr indent="-285750">
              <a:buFont typeface="Arial" panose="020B0604020202020204" pitchFamily="34" charset="0"/>
              <a:buChar char="•"/>
            </a:pPr>
            <a:r>
              <a:rPr lang="ja-JP" altLang="en-US" sz="1600"/>
              <a:t>本来の</a:t>
            </a:r>
            <a:r>
              <a:rPr lang="en-US" altLang="ja-JP" sz="1600"/>
              <a:t>AW</a:t>
            </a:r>
            <a:r>
              <a:rPr lang="ja-JP" altLang="en-US" sz="1600"/>
              <a:t>東日本の個別財務諸表は</a:t>
            </a:r>
            <a:r>
              <a:rPr lang="ja-JP" altLang="en-US" sz="1600">
                <a:solidFill>
                  <a:srgbClr val="FF0000"/>
                </a:solidFill>
              </a:rPr>
              <a:t>仕入総額</a:t>
            </a:r>
            <a:r>
              <a:rPr lang="en-US" altLang="ja-JP" sz="1600">
                <a:solidFill>
                  <a:srgbClr val="FF0000"/>
                </a:solidFill>
              </a:rPr>
              <a:t>95(AWI</a:t>
            </a:r>
            <a:r>
              <a:rPr lang="ja-JP" altLang="en-US" sz="1600">
                <a:solidFill>
                  <a:srgbClr val="FF0000"/>
                </a:solidFill>
              </a:rPr>
              <a:t>からの仕入額</a:t>
            </a:r>
            <a:r>
              <a:rPr lang="en-US" altLang="ja-JP" sz="1600">
                <a:solidFill>
                  <a:srgbClr val="FF0000"/>
                </a:solidFill>
              </a:rPr>
              <a:t>90</a:t>
            </a:r>
            <a:r>
              <a:rPr lang="ja-JP" altLang="en-US" sz="1600">
                <a:solidFill>
                  <a:srgbClr val="FF0000"/>
                </a:solidFill>
              </a:rPr>
              <a:t>＋</a:t>
            </a:r>
            <a:r>
              <a:rPr lang="en-US" altLang="ja-JP" sz="1600">
                <a:solidFill>
                  <a:srgbClr val="FF0000"/>
                </a:solidFill>
              </a:rPr>
              <a:t>V</a:t>
            </a:r>
            <a:r>
              <a:rPr lang="ja-JP" altLang="en-US" sz="1600">
                <a:solidFill>
                  <a:srgbClr val="FF0000"/>
                </a:solidFill>
              </a:rPr>
              <a:t>社利益</a:t>
            </a:r>
            <a:r>
              <a:rPr lang="en-US" altLang="ja-JP" sz="1600">
                <a:solidFill>
                  <a:srgbClr val="FF0000"/>
                </a:solidFill>
              </a:rPr>
              <a:t>5)</a:t>
            </a:r>
            <a:r>
              <a:rPr lang="ja-JP" altLang="en-US" sz="1600">
                <a:solidFill>
                  <a:srgbClr val="FF0000"/>
                </a:solidFill>
              </a:rPr>
              <a:t>、売上総額</a:t>
            </a:r>
            <a:r>
              <a:rPr lang="en-US" altLang="ja-JP" sz="1600">
                <a:solidFill>
                  <a:srgbClr val="FF0000"/>
                </a:solidFill>
              </a:rPr>
              <a:t>115</a:t>
            </a:r>
            <a:endParaRPr lang="ja-JP" altLang="en-US" sz="1600">
              <a:solidFill>
                <a:srgbClr val="FF0000"/>
              </a:solidFill>
            </a:endParaRPr>
          </a:p>
        </p:txBody>
      </p:sp>
      <p:pic>
        <p:nvPicPr>
          <p:cNvPr id="32" name="グラフィックス 31" descr="チェック マーク 単色塗りつぶし">
            <a:extLst>
              <a:ext uri="{FF2B5EF4-FFF2-40B4-BE49-F238E27FC236}">
                <a16:creationId xmlns:a16="http://schemas.microsoft.com/office/drawing/2014/main" id="{9FBC96C8-82C8-D334-8C74-978C26DDBB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6369" y="2982096"/>
            <a:ext cx="370172" cy="370172"/>
          </a:xfrm>
          <a:prstGeom prst="rect">
            <a:avLst/>
          </a:prstGeom>
        </p:spPr>
      </p:pic>
      <p:sp>
        <p:nvSpPr>
          <p:cNvPr id="2" name="正方形/長方形 1">
            <a:extLst>
              <a:ext uri="{FF2B5EF4-FFF2-40B4-BE49-F238E27FC236}">
                <a16:creationId xmlns:a16="http://schemas.microsoft.com/office/drawing/2014/main" id="{8C78FCE2-28A6-3F21-49B8-077003E1B9C7}"/>
              </a:ext>
            </a:extLst>
          </p:cNvPr>
          <p:cNvSpPr/>
          <p:nvPr/>
        </p:nvSpPr>
        <p:spPr>
          <a:xfrm>
            <a:off x="2284012" y="1779699"/>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90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5" name="正方形/長方形 4">
            <a:extLst>
              <a:ext uri="{FF2B5EF4-FFF2-40B4-BE49-F238E27FC236}">
                <a16:creationId xmlns:a16="http://schemas.microsoft.com/office/drawing/2014/main" id="{FA4DACDD-7504-E947-9CAE-4EFAE731458E}"/>
              </a:ext>
            </a:extLst>
          </p:cNvPr>
          <p:cNvSpPr/>
          <p:nvPr/>
        </p:nvSpPr>
        <p:spPr>
          <a:xfrm>
            <a:off x="4670627" y="1779699"/>
            <a:ext cx="519545"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10</a:t>
            </a:r>
            <a:r>
              <a:rPr kumimoji="1" lang="en-US" altLang="ja-JP" sz="1200" b="0" i="0" u="none" strike="noStrike" kern="1200" cap="none" spc="0" normalizeH="0" baseline="0" noProof="0">
                <a:ln>
                  <a:noFill/>
                </a:ln>
                <a:solidFill>
                  <a:schemeClr val="tx1"/>
                </a:solidFill>
                <a:effectLst/>
                <a:uLnTx/>
                <a:uFillTx/>
                <a:latin typeface="+mn-ea"/>
                <a:cs typeface="+mn-cs"/>
              </a:rPr>
              <a:t>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6" name="正方形/長方形 5">
            <a:extLst>
              <a:ext uri="{FF2B5EF4-FFF2-40B4-BE49-F238E27FC236}">
                <a16:creationId xmlns:a16="http://schemas.microsoft.com/office/drawing/2014/main" id="{81E49044-A28B-C189-7271-42941AAAE975}"/>
              </a:ext>
            </a:extLst>
          </p:cNvPr>
          <p:cNvSpPr/>
          <p:nvPr/>
        </p:nvSpPr>
        <p:spPr>
          <a:xfrm>
            <a:off x="7060843" y="1779699"/>
            <a:ext cx="519545"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105</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7" name="正方形/長方形 6">
            <a:extLst>
              <a:ext uri="{FF2B5EF4-FFF2-40B4-BE49-F238E27FC236}">
                <a16:creationId xmlns:a16="http://schemas.microsoft.com/office/drawing/2014/main" id="{C11FE943-0731-602B-6AA6-D686CB44C457}"/>
              </a:ext>
            </a:extLst>
          </p:cNvPr>
          <p:cNvSpPr/>
          <p:nvPr/>
        </p:nvSpPr>
        <p:spPr>
          <a:xfrm>
            <a:off x="9447459" y="1779699"/>
            <a:ext cx="519545"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115</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graphicFrame>
        <p:nvGraphicFramePr>
          <p:cNvPr id="8" name="表 7">
            <a:extLst>
              <a:ext uri="{FF2B5EF4-FFF2-40B4-BE49-F238E27FC236}">
                <a16:creationId xmlns:a16="http://schemas.microsoft.com/office/drawing/2014/main" id="{4BD62616-8748-436F-A821-D7E5EFB9732E}"/>
              </a:ext>
            </a:extLst>
          </p:cNvPr>
          <p:cNvGraphicFramePr>
            <a:graphicFrameLocks noGrp="1"/>
          </p:cNvGraphicFramePr>
          <p:nvPr/>
        </p:nvGraphicFramePr>
        <p:xfrm>
          <a:off x="604813" y="3945476"/>
          <a:ext cx="8799304" cy="3261360"/>
        </p:xfrm>
        <a:graphic>
          <a:graphicData uri="http://schemas.openxmlformats.org/drawingml/2006/table">
            <a:tbl>
              <a:tblPr firstRow="1" bandRow="1">
                <a:tableStyleId>{5C22544A-7EE6-4342-B048-85BDC9FD1C3A}</a:tableStyleId>
              </a:tblPr>
              <a:tblGrid>
                <a:gridCol w="1066200">
                  <a:extLst>
                    <a:ext uri="{9D8B030D-6E8A-4147-A177-3AD203B41FA5}">
                      <a16:colId xmlns:a16="http://schemas.microsoft.com/office/drawing/2014/main" val="2062402288"/>
                    </a:ext>
                  </a:extLst>
                </a:gridCol>
                <a:gridCol w="2234834">
                  <a:extLst>
                    <a:ext uri="{9D8B030D-6E8A-4147-A177-3AD203B41FA5}">
                      <a16:colId xmlns:a16="http://schemas.microsoft.com/office/drawing/2014/main" val="2491377948"/>
                    </a:ext>
                  </a:extLst>
                </a:gridCol>
                <a:gridCol w="1980000">
                  <a:extLst>
                    <a:ext uri="{9D8B030D-6E8A-4147-A177-3AD203B41FA5}">
                      <a16:colId xmlns:a16="http://schemas.microsoft.com/office/drawing/2014/main" val="3878590817"/>
                    </a:ext>
                  </a:extLst>
                </a:gridCol>
                <a:gridCol w="522000">
                  <a:extLst>
                    <a:ext uri="{9D8B030D-6E8A-4147-A177-3AD203B41FA5}">
                      <a16:colId xmlns:a16="http://schemas.microsoft.com/office/drawing/2014/main" val="3829614655"/>
                    </a:ext>
                  </a:extLst>
                </a:gridCol>
                <a:gridCol w="494270">
                  <a:extLst>
                    <a:ext uri="{9D8B030D-6E8A-4147-A177-3AD203B41FA5}">
                      <a16:colId xmlns:a16="http://schemas.microsoft.com/office/drawing/2014/main" val="516458806"/>
                    </a:ext>
                  </a:extLst>
                </a:gridCol>
                <a:gridCol w="1980000">
                  <a:extLst>
                    <a:ext uri="{9D8B030D-6E8A-4147-A177-3AD203B41FA5}">
                      <a16:colId xmlns:a16="http://schemas.microsoft.com/office/drawing/2014/main" val="1372033464"/>
                    </a:ext>
                  </a:extLst>
                </a:gridCol>
                <a:gridCol w="522000">
                  <a:extLst>
                    <a:ext uri="{9D8B030D-6E8A-4147-A177-3AD203B41FA5}">
                      <a16:colId xmlns:a16="http://schemas.microsoft.com/office/drawing/2014/main" val="3186572524"/>
                    </a:ext>
                  </a:extLst>
                </a:gridCol>
              </a:tblGrid>
              <a:tr h="360922">
                <a:tc>
                  <a:txBody>
                    <a:bodyPr/>
                    <a:lstStyle/>
                    <a:p>
                      <a:pPr algn="ctr"/>
                      <a:r>
                        <a:rPr kumimoji="1" lang="ja-JP" altLang="en-US"/>
                        <a:t>仕訳</a:t>
                      </a:r>
                      <a:r>
                        <a:rPr kumimoji="1" lang="en-US" altLang="ja-JP"/>
                        <a:t>No.</a:t>
                      </a:r>
                      <a:endParaRPr kumimoji="1" lang="ja-JP" altLang="en-US"/>
                    </a:p>
                  </a:txBody>
                  <a:tcPr anchor="ctr"/>
                </a:tc>
                <a:tc>
                  <a:txBody>
                    <a:bodyPr/>
                    <a:lstStyle/>
                    <a:p>
                      <a:pPr algn="ctr"/>
                      <a:r>
                        <a:rPr kumimoji="1" lang="ja-JP" altLang="en-US"/>
                        <a:t>仕訳の内容</a:t>
                      </a:r>
                    </a:p>
                  </a:txBody>
                  <a:tcPr anchor="ct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仕訳</a:t>
                      </a: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extLst>
                  <a:ext uri="{0D108BD9-81ED-4DB2-BD59-A6C34878D82A}">
                    <a16:rowId xmlns:a16="http://schemas.microsoft.com/office/drawing/2014/main" val="2899885730"/>
                  </a:ext>
                </a:extLst>
              </a:tr>
              <a:tr h="400534">
                <a:tc>
                  <a:txBody>
                    <a:bodyPr/>
                    <a:lstStyle/>
                    <a:p>
                      <a:pPr algn="ctr"/>
                      <a:r>
                        <a:rPr kumimoji="1" lang="ja-JP" altLang="en-US"/>
                        <a:t>１</a:t>
                      </a:r>
                    </a:p>
                  </a:txBody>
                  <a:tcPr anchor="ctr"/>
                </a:tc>
                <a:tc>
                  <a:txBody>
                    <a:bodyPr/>
                    <a:lstStyle/>
                    <a:p>
                      <a:pPr algn="ctr"/>
                      <a:r>
                        <a:rPr kumimoji="1" lang="en-US" altLang="ja-JP" sz="1600"/>
                        <a:t>AWI</a:t>
                      </a:r>
                      <a:r>
                        <a:rPr kumimoji="1" lang="ja-JP" altLang="en-US" sz="1600"/>
                        <a:t>からの仕入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（借）　仕入（</a:t>
                      </a:r>
                      <a:r>
                        <a:rPr lang="en-US" altLang="ja-JP" sz="1600" b="0">
                          <a:solidFill>
                            <a:schemeClr val="tx1"/>
                          </a:solidFill>
                        </a:rPr>
                        <a:t>AWI</a:t>
                      </a:r>
                      <a:r>
                        <a:rPr lang="ja-JP" altLang="en-US" sz="1600" b="0">
                          <a:solidFill>
                            <a:schemeClr val="tx1"/>
                          </a:solidFill>
                        </a:rPr>
                        <a:t>）</a:t>
                      </a:r>
                      <a:endParaRPr kumimoji="1" lang="en-US" altLang="ja-JP" sz="1600"/>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90</a:t>
                      </a:r>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（貸）　買掛金（</a:t>
                      </a:r>
                      <a:r>
                        <a:rPr lang="en-US" altLang="ja-JP" sz="1600" b="0">
                          <a:solidFill>
                            <a:schemeClr val="tx1"/>
                          </a:solidFill>
                        </a:rPr>
                        <a:t>AWI</a:t>
                      </a: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90</a:t>
                      </a:r>
                    </a:p>
                  </a:txBody>
                  <a:tcPr anchor="ctr">
                    <a:lnL w="12700" cmpd="sng">
                      <a:noFill/>
                    </a:lnL>
                  </a:tcPr>
                </a:tc>
                <a:extLst>
                  <a:ext uri="{0D108BD9-81ED-4DB2-BD59-A6C34878D82A}">
                    <a16:rowId xmlns:a16="http://schemas.microsoft.com/office/drawing/2014/main" val="985906880"/>
                  </a:ext>
                </a:extLst>
              </a:tr>
              <a:tr h="400534">
                <a:tc>
                  <a:txBody>
                    <a:bodyPr/>
                    <a:lstStyle/>
                    <a:p>
                      <a:pPr algn="ctr"/>
                      <a:r>
                        <a:rPr kumimoji="1" lang="ja-JP" altLang="en-US"/>
                        <a:t>２</a:t>
                      </a:r>
                    </a:p>
                  </a:txBody>
                  <a:tcPr anchor="ctr"/>
                </a:tc>
                <a:tc>
                  <a:txBody>
                    <a:bodyPr/>
                    <a:lstStyle/>
                    <a:p>
                      <a:pPr algn="ctr"/>
                      <a:r>
                        <a:rPr kumimoji="1" lang="en-US" altLang="ja-JP" sz="1600"/>
                        <a:t>V</a:t>
                      </a:r>
                      <a:r>
                        <a:rPr kumimoji="1" lang="ja-JP" altLang="en-US" sz="1600"/>
                        <a:t>社への売上</a:t>
                      </a:r>
                      <a:endParaRPr kumimoji="1" lang="en-US" altLang="ja-JP" sz="1600"/>
                    </a:p>
                  </a:txBody>
                  <a:tcPr anchor="ctr"/>
                </a:tc>
                <a:tc>
                  <a:txBody>
                    <a:bodyPr/>
                    <a:lstStyle/>
                    <a:p>
                      <a:r>
                        <a:rPr kumimoji="1" lang="ja-JP" altLang="en-US" sz="1600"/>
                        <a:t>（借）　売掛金（</a:t>
                      </a:r>
                      <a:r>
                        <a:rPr kumimoji="1" lang="en-US" altLang="ja-JP" sz="1600"/>
                        <a:t>V</a:t>
                      </a:r>
                      <a:r>
                        <a:rPr kumimoji="1" lang="ja-JP" altLang="en-US" sz="1600"/>
                        <a:t>社）</a:t>
                      </a:r>
                      <a:endParaRPr kumimoji="1" lang="en-US" altLang="ja-JP" sz="1600"/>
                    </a:p>
                  </a:txBody>
                  <a:tcPr anchor="ctr">
                    <a:lnR w="12700" cmpd="sng">
                      <a:noFill/>
                    </a:lnR>
                  </a:tcPr>
                </a:tc>
                <a:tc>
                  <a:txBody>
                    <a:bodyPr/>
                    <a:lstStyle/>
                    <a:p>
                      <a:pPr algn="r"/>
                      <a:r>
                        <a:rPr kumimoji="1" lang="en-US" altLang="ja-JP" sz="1600"/>
                        <a:t>100</a:t>
                      </a:r>
                    </a:p>
                  </a:txBody>
                  <a:tcPr anchor="ctr">
                    <a:lnL w="12700" cmpd="sng">
                      <a:noFill/>
                    </a:lnL>
                    <a:lnR w="12700" cmpd="sng">
                      <a:noFill/>
                    </a:lnR>
                  </a:tcPr>
                </a:tc>
                <a:tc>
                  <a:txBody>
                    <a:bodyPr/>
                    <a:lstStyle/>
                    <a:p>
                      <a:pPr algn="ct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r>
                        <a:rPr kumimoji="1" lang="ja-JP" altLang="en-US" sz="1600"/>
                        <a:t>（貸）　売上（</a:t>
                      </a:r>
                      <a:r>
                        <a:rPr kumimoji="1" lang="en-US" altLang="ja-JP" sz="1600"/>
                        <a:t>V</a:t>
                      </a:r>
                      <a:r>
                        <a:rPr kumimoji="1" lang="ja-JP" altLang="en-US" sz="1600"/>
                        <a:t>社）</a:t>
                      </a:r>
                      <a:endParaRPr kumimoji="1" lang="en-US" altLang="ja-JP" sz="1600"/>
                    </a:p>
                  </a:txBody>
                  <a:tcPr anchor="ctr">
                    <a:lnL w="12700" cmpd="sng">
                      <a:noFill/>
                    </a:lnL>
                    <a:lnR w="12700" cmpd="sng">
                      <a:noFill/>
                    </a:lnR>
                  </a:tcPr>
                </a:tc>
                <a:tc>
                  <a:txBody>
                    <a:bodyPr/>
                    <a:lstStyle/>
                    <a:p>
                      <a:pPr algn="r"/>
                      <a:r>
                        <a:rPr kumimoji="1" lang="en-US" altLang="ja-JP" sz="1600"/>
                        <a:t>100</a:t>
                      </a:r>
                    </a:p>
                  </a:txBody>
                  <a:tcPr anchor="ctr">
                    <a:lnL w="12700" cmpd="sng">
                      <a:noFill/>
                    </a:lnL>
                  </a:tcPr>
                </a:tc>
                <a:extLst>
                  <a:ext uri="{0D108BD9-81ED-4DB2-BD59-A6C34878D82A}">
                    <a16:rowId xmlns:a16="http://schemas.microsoft.com/office/drawing/2014/main" val="885145048"/>
                  </a:ext>
                </a:extLst>
              </a:tr>
              <a:tr h="400534">
                <a:tc>
                  <a:txBody>
                    <a:bodyPr/>
                    <a:lstStyle/>
                    <a:p>
                      <a:pPr algn="ctr"/>
                      <a:r>
                        <a:rPr kumimoji="1" lang="ja-JP" altLang="en-US"/>
                        <a:t>３</a:t>
                      </a:r>
                    </a:p>
                  </a:txBody>
                  <a:tcPr anchor="ctr"/>
                </a:tc>
                <a:tc>
                  <a:txBody>
                    <a:bodyPr/>
                    <a:lstStyle/>
                    <a:p>
                      <a:pPr algn="ctr"/>
                      <a:r>
                        <a:rPr kumimoji="1" lang="en-US" altLang="ja-JP" sz="1600"/>
                        <a:t>V</a:t>
                      </a:r>
                      <a:r>
                        <a:rPr kumimoji="1" lang="ja-JP" altLang="en-US" sz="1600"/>
                        <a:t>社からの仕入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（借）　仕入（</a:t>
                      </a:r>
                      <a:r>
                        <a:rPr lang="en-US" altLang="ja-JP" sz="1600" b="0">
                          <a:solidFill>
                            <a:schemeClr val="tx1"/>
                          </a:solidFill>
                        </a:rPr>
                        <a:t>V</a:t>
                      </a:r>
                      <a:r>
                        <a:rPr lang="ja-JP" altLang="en-US" sz="1600" b="0">
                          <a:solidFill>
                            <a:schemeClr val="tx1"/>
                          </a:solidFill>
                        </a:rPr>
                        <a:t>社）</a:t>
                      </a:r>
                      <a:endParaRPr kumimoji="1" lang="ja-JP" altLang="en-US" sz="1600"/>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105</a:t>
                      </a:r>
                      <a:endParaRPr kumimoji="1" lang="ja-JP" altLang="en-US" sz="1600"/>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a:t>
                      </a:r>
                      <a:endParaRPr kumimoji="1" lang="ja-JP" altLang="en-US" sz="1600"/>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（貸）　買掛金（</a:t>
                      </a:r>
                      <a:r>
                        <a:rPr lang="en-US" altLang="ja-JP" sz="1600" b="0">
                          <a:solidFill>
                            <a:schemeClr val="tx1"/>
                          </a:solidFill>
                        </a:rPr>
                        <a:t>V</a:t>
                      </a:r>
                      <a:r>
                        <a:rPr lang="ja-JP" altLang="en-US" sz="1600" b="0">
                          <a:solidFill>
                            <a:schemeClr val="tx1"/>
                          </a:solidFill>
                        </a:rPr>
                        <a:t>社）</a:t>
                      </a:r>
                      <a:endParaRPr kumimoji="1" lang="ja-JP" altLang="en-US" sz="1600"/>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105</a:t>
                      </a:r>
                      <a:endParaRPr kumimoji="1" lang="ja-JP" altLang="en-US" sz="1600"/>
                    </a:p>
                  </a:txBody>
                  <a:tcPr anchor="ctr">
                    <a:lnL w="12700" cmpd="sng">
                      <a:noFill/>
                    </a:lnL>
                  </a:tcPr>
                </a:tc>
                <a:extLst>
                  <a:ext uri="{0D108BD9-81ED-4DB2-BD59-A6C34878D82A}">
                    <a16:rowId xmlns:a16="http://schemas.microsoft.com/office/drawing/2014/main" val="958969292"/>
                  </a:ext>
                </a:extLst>
              </a:tr>
              <a:tr h="400534">
                <a:tc>
                  <a:txBody>
                    <a:bodyPr/>
                    <a:lstStyle/>
                    <a:p>
                      <a:pPr algn="ctr"/>
                      <a:r>
                        <a:rPr kumimoji="1" lang="ja-JP" altLang="en-US"/>
                        <a:t>４</a:t>
                      </a:r>
                    </a:p>
                  </a:txBody>
                  <a:tcPr anchor="ctr"/>
                </a:tc>
                <a:tc>
                  <a:txBody>
                    <a:bodyPr/>
                    <a:lstStyle/>
                    <a:p>
                      <a:pPr algn="ctr"/>
                      <a:r>
                        <a:rPr kumimoji="1" lang="en-US" altLang="ja-JP" sz="1600"/>
                        <a:t>W</a:t>
                      </a:r>
                      <a:r>
                        <a:rPr kumimoji="1" lang="ja-JP" altLang="en-US" sz="1600"/>
                        <a:t>社への売上</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（借）　売掛金（</a:t>
                      </a:r>
                      <a:r>
                        <a:rPr kumimoji="1" lang="en-US" altLang="ja-JP" sz="1600"/>
                        <a:t>W</a:t>
                      </a:r>
                      <a:r>
                        <a:rPr kumimoji="1" lang="ja-JP" altLang="en-US" sz="1600"/>
                        <a:t>社）</a:t>
                      </a:r>
                      <a:endParaRPr kumimoji="1" lang="en-US" altLang="ja-JP" sz="1600"/>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115</a:t>
                      </a:r>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（貸）　売上（</a:t>
                      </a:r>
                      <a:r>
                        <a:rPr kumimoji="1" lang="en-US" altLang="ja-JP" sz="1600"/>
                        <a:t>W</a:t>
                      </a:r>
                      <a:r>
                        <a:rPr kumimoji="1" lang="ja-JP" altLang="en-US" sz="1600"/>
                        <a:t>社）</a:t>
                      </a:r>
                      <a:endParaRPr kumimoji="1" lang="en-US" altLang="ja-JP" sz="1600"/>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115</a:t>
                      </a:r>
                    </a:p>
                  </a:txBody>
                  <a:tcPr anchor="ctr">
                    <a:lnL w="12700" cmpd="sng">
                      <a:noFill/>
                    </a:lnL>
                  </a:tcPr>
                </a:tc>
                <a:extLst>
                  <a:ext uri="{0D108BD9-81ED-4DB2-BD59-A6C34878D82A}">
                    <a16:rowId xmlns:a16="http://schemas.microsoft.com/office/drawing/2014/main" val="247751132"/>
                  </a:ext>
                </a:extLst>
              </a:tr>
              <a:tr h="571459">
                <a:tc>
                  <a:txBody>
                    <a:bodyPr/>
                    <a:lstStyle/>
                    <a:p>
                      <a:pPr lvl="0" algn="ctr">
                        <a:buNone/>
                      </a:pPr>
                      <a:r>
                        <a:rPr kumimoji="1" lang="ja-JP" altLang="en-US">
                          <a:solidFill>
                            <a:srgbClr val="FF0000"/>
                          </a:solidFill>
                        </a:rPr>
                        <a:t>５</a:t>
                      </a:r>
                    </a:p>
                  </a:txBody>
                  <a:tcPr anchor="ctr"/>
                </a:tc>
                <a:tc>
                  <a:txBody>
                    <a:bodyPr/>
                    <a:lstStyle/>
                    <a:p>
                      <a:pPr lvl="0" algn="ctr">
                        <a:buNone/>
                      </a:pPr>
                      <a:r>
                        <a:rPr kumimoji="1" lang="en-US" altLang="ja-JP" sz="1600">
                          <a:solidFill>
                            <a:srgbClr val="FF0000"/>
                          </a:solidFill>
                        </a:rPr>
                        <a:t>V</a:t>
                      </a:r>
                      <a:r>
                        <a:rPr kumimoji="1" lang="ja-JP" altLang="en-US" sz="1600">
                          <a:solidFill>
                            <a:srgbClr val="FF0000"/>
                          </a:solidFill>
                        </a:rPr>
                        <a:t>社への売上の取消</a:t>
                      </a:r>
                      <a:endParaRPr kumimoji="1" lang="en-US" altLang="ja-JP" sz="1600">
                        <a:solidFill>
                          <a:srgbClr val="FF0000"/>
                        </a:solidFill>
                      </a:endParaRPr>
                    </a:p>
                    <a:p>
                      <a:pPr lvl="0" algn="ctr">
                        <a:buNone/>
                      </a:pPr>
                      <a:r>
                        <a:rPr kumimoji="1" lang="ja-JP" altLang="en-US" sz="1600">
                          <a:solidFill>
                            <a:srgbClr val="FF0000"/>
                          </a:solidFill>
                        </a:rPr>
                        <a:t>（調整仕訳）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（借）　売上（その他）</a:t>
                      </a:r>
                      <a:endParaRPr kumimoji="1" lang="en-US" altLang="ja-JP" sz="1600">
                        <a:solidFill>
                          <a:srgbClr val="FF0000"/>
                        </a:solidFill>
                      </a:endParaRPr>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solidFill>
                            <a:srgbClr val="FF0000"/>
                          </a:solidFill>
                        </a:rPr>
                        <a:t>100</a:t>
                      </a:r>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a:t>
                      </a:r>
                      <a:endParaRPr kumimoji="1" lang="en-US" altLang="ja-JP" sz="1600">
                        <a:solidFill>
                          <a:srgbClr val="FF0000"/>
                        </a:solidFill>
                      </a:endParaRPr>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（貸）　仕入（その他）</a:t>
                      </a:r>
                      <a:endParaRPr kumimoji="1" lang="en-US" altLang="ja-JP" sz="1600">
                        <a:solidFill>
                          <a:srgbClr val="FF0000"/>
                        </a:solidFill>
                      </a:endParaRPr>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solidFill>
                            <a:srgbClr val="FF0000"/>
                          </a:solidFill>
                        </a:rPr>
                        <a:t>100</a:t>
                      </a:r>
                    </a:p>
                  </a:txBody>
                  <a:tcPr anchor="ctr">
                    <a:lnL w="12700" cmpd="sng">
                      <a:noFill/>
                    </a:lnL>
                  </a:tcPr>
                </a:tc>
                <a:extLst>
                  <a:ext uri="{0D108BD9-81ED-4DB2-BD59-A6C34878D82A}">
                    <a16:rowId xmlns:a16="http://schemas.microsoft.com/office/drawing/2014/main" val="4267633493"/>
                  </a:ext>
                </a:extLst>
              </a:tr>
            </a:tbl>
          </a:graphicData>
        </a:graphic>
      </p:graphicFrame>
      <p:sp>
        <p:nvSpPr>
          <p:cNvPr id="9" name="右大かっこ 8">
            <a:extLst>
              <a:ext uri="{FF2B5EF4-FFF2-40B4-BE49-F238E27FC236}">
                <a16:creationId xmlns:a16="http://schemas.microsoft.com/office/drawing/2014/main" id="{3DE54B03-FC2E-5A4B-56C3-96D19E238145}"/>
              </a:ext>
            </a:extLst>
          </p:cNvPr>
          <p:cNvSpPr/>
          <p:nvPr/>
        </p:nvSpPr>
        <p:spPr>
          <a:xfrm>
            <a:off x="9492155" y="4318578"/>
            <a:ext cx="71976" cy="1581665"/>
          </a:xfrm>
          <a:prstGeom prst="rightBracket">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FF65217C-A511-E189-F08B-A8AEB736220B}"/>
              </a:ext>
            </a:extLst>
          </p:cNvPr>
          <p:cNvSpPr/>
          <p:nvPr/>
        </p:nvSpPr>
        <p:spPr>
          <a:xfrm>
            <a:off x="9650901" y="4857410"/>
            <a:ext cx="1288948"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accent1"/>
                </a:solidFill>
                <a:effectLst/>
                <a:uLnTx/>
                <a:uFillTx/>
                <a:latin typeface="+mn-ea"/>
                <a:cs typeface="+mn-cs"/>
              </a:rPr>
              <a:t>従来通り</a:t>
            </a:r>
            <a:r>
              <a:rPr lang="ja-JP" altLang="en-US" sz="1400">
                <a:solidFill>
                  <a:schemeClr val="accent1"/>
                </a:solidFill>
                <a:latin typeface="+mn-ea"/>
              </a:rPr>
              <a:t>計上</a:t>
            </a:r>
            <a:endParaRPr kumimoji="1" lang="ja-JP" altLang="en-US" sz="1400" b="0" i="0" u="none" strike="noStrike" kern="1200" cap="none" spc="0" normalizeH="0" baseline="0" noProof="0">
              <a:ln>
                <a:noFill/>
              </a:ln>
              <a:solidFill>
                <a:schemeClr val="accent1"/>
              </a:solidFill>
              <a:effectLst/>
              <a:uLnTx/>
              <a:uFillTx/>
              <a:latin typeface="+mn-ea"/>
              <a:cs typeface="+mn-cs"/>
            </a:endParaRPr>
          </a:p>
        </p:txBody>
      </p:sp>
      <p:sp>
        <p:nvSpPr>
          <p:cNvPr id="39" name="Oval 66">
            <a:extLst>
              <a:ext uri="{FF2B5EF4-FFF2-40B4-BE49-F238E27FC236}">
                <a16:creationId xmlns:a16="http://schemas.microsoft.com/office/drawing/2014/main" id="{7B1CA1B2-1D16-26A3-0C4C-D9B3782D53B1}"/>
              </a:ext>
            </a:extLst>
          </p:cNvPr>
          <p:cNvSpPr>
            <a:spLocks noChangeArrowheads="1"/>
          </p:cNvSpPr>
          <p:nvPr/>
        </p:nvSpPr>
        <p:spPr bwMode="gray">
          <a:xfrm>
            <a:off x="4750060" y="2454283"/>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
        <p:nvSpPr>
          <p:cNvPr id="41" name="正方形/長方形 40">
            <a:extLst>
              <a:ext uri="{FF2B5EF4-FFF2-40B4-BE49-F238E27FC236}">
                <a16:creationId xmlns:a16="http://schemas.microsoft.com/office/drawing/2014/main" id="{94765D35-E320-4573-8AF9-6A4996BCB6FC}"/>
              </a:ext>
            </a:extLst>
          </p:cNvPr>
          <p:cNvSpPr/>
          <p:nvPr/>
        </p:nvSpPr>
        <p:spPr>
          <a:xfrm>
            <a:off x="9447459" y="5776001"/>
            <a:ext cx="2662163" cy="80940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rgbClr val="FF0000"/>
                </a:solidFill>
                <a:effectLst/>
                <a:uLnTx/>
                <a:uFillTx/>
                <a:latin typeface="+mn-ea"/>
                <a:cs typeface="+mn-cs"/>
              </a:rPr>
              <a:t>　</a:t>
            </a:r>
            <a:r>
              <a:rPr kumimoji="1" lang="en-US" altLang="ja-JP" sz="1400" b="0" i="0" u="none" strike="noStrike" kern="1200" cap="none" spc="0" normalizeH="0" baseline="0" noProof="0">
                <a:ln>
                  <a:noFill/>
                </a:ln>
                <a:solidFill>
                  <a:srgbClr val="FF0000"/>
                </a:solidFill>
                <a:effectLst/>
                <a:uLnTx/>
                <a:uFillTx/>
                <a:latin typeface="+mn-ea"/>
                <a:cs typeface="+mn-cs"/>
              </a:rPr>
              <a:t>2</a:t>
            </a:r>
            <a:r>
              <a:rPr kumimoji="1" lang="ja-JP" altLang="en-US" sz="1400" b="0" i="0" u="none" strike="noStrike" kern="1200" cap="none" spc="0" normalizeH="0" baseline="0" noProof="0">
                <a:ln>
                  <a:noFill/>
                </a:ln>
                <a:solidFill>
                  <a:srgbClr val="FF0000"/>
                </a:solidFill>
                <a:effectLst/>
                <a:uLnTx/>
                <a:uFillTx/>
                <a:latin typeface="+mn-ea"/>
                <a:cs typeface="+mn-cs"/>
              </a:rPr>
              <a:t>重となっている①の売上を</a:t>
            </a:r>
            <a:endParaRPr kumimoji="1" lang="en-US" altLang="ja-JP" sz="1400" b="0" i="0" u="none" strike="noStrike" kern="1200" cap="none" spc="0" normalizeH="0" baseline="0" noProof="0">
              <a:ln>
                <a:noFill/>
              </a:ln>
              <a:solidFill>
                <a:srgbClr val="FF0000"/>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rgbClr val="FF0000"/>
                </a:solidFill>
                <a:effectLst/>
                <a:uLnTx/>
                <a:uFillTx/>
                <a:latin typeface="+mn-ea"/>
                <a:cs typeface="+mn-cs"/>
              </a:rPr>
              <a:t>会計領域にて</a:t>
            </a:r>
            <a:endParaRPr kumimoji="1" lang="en-US" altLang="ja-JP" sz="1400" b="0" i="0" u="none" strike="noStrike" kern="1200" cap="none" spc="0" normalizeH="0" baseline="0" noProof="0">
              <a:ln>
                <a:noFill/>
              </a:ln>
              <a:solidFill>
                <a:srgbClr val="FF0000"/>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rgbClr val="FF0000"/>
                </a:solidFill>
                <a:effectLst/>
                <a:uLnTx/>
                <a:uFillTx/>
                <a:latin typeface="+mn-ea"/>
                <a:cs typeface="+mn-cs"/>
              </a:rPr>
              <a:t>取り消す</a:t>
            </a:r>
            <a:r>
              <a:rPr lang="ja-JP" altLang="en-US" sz="1400">
                <a:solidFill>
                  <a:srgbClr val="FF0000"/>
                </a:solidFill>
                <a:latin typeface="+mn-ea"/>
              </a:rPr>
              <a:t>必要があります！</a:t>
            </a:r>
            <a:endParaRPr kumimoji="1" lang="ja-JP" altLang="en-US" sz="1400" b="0" i="0" u="none" strike="noStrike" kern="1200" cap="none" spc="0" normalizeH="0" baseline="0" noProof="0">
              <a:ln>
                <a:noFill/>
              </a:ln>
              <a:solidFill>
                <a:srgbClr val="FF0000"/>
              </a:solidFill>
              <a:effectLst/>
              <a:uLnTx/>
              <a:uFillTx/>
              <a:latin typeface="+mn-ea"/>
              <a:cs typeface="+mn-cs"/>
            </a:endParaRPr>
          </a:p>
        </p:txBody>
      </p:sp>
      <p:sp>
        <p:nvSpPr>
          <p:cNvPr id="42" name="右大かっこ 41">
            <a:extLst>
              <a:ext uri="{FF2B5EF4-FFF2-40B4-BE49-F238E27FC236}">
                <a16:creationId xmlns:a16="http://schemas.microsoft.com/office/drawing/2014/main" id="{A86153FC-3936-9638-9515-8EBBE29207BE}"/>
              </a:ext>
            </a:extLst>
          </p:cNvPr>
          <p:cNvSpPr/>
          <p:nvPr/>
        </p:nvSpPr>
        <p:spPr>
          <a:xfrm>
            <a:off x="9492155" y="5923086"/>
            <a:ext cx="71976" cy="569406"/>
          </a:xfrm>
          <a:prstGeom prst="rightBracket">
            <a:avLst/>
          </a:prstGeom>
          <a:ln w="12700" cap="rnd">
            <a:solidFill>
              <a:srgbClr val="FF0000"/>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4" name="タイトル 43">
            <a:extLst>
              <a:ext uri="{FF2B5EF4-FFF2-40B4-BE49-F238E27FC236}">
                <a16:creationId xmlns:a16="http://schemas.microsoft.com/office/drawing/2014/main" id="{B9EC9ED4-C7DC-399E-3964-A683C9C7C4B0}"/>
              </a:ext>
            </a:extLst>
          </p:cNvPr>
          <p:cNvSpPr>
            <a:spLocks noGrp="1"/>
          </p:cNvSpPr>
          <p:nvPr>
            <p:ph type="title"/>
          </p:nvPr>
        </p:nvSpPr>
        <p:spPr>
          <a:xfrm>
            <a:off x="660000" y="365508"/>
            <a:ext cx="6309211" cy="371961"/>
          </a:xfrm>
        </p:spPr>
        <p:txBody>
          <a:bodyPr>
            <a:normAutofit/>
          </a:bodyPr>
          <a:lstStyle/>
          <a:p>
            <a:r>
              <a:rPr lang="en-US" altLang="ja-JP"/>
              <a:t>3-1.</a:t>
            </a:r>
            <a:r>
              <a:rPr lang="ja-JP" altLang="en-US"/>
              <a:t>二重取引による売上の過大計上</a:t>
            </a:r>
          </a:p>
        </p:txBody>
      </p:sp>
    </p:spTree>
    <p:extLst>
      <p:ext uri="{BB962C8B-B14F-4D97-AF65-F5344CB8AC3E}">
        <p14:creationId xmlns:p14="http://schemas.microsoft.com/office/powerpoint/2010/main" val="1546182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50C5A-EC94-DC3B-5EC1-C64E88273B7B}"/>
            </a:ext>
          </a:extLst>
        </p:cNvPr>
        <p:cNvGrpSpPr/>
        <p:nvPr/>
      </p:nvGrpSpPr>
      <p:grpSpPr>
        <a:xfrm>
          <a:off x="0" y="0"/>
          <a:ext cx="0" cy="0"/>
          <a:chOff x="0" y="0"/>
          <a:chExt cx="0" cy="0"/>
        </a:xfrm>
      </p:grpSpPr>
      <p:sp>
        <p:nvSpPr>
          <p:cNvPr id="11" name="テキスト ボックス 10">
            <a:extLst>
              <a:ext uri="{FF2B5EF4-FFF2-40B4-BE49-F238E27FC236}">
                <a16:creationId xmlns:a16="http://schemas.microsoft.com/office/drawing/2014/main" id="{0691E9EB-C4AF-E7FD-F739-324E7AF81D53}"/>
              </a:ext>
            </a:extLst>
          </p:cNvPr>
          <p:cNvSpPr txBox="1"/>
          <p:nvPr/>
        </p:nvSpPr>
        <p:spPr>
          <a:xfrm>
            <a:off x="604813" y="1014273"/>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B</a:t>
            </a:r>
            <a:r>
              <a:rPr lang="ja-JP" altLang="en-US" sz="1600" b="1"/>
              <a:t>：</a:t>
            </a:r>
            <a:r>
              <a:rPr lang="en-US" altLang="ja-JP" sz="1600" b="1"/>
              <a:t> AW</a:t>
            </a:r>
            <a:r>
              <a:rPr lang="ja-JP" altLang="en-US" sz="1600" b="1"/>
              <a:t>連結会社と</a:t>
            </a:r>
            <a:r>
              <a:rPr lang="en-US" altLang="ja-JP" sz="1600" b="1"/>
              <a:t>AW</a:t>
            </a:r>
            <a:r>
              <a:rPr lang="ja-JP" altLang="en-US" sz="1600" b="1"/>
              <a:t>連結会社の間に連結対象会社が挟まれるもの</a:t>
            </a:r>
          </a:p>
        </p:txBody>
      </p:sp>
      <p:sp>
        <p:nvSpPr>
          <p:cNvPr id="29" name="テキスト ボックス 28">
            <a:extLst>
              <a:ext uri="{FF2B5EF4-FFF2-40B4-BE49-F238E27FC236}">
                <a16:creationId xmlns:a16="http://schemas.microsoft.com/office/drawing/2014/main" id="{DF978D43-0753-74E5-473D-7F914A11FEA3}"/>
              </a:ext>
            </a:extLst>
          </p:cNvPr>
          <p:cNvSpPr txBox="1"/>
          <p:nvPr/>
        </p:nvSpPr>
        <p:spPr>
          <a:xfrm>
            <a:off x="1245141" y="3046468"/>
            <a:ext cx="10411400" cy="1161184"/>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Arial" panose="020B0604020202020204" pitchFamily="34" charset="0"/>
              <a:buChar char="•"/>
            </a:pPr>
            <a:r>
              <a:rPr lang="en-US" altLang="ja-JP" sz="1600"/>
              <a:t>(b)(d)AW</a:t>
            </a:r>
            <a:r>
              <a:rPr lang="ja-JP" altLang="en-US" sz="1600"/>
              <a:t>東日本</a:t>
            </a:r>
            <a:r>
              <a:rPr lang="ja-JP" altLang="en-US" sz="1600">
                <a:solidFill>
                  <a:srgbClr val="FF0000"/>
                </a:solidFill>
              </a:rPr>
              <a:t>個別財務諸表上で仕入</a:t>
            </a:r>
            <a:r>
              <a:rPr lang="en-US" altLang="ja-JP" sz="1600">
                <a:solidFill>
                  <a:srgbClr val="FF0000"/>
                </a:solidFill>
              </a:rPr>
              <a:t>90</a:t>
            </a:r>
            <a:r>
              <a:rPr lang="ja-JP" altLang="en-US" sz="1600">
                <a:solidFill>
                  <a:srgbClr val="FF0000"/>
                </a:solidFill>
              </a:rPr>
              <a:t>と売上高</a:t>
            </a:r>
            <a:r>
              <a:rPr lang="en-US" altLang="ja-JP" sz="1600">
                <a:solidFill>
                  <a:srgbClr val="FF0000"/>
                </a:solidFill>
              </a:rPr>
              <a:t>100</a:t>
            </a:r>
            <a:r>
              <a:rPr lang="ja-JP" altLang="en-US" sz="1600">
                <a:solidFill>
                  <a:srgbClr val="FF0000"/>
                </a:solidFill>
              </a:rPr>
              <a:t>、仕入</a:t>
            </a:r>
            <a:r>
              <a:rPr lang="en-US" altLang="ja-JP" sz="1600">
                <a:solidFill>
                  <a:srgbClr val="FF0000"/>
                </a:solidFill>
              </a:rPr>
              <a:t>105</a:t>
            </a:r>
            <a:r>
              <a:rPr lang="ja-JP" altLang="en-US" sz="1600">
                <a:solidFill>
                  <a:srgbClr val="FF0000"/>
                </a:solidFill>
              </a:rPr>
              <a:t>と売上</a:t>
            </a:r>
            <a:r>
              <a:rPr lang="en-US" altLang="ja-JP" sz="1600">
                <a:solidFill>
                  <a:srgbClr val="FF0000"/>
                </a:solidFill>
              </a:rPr>
              <a:t>115</a:t>
            </a:r>
            <a:r>
              <a:rPr lang="ja-JP" altLang="en-US" sz="1600">
                <a:solidFill>
                  <a:srgbClr val="FF0000"/>
                </a:solidFill>
              </a:rPr>
              <a:t>が二重計上</a:t>
            </a:r>
            <a:r>
              <a:rPr lang="ja-JP" altLang="en-US" sz="1600"/>
              <a:t>がされたまま</a:t>
            </a:r>
            <a:br>
              <a:rPr lang="en-US" altLang="ja-JP" sz="1600"/>
            </a:br>
            <a:r>
              <a:rPr lang="ja-JP" altLang="en-US" sz="1600"/>
              <a:t>（仕入総額</a:t>
            </a:r>
            <a:r>
              <a:rPr lang="en-US" altLang="ja-JP" sz="1600"/>
              <a:t>195</a:t>
            </a:r>
            <a:r>
              <a:rPr lang="ja-JP" altLang="en-US" sz="1600"/>
              <a:t>、売上総額</a:t>
            </a:r>
            <a:r>
              <a:rPr lang="en-US" altLang="ja-JP" sz="1600"/>
              <a:t>215</a:t>
            </a:r>
            <a:r>
              <a:rPr lang="ja-JP" altLang="en-US" sz="1600"/>
              <a:t>として計上）</a:t>
            </a:r>
            <a:endParaRPr lang="en-US" altLang="ja-JP" sz="1600"/>
          </a:p>
          <a:p>
            <a:pPr indent="-285750">
              <a:buFont typeface="Arial" panose="020B0604020202020204" pitchFamily="34" charset="0"/>
              <a:buChar char="•"/>
            </a:pPr>
            <a:r>
              <a:rPr lang="ja-JP" altLang="en-US" sz="1600"/>
              <a:t>本来の</a:t>
            </a:r>
            <a:r>
              <a:rPr lang="en-US" altLang="ja-JP" sz="1600"/>
              <a:t>AW</a:t>
            </a:r>
            <a:r>
              <a:rPr lang="ja-JP" altLang="en-US" sz="1600"/>
              <a:t>東日本の個別財務諸表は</a:t>
            </a:r>
            <a:r>
              <a:rPr lang="ja-JP" altLang="en-US" sz="1600">
                <a:solidFill>
                  <a:srgbClr val="FF0000"/>
                </a:solidFill>
              </a:rPr>
              <a:t>仕入総額</a:t>
            </a:r>
            <a:r>
              <a:rPr lang="en-US" altLang="ja-JP" sz="1600">
                <a:solidFill>
                  <a:srgbClr val="FF0000"/>
                </a:solidFill>
              </a:rPr>
              <a:t>95(AWI</a:t>
            </a:r>
            <a:r>
              <a:rPr lang="ja-JP" altLang="en-US" sz="1600">
                <a:solidFill>
                  <a:srgbClr val="FF0000"/>
                </a:solidFill>
              </a:rPr>
              <a:t>からの仕入額</a:t>
            </a:r>
            <a:r>
              <a:rPr lang="en-US" altLang="ja-JP" sz="1600">
                <a:solidFill>
                  <a:srgbClr val="FF0000"/>
                </a:solidFill>
              </a:rPr>
              <a:t>90</a:t>
            </a:r>
            <a:r>
              <a:rPr lang="ja-JP" altLang="en-US" sz="1600">
                <a:solidFill>
                  <a:srgbClr val="FF0000"/>
                </a:solidFill>
              </a:rPr>
              <a:t>＋新潟ガス工業利益</a:t>
            </a:r>
            <a:r>
              <a:rPr lang="en-US" altLang="ja-JP" sz="1600">
                <a:solidFill>
                  <a:srgbClr val="FF0000"/>
                </a:solidFill>
              </a:rPr>
              <a:t>5)</a:t>
            </a:r>
            <a:r>
              <a:rPr lang="ja-JP" altLang="en-US" sz="1600">
                <a:solidFill>
                  <a:srgbClr val="FF0000"/>
                </a:solidFill>
              </a:rPr>
              <a:t>、売上総額</a:t>
            </a:r>
            <a:r>
              <a:rPr lang="en-US" altLang="ja-JP" sz="1600">
                <a:solidFill>
                  <a:srgbClr val="FF0000"/>
                </a:solidFill>
              </a:rPr>
              <a:t>115</a:t>
            </a:r>
          </a:p>
          <a:p>
            <a:pPr indent="-285750">
              <a:buClr>
                <a:schemeClr val="tx1"/>
              </a:buClr>
              <a:buFont typeface="Arial" panose="020B0604020202020204" pitchFamily="34" charset="0"/>
              <a:buChar char="•"/>
            </a:pPr>
            <a:r>
              <a:rPr lang="ja-JP" altLang="en-US" sz="1600" u="sng">
                <a:solidFill>
                  <a:srgbClr val="FF0000"/>
                </a:solidFill>
              </a:rPr>
              <a:t>必要な調整仕訳はタイプ</a:t>
            </a:r>
            <a:r>
              <a:rPr lang="en-US" altLang="ja-JP" sz="1600" u="sng">
                <a:solidFill>
                  <a:srgbClr val="FF0000"/>
                </a:solidFill>
              </a:rPr>
              <a:t>A</a:t>
            </a:r>
            <a:r>
              <a:rPr lang="ja-JP" altLang="en-US" sz="1600" u="sng">
                <a:solidFill>
                  <a:srgbClr val="FF0000"/>
                </a:solidFill>
              </a:rPr>
              <a:t>と同様</a:t>
            </a:r>
            <a:r>
              <a:rPr lang="ja-JP" altLang="en-US" sz="1600">
                <a:solidFill>
                  <a:schemeClr val="tx1"/>
                </a:solidFill>
              </a:rPr>
              <a:t>（売上</a:t>
            </a:r>
            <a:r>
              <a:rPr lang="en-US" altLang="ja-JP" sz="1600">
                <a:solidFill>
                  <a:schemeClr val="tx1"/>
                </a:solidFill>
              </a:rPr>
              <a:t>100/</a:t>
            </a:r>
            <a:r>
              <a:rPr lang="ja-JP" altLang="en-US" sz="1600">
                <a:solidFill>
                  <a:schemeClr val="tx1"/>
                </a:solidFill>
              </a:rPr>
              <a:t>仕入</a:t>
            </a:r>
            <a:r>
              <a:rPr lang="en-US" altLang="ja-JP" sz="1600">
                <a:solidFill>
                  <a:schemeClr val="tx1"/>
                </a:solidFill>
              </a:rPr>
              <a:t>100)</a:t>
            </a:r>
            <a:endParaRPr lang="ja-JP" altLang="en-US" sz="1600">
              <a:solidFill>
                <a:schemeClr val="tx1"/>
              </a:solidFill>
            </a:endParaRPr>
          </a:p>
        </p:txBody>
      </p:sp>
      <p:pic>
        <p:nvPicPr>
          <p:cNvPr id="32" name="グラフィックス 31" descr="チェック マーク 単色塗りつぶし">
            <a:extLst>
              <a:ext uri="{FF2B5EF4-FFF2-40B4-BE49-F238E27FC236}">
                <a16:creationId xmlns:a16="http://schemas.microsoft.com/office/drawing/2014/main" id="{9FBC96C8-82C8-D334-8C74-978C26DDBB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6369" y="3131838"/>
            <a:ext cx="370172" cy="370172"/>
          </a:xfrm>
          <a:prstGeom prst="rect">
            <a:avLst/>
          </a:prstGeom>
        </p:spPr>
      </p:pic>
      <p:sp>
        <p:nvSpPr>
          <p:cNvPr id="44" name="タイトル 43">
            <a:extLst>
              <a:ext uri="{FF2B5EF4-FFF2-40B4-BE49-F238E27FC236}">
                <a16:creationId xmlns:a16="http://schemas.microsoft.com/office/drawing/2014/main" id="{B9EC9ED4-C7DC-399E-3964-A683C9C7C4B0}"/>
              </a:ext>
            </a:extLst>
          </p:cNvPr>
          <p:cNvSpPr>
            <a:spLocks noGrp="1"/>
          </p:cNvSpPr>
          <p:nvPr>
            <p:ph type="title"/>
          </p:nvPr>
        </p:nvSpPr>
        <p:spPr>
          <a:xfrm>
            <a:off x="660000" y="365508"/>
            <a:ext cx="6309211" cy="371961"/>
          </a:xfrm>
        </p:spPr>
        <p:txBody>
          <a:bodyPr>
            <a:normAutofit/>
          </a:bodyPr>
          <a:lstStyle/>
          <a:p>
            <a:r>
              <a:rPr lang="en-US" altLang="ja-JP"/>
              <a:t>3-1.</a:t>
            </a:r>
            <a:r>
              <a:rPr lang="ja-JP" altLang="en-US"/>
              <a:t>二重取引による売上の過大計上</a:t>
            </a:r>
          </a:p>
        </p:txBody>
      </p:sp>
      <p:sp>
        <p:nvSpPr>
          <p:cNvPr id="46" name="正方形/長方形 45">
            <a:extLst>
              <a:ext uri="{FF2B5EF4-FFF2-40B4-BE49-F238E27FC236}">
                <a16:creationId xmlns:a16="http://schemas.microsoft.com/office/drawing/2014/main" id="{3946EE1B-4F20-3DC2-4EF3-743175476871}"/>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会社法監査の対象会社のみ</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47" name="正方形/長方形 46">
            <a:extLst>
              <a:ext uri="{FF2B5EF4-FFF2-40B4-BE49-F238E27FC236}">
                <a16:creationId xmlns:a16="http://schemas.microsoft.com/office/drawing/2014/main" id="{90489639-DFD7-620A-25C1-A84C04E2C894}"/>
              </a:ext>
            </a:extLst>
          </p:cNvPr>
          <p:cNvSpPr/>
          <p:nvPr/>
        </p:nvSpPr>
        <p:spPr>
          <a:xfrm>
            <a:off x="2814683" y="2125155"/>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(a’)AWI</a:t>
            </a:r>
            <a:endParaRPr kumimoji="1" lang="ja-JP" altLang="en-US" sz="1600">
              <a:solidFill>
                <a:schemeClr val="tx1"/>
              </a:solidFill>
              <a:latin typeface="+mn-ea"/>
              <a:cs typeface="Meiryo UI" panose="020B0604030504040204" pitchFamily="50" charset="-128"/>
            </a:endParaRPr>
          </a:p>
        </p:txBody>
      </p:sp>
      <p:sp>
        <p:nvSpPr>
          <p:cNvPr id="48" name="正方形/長方形 47">
            <a:extLst>
              <a:ext uri="{FF2B5EF4-FFF2-40B4-BE49-F238E27FC236}">
                <a16:creationId xmlns:a16="http://schemas.microsoft.com/office/drawing/2014/main" id="{6A4F4D3A-9F59-2D5C-299E-B40910E347A5}"/>
              </a:ext>
            </a:extLst>
          </p:cNvPr>
          <p:cNvSpPr/>
          <p:nvPr/>
        </p:nvSpPr>
        <p:spPr>
          <a:xfrm>
            <a:off x="4660312" y="2125155"/>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(b)AW</a:t>
            </a:r>
            <a:r>
              <a:rPr kumimoji="1" lang="ja-JP" altLang="en-US" sz="1600">
                <a:solidFill>
                  <a:schemeClr val="tx1"/>
                </a:solidFill>
                <a:latin typeface="+mn-ea"/>
                <a:cs typeface="Meiryo UI" panose="020B0604030504040204" pitchFamily="50" charset="-128"/>
              </a:rPr>
              <a:t>東日本</a:t>
            </a:r>
          </a:p>
        </p:txBody>
      </p:sp>
      <p:sp>
        <p:nvSpPr>
          <p:cNvPr id="49" name="正方形/長方形 48">
            <a:extLst>
              <a:ext uri="{FF2B5EF4-FFF2-40B4-BE49-F238E27FC236}">
                <a16:creationId xmlns:a16="http://schemas.microsoft.com/office/drawing/2014/main" id="{C9154C83-EEBB-C545-EDC0-C6998FC18FEE}"/>
              </a:ext>
            </a:extLst>
          </p:cNvPr>
          <p:cNvSpPr/>
          <p:nvPr/>
        </p:nvSpPr>
        <p:spPr>
          <a:xfrm>
            <a:off x="6505941" y="2125155"/>
            <a:ext cx="1080000" cy="50400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(c)</a:t>
            </a:r>
            <a:r>
              <a:rPr lang="ja-JP" altLang="en-US" sz="1600">
                <a:solidFill>
                  <a:schemeClr val="tx1"/>
                </a:solidFill>
                <a:latin typeface="+mn-ea"/>
                <a:cs typeface="Meiryo UI" panose="020B0604030504040204" pitchFamily="50" charset="-128"/>
              </a:rPr>
              <a:t>新潟ガス工業</a:t>
            </a:r>
            <a:endParaRPr kumimoji="1" lang="ja-JP" altLang="en-US" sz="1600">
              <a:solidFill>
                <a:schemeClr val="tx1"/>
              </a:solidFill>
              <a:latin typeface="+mn-ea"/>
              <a:cs typeface="Meiryo UI" panose="020B0604030504040204" pitchFamily="50" charset="-128"/>
            </a:endParaRPr>
          </a:p>
        </p:txBody>
      </p:sp>
      <p:sp>
        <p:nvSpPr>
          <p:cNvPr id="50" name="正方形/長方形 49">
            <a:extLst>
              <a:ext uri="{FF2B5EF4-FFF2-40B4-BE49-F238E27FC236}">
                <a16:creationId xmlns:a16="http://schemas.microsoft.com/office/drawing/2014/main" id="{AF8FCA08-3104-AF41-D922-B09B9565CD8A}"/>
              </a:ext>
            </a:extLst>
          </p:cNvPr>
          <p:cNvSpPr/>
          <p:nvPr/>
        </p:nvSpPr>
        <p:spPr>
          <a:xfrm>
            <a:off x="8351570" y="2125155"/>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51" name="正方形/長方形 50">
            <a:extLst>
              <a:ext uri="{FF2B5EF4-FFF2-40B4-BE49-F238E27FC236}">
                <a16:creationId xmlns:a16="http://schemas.microsoft.com/office/drawing/2014/main" id="{0756CA7C-669F-8BCA-EB71-63DC52006384}"/>
              </a:ext>
            </a:extLst>
          </p:cNvPr>
          <p:cNvSpPr/>
          <p:nvPr/>
        </p:nvSpPr>
        <p:spPr>
          <a:xfrm>
            <a:off x="10197199" y="2125155"/>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52" name="テキスト プレースホルダー 3">
            <a:extLst>
              <a:ext uri="{FF2B5EF4-FFF2-40B4-BE49-F238E27FC236}">
                <a16:creationId xmlns:a16="http://schemas.microsoft.com/office/drawing/2014/main" id="{4F999DDB-9CE9-F6CA-3E8E-F8344A354E90}"/>
              </a:ext>
            </a:extLst>
          </p:cNvPr>
          <p:cNvSpPr txBox="1">
            <a:spLocks/>
          </p:cNvSpPr>
          <p:nvPr/>
        </p:nvSpPr>
        <p:spPr>
          <a:xfrm>
            <a:off x="2598683" y="1182297"/>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仕入先</a:t>
            </a:r>
          </a:p>
        </p:txBody>
      </p:sp>
      <p:sp>
        <p:nvSpPr>
          <p:cNvPr id="53" name="テキスト プレースホルダー 3">
            <a:extLst>
              <a:ext uri="{FF2B5EF4-FFF2-40B4-BE49-F238E27FC236}">
                <a16:creationId xmlns:a16="http://schemas.microsoft.com/office/drawing/2014/main" id="{DD6D1A77-715C-05E0-BD95-629EA14DCE70}"/>
              </a:ext>
            </a:extLst>
          </p:cNvPr>
          <p:cNvSpPr txBox="1">
            <a:spLocks/>
          </p:cNvSpPr>
          <p:nvPr/>
        </p:nvSpPr>
        <p:spPr>
          <a:xfrm>
            <a:off x="2706683" y="1729619"/>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sp>
        <p:nvSpPr>
          <p:cNvPr id="54" name="テキスト プレースホルダー 3">
            <a:extLst>
              <a:ext uri="{FF2B5EF4-FFF2-40B4-BE49-F238E27FC236}">
                <a16:creationId xmlns:a16="http://schemas.microsoft.com/office/drawing/2014/main" id="{2459D691-5541-7CF9-E2A2-FB2D9420C8FC}"/>
              </a:ext>
            </a:extLst>
          </p:cNvPr>
          <p:cNvSpPr txBox="1">
            <a:spLocks/>
          </p:cNvSpPr>
          <p:nvPr/>
        </p:nvSpPr>
        <p:spPr>
          <a:xfrm>
            <a:off x="4552312" y="1729619"/>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55" name="テキスト プレースホルダー 3">
            <a:extLst>
              <a:ext uri="{FF2B5EF4-FFF2-40B4-BE49-F238E27FC236}">
                <a16:creationId xmlns:a16="http://schemas.microsoft.com/office/drawing/2014/main" id="{1238BC7F-144F-C118-DE8E-004C5BADBAA2}"/>
              </a:ext>
            </a:extLst>
          </p:cNvPr>
          <p:cNvSpPr txBox="1">
            <a:spLocks/>
          </p:cNvSpPr>
          <p:nvPr/>
        </p:nvSpPr>
        <p:spPr>
          <a:xfrm>
            <a:off x="10197199" y="1729619"/>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56" name="テキスト プレースホルダー 3">
            <a:extLst>
              <a:ext uri="{FF2B5EF4-FFF2-40B4-BE49-F238E27FC236}">
                <a16:creationId xmlns:a16="http://schemas.microsoft.com/office/drawing/2014/main" id="{FFDD3721-4545-834D-82A1-A0A9E9258114}"/>
              </a:ext>
            </a:extLst>
          </p:cNvPr>
          <p:cNvSpPr txBox="1">
            <a:spLocks/>
          </p:cNvSpPr>
          <p:nvPr/>
        </p:nvSpPr>
        <p:spPr>
          <a:xfrm>
            <a:off x="8221837" y="1729619"/>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57" name="テキスト プレースホルダー 3">
            <a:extLst>
              <a:ext uri="{FF2B5EF4-FFF2-40B4-BE49-F238E27FC236}">
                <a16:creationId xmlns:a16="http://schemas.microsoft.com/office/drawing/2014/main" id="{475A598F-3ECC-92D4-5C69-7111B752E442}"/>
              </a:ext>
            </a:extLst>
          </p:cNvPr>
          <p:cNvSpPr txBox="1">
            <a:spLocks/>
          </p:cNvSpPr>
          <p:nvPr/>
        </p:nvSpPr>
        <p:spPr>
          <a:xfrm>
            <a:off x="6262941" y="1182297"/>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運搬・充填</a:t>
            </a:r>
          </a:p>
        </p:txBody>
      </p:sp>
      <p:cxnSp>
        <p:nvCxnSpPr>
          <p:cNvPr id="58" name="直線矢印コネクタ 57">
            <a:extLst>
              <a:ext uri="{FF2B5EF4-FFF2-40B4-BE49-F238E27FC236}">
                <a16:creationId xmlns:a16="http://schemas.microsoft.com/office/drawing/2014/main" id="{71F8BD07-AF7E-5E28-A6D0-81919BD2C8A6}"/>
              </a:ext>
            </a:extLst>
          </p:cNvPr>
          <p:cNvCxnSpPr>
            <a:cxnSpLocks/>
            <a:stCxn id="47" idx="3"/>
            <a:endCxn id="48" idx="1"/>
          </p:cNvCxnSpPr>
          <p:nvPr/>
        </p:nvCxnSpPr>
        <p:spPr>
          <a:xfrm>
            <a:off x="3894683" y="2377155"/>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59" name="直線矢印コネクタ 58">
            <a:extLst>
              <a:ext uri="{FF2B5EF4-FFF2-40B4-BE49-F238E27FC236}">
                <a16:creationId xmlns:a16="http://schemas.microsoft.com/office/drawing/2014/main" id="{A1EC51E9-F110-AC88-F9FE-8198E1885EA2}"/>
              </a:ext>
            </a:extLst>
          </p:cNvPr>
          <p:cNvCxnSpPr>
            <a:cxnSpLocks/>
            <a:stCxn id="48" idx="3"/>
            <a:endCxn id="49" idx="1"/>
          </p:cNvCxnSpPr>
          <p:nvPr/>
        </p:nvCxnSpPr>
        <p:spPr>
          <a:xfrm>
            <a:off x="5740312" y="2377155"/>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a:extLst>
              <a:ext uri="{FF2B5EF4-FFF2-40B4-BE49-F238E27FC236}">
                <a16:creationId xmlns:a16="http://schemas.microsoft.com/office/drawing/2014/main" id="{6D2F7EA7-D211-5966-29B3-EEE54E569495}"/>
              </a:ext>
            </a:extLst>
          </p:cNvPr>
          <p:cNvCxnSpPr>
            <a:cxnSpLocks/>
            <a:stCxn id="49" idx="3"/>
            <a:endCxn id="50" idx="1"/>
          </p:cNvCxnSpPr>
          <p:nvPr/>
        </p:nvCxnSpPr>
        <p:spPr>
          <a:xfrm>
            <a:off x="7585941" y="2377155"/>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944D167B-BB3F-9BA5-A112-B4B643F647DA}"/>
              </a:ext>
            </a:extLst>
          </p:cNvPr>
          <p:cNvCxnSpPr>
            <a:cxnSpLocks/>
            <a:stCxn id="50" idx="3"/>
            <a:endCxn id="51" idx="1"/>
          </p:cNvCxnSpPr>
          <p:nvPr/>
        </p:nvCxnSpPr>
        <p:spPr>
          <a:xfrm>
            <a:off x="9431570" y="2377155"/>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1192F20E-A6BE-EBA9-841E-71BFDBBF0783}"/>
              </a:ext>
            </a:extLst>
          </p:cNvPr>
          <p:cNvSpPr/>
          <p:nvPr/>
        </p:nvSpPr>
        <p:spPr>
          <a:xfrm>
            <a:off x="969054" y="2125155"/>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a:t>
            </a:r>
            <a:r>
              <a:rPr lang="ja-JP" altLang="en-US" sz="1600">
                <a:solidFill>
                  <a:schemeClr val="tx1"/>
                </a:solidFill>
                <a:latin typeface="+mn-ea"/>
                <a:cs typeface="Meiryo UI" panose="020B0604030504040204" pitchFamily="50" charset="-128"/>
              </a:rPr>
              <a:t>日本ヘリウム</a:t>
            </a:r>
            <a:endParaRPr kumimoji="1" lang="ja-JP" altLang="en-US" sz="1600">
              <a:solidFill>
                <a:schemeClr val="tx1"/>
              </a:solidFill>
              <a:latin typeface="+mn-ea"/>
              <a:cs typeface="Meiryo UI" panose="020B0604030504040204" pitchFamily="50" charset="-128"/>
            </a:endParaRPr>
          </a:p>
        </p:txBody>
      </p:sp>
      <p:sp>
        <p:nvSpPr>
          <p:cNvPr id="63" name="テキスト プレースホルダー 3">
            <a:extLst>
              <a:ext uri="{FF2B5EF4-FFF2-40B4-BE49-F238E27FC236}">
                <a16:creationId xmlns:a16="http://schemas.microsoft.com/office/drawing/2014/main" id="{2787F84C-2B0F-4B21-DCFA-5FAC90D0D42C}"/>
              </a:ext>
            </a:extLst>
          </p:cNvPr>
          <p:cNvSpPr txBox="1">
            <a:spLocks/>
          </p:cNvSpPr>
          <p:nvPr/>
        </p:nvSpPr>
        <p:spPr>
          <a:xfrm>
            <a:off x="6397941" y="1729619"/>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cxnSp>
        <p:nvCxnSpPr>
          <p:cNvPr id="64" name="直線矢印コネクタ 63">
            <a:extLst>
              <a:ext uri="{FF2B5EF4-FFF2-40B4-BE49-F238E27FC236}">
                <a16:creationId xmlns:a16="http://schemas.microsoft.com/office/drawing/2014/main" id="{64669C18-C902-E69A-53CA-7BCB5F5BD196}"/>
              </a:ext>
            </a:extLst>
          </p:cNvPr>
          <p:cNvCxnSpPr>
            <a:cxnSpLocks/>
            <a:stCxn id="62" idx="3"/>
            <a:endCxn id="47" idx="1"/>
          </p:cNvCxnSpPr>
          <p:nvPr/>
        </p:nvCxnSpPr>
        <p:spPr>
          <a:xfrm>
            <a:off x="2049054" y="2377155"/>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65" name="テキスト プレースホルダー 3">
            <a:extLst>
              <a:ext uri="{FF2B5EF4-FFF2-40B4-BE49-F238E27FC236}">
                <a16:creationId xmlns:a16="http://schemas.microsoft.com/office/drawing/2014/main" id="{4E20234A-1AAA-EDA4-744A-6D2B9EFBB826}"/>
              </a:ext>
            </a:extLst>
          </p:cNvPr>
          <p:cNvSpPr txBox="1">
            <a:spLocks/>
          </p:cNvSpPr>
          <p:nvPr/>
        </p:nvSpPr>
        <p:spPr>
          <a:xfrm>
            <a:off x="861054" y="1729619"/>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69" name="正方形/長方形 68">
            <a:extLst>
              <a:ext uri="{FF2B5EF4-FFF2-40B4-BE49-F238E27FC236}">
                <a16:creationId xmlns:a16="http://schemas.microsoft.com/office/drawing/2014/main" id="{D9C2AC36-E50F-6198-DCE4-8A78102AF870}"/>
              </a:ext>
            </a:extLst>
          </p:cNvPr>
          <p:cNvSpPr/>
          <p:nvPr/>
        </p:nvSpPr>
        <p:spPr>
          <a:xfrm>
            <a:off x="4011869" y="1819700"/>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90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70" name="正方形/長方形 69">
            <a:extLst>
              <a:ext uri="{FF2B5EF4-FFF2-40B4-BE49-F238E27FC236}">
                <a16:creationId xmlns:a16="http://schemas.microsoft.com/office/drawing/2014/main" id="{668E4E88-60DD-CE54-A042-FECCD468F903}"/>
              </a:ext>
            </a:extLst>
          </p:cNvPr>
          <p:cNvSpPr/>
          <p:nvPr/>
        </p:nvSpPr>
        <p:spPr>
          <a:xfrm>
            <a:off x="5832627" y="1819700"/>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100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71" name="正方形/長方形 70">
            <a:extLst>
              <a:ext uri="{FF2B5EF4-FFF2-40B4-BE49-F238E27FC236}">
                <a16:creationId xmlns:a16="http://schemas.microsoft.com/office/drawing/2014/main" id="{A5BD88E2-C71E-7B4B-F81D-321F1B7D1ACE}"/>
              </a:ext>
            </a:extLst>
          </p:cNvPr>
          <p:cNvSpPr/>
          <p:nvPr/>
        </p:nvSpPr>
        <p:spPr>
          <a:xfrm>
            <a:off x="7693941" y="1819700"/>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105</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72" name="正方形/長方形 71">
            <a:extLst>
              <a:ext uri="{FF2B5EF4-FFF2-40B4-BE49-F238E27FC236}">
                <a16:creationId xmlns:a16="http://schemas.microsoft.com/office/drawing/2014/main" id="{D06740AD-D0EB-4F12-DE21-A12C6602D714}"/>
              </a:ext>
            </a:extLst>
          </p:cNvPr>
          <p:cNvSpPr/>
          <p:nvPr/>
        </p:nvSpPr>
        <p:spPr>
          <a:xfrm>
            <a:off x="9551011" y="1819700"/>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115</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73" name="正方形/長方形 72">
            <a:extLst>
              <a:ext uri="{FF2B5EF4-FFF2-40B4-BE49-F238E27FC236}">
                <a16:creationId xmlns:a16="http://schemas.microsoft.com/office/drawing/2014/main" id="{C75157EB-D7F1-B59F-D4A9-8321F1D288A2}"/>
              </a:ext>
            </a:extLst>
          </p:cNvPr>
          <p:cNvSpPr/>
          <p:nvPr/>
        </p:nvSpPr>
        <p:spPr>
          <a:xfrm>
            <a:off x="2623667" y="4919181"/>
            <a:ext cx="1860583" cy="636063"/>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kumimoji="1" lang="en-US" altLang="ja-JP" sz="1600" b="0" i="0" u="none" strike="noStrike" kern="1200" cap="none" spc="0" normalizeH="0" baseline="0" noProof="0">
                <a:ln>
                  <a:noFill/>
                </a:ln>
                <a:solidFill>
                  <a:schemeClr val="tx1"/>
                </a:solidFill>
                <a:effectLst/>
                <a:uLnTx/>
                <a:uFillTx/>
                <a:latin typeface="+mn-ea"/>
                <a:cs typeface="+mn-cs"/>
              </a:rPr>
              <a:t>0</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5</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75" name="正方形/長方形 74">
            <a:extLst>
              <a:ext uri="{FF2B5EF4-FFF2-40B4-BE49-F238E27FC236}">
                <a16:creationId xmlns:a16="http://schemas.microsoft.com/office/drawing/2014/main" id="{E2C9AE3A-5B4F-F349-91B0-CDDF236D1BB4}"/>
              </a:ext>
            </a:extLst>
          </p:cNvPr>
          <p:cNvSpPr/>
          <p:nvPr/>
        </p:nvSpPr>
        <p:spPr>
          <a:xfrm>
            <a:off x="2611174" y="4475306"/>
            <a:ext cx="1885568" cy="371557"/>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ja-JP" sz="1600">
                <a:solidFill>
                  <a:schemeClr val="bg1"/>
                </a:solidFill>
                <a:latin typeface="+mn-ea"/>
              </a:rPr>
              <a:t>(b)(d) </a:t>
            </a:r>
            <a:r>
              <a:rPr kumimoji="1" lang="en-US" altLang="ja-JP" sz="1600" b="0" i="0" u="none" strike="noStrike" kern="1200" cap="none" spc="0" normalizeH="0" baseline="0" noProof="0">
                <a:ln>
                  <a:noFill/>
                </a:ln>
                <a:solidFill>
                  <a:schemeClr val="bg1"/>
                </a:solidFill>
                <a:effectLst/>
                <a:uLnTx/>
                <a:uFillTx/>
                <a:latin typeface="+mn-ea"/>
                <a:cs typeface="+mn-cs"/>
              </a:rPr>
              <a:t>AW</a:t>
            </a:r>
            <a:r>
              <a:rPr kumimoji="1" lang="ja-JP" altLang="en-US" sz="1600" b="0" i="0" u="none" strike="noStrike" kern="1200" cap="none" spc="0" normalizeH="0" baseline="0" noProof="0">
                <a:ln>
                  <a:noFill/>
                </a:ln>
                <a:solidFill>
                  <a:schemeClr val="bg1"/>
                </a:solidFill>
                <a:effectLst/>
                <a:uLnTx/>
                <a:uFillTx/>
                <a:latin typeface="+mn-ea"/>
                <a:cs typeface="+mn-cs"/>
              </a:rPr>
              <a:t>東日本</a:t>
            </a:r>
          </a:p>
        </p:txBody>
      </p:sp>
      <p:sp>
        <p:nvSpPr>
          <p:cNvPr id="76" name="正方形/長方形 75">
            <a:extLst>
              <a:ext uri="{FF2B5EF4-FFF2-40B4-BE49-F238E27FC236}">
                <a16:creationId xmlns:a16="http://schemas.microsoft.com/office/drawing/2014/main" id="{20411375-AC58-4906-116F-5C2314CF99AC}"/>
              </a:ext>
            </a:extLst>
          </p:cNvPr>
          <p:cNvSpPr/>
          <p:nvPr/>
        </p:nvSpPr>
        <p:spPr>
          <a:xfrm>
            <a:off x="7811764" y="4881704"/>
            <a:ext cx="1773141" cy="61107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kumimoji="1" lang="en-US" altLang="ja-JP" sz="1600" b="0" i="0" u="none" strike="noStrike" kern="1200" cap="none" spc="0" normalizeH="0" baseline="0" noProof="0">
                <a:ln>
                  <a:noFill/>
                </a:ln>
                <a:solidFill>
                  <a:schemeClr val="tx1"/>
                </a:solidFill>
                <a:effectLst/>
                <a:uLnTx/>
                <a:uFillTx/>
                <a:latin typeface="+mn-ea"/>
                <a:cs typeface="+mn-cs"/>
              </a:rPr>
              <a:t>105</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100</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77" name="正方形/長方形 76">
            <a:extLst>
              <a:ext uri="{FF2B5EF4-FFF2-40B4-BE49-F238E27FC236}">
                <a16:creationId xmlns:a16="http://schemas.microsoft.com/office/drawing/2014/main" id="{9E61FB74-82A0-4F5B-26F5-72EB0252A248}"/>
              </a:ext>
            </a:extLst>
          </p:cNvPr>
          <p:cNvSpPr/>
          <p:nvPr/>
        </p:nvSpPr>
        <p:spPr>
          <a:xfrm>
            <a:off x="7811764" y="4475306"/>
            <a:ext cx="1773141" cy="359066"/>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US" altLang="ja-JP" sz="1600">
                <a:solidFill>
                  <a:schemeClr val="bg1"/>
                </a:solidFill>
                <a:latin typeface="+mn-ea"/>
              </a:rPr>
              <a:t>(d) </a:t>
            </a:r>
            <a:r>
              <a:rPr lang="ja-JP" altLang="en-US" sz="1600">
                <a:solidFill>
                  <a:schemeClr val="bg1"/>
                </a:solidFill>
                <a:latin typeface="+mn-ea"/>
              </a:rPr>
              <a:t>新潟ガス工業</a:t>
            </a:r>
            <a:endParaRPr lang="en-US" altLang="ja-JP">
              <a:solidFill>
                <a:schemeClr val="bg1"/>
              </a:solidFill>
              <a:cs typeface="+mn-cs"/>
            </a:endParaRPr>
          </a:p>
        </p:txBody>
      </p:sp>
      <p:sp>
        <p:nvSpPr>
          <p:cNvPr id="78" name="矢印: 左右 77">
            <a:extLst>
              <a:ext uri="{FF2B5EF4-FFF2-40B4-BE49-F238E27FC236}">
                <a16:creationId xmlns:a16="http://schemas.microsoft.com/office/drawing/2014/main" id="{19EF21F4-296D-4D60-278A-2273D9B54738}"/>
              </a:ext>
            </a:extLst>
          </p:cNvPr>
          <p:cNvSpPr/>
          <p:nvPr/>
        </p:nvSpPr>
        <p:spPr>
          <a:xfrm>
            <a:off x="4609658" y="4919915"/>
            <a:ext cx="3030225" cy="534655"/>
          </a:xfrm>
          <a:prstGeom prst="leftRightArrow">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400" b="0" i="0" u="none" strike="noStrike" kern="1200" cap="none" spc="0" normalizeH="0" baseline="0" noProof="0">
                <a:ln>
                  <a:noFill/>
                </a:ln>
                <a:solidFill>
                  <a:schemeClr val="tx1"/>
                </a:solidFill>
                <a:effectLst/>
                <a:uLnTx/>
                <a:uFillTx/>
                <a:latin typeface="+mn-ea"/>
                <a:cs typeface="+mn-cs"/>
              </a:rPr>
              <a:t>AW</a:t>
            </a:r>
            <a:r>
              <a:rPr kumimoji="1" lang="ja-JP" altLang="en-US" sz="1400" b="0" i="0" u="none" strike="noStrike" kern="1200" cap="none" spc="0" normalizeH="0" baseline="0" noProof="0">
                <a:ln>
                  <a:noFill/>
                </a:ln>
                <a:solidFill>
                  <a:schemeClr val="tx1"/>
                </a:solidFill>
                <a:effectLst/>
                <a:uLnTx/>
                <a:uFillTx/>
                <a:latin typeface="+mn-ea"/>
                <a:cs typeface="+mn-cs"/>
              </a:rPr>
              <a:t>東日本で取り消したことにより、各社の計上</a:t>
            </a:r>
            <a:r>
              <a:rPr lang="ja-JP" altLang="en-US" sz="1400">
                <a:solidFill>
                  <a:schemeClr val="tx1"/>
                </a:solidFill>
                <a:latin typeface="+mn-ea"/>
              </a:rPr>
              <a:t>額</a:t>
            </a:r>
            <a:r>
              <a:rPr kumimoji="1" lang="ja-JP" altLang="en-US" sz="1400" b="0" i="0" u="none" strike="noStrike" kern="1200" cap="none" spc="0" normalizeH="0" baseline="0" noProof="0">
                <a:ln>
                  <a:noFill/>
                </a:ln>
                <a:solidFill>
                  <a:schemeClr val="tx1"/>
                </a:solidFill>
                <a:effectLst/>
                <a:uLnTx/>
                <a:uFillTx/>
                <a:latin typeface="+mn-ea"/>
                <a:cs typeface="+mn-cs"/>
              </a:rPr>
              <a:t>が一致しない</a:t>
            </a:r>
          </a:p>
        </p:txBody>
      </p:sp>
      <p:sp>
        <p:nvSpPr>
          <p:cNvPr id="79" name="右大かっこ 78">
            <a:extLst>
              <a:ext uri="{FF2B5EF4-FFF2-40B4-BE49-F238E27FC236}">
                <a16:creationId xmlns:a16="http://schemas.microsoft.com/office/drawing/2014/main" id="{93B2D03A-D919-5E5B-7D77-7288C3EE1A13}"/>
              </a:ext>
            </a:extLst>
          </p:cNvPr>
          <p:cNvSpPr/>
          <p:nvPr/>
        </p:nvSpPr>
        <p:spPr>
          <a:xfrm rot="5400000">
            <a:off x="6990969" y="992806"/>
            <a:ext cx="75617" cy="3544995"/>
          </a:xfrm>
          <a:prstGeom prst="rightBracket">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0" name="矢印: 下 79">
            <a:extLst>
              <a:ext uri="{FF2B5EF4-FFF2-40B4-BE49-F238E27FC236}">
                <a16:creationId xmlns:a16="http://schemas.microsoft.com/office/drawing/2014/main" id="{A16C7BA2-F33F-27E6-2422-FE2B5F7863B7}"/>
              </a:ext>
            </a:extLst>
          </p:cNvPr>
          <p:cNvSpPr/>
          <p:nvPr/>
        </p:nvSpPr>
        <p:spPr>
          <a:xfrm>
            <a:off x="5461686" y="5551647"/>
            <a:ext cx="1044255" cy="411892"/>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81" name="テキスト ボックス 80">
            <a:extLst>
              <a:ext uri="{FF2B5EF4-FFF2-40B4-BE49-F238E27FC236}">
                <a16:creationId xmlns:a16="http://schemas.microsoft.com/office/drawing/2014/main" id="{476020F3-71ED-6CBF-F94D-8C34496A33B0}"/>
              </a:ext>
            </a:extLst>
          </p:cNvPr>
          <p:cNvSpPr txBox="1"/>
          <p:nvPr/>
        </p:nvSpPr>
        <p:spPr>
          <a:xfrm>
            <a:off x="1098525" y="6063049"/>
            <a:ext cx="10159599" cy="660804"/>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b="1">
                <a:solidFill>
                  <a:schemeClr val="accent1"/>
                </a:solidFill>
              </a:rPr>
              <a:t>連結財務諸表作成にあたり、適切に調整をする必要があるため、取り消した商流・金額を</a:t>
            </a:r>
            <a:r>
              <a:rPr lang="en-US" altLang="ja-JP" sz="1600" b="1">
                <a:solidFill>
                  <a:schemeClr val="accent1"/>
                </a:solidFill>
              </a:rPr>
              <a:t>AWI</a:t>
            </a:r>
            <a:r>
              <a:rPr lang="ja-JP" altLang="en-US" sz="1600" b="1">
                <a:solidFill>
                  <a:schemeClr val="accent1"/>
                </a:solidFill>
              </a:rPr>
              <a:t>経理にご連絡ください</a:t>
            </a:r>
          </a:p>
        </p:txBody>
      </p:sp>
      <p:sp>
        <p:nvSpPr>
          <p:cNvPr id="82" name="正方形/長方形 81">
            <a:extLst>
              <a:ext uri="{FF2B5EF4-FFF2-40B4-BE49-F238E27FC236}">
                <a16:creationId xmlns:a16="http://schemas.microsoft.com/office/drawing/2014/main" id="{A7B731FB-69F5-DE01-437E-CFDB213AE71B}"/>
              </a:ext>
            </a:extLst>
          </p:cNvPr>
          <p:cNvSpPr/>
          <p:nvPr/>
        </p:nvSpPr>
        <p:spPr>
          <a:xfrm>
            <a:off x="1047245" y="4484552"/>
            <a:ext cx="1371235" cy="1020652"/>
          </a:xfrm>
          <a:prstGeom prst="rect">
            <a:avLst/>
          </a:prstGeom>
          <a:noFill/>
          <a:ln w="9525">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rgbClr val="262626"/>
                </a:solidFill>
                <a:latin typeface="+mn-ea"/>
              </a:rPr>
              <a:t>調整後の</a:t>
            </a:r>
            <a:endParaRPr lang="en-US" altLang="ja-JP" sz="1600">
              <a:solidFill>
                <a:srgbClr val="262626"/>
              </a:solidFill>
              <a:latin typeface="+mn-ea"/>
            </a:endParaRPr>
          </a:p>
          <a:p>
            <a:pPr algn="ctr"/>
            <a:r>
              <a:rPr lang="ja-JP" altLang="en-US" sz="1600">
                <a:solidFill>
                  <a:srgbClr val="262626"/>
                </a:solidFill>
                <a:latin typeface="+mn-ea"/>
              </a:rPr>
              <a:t>各社計上額</a:t>
            </a:r>
            <a:endParaRPr lang="en-US" altLang="ja-JP" sz="1600" b="0" i="0" u="none" strike="noStrike" kern="1200" cap="none" spc="0" normalizeH="0" baseline="0" noProof="0">
              <a:ln>
                <a:noFill/>
              </a:ln>
              <a:solidFill>
                <a:srgbClr val="262626"/>
              </a:solidFill>
              <a:effectLst/>
              <a:uLnTx/>
              <a:uFillTx/>
              <a:latin typeface="+mn-ea"/>
            </a:endParaRPr>
          </a:p>
        </p:txBody>
      </p:sp>
      <p:sp>
        <p:nvSpPr>
          <p:cNvPr id="66" name="Oval 66">
            <a:extLst>
              <a:ext uri="{FF2B5EF4-FFF2-40B4-BE49-F238E27FC236}">
                <a16:creationId xmlns:a16="http://schemas.microsoft.com/office/drawing/2014/main" id="{1131364C-CEA2-A22C-4131-3816F1ED5AC1}"/>
              </a:ext>
            </a:extLst>
          </p:cNvPr>
          <p:cNvSpPr>
            <a:spLocks noChangeArrowheads="1"/>
          </p:cNvSpPr>
          <p:nvPr/>
        </p:nvSpPr>
        <p:spPr bwMode="gray">
          <a:xfrm>
            <a:off x="6838602" y="2664607"/>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Tree>
    <p:extLst>
      <p:ext uri="{BB962C8B-B14F-4D97-AF65-F5344CB8AC3E}">
        <p14:creationId xmlns:p14="http://schemas.microsoft.com/office/powerpoint/2010/main" val="849423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FB24-BAFC-31EC-050C-4F46F2D8DC13}"/>
            </a:ext>
          </a:extLst>
        </p:cNvPr>
        <p:cNvGrpSpPr/>
        <p:nvPr/>
      </p:nvGrpSpPr>
      <p:grpSpPr>
        <a:xfrm>
          <a:off x="0" y="0"/>
          <a:ext cx="0" cy="0"/>
          <a:chOff x="0" y="0"/>
          <a:chExt cx="0" cy="0"/>
        </a:xfrm>
      </p:grpSpPr>
      <p:sp>
        <p:nvSpPr>
          <p:cNvPr id="29" name="テキスト ボックス 28">
            <a:extLst>
              <a:ext uri="{FF2B5EF4-FFF2-40B4-BE49-F238E27FC236}">
                <a16:creationId xmlns:a16="http://schemas.microsoft.com/office/drawing/2014/main" id="{3DD4A5B7-C51A-B055-B424-3B48ECBD4B65}"/>
              </a:ext>
            </a:extLst>
          </p:cNvPr>
          <p:cNvSpPr txBox="1"/>
          <p:nvPr/>
        </p:nvSpPr>
        <p:spPr>
          <a:xfrm>
            <a:off x="1121394" y="2942436"/>
            <a:ext cx="11248350" cy="1560921"/>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Arial" panose="020B0604020202020204" pitchFamily="34" charset="0"/>
              <a:buChar char="•"/>
            </a:pPr>
            <a:r>
              <a:rPr lang="en-US" altLang="ja-JP" sz="1600"/>
              <a:t>(b)</a:t>
            </a:r>
            <a:r>
              <a:rPr lang="en-US" altLang="ja-JP" sz="1600" err="1"/>
              <a:t>新潟ガス工業</a:t>
            </a:r>
            <a:r>
              <a:rPr lang="ja-JP" altLang="en-US" sz="1600">
                <a:solidFill>
                  <a:srgbClr val="FF0000"/>
                </a:solidFill>
              </a:rPr>
              <a:t>個別財務諸表上で仕入</a:t>
            </a:r>
            <a:r>
              <a:rPr lang="en-US" sz="1600">
                <a:solidFill>
                  <a:srgbClr val="FF0000"/>
                </a:solidFill>
              </a:rPr>
              <a:t>90</a:t>
            </a:r>
            <a:r>
              <a:rPr lang="ja-JP" altLang="en-US" sz="1600">
                <a:solidFill>
                  <a:srgbClr val="FF0000"/>
                </a:solidFill>
              </a:rPr>
              <a:t>と売上高</a:t>
            </a:r>
            <a:r>
              <a:rPr lang="en-US" sz="1600">
                <a:solidFill>
                  <a:srgbClr val="FF0000"/>
                </a:solidFill>
              </a:rPr>
              <a:t>100</a:t>
            </a:r>
            <a:r>
              <a:rPr lang="en-US" sz="1600">
                <a:solidFill>
                  <a:schemeClr val="tx1"/>
                </a:solidFill>
              </a:rPr>
              <a:t>、</a:t>
            </a:r>
            <a:r>
              <a:rPr lang="en-US" sz="1600">
                <a:solidFill>
                  <a:srgbClr val="000000"/>
                </a:solidFill>
              </a:rPr>
              <a:t>(d)AWI</a:t>
            </a:r>
            <a:r>
              <a:rPr lang="ja-JP" altLang="en-US" sz="1600">
                <a:solidFill>
                  <a:srgbClr val="FF0000"/>
                </a:solidFill>
              </a:rPr>
              <a:t>個別財務諸表上で仕入105と売上高</a:t>
            </a:r>
            <a:r>
              <a:rPr lang="en-US" sz="1600">
                <a:solidFill>
                  <a:srgbClr val="FF0000"/>
                </a:solidFill>
              </a:rPr>
              <a:t>115</a:t>
            </a:r>
            <a:r>
              <a:rPr lang="ja-JP" altLang="en-US" sz="1600">
                <a:solidFill>
                  <a:schemeClr val="tx1"/>
                </a:solidFill>
              </a:rPr>
              <a:t>が計上</a:t>
            </a:r>
            <a:endParaRPr lang="en-US" altLang="ja-JP" sz="1600" err="1">
              <a:solidFill>
                <a:schemeClr val="tx1"/>
              </a:solidFill>
            </a:endParaRPr>
          </a:p>
          <a:p>
            <a:pPr indent="-285750">
              <a:buFont typeface="Arial" panose="020B0604020202020204" pitchFamily="34" charset="0"/>
              <a:buChar char="•"/>
            </a:pPr>
            <a:r>
              <a:rPr lang="ja-JP" altLang="en-US" sz="1600" b="1" u="sng">
                <a:solidFill>
                  <a:schemeClr val="tx1"/>
                </a:solidFill>
              </a:rPr>
              <a:t>各社での調整は不要</a:t>
            </a:r>
          </a:p>
          <a:p>
            <a:pPr indent="-285750">
              <a:buFont typeface="Arial,Sans-Serif" panose="020B0604020202020204" pitchFamily="34" charset="0"/>
              <a:buChar char="•"/>
            </a:pPr>
            <a:r>
              <a:rPr lang="en-US" sz="1600"/>
              <a:t>(b)</a:t>
            </a:r>
            <a:r>
              <a:rPr lang="ja-JP" altLang="en-US" sz="1600"/>
              <a:t>～</a:t>
            </a:r>
            <a:r>
              <a:rPr lang="en-US" sz="1600"/>
              <a:t>(d)</a:t>
            </a:r>
            <a:r>
              <a:rPr lang="ja-JP" altLang="en-US" sz="1600"/>
              <a:t>の間の仕入、売上は連結修正仕訳では消去されないため、</a:t>
            </a:r>
            <a:r>
              <a:rPr lang="ja-JP" altLang="en-US" sz="1600">
                <a:solidFill>
                  <a:srgbClr val="FF0000"/>
                </a:solidFill>
              </a:rPr>
              <a:t>連結財務諸表上、仕入と売上が二重計上</a:t>
            </a:r>
            <a:r>
              <a:rPr lang="ja-JP" altLang="en-US" sz="1600"/>
              <a:t>されたまま</a:t>
            </a:r>
            <a:endParaRPr lang="en-US" altLang="ja-JP" sz="1600"/>
          </a:p>
          <a:p>
            <a:pPr marL="0" indent="0">
              <a:buNone/>
            </a:pPr>
            <a:r>
              <a:rPr lang="ja-JP" altLang="en-US" sz="1600"/>
              <a:t>　　（連結財務諸表上、仕入総額</a:t>
            </a:r>
            <a:r>
              <a:rPr lang="en-US" altLang="ja-JP" sz="1600"/>
              <a:t>195</a:t>
            </a:r>
            <a:r>
              <a:rPr lang="ja-JP" altLang="en-US" sz="1600"/>
              <a:t>、売上総額</a:t>
            </a:r>
            <a:r>
              <a:rPr lang="en-US" altLang="ja-JP" sz="1600"/>
              <a:t>215</a:t>
            </a:r>
            <a:r>
              <a:rPr lang="ja-JP" altLang="en-US" sz="1600"/>
              <a:t>として計上）</a:t>
            </a:r>
            <a:endParaRPr lang="en-US" altLang="ja-JP" sz="1600"/>
          </a:p>
          <a:p>
            <a:pPr indent="-285750">
              <a:buFont typeface="Arial" panose="020B0604020202020204" pitchFamily="34" charset="0"/>
              <a:buChar char="•"/>
            </a:pPr>
            <a:r>
              <a:rPr lang="ja-JP" altLang="en-US" sz="1600"/>
              <a:t>本来の連結財務諸表は</a:t>
            </a:r>
            <a:r>
              <a:rPr lang="ja-JP" altLang="en-US" sz="1600">
                <a:solidFill>
                  <a:srgbClr val="FF0000"/>
                </a:solidFill>
              </a:rPr>
              <a:t>仕入総額</a:t>
            </a:r>
            <a:r>
              <a:rPr lang="en-US" altLang="ja-JP" sz="1600">
                <a:solidFill>
                  <a:srgbClr val="FF0000"/>
                </a:solidFill>
              </a:rPr>
              <a:t>95(</a:t>
            </a:r>
            <a:r>
              <a:rPr lang="en-US" altLang="ja-JP" sz="1600" err="1">
                <a:solidFill>
                  <a:srgbClr val="FF0000"/>
                </a:solidFill>
              </a:rPr>
              <a:t>外部仕入先</a:t>
            </a:r>
            <a:r>
              <a:rPr lang="ja-JP" altLang="en-US" sz="1600">
                <a:solidFill>
                  <a:srgbClr val="FF0000"/>
                </a:solidFill>
              </a:rPr>
              <a:t>からの仕入額</a:t>
            </a:r>
            <a:r>
              <a:rPr lang="en-US" altLang="ja-JP" sz="1600">
                <a:solidFill>
                  <a:srgbClr val="FF0000"/>
                </a:solidFill>
              </a:rPr>
              <a:t>90</a:t>
            </a:r>
            <a:r>
              <a:rPr lang="ja-JP" altLang="en-US" sz="1600">
                <a:solidFill>
                  <a:srgbClr val="FF0000"/>
                </a:solidFill>
              </a:rPr>
              <a:t>＋外部業者の利益</a:t>
            </a:r>
            <a:r>
              <a:rPr lang="en-US" altLang="ja-JP" sz="1600">
                <a:solidFill>
                  <a:srgbClr val="FF0000"/>
                </a:solidFill>
              </a:rPr>
              <a:t>5)</a:t>
            </a:r>
            <a:r>
              <a:rPr lang="ja-JP" altLang="en-US" sz="1600">
                <a:solidFill>
                  <a:srgbClr val="FF0000"/>
                </a:solidFill>
              </a:rPr>
              <a:t>、売上総額</a:t>
            </a:r>
            <a:r>
              <a:rPr lang="en-US" altLang="ja-JP" sz="1600">
                <a:solidFill>
                  <a:srgbClr val="FF0000"/>
                </a:solidFill>
              </a:rPr>
              <a:t>115</a:t>
            </a:r>
          </a:p>
        </p:txBody>
      </p:sp>
      <p:pic>
        <p:nvPicPr>
          <p:cNvPr id="32" name="グラフィックス 31" descr="チェック マーク 単色塗りつぶし">
            <a:extLst>
              <a:ext uri="{FF2B5EF4-FFF2-40B4-BE49-F238E27FC236}">
                <a16:creationId xmlns:a16="http://schemas.microsoft.com/office/drawing/2014/main" id="{49E5B503-DADE-6DE2-0712-52D71342A05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66369" y="3131838"/>
            <a:ext cx="370172" cy="370172"/>
          </a:xfrm>
          <a:prstGeom prst="rect">
            <a:avLst/>
          </a:prstGeom>
        </p:spPr>
      </p:pic>
      <p:sp>
        <p:nvSpPr>
          <p:cNvPr id="44" name="タイトル 43">
            <a:extLst>
              <a:ext uri="{FF2B5EF4-FFF2-40B4-BE49-F238E27FC236}">
                <a16:creationId xmlns:a16="http://schemas.microsoft.com/office/drawing/2014/main" id="{7F2C1B8E-92BF-921D-A219-1F674623353A}"/>
              </a:ext>
            </a:extLst>
          </p:cNvPr>
          <p:cNvSpPr>
            <a:spLocks noGrp="1"/>
          </p:cNvSpPr>
          <p:nvPr>
            <p:ph type="title"/>
          </p:nvPr>
        </p:nvSpPr>
        <p:spPr>
          <a:xfrm>
            <a:off x="660000" y="365508"/>
            <a:ext cx="6309211" cy="371961"/>
          </a:xfrm>
        </p:spPr>
        <p:txBody>
          <a:bodyPr>
            <a:normAutofit/>
          </a:bodyPr>
          <a:lstStyle/>
          <a:p>
            <a:r>
              <a:rPr lang="en-US" altLang="ja-JP"/>
              <a:t>3-1.</a:t>
            </a:r>
            <a:r>
              <a:rPr lang="ja-JP" altLang="en-US"/>
              <a:t>二重取引による売上の過大計上</a:t>
            </a:r>
          </a:p>
        </p:txBody>
      </p:sp>
      <p:sp>
        <p:nvSpPr>
          <p:cNvPr id="73" name="正方形/長方形 72">
            <a:extLst>
              <a:ext uri="{FF2B5EF4-FFF2-40B4-BE49-F238E27FC236}">
                <a16:creationId xmlns:a16="http://schemas.microsoft.com/office/drawing/2014/main" id="{63EBF20C-BD72-E7D1-0B6E-1CDD81D1E5EE}"/>
              </a:ext>
            </a:extLst>
          </p:cNvPr>
          <p:cNvSpPr/>
          <p:nvPr/>
        </p:nvSpPr>
        <p:spPr>
          <a:xfrm>
            <a:off x="2598683" y="4919179"/>
            <a:ext cx="1773141" cy="611079"/>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lang="ja-JP" altLang="en-US" sz="1600">
                <a:solidFill>
                  <a:schemeClr val="tx1"/>
                </a:solidFill>
                <a:latin typeface="+mn-ea"/>
              </a:rPr>
              <a:t>100</a:t>
            </a:r>
            <a:endParaRPr lang="en-US" altLang="ja-JP" sz="1600" b="0" i="0" u="none" strike="noStrike" kern="1200" cap="none" spc="0" normalizeH="0" baseline="0" noProof="0">
              <a:ln>
                <a:noFill/>
              </a:ln>
              <a:solidFill>
                <a:schemeClr val="tx1"/>
              </a:solidFill>
              <a:effectLst/>
              <a:uLnTx/>
              <a:uFillTx/>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原価：90</a:t>
            </a:r>
            <a:endParaRPr lang="en-US" altLang="ja-JP" sz="1600" b="0" i="0" u="none" strike="noStrike" kern="1200" cap="none" spc="0" normalizeH="0" baseline="0" noProof="0">
              <a:ln>
                <a:noFill/>
              </a:ln>
              <a:solidFill>
                <a:schemeClr val="tx1"/>
              </a:solidFill>
              <a:effectLst/>
              <a:uLnTx/>
              <a:uFillTx/>
              <a:latin typeface="+mn-ea"/>
            </a:endParaRPr>
          </a:p>
        </p:txBody>
      </p:sp>
      <p:sp>
        <p:nvSpPr>
          <p:cNvPr id="75" name="正方形/長方形 74">
            <a:extLst>
              <a:ext uri="{FF2B5EF4-FFF2-40B4-BE49-F238E27FC236}">
                <a16:creationId xmlns:a16="http://schemas.microsoft.com/office/drawing/2014/main" id="{7087B0F6-1978-2F03-1B85-F08B05BD799A}"/>
              </a:ext>
            </a:extLst>
          </p:cNvPr>
          <p:cNvSpPr/>
          <p:nvPr/>
        </p:nvSpPr>
        <p:spPr>
          <a:xfrm>
            <a:off x="2598683" y="4525273"/>
            <a:ext cx="1773141" cy="359066"/>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en-US" altLang="ja-JP" sz="1600" err="1">
                <a:solidFill>
                  <a:schemeClr val="bg1"/>
                </a:solidFill>
                <a:latin typeface="+mn-ea"/>
              </a:rPr>
              <a:t>新潟ガス工業</a:t>
            </a:r>
            <a:endParaRPr lang="en-US" altLang="ja-JP" sz="1600" b="0" i="0" u="none" strike="noStrike" kern="1200" cap="none" spc="0" normalizeH="0" baseline="0" noProof="0" err="1">
              <a:ln>
                <a:noFill/>
              </a:ln>
              <a:solidFill>
                <a:schemeClr val="bg1"/>
              </a:solidFill>
              <a:effectLst/>
              <a:uLnTx/>
              <a:uFillTx/>
              <a:latin typeface="+mn-ea"/>
            </a:endParaRPr>
          </a:p>
        </p:txBody>
      </p:sp>
      <p:sp>
        <p:nvSpPr>
          <p:cNvPr id="76" name="正方形/長方形 75">
            <a:extLst>
              <a:ext uri="{FF2B5EF4-FFF2-40B4-BE49-F238E27FC236}">
                <a16:creationId xmlns:a16="http://schemas.microsoft.com/office/drawing/2014/main" id="{FD5BC63D-6C7E-8BF8-194D-41BFAD3D8CEA}"/>
              </a:ext>
            </a:extLst>
          </p:cNvPr>
          <p:cNvSpPr/>
          <p:nvPr/>
        </p:nvSpPr>
        <p:spPr>
          <a:xfrm>
            <a:off x="7599403" y="4944163"/>
            <a:ext cx="1773141" cy="611079"/>
          </a:xfrm>
          <a:prstGeom prst="rect">
            <a:avLst/>
          </a:prstGeom>
          <a:solidFill>
            <a:schemeClr val="accent5"/>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lang="en-US" altLang="ja-JP" sz="1600">
                <a:solidFill>
                  <a:schemeClr val="tx1"/>
                </a:solidFill>
                <a:latin typeface="+mn-ea"/>
              </a:rPr>
              <a:t>115</a:t>
            </a:r>
            <a:endParaRPr kumimoji="1" lang="en-US" altLang="ja-JP" sz="16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105</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77" name="正方形/長方形 76">
            <a:extLst>
              <a:ext uri="{FF2B5EF4-FFF2-40B4-BE49-F238E27FC236}">
                <a16:creationId xmlns:a16="http://schemas.microsoft.com/office/drawing/2014/main" id="{9E95799D-696C-129E-D216-ECBF8FB97412}"/>
              </a:ext>
            </a:extLst>
          </p:cNvPr>
          <p:cNvSpPr/>
          <p:nvPr/>
        </p:nvSpPr>
        <p:spPr>
          <a:xfrm>
            <a:off x="7599403" y="4537765"/>
            <a:ext cx="1773141" cy="359066"/>
          </a:xfrm>
          <a:prstGeom prst="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bg1"/>
                </a:solidFill>
                <a:latin typeface="+mn-ea"/>
              </a:rPr>
              <a:t>AWI</a:t>
            </a:r>
            <a:endParaRPr lang="ja-JP" altLang="en-US" sz="1600" b="0" i="0" u="none" strike="noStrike" kern="1200" cap="none" spc="0" normalizeH="0" baseline="0" noProof="0">
              <a:ln>
                <a:noFill/>
              </a:ln>
              <a:solidFill>
                <a:schemeClr val="bg1"/>
              </a:solidFill>
              <a:effectLst/>
              <a:uLnTx/>
              <a:uFillTx/>
              <a:latin typeface="+mn-ea"/>
            </a:endParaRPr>
          </a:p>
        </p:txBody>
      </p:sp>
      <p:sp>
        <p:nvSpPr>
          <p:cNvPr id="78" name="矢印: 左右 77">
            <a:extLst>
              <a:ext uri="{FF2B5EF4-FFF2-40B4-BE49-F238E27FC236}">
                <a16:creationId xmlns:a16="http://schemas.microsoft.com/office/drawing/2014/main" id="{7AB27A89-E165-AEC2-2BC9-919C2FF96091}"/>
              </a:ext>
            </a:extLst>
          </p:cNvPr>
          <p:cNvSpPr/>
          <p:nvPr/>
        </p:nvSpPr>
        <p:spPr>
          <a:xfrm>
            <a:off x="4447264" y="4869947"/>
            <a:ext cx="3117667" cy="622097"/>
          </a:xfrm>
          <a:prstGeom prst="leftRightArrow">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各社</a:t>
            </a:r>
            <a:r>
              <a:rPr lang="ja-JP" altLang="en-US" sz="1400">
                <a:solidFill>
                  <a:schemeClr val="tx1"/>
                </a:solidFill>
                <a:latin typeface="+mn-ea"/>
              </a:rPr>
              <a:t>で</a:t>
            </a:r>
            <a:r>
              <a:rPr kumimoji="1" lang="ja-JP" altLang="en-US" sz="1400" b="0" i="0" u="none" strike="noStrike" kern="1200" cap="none" spc="0" normalizeH="0" baseline="0" noProof="0">
                <a:ln>
                  <a:noFill/>
                </a:ln>
                <a:solidFill>
                  <a:schemeClr val="tx1"/>
                </a:solidFill>
                <a:effectLst/>
                <a:uLnTx/>
                <a:uFillTx/>
                <a:latin typeface="+mn-ea"/>
                <a:cs typeface="+mn-cs"/>
              </a:rPr>
              <a:t>の</a:t>
            </a:r>
            <a:r>
              <a:rPr lang="ja-JP" altLang="en-US" sz="1400">
                <a:solidFill>
                  <a:schemeClr val="tx1"/>
                </a:solidFill>
                <a:latin typeface="+mn-ea"/>
              </a:rPr>
              <a:t>調整は不要なため、</a:t>
            </a:r>
          </a:p>
          <a:p>
            <a:pPr algn="ctr"/>
            <a:r>
              <a:rPr lang="ja-JP" altLang="en-US" sz="1400">
                <a:solidFill>
                  <a:schemeClr val="tx1"/>
                </a:solidFill>
                <a:latin typeface="+mn-ea"/>
              </a:rPr>
              <a:t>連結財務諸表上は合算され</a:t>
            </a:r>
          </a:p>
          <a:p>
            <a:pPr algn="ctr"/>
            <a:r>
              <a:rPr lang="ja-JP" altLang="en-US" sz="1400">
                <a:solidFill>
                  <a:schemeClr val="tx1"/>
                </a:solidFill>
                <a:latin typeface="+mn-ea"/>
              </a:rPr>
              <a:t>二重計上となる</a:t>
            </a:r>
          </a:p>
        </p:txBody>
      </p:sp>
      <p:sp>
        <p:nvSpPr>
          <p:cNvPr id="80" name="矢印: 下 79">
            <a:extLst>
              <a:ext uri="{FF2B5EF4-FFF2-40B4-BE49-F238E27FC236}">
                <a16:creationId xmlns:a16="http://schemas.microsoft.com/office/drawing/2014/main" id="{C3E1C9B4-3852-8A35-4F37-D2A0E1C8D9F6}"/>
              </a:ext>
            </a:extLst>
          </p:cNvPr>
          <p:cNvSpPr/>
          <p:nvPr/>
        </p:nvSpPr>
        <p:spPr>
          <a:xfrm>
            <a:off x="5461686" y="5551647"/>
            <a:ext cx="1044255" cy="411892"/>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81" name="テキスト ボックス 80">
            <a:extLst>
              <a:ext uri="{FF2B5EF4-FFF2-40B4-BE49-F238E27FC236}">
                <a16:creationId xmlns:a16="http://schemas.microsoft.com/office/drawing/2014/main" id="{FE3F4A5A-9085-E4DA-200F-213BEEB09051}"/>
              </a:ext>
            </a:extLst>
          </p:cNvPr>
          <p:cNvSpPr txBox="1"/>
          <p:nvPr/>
        </p:nvSpPr>
        <p:spPr>
          <a:xfrm>
            <a:off x="1098525" y="6000590"/>
            <a:ext cx="10409435" cy="723263"/>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連結財務諸表作成にあたり、適切に調整をする必要があるため、商流・取引金額・関連するグループ会社を</a:t>
            </a:r>
            <a:endParaRPr lang="en-US">
              <a:solidFill>
                <a:schemeClr val="accent1"/>
              </a:solidFill>
            </a:endParaRPr>
          </a:p>
          <a:p>
            <a:pPr marL="0" indent="0" algn="ctr">
              <a:buNone/>
            </a:pPr>
            <a:r>
              <a:rPr lang="en-US" altLang="ja-JP" sz="1600" b="1">
                <a:solidFill>
                  <a:schemeClr val="accent1"/>
                </a:solidFill>
              </a:rPr>
              <a:t>AWI</a:t>
            </a:r>
            <a:r>
              <a:rPr lang="ja-JP" altLang="en-US" sz="1600" b="1">
                <a:solidFill>
                  <a:schemeClr val="accent1"/>
                </a:solidFill>
              </a:rPr>
              <a:t>経理にご連絡ください</a:t>
            </a:r>
            <a:endParaRPr lang="ja-JP">
              <a:solidFill>
                <a:schemeClr val="accent1"/>
              </a:solidFill>
            </a:endParaRPr>
          </a:p>
        </p:txBody>
      </p:sp>
      <p:sp>
        <p:nvSpPr>
          <p:cNvPr id="3" name="テキスト ボックス 128">
            <a:extLst>
              <a:ext uri="{FF2B5EF4-FFF2-40B4-BE49-F238E27FC236}">
                <a16:creationId xmlns:a16="http://schemas.microsoft.com/office/drawing/2014/main" id="{E20B72A4-A121-E5AE-2644-3B9B77D4B3CF}"/>
              </a:ext>
            </a:extLst>
          </p:cNvPr>
          <p:cNvSpPr txBox="1"/>
          <p:nvPr/>
        </p:nvSpPr>
        <p:spPr>
          <a:xfrm>
            <a:off x="679838" y="1008254"/>
            <a:ext cx="11268000"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タイプ</a:t>
            </a:r>
            <a:r>
              <a:rPr lang="en-US" altLang="ja-JP" sz="1600" b="1"/>
              <a:t>C</a:t>
            </a:r>
            <a:r>
              <a:rPr lang="ja-JP" altLang="en-US" sz="1600" b="1"/>
              <a:t>：</a:t>
            </a:r>
            <a:r>
              <a:rPr lang="en-US" altLang="ja-JP" sz="1600" b="1"/>
              <a:t>AW</a:t>
            </a:r>
            <a:r>
              <a:rPr lang="ja-JP" altLang="en-US" sz="1600" b="1"/>
              <a:t>連結会社と</a:t>
            </a:r>
            <a:r>
              <a:rPr lang="en-US" altLang="ja-JP" sz="1600" b="1"/>
              <a:t>AW</a:t>
            </a:r>
            <a:r>
              <a:rPr lang="ja-JP" altLang="en-US" sz="1600" b="1"/>
              <a:t>連結会社の間に、連結外会社が挟まれるもの</a:t>
            </a:r>
            <a:r>
              <a:rPr lang="ja-JP" sz="1600" b="1"/>
              <a:t>(連結の別会社</a:t>
            </a:r>
            <a:r>
              <a:rPr lang="ja-JP" altLang="en-US" sz="1600" b="1"/>
              <a:t>間</a:t>
            </a:r>
            <a:r>
              <a:rPr lang="ja-JP" sz="1600" b="1"/>
              <a:t>の場合)</a:t>
            </a:r>
            <a:endParaRPr lang="ja-JP" altLang="en-US" sz="1600" b="1"/>
          </a:p>
        </p:txBody>
      </p:sp>
      <p:sp>
        <p:nvSpPr>
          <p:cNvPr id="5" name="正方形/長方形 129">
            <a:extLst>
              <a:ext uri="{FF2B5EF4-FFF2-40B4-BE49-F238E27FC236}">
                <a16:creationId xmlns:a16="http://schemas.microsoft.com/office/drawing/2014/main" id="{C002C0F2-5C8E-A278-B2A3-157597E9E553}"/>
              </a:ext>
            </a:extLst>
          </p:cNvPr>
          <p:cNvSpPr/>
          <p:nvPr/>
        </p:nvSpPr>
        <p:spPr>
          <a:xfrm>
            <a:off x="2825766" y="2184782"/>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t>
            </a:r>
            <a:r>
              <a:rPr lang="en-US" altLang="ja-JP" sz="1600">
                <a:solidFill>
                  <a:schemeClr val="tx1"/>
                </a:solidFill>
                <a:latin typeface="+mn-ea"/>
                <a:cs typeface="Meiryo UI" panose="020B0604030504040204" pitchFamily="50" charset="-128"/>
              </a:rPr>
              <a:t>b</a:t>
            </a:r>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新潟ガス工業</a:t>
            </a:r>
          </a:p>
        </p:txBody>
      </p:sp>
      <p:sp>
        <p:nvSpPr>
          <p:cNvPr id="7" name="正方形/長方形 130">
            <a:extLst>
              <a:ext uri="{FF2B5EF4-FFF2-40B4-BE49-F238E27FC236}">
                <a16:creationId xmlns:a16="http://schemas.microsoft.com/office/drawing/2014/main" id="{23C0D601-273D-8C9C-BA34-1BF8CC59BC25}"/>
              </a:ext>
            </a:extLst>
          </p:cNvPr>
          <p:cNvSpPr/>
          <p:nvPr/>
        </p:nvSpPr>
        <p:spPr>
          <a:xfrm>
            <a:off x="4671395" y="2184782"/>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(c)</a:t>
            </a:r>
            <a:r>
              <a:rPr lang="en-US" altLang="ja-JP" sz="1600">
                <a:solidFill>
                  <a:schemeClr val="tx1"/>
                </a:solidFill>
                <a:latin typeface="+mn-ea"/>
                <a:cs typeface="Meiryo UI" panose="020B0604030504040204" pitchFamily="50" charset="-128"/>
              </a:rPr>
              <a:t>V</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9" name="正方形/長方形 131">
            <a:extLst>
              <a:ext uri="{FF2B5EF4-FFF2-40B4-BE49-F238E27FC236}">
                <a16:creationId xmlns:a16="http://schemas.microsoft.com/office/drawing/2014/main" id="{DD094ADF-33A7-6745-F464-226772B5B5BC}"/>
              </a:ext>
            </a:extLst>
          </p:cNvPr>
          <p:cNvSpPr/>
          <p:nvPr/>
        </p:nvSpPr>
        <p:spPr>
          <a:xfrm>
            <a:off x="6517024" y="2184782"/>
            <a:ext cx="1080000" cy="504000"/>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(d)AWI</a:t>
            </a:r>
            <a:endParaRPr kumimoji="1" lang="ja-JP" altLang="en-US" sz="1600">
              <a:solidFill>
                <a:schemeClr val="tx1"/>
              </a:solidFill>
              <a:latin typeface="+mn-ea"/>
              <a:cs typeface="Meiryo UI" panose="020B0604030504040204" pitchFamily="50" charset="-128"/>
            </a:endParaRPr>
          </a:p>
        </p:txBody>
      </p:sp>
      <p:sp>
        <p:nvSpPr>
          <p:cNvPr id="12" name="正方形/長方形 132">
            <a:extLst>
              <a:ext uri="{FF2B5EF4-FFF2-40B4-BE49-F238E27FC236}">
                <a16:creationId xmlns:a16="http://schemas.microsoft.com/office/drawing/2014/main" id="{0A93B095-3B7A-A6F9-46C4-304FD12C511B}"/>
              </a:ext>
            </a:extLst>
          </p:cNvPr>
          <p:cNvSpPr/>
          <p:nvPr/>
        </p:nvSpPr>
        <p:spPr>
          <a:xfrm>
            <a:off x="8362653" y="2184782"/>
            <a:ext cx="1080000" cy="50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(e)AW</a:t>
            </a:r>
            <a:r>
              <a:rPr lang="ja-JP" altLang="en-US" sz="1600">
                <a:solidFill>
                  <a:schemeClr val="tx1"/>
                </a:solidFill>
                <a:latin typeface="+mn-ea"/>
                <a:cs typeface="Meiryo UI" panose="020B0604030504040204" pitchFamily="50" charset="-128"/>
              </a:rPr>
              <a:t>東日本</a:t>
            </a:r>
            <a:endParaRPr kumimoji="1" lang="ja-JP" altLang="en-US" sz="1600">
              <a:solidFill>
                <a:schemeClr val="tx1"/>
              </a:solidFill>
              <a:latin typeface="+mn-ea"/>
              <a:cs typeface="Meiryo UI" panose="020B0604030504040204" pitchFamily="50" charset="-128"/>
            </a:endParaRPr>
          </a:p>
        </p:txBody>
      </p:sp>
      <p:sp>
        <p:nvSpPr>
          <p:cNvPr id="14" name="正方形/長方形 133">
            <a:extLst>
              <a:ext uri="{FF2B5EF4-FFF2-40B4-BE49-F238E27FC236}">
                <a16:creationId xmlns:a16="http://schemas.microsoft.com/office/drawing/2014/main" id="{9D064950-E241-D235-31A5-45CC196E5C26}"/>
              </a:ext>
            </a:extLst>
          </p:cNvPr>
          <p:cNvSpPr/>
          <p:nvPr/>
        </p:nvSpPr>
        <p:spPr>
          <a:xfrm>
            <a:off x="10208282" y="2184782"/>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(f)W</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16" name="テキスト プレースホルダー 3">
            <a:extLst>
              <a:ext uri="{FF2B5EF4-FFF2-40B4-BE49-F238E27FC236}">
                <a16:creationId xmlns:a16="http://schemas.microsoft.com/office/drawing/2014/main" id="{BDBA9F45-8E1C-6EC0-4005-094BC67D8A1B}"/>
              </a:ext>
            </a:extLst>
          </p:cNvPr>
          <p:cNvSpPr txBox="1">
            <a:spLocks/>
          </p:cNvSpPr>
          <p:nvPr/>
        </p:nvSpPr>
        <p:spPr>
          <a:xfrm>
            <a:off x="839157" y="1241924"/>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外部仕入先</a:t>
            </a:r>
          </a:p>
        </p:txBody>
      </p:sp>
      <p:sp>
        <p:nvSpPr>
          <p:cNvPr id="18" name="テキスト プレースホルダー 3">
            <a:extLst>
              <a:ext uri="{FF2B5EF4-FFF2-40B4-BE49-F238E27FC236}">
                <a16:creationId xmlns:a16="http://schemas.microsoft.com/office/drawing/2014/main" id="{41CD68BB-D402-D34A-16C4-707D60440609}"/>
              </a:ext>
            </a:extLst>
          </p:cNvPr>
          <p:cNvSpPr txBox="1">
            <a:spLocks/>
          </p:cNvSpPr>
          <p:nvPr/>
        </p:nvSpPr>
        <p:spPr>
          <a:xfrm>
            <a:off x="2717766" y="1789246"/>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20" name="テキスト プレースホルダー 3">
            <a:extLst>
              <a:ext uri="{FF2B5EF4-FFF2-40B4-BE49-F238E27FC236}">
                <a16:creationId xmlns:a16="http://schemas.microsoft.com/office/drawing/2014/main" id="{C1E1B39C-09FC-3CC6-C780-AE585D11C9BB}"/>
              </a:ext>
            </a:extLst>
          </p:cNvPr>
          <p:cNvSpPr txBox="1">
            <a:spLocks/>
          </p:cNvSpPr>
          <p:nvPr/>
        </p:nvSpPr>
        <p:spPr>
          <a:xfrm>
            <a:off x="10208282" y="1789246"/>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22" name="テキスト プレースホルダー 3">
            <a:extLst>
              <a:ext uri="{FF2B5EF4-FFF2-40B4-BE49-F238E27FC236}">
                <a16:creationId xmlns:a16="http://schemas.microsoft.com/office/drawing/2014/main" id="{F0B1B84A-82A4-36D0-98B5-BDADB7BFC0CA}"/>
              </a:ext>
            </a:extLst>
          </p:cNvPr>
          <p:cNvSpPr txBox="1">
            <a:spLocks/>
          </p:cNvSpPr>
          <p:nvPr/>
        </p:nvSpPr>
        <p:spPr>
          <a:xfrm>
            <a:off x="8232920" y="1789246"/>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連結子会社</a:t>
            </a:r>
          </a:p>
        </p:txBody>
      </p:sp>
      <p:sp>
        <p:nvSpPr>
          <p:cNvPr id="24" name="テキスト プレースホルダー 3">
            <a:extLst>
              <a:ext uri="{FF2B5EF4-FFF2-40B4-BE49-F238E27FC236}">
                <a16:creationId xmlns:a16="http://schemas.microsoft.com/office/drawing/2014/main" id="{D3B79D97-44BF-DD02-3098-4A9EDA4A098D}"/>
              </a:ext>
            </a:extLst>
          </p:cNvPr>
          <p:cNvSpPr txBox="1">
            <a:spLocks/>
          </p:cNvSpPr>
          <p:nvPr/>
        </p:nvSpPr>
        <p:spPr>
          <a:xfrm>
            <a:off x="4455395" y="1241521"/>
            <a:ext cx="1512000" cy="504000"/>
          </a:xfrm>
          <a:prstGeom prst="rect">
            <a:avLst/>
          </a:prstGeom>
        </p:spPr>
        <p:txBody>
          <a:bodyPr vert="horz" lIns="91440" tIns="45720" rIns="91440" bIns="45720" rtlCol="0" anchor="b">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外部業者</a:t>
            </a:r>
          </a:p>
        </p:txBody>
      </p:sp>
      <p:sp>
        <p:nvSpPr>
          <p:cNvPr id="26" name="テキスト プレースホルダー 3">
            <a:extLst>
              <a:ext uri="{FF2B5EF4-FFF2-40B4-BE49-F238E27FC236}">
                <a16:creationId xmlns:a16="http://schemas.microsoft.com/office/drawing/2014/main" id="{756EB5EA-AA11-D04E-2BC4-2826C3172710}"/>
              </a:ext>
            </a:extLst>
          </p:cNvPr>
          <p:cNvSpPr txBox="1">
            <a:spLocks/>
          </p:cNvSpPr>
          <p:nvPr/>
        </p:nvSpPr>
        <p:spPr>
          <a:xfrm>
            <a:off x="9938282" y="1241924"/>
            <a:ext cx="1620000" cy="504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外部供給先</a:t>
            </a:r>
            <a:br>
              <a:rPr lang="en-US" altLang="ja-JP" sz="1600" b="0">
                <a:solidFill>
                  <a:schemeClr val="tx1"/>
                </a:solidFill>
              </a:rPr>
            </a:br>
            <a:r>
              <a:rPr lang="ja-JP" altLang="en-US" sz="1600" b="0">
                <a:solidFill>
                  <a:schemeClr val="tx1"/>
                </a:solidFill>
              </a:rPr>
              <a:t>エンドユーザー</a:t>
            </a:r>
          </a:p>
        </p:txBody>
      </p:sp>
      <p:cxnSp>
        <p:nvCxnSpPr>
          <p:cNvPr id="28" name="直線矢印コネクタ 141">
            <a:extLst>
              <a:ext uri="{FF2B5EF4-FFF2-40B4-BE49-F238E27FC236}">
                <a16:creationId xmlns:a16="http://schemas.microsoft.com/office/drawing/2014/main" id="{76F660E1-1CF4-BE95-3609-067593E5873B}"/>
              </a:ext>
            </a:extLst>
          </p:cNvPr>
          <p:cNvCxnSpPr>
            <a:cxnSpLocks/>
          </p:cNvCxnSpPr>
          <p:nvPr/>
        </p:nvCxnSpPr>
        <p:spPr>
          <a:xfrm>
            <a:off x="3905766" y="2436781"/>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142">
            <a:extLst>
              <a:ext uri="{FF2B5EF4-FFF2-40B4-BE49-F238E27FC236}">
                <a16:creationId xmlns:a16="http://schemas.microsoft.com/office/drawing/2014/main" id="{4E07C327-CC3D-60C3-A07B-88BA9FC55C67}"/>
              </a:ext>
            </a:extLst>
          </p:cNvPr>
          <p:cNvCxnSpPr>
            <a:cxnSpLocks/>
          </p:cNvCxnSpPr>
          <p:nvPr/>
        </p:nvCxnSpPr>
        <p:spPr>
          <a:xfrm>
            <a:off x="5751395" y="2436781"/>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143">
            <a:extLst>
              <a:ext uri="{FF2B5EF4-FFF2-40B4-BE49-F238E27FC236}">
                <a16:creationId xmlns:a16="http://schemas.microsoft.com/office/drawing/2014/main" id="{5E85F07D-E567-A8EB-800E-74999A66ACB7}"/>
              </a:ext>
            </a:extLst>
          </p:cNvPr>
          <p:cNvCxnSpPr>
            <a:cxnSpLocks/>
          </p:cNvCxnSpPr>
          <p:nvPr/>
        </p:nvCxnSpPr>
        <p:spPr>
          <a:xfrm>
            <a:off x="7597024" y="2436781"/>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144">
            <a:extLst>
              <a:ext uri="{FF2B5EF4-FFF2-40B4-BE49-F238E27FC236}">
                <a16:creationId xmlns:a16="http://schemas.microsoft.com/office/drawing/2014/main" id="{6B8B9749-01FE-8392-13C5-99D425D6D151}"/>
              </a:ext>
            </a:extLst>
          </p:cNvPr>
          <p:cNvCxnSpPr>
            <a:cxnSpLocks/>
          </p:cNvCxnSpPr>
          <p:nvPr/>
        </p:nvCxnSpPr>
        <p:spPr>
          <a:xfrm>
            <a:off x="9442653" y="2436781"/>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149">
            <a:extLst>
              <a:ext uri="{FF2B5EF4-FFF2-40B4-BE49-F238E27FC236}">
                <a16:creationId xmlns:a16="http://schemas.microsoft.com/office/drawing/2014/main" id="{5FB3D3DD-B709-FE14-961C-FCE421935514}"/>
              </a:ext>
            </a:extLst>
          </p:cNvPr>
          <p:cNvSpPr/>
          <p:nvPr/>
        </p:nvSpPr>
        <p:spPr>
          <a:xfrm>
            <a:off x="980137" y="2184782"/>
            <a:ext cx="1080000" cy="504000"/>
          </a:xfrm>
          <a:prstGeom prst="rect">
            <a:avLst/>
          </a:prstGeom>
          <a:solidFill>
            <a:schemeClr val="bg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(a)Z</a:t>
            </a:r>
            <a:r>
              <a:rPr kumimoji="1" lang="ja-JP" altLang="en-US" sz="1600">
                <a:solidFill>
                  <a:schemeClr val="tx1"/>
                </a:solidFill>
                <a:latin typeface="+mn-ea"/>
                <a:cs typeface="Meiryo UI" panose="020B0604030504040204" pitchFamily="50" charset="-128"/>
              </a:rPr>
              <a:t>社</a:t>
            </a:r>
          </a:p>
        </p:txBody>
      </p:sp>
      <p:sp>
        <p:nvSpPr>
          <p:cNvPr id="40" name="テキスト プレースホルダー 3">
            <a:extLst>
              <a:ext uri="{FF2B5EF4-FFF2-40B4-BE49-F238E27FC236}">
                <a16:creationId xmlns:a16="http://schemas.microsoft.com/office/drawing/2014/main" id="{CA87A00B-99D3-1FDB-5CBB-A7DD948CDD4E}"/>
              </a:ext>
            </a:extLst>
          </p:cNvPr>
          <p:cNvSpPr txBox="1">
            <a:spLocks/>
          </p:cNvSpPr>
          <p:nvPr/>
        </p:nvSpPr>
        <p:spPr>
          <a:xfrm>
            <a:off x="6409024" y="1789246"/>
            <a:ext cx="1296000" cy="326509"/>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連結親会社</a:t>
            </a:r>
          </a:p>
        </p:txBody>
      </p:sp>
      <p:cxnSp>
        <p:nvCxnSpPr>
          <p:cNvPr id="42" name="直線矢印コネクタ 151">
            <a:extLst>
              <a:ext uri="{FF2B5EF4-FFF2-40B4-BE49-F238E27FC236}">
                <a16:creationId xmlns:a16="http://schemas.microsoft.com/office/drawing/2014/main" id="{D99EFB0B-07FF-CA0B-A4B7-766891592159}"/>
              </a:ext>
            </a:extLst>
          </p:cNvPr>
          <p:cNvCxnSpPr>
            <a:cxnSpLocks/>
          </p:cNvCxnSpPr>
          <p:nvPr/>
        </p:nvCxnSpPr>
        <p:spPr>
          <a:xfrm>
            <a:off x="2060137" y="2436781"/>
            <a:ext cx="765629"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45" name="テキスト プレースホルダー 3">
            <a:extLst>
              <a:ext uri="{FF2B5EF4-FFF2-40B4-BE49-F238E27FC236}">
                <a16:creationId xmlns:a16="http://schemas.microsoft.com/office/drawing/2014/main" id="{D081E8C6-8B65-1EAD-C14A-6580D1E5E76B}"/>
              </a:ext>
            </a:extLst>
          </p:cNvPr>
          <p:cNvSpPr txBox="1">
            <a:spLocks/>
          </p:cNvSpPr>
          <p:nvPr/>
        </p:nvSpPr>
        <p:spPr>
          <a:xfrm>
            <a:off x="993591" y="1783674"/>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68" name="テキスト プレースホルダー 3">
            <a:extLst>
              <a:ext uri="{FF2B5EF4-FFF2-40B4-BE49-F238E27FC236}">
                <a16:creationId xmlns:a16="http://schemas.microsoft.com/office/drawing/2014/main" id="{592D6386-8A2D-EC1C-81ED-E80112A2CA85}"/>
              </a:ext>
            </a:extLst>
          </p:cNvPr>
          <p:cNvSpPr txBox="1">
            <a:spLocks/>
          </p:cNvSpPr>
          <p:nvPr/>
        </p:nvSpPr>
        <p:spPr>
          <a:xfrm>
            <a:off x="4689179" y="1783674"/>
            <a:ext cx="1080000" cy="326509"/>
          </a:xfrm>
          <a:prstGeom prst="rect">
            <a:avLst/>
          </a:prstGeom>
          <a:solidFill>
            <a:schemeClr val="bg2"/>
          </a:solidFill>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ctr"/>
            <a:r>
              <a:rPr lang="ja-JP" altLang="en-US" sz="1600" b="0">
                <a:solidFill>
                  <a:schemeClr val="tx1"/>
                </a:solidFill>
              </a:rPr>
              <a:t>連結外</a:t>
            </a:r>
          </a:p>
        </p:txBody>
      </p:sp>
      <p:sp>
        <p:nvSpPr>
          <p:cNvPr id="83" name="正方形/長方形 155">
            <a:extLst>
              <a:ext uri="{FF2B5EF4-FFF2-40B4-BE49-F238E27FC236}">
                <a16:creationId xmlns:a16="http://schemas.microsoft.com/office/drawing/2014/main" id="{D11C386F-FCA2-DA91-8161-5B7F7CAABB88}"/>
              </a:ext>
            </a:extLst>
          </p:cNvPr>
          <p:cNvSpPr/>
          <p:nvPr/>
        </p:nvSpPr>
        <p:spPr>
          <a:xfrm>
            <a:off x="2598683" y="2148336"/>
            <a:ext cx="5106341" cy="765839"/>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85" name="Oval 66">
            <a:extLst>
              <a:ext uri="{FF2B5EF4-FFF2-40B4-BE49-F238E27FC236}">
                <a16:creationId xmlns:a16="http://schemas.microsoft.com/office/drawing/2014/main" id="{2AD14E45-7DED-0DBE-AE77-E540032C6626}"/>
              </a:ext>
            </a:extLst>
          </p:cNvPr>
          <p:cNvSpPr>
            <a:spLocks noChangeArrowheads="1"/>
          </p:cNvSpPr>
          <p:nvPr/>
        </p:nvSpPr>
        <p:spPr bwMode="gray">
          <a:xfrm>
            <a:off x="4108241" y="2488486"/>
            <a:ext cx="360678" cy="360678"/>
          </a:xfrm>
          <a:prstGeom prst="ellipse">
            <a:avLst/>
          </a:prstGeom>
          <a:solidFill>
            <a:srgbClr val="FF0000"/>
          </a:solidFill>
          <a:ln w="12700" algn="ctr">
            <a:noFill/>
            <a:round/>
            <a:headEnd type="none" w="sm" len="sm"/>
            <a:tailEnd type="none" w="med" len="lg"/>
          </a:ln>
          <a:effectLst/>
        </p:spPr>
        <p:txBody>
          <a:bodyPr wrap="none" lIns="0" tIns="0" rIns="0" bIns="0" anchor="ctr"/>
          <a:lstStyle/>
          <a:p>
            <a:pPr marL="12700" indent="-12700" algn="ctr" eaLnBrk="0" hangingPunct="0">
              <a:lnSpc>
                <a:spcPct val="110000"/>
              </a:lnSpc>
              <a:defRPr/>
            </a:pPr>
            <a:r>
              <a:rPr kumimoji="0" lang="en-US" altLang="ja-JP" sz="1600" b="1">
                <a:solidFill>
                  <a:schemeClr val="bg1"/>
                </a:solidFill>
                <a:latin typeface="+mn-lt"/>
                <a:cs typeface="+mn-cs"/>
                <a:sym typeface="+mn-lt"/>
              </a:rPr>
              <a:t>1</a:t>
            </a:r>
          </a:p>
        </p:txBody>
      </p:sp>
      <p:sp>
        <p:nvSpPr>
          <p:cNvPr id="91" name="正方形/長方形 68">
            <a:extLst>
              <a:ext uri="{FF2B5EF4-FFF2-40B4-BE49-F238E27FC236}">
                <a16:creationId xmlns:a16="http://schemas.microsoft.com/office/drawing/2014/main" id="{6FA2713B-6B7A-27BD-700F-F8DA0185EEFF}"/>
              </a:ext>
            </a:extLst>
          </p:cNvPr>
          <p:cNvSpPr/>
          <p:nvPr/>
        </p:nvSpPr>
        <p:spPr>
          <a:xfrm>
            <a:off x="2175574" y="1607340"/>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200">
                <a:solidFill>
                  <a:schemeClr val="tx1"/>
                </a:solidFill>
                <a:latin typeface="+mn-ea"/>
              </a:rPr>
              <a:t>仕入</a:t>
            </a:r>
            <a:endParaRPr lang="ja-JP" altLang="en-US" sz="1200" b="0" i="0" u="none" strike="noStrike" kern="1200" cap="none" spc="0" normalizeH="0" baseline="0" noProof="0">
              <a:ln>
                <a:noFill/>
              </a:ln>
              <a:solidFill>
                <a:schemeClr val="tx1"/>
              </a:solidFill>
              <a:effectLst/>
              <a:uLnTx/>
              <a:uFillTx/>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90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93" name="正方形/長方形 69">
            <a:extLst>
              <a:ext uri="{FF2B5EF4-FFF2-40B4-BE49-F238E27FC236}">
                <a16:creationId xmlns:a16="http://schemas.microsoft.com/office/drawing/2014/main" id="{CD5C0843-2FA7-B28F-EC3C-55C2148A9046}"/>
              </a:ext>
            </a:extLst>
          </p:cNvPr>
          <p:cNvSpPr/>
          <p:nvPr/>
        </p:nvSpPr>
        <p:spPr>
          <a:xfrm>
            <a:off x="4021315" y="1619831"/>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100</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95" name="正方形/長方形 69">
            <a:extLst>
              <a:ext uri="{FF2B5EF4-FFF2-40B4-BE49-F238E27FC236}">
                <a16:creationId xmlns:a16="http://schemas.microsoft.com/office/drawing/2014/main" id="{D341DFE1-EE1E-955B-53C6-29E131B21532}"/>
              </a:ext>
            </a:extLst>
          </p:cNvPr>
          <p:cNvSpPr/>
          <p:nvPr/>
        </p:nvSpPr>
        <p:spPr>
          <a:xfrm>
            <a:off x="5870102" y="1619831"/>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200">
                <a:solidFill>
                  <a:schemeClr val="tx1"/>
                </a:solidFill>
                <a:latin typeface="+mn-ea"/>
              </a:rPr>
              <a:t>仕入</a:t>
            </a:r>
            <a:endParaRPr lang="ja-JP" altLang="en-US" sz="1200" b="0" i="0" u="none" strike="noStrike" kern="1200" cap="none" spc="0" normalizeH="0" baseline="0" noProof="0">
              <a:ln>
                <a:noFill/>
              </a:ln>
              <a:solidFill>
                <a:schemeClr val="tx1"/>
              </a:solidFill>
              <a:effectLst/>
              <a:uLnTx/>
              <a:uFillTx/>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en-US" altLang="ja-JP" sz="1200">
                <a:solidFill>
                  <a:schemeClr val="tx1"/>
                </a:solidFill>
                <a:latin typeface="+mn-ea"/>
              </a:rPr>
              <a:t>10５</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
        <p:nvSpPr>
          <p:cNvPr id="97" name="正方形/長方形 71">
            <a:extLst>
              <a:ext uri="{FF2B5EF4-FFF2-40B4-BE49-F238E27FC236}">
                <a16:creationId xmlns:a16="http://schemas.microsoft.com/office/drawing/2014/main" id="{ACC48ABE-0721-B070-7909-68E6C34AD8F8}"/>
              </a:ext>
            </a:extLst>
          </p:cNvPr>
          <p:cNvSpPr/>
          <p:nvPr/>
        </p:nvSpPr>
        <p:spPr>
          <a:xfrm>
            <a:off x="7727209" y="1694782"/>
            <a:ext cx="526746" cy="50399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200" b="0" i="0" u="none" strike="noStrike" kern="1200" cap="none" spc="0" normalizeH="0" baseline="0" noProof="0">
                <a:ln>
                  <a:noFill/>
                </a:ln>
                <a:solidFill>
                  <a:schemeClr val="tx1"/>
                </a:solidFill>
                <a:effectLst/>
                <a:uLnTx/>
                <a:uFillTx/>
                <a:latin typeface="+mn-ea"/>
                <a:cs typeface="+mn-cs"/>
              </a:rPr>
              <a:t>売上</a:t>
            </a:r>
            <a:endParaRPr kumimoji="1" lang="en-US" altLang="ja-JP" sz="12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200" b="0" i="0" u="none" strike="noStrike" kern="1200" cap="none" spc="0" normalizeH="0" baseline="0" noProof="0">
                <a:ln>
                  <a:noFill/>
                </a:ln>
                <a:solidFill>
                  <a:schemeClr val="tx1"/>
                </a:solidFill>
                <a:effectLst/>
                <a:uLnTx/>
                <a:uFillTx/>
                <a:latin typeface="+mn-ea"/>
                <a:cs typeface="+mn-cs"/>
              </a:rPr>
              <a:t>115</a:t>
            </a:r>
            <a:endParaRPr kumimoji="1" lang="ja-JP" altLang="en-US" sz="1200" b="0" i="0" u="none" strike="noStrike" kern="1200" cap="none" spc="0" normalizeH="0" baseline="0" noProof="0">
              <a:ln>
                <a:noFill/>
              </a:ln>
              <a:solidFill>
                <a:schemeClr val="tx1"/>
              </a:solidFill>
              <a:effectLst/>
              <a:uLnTx/>
              <a:uFillTx/>
              <a:latin typeface="+mn-ea"/>
              <a:cs typeface="+mn-cs"/>
            </a:endParaRPr>
          </a:p>
        </p:txBody>
      </p:sp>
    </p:spTree>
    <p:extLst>
      <p:ext uri="{BB962C8B-B14F-4D97-AF65-F5344CB8AC3E}">
        <p14:creationId xmlns:p14="http://schemas.microsoft.com/office/powerpoint/2010/main" val="3173003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DCFCD-93EA-0082-184D-59585D76803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347F1B9-C2FE-0718-4C26-CF3BD7C2F469}"/>
              </a:ext>
            </a:extLst>
          </p:cNvPr>
          <p:cNvSpPr>
            <a:spLocks noGrp="1"/>
          </p:cNvSpPr>
          <p:nvPr>
            <p:ph type="title"/>
          </p:nvPr>
        </p:nvSpPr>
        <p:spPr/>
        <p:txBody>
          <a:bodyPr>
            <a:normAutofit/>
          </a:bodyPr>
          <a:lstStyle/>
          <a:p>
            <a:r>
              <a:rPr lang="en-US" altLang="ja-JP"/>
              <a:t>3-2.</a:t>
            </a:r>
            <a:r>
              <a:rPr lang="ja-JP" altLang="en-US"/>
              <a:t>スルー取引による売上の過大計上</a:t>
            </a:r>
            <a:endParaRPr lang="ja-JP" altLang="en-US">
              <a:cs typeface="Segoe UI"/>
            </a:endParaRPr>
          </a:p>
        </p:txBody>
      </p:sp>
      <p:sp>
        <p:nvSpPr>
          <p:cNvPr id="2" name="正方形/長方形 1">
            <a:extLst>
              <a:ext uri="{FF2B5EF4-FFF2-40B4-BE49-F238E27FC236}">
                <a16:creationId xmlns:a16="http://schemas.microsoft.com/office/drawing/2014/main" id="{34492CDE-0AE5-818E-F8AA-CEB4B9C7A988}"/>
              </a:ext>
            </a:extLst>
          </p:cNvPr>
          <p:cNvSpPr/>
          <p:nvPr/>
        </p:nvSpPr>
        <p:spPr bwMode="gray">
          <a:xfrm>
            <a:off x="2127658" y="1694300"/>
            <a:ext cx="9720000" cy="115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グループ外の</a:t>
            </a:r>
            <a:r>
              <a:rPr lang="en-US" altLang="ja-JP" sz="1400">
                <a:solidFill>
                  <a:prstClr val="black"/>
                </a:solidFill>
                <a:latin typeface="+mn-ea"/>
              </a:rPr>
              <a:t>S</a:t>
            </a:r>
            <a:r>
              <a:rPr lang="ja-JP" altLang="en-US" sz="1400">
                <a:solidFill>
                  <a:prstClr val="black"/>
                </a:solidFill>
                <a:latin typeface="+mn-ea"/>
              </a:rPr>
              <a:t>社と仕入業者との商流の間にエコロッカを介入させることで、エコロッカは、付加価値の増加を伴わず帳簿上を通過するだけの取引</a:t>
            </a:r>
            <a:r>
              <a:rPr lang="en-US" altLang="ja-JP" sz="1400">
                <a:solidFill>
                  <a:prstClr val="black"/>
                </a:solidFill>
                <a:latin typeface="+mn-ea"/>
              </a:rPr>
              <a:t>(=</a:t>
            </a:r>
            <a:r>
              <a:rPr lang="ja-JP" altLang="en-US" sz="1400">
                <a:solidFill>
                  <a:prstClr val="black"/>
                </a:solidFill>
                <a:latin typeface="+mn-ea"/>
              </a:rPr>
              <a:t>スルー取引</a:t>
            </a:r>
            <a:r>
              <a:rPr lang="en-US" altLang="ja-JP" sz="1400">
                <a:solidFill>
                  <a:prstClr val="black"/>
                </a:solidFill>
                <a:latin typeface="+mn-ea"/>
              </a:rPr>
              <a:t>)</a:t>
            </a:r>
            <a:r>
              <a:rPr lang="ja-JP" altLang="en-US" sz="1400">
                <a:solidFill>
                  <a:prstClr val="black"/>
                </a:solidFill>
                <a:latin typeface="+mn-ea"/>
              </a:rPr>
              <a:t>でありながら、当該仕入業者からの仕入と</a:t>
            </a:r>
            <a:r>
              <a:rPr lang="en-US" altLang="ja-JP" sz="1400">
                <a:solidFill>
                  <a:prstClr val="black"/>
                </a:solidFill>
                <a:latin typeface="+mn-ea"/>
              </a:rPr>
              <a:t>S</a:t>
            </a:r>
            <a:r>
              <a:rPr lang="ja-JP" altLang="en-US" sz="1400">
                <a:solidFill>
                  <a:prstClr val="black"/>
                </a:solidFill>
                <a:latin typeface="+mn-ea"/>
              </a:rPr>
              <a:t>社への売上を計上していた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また、</a:t>
            </a:r>
            <a:r>
              <a:rPr lang="en-US" altLang="ja-JP" sz="1400">
                <a:solidFill>
                  <a:prstClr val="black"/>
                </a:solidFill>
                <a:latin typeface="+mn-ea"/>
              </a:rPr>
              <a:t>S</a:t>
            </a:r>
            <a:r>
              <a:rPr lang="ja-JP" altLang="en-US" sz="1400">
                <a:solidFill>
                  <a:prstClr val="black"/>
                </a:solidFill>
                <a:latin typeface="+mn-ea"/>
              </a:rPr>
              <a:t>社以外の会社との取引で、エコロッカによる代理人取引として、本来は仲介手数料相当額のみを純額で売上計上すべきところを、売上と仕入を総額で計上していた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E3E7A260-B548-7B38-229C-CDFBFED9E2BA}"/>
              </a:ext>
            </a:extLst>
          </p:cNvPr>
          <p:cNvSpPr/>
          <p:nvPr/>
        </p:nvSpPr>
        <p:spPr bwMode="gray">
          <a:xfrm>
            <a:off x="507602" y="1694300"/>
            <a:ext cx="1260000" cy="115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12" name="正方形/長方形 11">
            <a:extLst>
              <a:ext uri="{FF2B5EF4-FFF2-40B4-BE49-F238E27FC236}">
                <a16:creationId xmlns:a16="http://schemas.microsoft.com/office/drawing/2014/main" id="{978868A9-2B88-B921-ECAD-6B69CE59AA67}"/>
              </a:ext>
            </a:extLst>
          </p:cNvPr>
          <p:cNvSpPr/>
          <p:nvPr/>
        </p:nvSpPr>
        <p:spPr>
          <a:xfrm>
            <a:off x="1082304" y="2931398"/>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仕入業者</a:t>
            </a:r>
            <a:endParaRPr kumimoji="1" lang="ja-JP" altLang="en-US" sz="1600">
              <a:solidFill>
                <a:schemeClr val="tx1"/>
              </a:solidFill>
              <a:latin typeface="+mn-ea"/>
              <a:cs typeface="Meiryo UI" panose="020B0604030504040204" pitchFamily="50" charset="-128"/>
            </a:endParaRPr>
          </a:p>
        </p:txBody>
      </p:sp>
      <p:cxnSp>
        <p:nvCxnSpPr>
          <p:cNvPr id="15" name="直線矢印コネクタ 14">
            <a:extLst>
              <a:ext uri="{FF2B5EF4-FFF2-40B4-BE49-F238E27FC236}">
                <a16:creationId xmlns:a16="http://schemas.microsoft.com/office/drawing/2014/main" id="{899973CD-0C2A-1544-9939-F809E57E1460}"/>
              </a:ext>
            </a:extLst>
          </p:cNvPr>
          <p:cNvCxnSpPr>
            <a:cxnSpLocks/>
            <a:stCxn id="12" idx="3"/>
            <a:endCxn id="17" idx="1"/>
          </p:cNvCxnSpPr>
          <p:nvPr/>
        </p:nvCxnSpPr>
        <p:spPr>
          <a:xfrm>
            <a:off x="2882304" y="3190120"/>
            <a:ext cx="231369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A16C6855-A449-A488-DA53-93FBFB5CC9B2}"/>
              </a:ext>
            </a:extLst>
          </p:cNvPr>
          <p:cNvSpPr/>
          <p:nvPr/>
        </p:nvSpPr>
        <p:spPr>
          <a:xfrm>
            <a:off x="5196000" y="2931398"/>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エコロッカ</a:t>
            </a:r>
            <a:endParaRPr kumimoji="1" lang="ja-JP" altLang="en-US" sz="1600">
              <a:solidFill>
                <a:schemeClr val="tx1"/>
              </a:solidFill>
              <a:latin typeface="+mn-ea"/>
              <a:cs typeface="Meiryo UI" panose="020B0604030504040204" pitchFamily="50" charset="-128"/>
            </a:endParaRPr>
          </a:p>
        </p:txBody>
      </p:sp>
      <p:sp>
        <p:nvSpPr>
          <p:cNvPr id="18" name="正方形/長方形 17">
            <a:extLst>
              <a:ext uri="{FF2B5EF4-FFF2-40B4-BE49-F238E27FC236}">
                <a16:creationId xmlns:a16="http://schemas.microsoft.com/office/drawing/2014/main" id="{21A29891-C0E4-6413-4E48-900EEB49E7F9}"/>
              </a:ext>
            </a:extLst>
          </p:cNvPr>
          <p:cNvSpPr/>
          <p:nvPr/>
        </p:nvSpPr>
        <p:spPr>
          <a:xfrm>
            <a:off x="9309696" y="2931398"/>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S</a:t>
            </a:r>
            <a:r>
              <a:rPr kumimoji="1" lang="ja-JP" altLang="en-US" sz="1600">
                <a:solidFill>
                  <a:schemeClr val="tx1"/>
                </a:solidFill>
                <a:latin typeface="+mn-ea"/>
                <a:cs typeface="Meiryo UI" panose="020B0604030504040204" pitchFamily="50" charset="-128"/>
              </a:rPr>
              <a:t>社</a:t>
            </a:r>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その他</a:t>
            </a:r>
            <a:endParaRPr kumimoji="1" lang="en-US" altLang="ja-JP" sz="1600">
              <a:solidFill>
                <a:schemeClr val="tx1"/>
              </a:solidFill>
              <a:latin typeface="+mn-ea"/>
              <a:cs typeface="Meiryo UI" panose="020B0604030504040204" pitchFamily="50" charset="-128"/>
            </a:endParaRPr>
          </a:p>
          <a:p>
            <a:pPr algn="ctr" eaLnBrk="1" hangingPunct="1"/>
            <a:r>
              <a:rPr lang="en-US" altLang="ja-JP" sz="1600">
                <a:solidFill>
                  <a:schemeClr val="tx1"/>
                </a:solidFill>
                <a:latin typeface="+mn-ea"/>
                <a:cs typeface="Meiryo UI" panose="020B0604030504040204" pitchFamily="50" charset="-128"/>
              </a:rPr>
              <a:t>(AW</a:t>
            </a:r>
            <a:r>
              <a:rPr lang="ja-JP" altLang="en-US" sz="1600">
                <a:solidFill>
                  <a:schemeClr val="tx1"/>
                </a:solidFill>
                <a:latin typeface="+mn-ea"/>
                <a:cs typeface="Meiryo UI" panose="020B0604030504040204" pitchFamily="50" charset="-128"/>
              </a:rPr>
              <a:t>グループ外</a:t>
            </a:r>
            <a:r>
              <a:rPr lang="en-US" altLang="ja-JP" sz="1600">
                <a:solidFill>
                  <a:schemeClr val="tx1"/>
                </a:solidFill>
                <a:latin typeface="+mn-ea"/>
                <a:cs typeface="Meiryo UI" panose="020B0604030504040204" pitchFamily="50" charset="-128"/>
              </a:rPr>
              <a:t>)</a:t>
            </a:r>
            <a:endParaRPr kumimoji="1" lang="ja-JP" altLang="en-US" sz="1600">
              <a:solidFill>
                <a:schemeClr val="tx1"/>
              </a:solidFill>
              <a:latin typeface="+mn-ea"/>
              <a:cs typeface="Meiryo UI" panose="020B0604030504040204" pitchFamily="50" charset="-128"/>
            </a:endParaRPr>
          </a:p>
        </p:txBody>
      </p:sp>
      <p:cxnSp>
        <p:nvCxnSpPr>
          <p:cNvPr id="19" name="直線矢印コネクタ 18">
            <a:extLst>
              <a:ext uri="{FF2B5EF4-FFF2-40B4-BE49-F238E27FC236}">
                <a16:creationId xmlns:a16="http://schemas.microsoft.com/office/drawing/2014/main" id="{891119D1-B262-4F35-AF43-81DABAB21DD3}"/>
              </a:ext>
            </a:extLst>
          </p:cNvPr>
          <p:cNvCxnSpPr>
            <a:cxnSpLocks/>
            <a:stCxn id="17" idx="3"/>
            <a:endCxn id="18" idx="1"/>
          </p:cNvCxnSpPr>
          <p:nvPr/>
        </p:nvCxnSpPr>
        <p:spPr>
          <a:xfrm>
            <a:off x="6996000" y="3190120"/>
            <a:ext cx="231369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7" name="テキスト プレースホルダー 3">
            <a:extLst>
              <a:ext uri="{FF2B5EF4-FFF2-40B4-BE49-F238E27FC236}">
                <a16:creationId xmlns:a16="http://schemas.microsoft.com/office/drawing/2014/main" id="{CC854CEE-86C6-DC91-54D8-FF42A39E6BF4}"/>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代理人取引に該当する場合は、売上と仕入の総額計上は認められず、売上を純額計上する必要があるため、代理人取引の情報を網羅的に把握、収集する仕組みを整備・運用することが必要です</a:t>
            </a:r>
          </a:p>
        </p:txBody>
      </p:sp>
      <p:sp>
        <p:nvSpPr>
          <p:cNvPr id="6" name="乗算記号 5">
            <a:extLst>
              <a:ext uri="{FF2B5EF4-FFF2-40B4-BE49-F238E27FC236}">
                <a16:creationId xmlns:a16="http://schemas.microsoft.com/office/drawing/2014/main" id="{E4ACB020-C3FD-5379-D221-116A8C34CD28}"/>
              </a:ext>
            </a:extLst>
          </p:cNvPr>
          <p:cNvSpPr/>
          <p:nvPr/>
        </p:nvSpPr>
        <p:spPr>
          <a:xfrm>
            <a:off x="3643152" y="2866120"/>
            <a:ext cx="792000" cy="648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7" name="乗算記号 6">
            <a:extLst>
              <a:ext uri="{FF2B5EF4-FFF2-40B4-BE49-F238E27FC236}">
                <a16:creationId xmlns:a16="http://schemas.microsoft.com/office/drawing/2014/main" id="{57EA9EB4-A9BA-B073-58B0-B4707E4D7A0E}"/>
              </a:ext>
            </a:extLst>
          </p:cNvPr>
          <p:cNvSpPr/>
          <p:nvPr/>
        </p:nvSpPr>
        <p:spPr>
          <a:xfrm>
            <a:off x="7756848" y="2846300"/>
            <a:ext cx="792000" cy="648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4" name="乗算記号 3">
            <a:extLst>
              <a:ext uri="{FF2B5EF4-FFF2-40B4-BE49-F238E27FC236}">
                <a16:creationId xmlns:a16="http://schemas.microsoft.com/office/drawing/2014/main" id="{B85A6C22-8A92-A028-42F5-6AEC0C5F3666}"/>
              </a:ext>
            </a:extLst>
          </p:cNvPr>
          <p:cNvSpPr/>
          <p:nvPr/>
        </p:nvSpPr>
        <p:spPr>
          <a:xfrm>
            <a:off x="1479552" y="3468000"/>
            <a:ext cx="720000" cy="720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5" name="テキスト ボックス 4">
            <a:extLst>
              <a:ext uri="{FF2B5EF4-FFF2-40B4-BE49-F238E27FC236}">
                <a16:creationId xmlns:a16="http://schemas.microsoft.com/office/drawing/2014/main" id="{D97C2BAF-5BDF-EE92-D0A2-EA7B5DE0BC3B}"/>
              </a:ext>
            </a:extLst>
          </p:cNvPr>
          <p:cNvSpPr txBox="1"/>
          <p:nvPr/>
        </p:nvSpPr>
        <p:spPr>
          <a:xfrm>
            <a:off x="2334116" y="3576000"/>
            <a:ext cx="8640000" cy="432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sz="1600"/>
              <a:t>売上と仕入の両方を</a:t>
            </a:r>
            <a:r>
              <a:rPr lang="ja-JP" altLang="en-US" sz="1600">
                <a:solidFill>
                  <a:srgbClr val="FF0000"/>
                </a:solidFill>
              </a:rPr>
              <a:t>総額</a:t>
            </a:r>
            <a:r>
              <a:rPr lang="ja-JP" altLang="en-US" sz="1600"/>
              <a:t>で計上</a:t>
            </a:r>
          </a:p>
        </p:txBody>
      </p:sp>
      <p:sp>
        <p:nvSpPr>
          <p:cNvPr id="9" name="円: 塗りつぶしなし 8">
            <a:extLst>
              <a:ext uri="{FF2B5EF4-FFF2-40B4-BE49-F238E27FC236}">
                <a16:creationId xmlns:a16="http://schemas.microsoft.com/office/drawing/2014/main" id="{F20B90C7-291C-28CB-FCC0-CA1784502155}"/>
              </a:ext>
            </a:extLst>
          </p:cNvPr>
          <p:cNvSpPr/>
          <p:nvPr/>
        </p:nvSpPr>
        <p:spPr>
          <a:xfrm>
            <a:off x="1551658" y="4229222"/>
            <a:ext cx="576000" cy="5760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0" name="テキスト ボックス 9">
            <a:extLst>
              <a:ext uri="{FF2B5EF4-FFF2-40B4-BE49-F238E27FC236}">
                <a16:creationId xmlns:a16="http://schemas.microsoft.com/office/drawing/2014/main" id="{6683F9D2-5ED6-8E5A-D8C6-8998BCDD3762}"/>
              </a:ext>
            </a:extLst>
          </p:cNvPr>
          <p:cNvSpPr txBox="1"/>
          <p:nvPr/>
        </p:nvSpPr>
        <p:spPr>
          <a:xfrm>
            <a:off x="2334114" y="4229222"/>
            <a:ext cx="8640000" cy="576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600">
                <a:solidFill>
                  <a:schemeClr val="tx1"/>
                </a:solidFill>
              </a:rPr>
              <a:t>(</a:t>
            </a:r>
            <a:r>
              <a:rPr lang="ja-JP" altLang="en-US" sz="1600">
                <a:solidFill>
                  <a:schemeClr val="tx1"/>
                </a:solidFill>
              </a:rPr>
              <a:t>仲介手数料相当額が</a:t>
            </a:r>
            <a:r>
              <a:rPr lang="ja-JP" altLang="en-US" sz="1600" u="sng">
                <a:solidFill>
                  <a:schemeClr val="tx1"/>
                </a:solidFill>
              </a:rPr>
              <a:t>ない</a:t>
            </a:r>
            <a:r>
              <a:rPr lang="ja-JP" altLang="en-US" sz="1600">
                <a:solidFill>
                  <a:schemeClr val="tx1"/>
                </a:solidFill>
              </a:rPr>
              <a:t>場合</a:t>
            </a:r>
            <a:r>
              <a:rPr lang="en-US" altLang="ja-JP" sz="1600">
                <a:solidFill>
                  <a:schemeClr val="tx1"/>
                </a:solidFill>
              </a:rPr>
              <a:t>)</a:t>
            </a:r>
            <a:r>
              <a:rPr lang="ja-JP" altLang="en-US" sz="1600">
                <a:solidFill>
                  <a:schemeClr val="tx1"/>
                </a:solidFill>
              </a:rPr>
              <a:t>売上・仕入の計上不可</a:t>
            </a:r>
            <a:endParaRPr lang="en-US" altLang="ja-JP" sz="1600">
              <a:solidFill>
                <a:schemeClr val="tx1"/>
              </a:solidFill>
            </a:endParaRPr>
          </a:p>
          <a:p>
            <a:pPr marL="90487" indent="0">
              <a:buNone/>
            </a:pPr>
            <a:r>
              <a:rPr lang="en-US" altLang="ja-JP" sz="1600">
                <a:solidFill>
                  <a:schemeClr val="tx1"/>
                </a:solidFill>
              </a:rPr>
              <a:t>(</a:t>
            </a:r>
            <a:r>
              <a:rPr lang="ja-JP" altLang="en-US" sz="1600">
                <a:solidFill>
                  <a:schemeClr val="tx1"/>
                </a:solidFill>
              </a:rPr>
              <a:t>仲介手数料相当額が</a:t>
            </a:r>
            <a:r>
              <a:rPr lang="ja-JP" altLang="en-US" sz="1600" u="sng">
                <a:solidFill>
                  <a:schemeClr val="tx1"/>
                </a:solidFill>
              </a:rPr>
              <a:t>ある</a:t>
            </a:r>
            <a:r>
              <a:rPr lang="ja-JP" altLang="en-US" sz="1600">
                <a:solidFill>
                  <a:schemeClr val="tx1"/>
                </a:solidFill>
              </a:rPr>
              <a:t>場合</a:t>
            </a:r>
            <a:r>
              <a:rPr lang="en-US" altLang="ja-JP" sz="1600">
                <a:solidFill>
                  <a:schemeClr val="tx1"/>
                </a:solidFill>
              </a:rPr>
              <a:t>)</a:t>
            </a:r>
            <a:r>
              <a:rPr lang="ja-JP" altLang="en-US" sz="1600">
                <a:solidFill>
                  <a:schemeClr val="tx1"/>
                </a:solidFill>
              </a:rPr>
              <a:t>代理人取引として、仲介手数料相当額のみを純額で売上計上</a:t>
            </a:r>
          </a:p>
        </p:txBody>
      </p:sp>
      <p:sp>
        <p:nvSpPr>
          <p:cNvPr id="8" name="正方形/長方形 7">
            <a:extLst>
              <a:ext uri="{FF2B5EF4-FFF2-40B4-BE49-F238E27FC236}">
                <a16:creationId xmlns:a16="http://schemas.microsoft.com/office/drawing/2014/main" id="{16D92ECA-4DE2-C5AB-8BD7-CDB37AE0FA37}"/>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6" name="正方形/長方形 15">
            <a:extLst>
              <a:ext uri="{FF2B5EF4-FFF2-40B4-BE49-F238E27FC236}">
                <a16:creationId xmlns:a16="http://schemas.microsoft.com/office/drawing/2014/main" id="{25184EF2-0A04-92E7-AE73-28ACD6160989}"/>
              </a:ext>
            </a:extLst>
          </p:cNvPr>
          <p:cNvSpPr/>
          <p:nvPr/>
        </p:nvSpPr>
        <p:spPr bwMode="gray">
          <a:xfrm>
            <a:off x="2207995" y="4896805"/>
            <a:ext cx="9720000" cy="115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自社が商品やサービスに対して手を加えていないにも関わらず、仕入と売上を計上している</a:t>
            </a:r>
            <a:br>
              <a:rPr lang="en-US" altLang="ja-JP" sz="1400">
                <a:solidFill>
                  <a:prstClr val="black"/>
                </a:solidFill>
                <a:latin typeface="+mn-ea"/>
              </a:rPr>
            </a:br>
            <a:r>
              <a:rPr lang="ja-JP" altLang="en-US" sz="1400">
                <a:solidFill>
                  <a:prstClr val="black"/>
                </a:solidFill>
                <a:latin typeface="+mn-ea"/>
              </a:rPr>
              <a:t>商流（スルー取引）はないか確認する。</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自社が入る商流で、自社が明確に役割（履行責任、在庫リスク、価格の裁量権等）を持っているか</a:t>
            </a:r>
            <a:br>
              <a:rPr lang="en-US" altLang="ja-JP" sz="1400">
                <a:solidFill>
                  <a:prstClr val="black"/>
                </a:solidFill>
                <a:latin typeface="+mn-ea"/>
              </a:rPr>
            </a:br>
            <a:r>
              <a:rPr lang="ja-JP" altLang="en-US" sz="1400">
                <a:solidFill>
                  <a:prstClr val="black"/>
                </a:solidFill>
                <a:latin typeface="+mn-ea"/>
              </a:rPr>
              <a:t>（代理人取引か本人取引か）を判断する。</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役割がない場合、代理人取引として、純額で売上計上をしているか確認する。</a:t>
            </a:r>
            <a:endParaRPr lang="en-US" altLang="ja-JP" sz="1400">
              <a:solidFill>
                <a:prstClr val="black"/>
              </a:solidFill>
              <a:latin typeface="+mn-ea"/>
            </a:endParaRPr>
          </a:p>
        </p:txBody>
      </p:sp>
      <p:sp>
        <p:nvSpPr>
          <p:cNvPr id="20" name="正方形/長方形 19">
            <a:extLst>
              <a:ext uri="{FF2B5EF4-FFF2-40B4-BE49-F238E27FC236}">
                <a16:creationId xmlns:a16="http://schemas.microsoft.com/office/drawing/2014/main" id="{3928D903-E7D5-7957-83A7-996491DB1A36}"/>
              </a:ext>
            </a:extLst>
          </p:cNvPr>
          <p:cNvSpPr/>
          <p:nvPr/>
        </p:nvSpPr>
        <p:spPr bwMode="gray">
          <a:xfrm>
            <a:off x="587939" y="4896805"/>
            <a:ext cx="1260000" cy="115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会社で確認</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すべき内容</a:t>
            </a:r>
            <a:endParaRPr lang="en-US" altLang="ja-JP" sz="1400" b="1">
              <a:solidFill>
                <a:schemeClr val="bg1"/>
              </a:solidFill>
              <a:latin typeface="+mn-ea"/>
            </a:endParaRPr>
          </a:p>
        </p:txBody>
      </p:sp>
    </p:spTree>
    <p:extLst>
      <p:ext uri="{BB962C8B-B14F-4D97-AF65-F5344CB8AC3E}">
        <p14:creationId xmlns:p14="http://schemas.microsoft.com/office/powerpoint/2010/main" val="2501412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AA47457-AF86-B1DA-9FA2-559D987FE702}"/>
              </a:ext>
            </a:extLst>
          </p:cNvPr>
          <p:cNvSpPr>
            <a:spLocks noGrp="1"/>
          </p:cNvSpPr>
          <p:nvPr>
            <p:ph type="title"/>
          </p:nvPr>
        </p:nvSpPr>
        <p:spPr/>
        <p:txBody>
          <a:bodyPr/>
          <a:lstStyle/>
          <a:p>
            <a:r>
              <a:rPr lang="en-US" altLang="ja-JP"/>
              <a:t>3-2.</a:t>
            </a:r>
            <a:r>
              <a:rPr lang="ja-JP" altLang="en-US"/>
              <a:t>スルー取引による売上の過大計上</a:t>
            </a:r>
            <a:endParaRPr lang="ja-JP" altLang="en-US">
              <a:cs typeface="Segoe UI"/>
            </a:endParaRPr>
          </a:p>
        </p:txBody>
      </p:sp>
      <p:sp>
        <p:nvSpPr>
          <p:cNvPr id="10" name="テキスト プレースホルダー 3">
            <a:extLst>
              <a:ext uri="{FF2B5EF4-FFF2-40B4-BE49-F238E27FC236}">
                <a16:creationId xmlns:a16="http://schemas.microsoft.com/office/drawing/2014/main" id="{2A348F3C-851A-9E76-9057-9F0D1E1E1D42}"/>
              </a:ext>
            </a:extLst>
          </p:cNvPr>
          <p:cNvSpPr txBox="1">
            <a:spLocks/>
          </p:cNvSpPr>
          <p:nvPr/>
        </p:nvSpPr>
        <p:spPr>
          <a:xfrm>
            <a:off x="660000" y="797823"/>
            <a:ext cx="11160088" cy="720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代理人か本人かの判断は以下の基準に基づき判断します。この判断により、売上高が大きく変動する可能性があるため、代理人取引に該当する取引かの判断には留意が必要です。</a:t>
            </a:r>
          </a:p>
        </p:txBody>
      </p:sp>
      <p:sp>
        <p:nvSpPr>
          <p:cNvPr id="12" name="正方形/長方形 11">
            <a:extLst>
              <a:ext uri="{FF2B5EF4-FFF2-40B4-BE49-F238E27FC236}">
                <a16:creationId xmlns:a16="http://schemas.microsoft.com/office/drawing/2014/main" id="{EC42B8DF-477C-405E-F24E-2C114E2224E3}"/>
              </a:ext>
            </a:extLst>
          </p:cNvPr>
          <p:cNvSpPr/>
          <p:nvPr/>
        </p:nvSpPr>
        <p:spPr>
          <a:xfrm>
            <a:off x="820882" y="1631039"/>
            <a:ext cx="10681854" cy="1399501"/>
          </a:xfrm>
          <a:prstGeom prst="rect">
            <a:avLst/>
          </a:prstGeom>
          <a:solidFill>
            <a:schemeClr val="accent5"/>
          </a:solidFill>
          <a:ln w="25400">
            <a:solidFill>
              <a:schemeClr val="accent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kumimoji="1" lang="ja-JP" altLang="en-US" sz="1100" b="1">
              <a:solidFill>
                <a:schemeClr val="tx1"/>
              </a:solidFill>
              <a:latin typeface="+mn-ea"/>
              <a:cs typeface="Meiryo UI" panose="020B0604030504040204" pitchFamily="50" charset="-128"/>
            </a:endParaRPr>
          </a:p>
        </p:txBody>
      </p:sp>
      <p:sp>
        <p:nvSpPr>
          <p:cNvPr id="13" name="正方形/長方形 12">
            <a:extLst>
              <a:ext uri="{FF2B5EF4-FFF2-40B4-BE49-F238E27FC236}">
                <a16:creationId xmlns:a16="http://schemas.microsoft.com/office/drawing/2014/main" id="{55BE86DA-79DF-F708-2FE4-76B02982E229}"/>
              </a:ext>
            </a:extLst>
          </p:cNvPr>
          <p:cNvSpPr/>
          <p:nvPr/>
        </p:nvSpPr>
        <p:spPr>
          <a:xfrm>
            <a:off x="4340874" y="1734115"/>
            <a:ext cx="2881215" cy="503365"/>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b="1">
                <a:solidFill>
                  <a:schemeClr val="tx1"/>
                </a:solidFill>
                <a:latin typeface="+mn-ea"/>
                <a:cs typeface="Meiryo UI" panose="020B0604030504040204" pitchFamily="50" charset="-128"/>
              </a:rPr>
              <a:t>在庫リスクなし</a:t>
            </a:r>
            <a:endParaRPr kumimoji="1" lang="ja-JP" altLang="en-US" sz="1600" b="1">
              <a:solidFill>
                <a:schemeClr val="tx1"/>
              </a:solidFill>
              <a:latin typeface="+mn-ea"/>
              <a:cs typeface="Meiryo UI" panose="020B0604030504040204" pitchFamily="50" charset="-128"/>
            </a:endParaRPr>
          </a:p>
        </p:txBody>
      </p:sp>
      <p:sp>
        <p:nvSpPr>
          <p:cNvPr id="14" name="正方形/長方形 13">
            <a:extLst>
              <a:ext uri="{FF2B5EF4-FFF2-40B4-BE49-F238E27FC236}">
                <a16:creationId xmlns:a16="http://schemas.microsoft.com/office/drawing/2014/main" id="{20BAA15C-5B1E-221E-FECB-BF6EA0181E7C}"/>
              </a:ext>
            </a:extLst>
          </p:cNvPr>
          <p:cNvSpPr/>
          <p:nvPr/>
        </p:nvSpPr>
        <p:spPr>
          <a:xfrm>
            <a:off x="7523851" y="1734115"/>
            <a:ext cx="3830362" cy="506009"/>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b="1">
                <a:solidFill>
                  <a:schemeClr val="tx1"/>
                </a:solidFill>
                <a:latin typeface="+mn-ea"/>
                <a:cs typeface="Meiryo UI" panose="020B0604030504040204" pitchFamily="50" charset="-128"/>
              </a:rPr>
              <a:t>価格設定に対する</a:t>
            </a:r>
            <a:endParaRPr lang="en-US" altLang="ja-JP" sz="1600" b="1">
              <a:solidFill>
                <a:schemeClr val="tx1"/>
              </a:solidFill>
              <a:latin typeface="+mn-ea"/>
              <a:cs typeface="Meiryo UI" panose="020B0604030504040204" pitchFamily="50" charset="-128"/>
            </a:endParaRPr>
          </a:p>
          <a:p>
            <a:pPr algn="ctr" eaLnBrk="1" hangingPunct="1"/>
            <a:r>
              <a:rPr lang="ja-JP" altLang="en-US" sz="1600" b="1">
                <a:solidFill>
                  <a:schemeClr val="tx1"/>
                </a:solidFill>
                <a:latin typeface="+mn-ea"/>
                <a:cs typeface="Meiryo UI" panose="020B0604030504040204" pitchFamily="50" charset="-128"/>
              </a:rPr>
              <a:t>裁量権なし</a:t>
            </a:r>
            <a:endParaRPr kumimoji="1" lang="ja-JP" altLang="en-US" sz="1600" b="1">
              <a:solidFill>
                <a:schemeClr val="tx1"/>
              </a:solidFill>
              <a:latin typeface="+mn-ea"/>
              <a:cs typeface="Meiryo UI" panose="020B0604030504040204" pitchFamily="50" charset="-128"/>
            </a:endParaRPr>
          </a:p>
        </p:txBody>
      </p:sp>
      <p:sp>
        <p:nvSpPr>
          <p:cNvPr id="15" name="正方形/長方形 14">
            <a:extLst>
              <a:ext uri="{FF2B5EF4-FFF2-40B4-BE49-F238E27FC236}">
                <a16:creationId xmlns:a16="http://schemas.microsoft.com/office/drawing/2014/main" id="{02631D9A-6315-72B1-6389-497EAFDC5D01}"/>
              </a:ext>
            </a:extLst>
          </p:cNvPr>
          <p:cNvSpPr/>
          <p:nvPr/>
        </p:nvSpPr>
        <p:spPr>
          <a:xfrm>
            <a:off x="1017332" y="1734115"/>
            <a:ext cx="3054314"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600" b="1">
                <a:solidFill>
                  <a:schemeClr val="tx1"/>
                </a:solidFill>
                <a:latin typeface="+mn-ea"/>
                <a:cs typeface="Meiryo UI" panose="020B0604030504040204" pitchFamily="50" charset="-128"/>
              </a:rPr>
              <a:t>履行責任なし</a:t>
            </a:r>
          </a:p>
        </p:txBody>
      </p:sp>
      <p:grpSp>
        <p:nvGrpSpPr>
          <p:cNvPr id="16" name="グループ化 15">
            <a:extLst>
              <a:ext uri="{FF2B5EF4-FFF2-40B4-BE49-F238E27FC236}">
                <a16:creationId xmlns:a16="http://schemas.microsoft.com/office/drawing/2014/main" id="{9271AE90-DD99-0B6C-8578-CACCBCE912E1}"/>
              </a:ext>
            </a:extLst>
          </p:cNvPr>
          <p:cNvGrpSpPr/>
          <p:nvPr/>
        </p:nvGrpSpPr>
        <p:grpSpPr>
          <a:xfrm>
            <a:off x="7214006" y="4859571"/>
            <a:ext cx="3102810" cy="810000"/>
            <a:chOff x="5697125" y="1468653"/>
            <a:chExt cx="3102810" cy="1000685"/>
          </a:xfrm>
          <a:solidFill>
            <a:schemeClr val="accent2">
              <a:lumMod val="20000"/>
              <a:lumOff val="80000"/>
            </a:schemeClr>
          </a:solidFill>
        </p:grpSpPr>
        <p:sp>
          <p:nvSpPr>
            <p:cNvPr id="17" name="円/楕円 6">
              <a:extLst>
                <a:ext uri="{FF2B5EF4-FFF2-40B4-BE49-F238E27FC236}">
                  <a16:creationId xmlns:a16="http://schemas.microsoft.com/office/drawing/2014/main" id="{DBBCCD80-9E83-6F5D-044A-0CEF80CEBD49}"/>
                </a:ext>
              </a:extLst>
            </p:cNvPr>
            <p:cNvSpPr/>
            <p:nvPr/>
          </p:nvSpPr>
          <p:spPr>
            <a:xfrm>
              <a:off x="5697125" y="1468653"/>
              <a:ext cx="3102810" cy="1000685"/>
            </a:xfrm>
            <a:prstGeom prst="ellipse">
              <a:avLst/>
            </a:prstGeom>
            <a:grp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b="1">
                  <a:solidFill>
                    <a:schemeClr val="tx1"/>
                  </a:solidFill>
                  <a:latin typeface="+mn-ea"/>
                  <a:cs typeface="Meiryo UI" panose="020B0604030504040204" pitchFamily="50" charset="-128"/>
                </a:rPr>
                <a:t>「本人」</a:t>
              </a:r>
              <a:r>
                <a:rPr lang="ja-JP" altLang="en-US" sz="1200" b="1">
                  <a:solidFill>
                    <a:schemeClr val="tx1"/>
                  </a:solidFill>
                  <a:latin typeface="+mn-ea"/>
                  <a:cs typeface="Meiryo UI" panose="020B0604030504040204" pitchFamily="50" charset="-128"/>
                </a:rPr>
                <a:t>として</a:t>
              </a:r>
              <a:endParaRPr lang="en-US" altLang="ja-JP" sz="1100" b="1">
                <a:solidFill>
                  <a:schemeClr val="tx1"/>
                </a:solidFill>
                <a:latin typeface="+mn-ea"/>
                <a:cs typeface="Meiryo UI" panose="020B0604030504040204" pitchFamily="50" charset="-128"/>
              </a:endParaRPr>
            </a:p>
            <a:p>
              <a:pPr algn="ctr" eaLnBrk="1" hangingPunct="1"/>
              <a:r>
                <a:rPr lang="ja-JP" altLang="en-US" sz="1600" b="1">
                  <a:solidFill>
                    <a:schemeClr val="tx1"/>
                  </a:solidFill>
                  <a:latin typeface="+mn-ea"/>
                  <a:cs typeface="Meiryo UI" panose="020B0604030504040204" pitchFamily="50" charset="-128"/>
                </a:rPr>
                <a:t>総額</a:t>
              </a:r>
              <a:r>
                <a:rPr lang="ja-JP" altLang="en-US" sz="1200" b="1">
                  <a:solidFill>
                    <a:schemeClr val="tx1"/>
                  </a:solidFill>
                  <a:latin typeface="+mn-ea"/>
                  <a:cs typeface="Meiryo UI" panose="020B0604030504040204" pitchFamily="50" charset="-128"/>
                </a:rPr>
                <a:t>を売上計上</a:t>
              </a:r>
              <a:endParaRPr lang="ja-JP" altLang="en-US" sz="1100" b="1">
                <a:solidFill>
                  <a:schemeClr val="tx1"/>
                </a:solidFill>
                <a:latin typeface="+mn-ea"/>
                <a:cs typeface="Meiryo UI" panose="020B0604030504040204" pitchFamily="50" charset="-128"/>
              </a:endParaRPr>
            </a:p>
          </p:txBody>
        </p:sp>
        <p:cxnSp>
          <p:nvCxnSpPr>
            <p:cNvPr id="18" name="直線コネクタ 17">
              <a:extLst>
                <a:ext uri="{FF2B5EF4-FFF2-40B4-BE49-F238E27FC236}">
                  <a16:creationId xmlns:a16="http://schemas.microsoft.com/office/drawing/2014/main" id="{AD90778E-D4FE-9F05-CB58-1C7F6C98FB73}"/>
                </a:ext>
              </a:extLst>
            </p:cNvPr>
            <p:cNvCxnSpPr/>
            <p:nvPr/>
          </p:nvCxnSpPr>
          <p:spPr bwMode="auto">
            <a:xfrm>
              <a:off x="6642230" y="2284528"/>
              <a:ext cx="589545" cy="0"/>
            </a:xfrm>
            <a:prstGeom prst="line">
              <a:avLst/>
            </a:prstGeom>
            <a:grpFill/>
            <a:ln w="41275" cap="flat" cmpd="sng" algn="ctr">
              <a:solidFill>
                <a:srgbClr val="FF0000"/>
              </a:solidFill>
              <a:prstDash val="solid"/>
              <a:round/>
              <a:headEnd type="none" w="med" len="med"/>
              <a:tailEnd type="none" w="med" len="med"/>
            </a:ln>
            <a:effectLst/>
          </p:spPr>
        </p:cxnSp>
      </p:grpSp>
      <p:grpSp>
        <p:nvGrpSpPr>
          <p:cNvPr id="19" name="グループ化 18">
            <a:extLst>
              <a:ext uri="{FF2B5EF4-FFF2-40B4-BE49-F238E27FC236}">
                <a16:creationId xmlns:a16="http://schemas.microsoft.com/office/drawing/2014/main" id="{065FD203-05E3-E651-78ED-8523167806E9}"/>
              </a:ext>
            </a:extLst>
          </p:cNvPr>
          <p:cNvGrpSpPr/>
          <p:nvPr/>
        </p:nvGrpSpPr>
        <p:grpSpPr>
          <a:xfrm>
            <a:off x="2208357" y="4859572"/>
            <a:ext cx="3102810" cy="811212"/>
            <a:chOff x="5834675" y="3043828"/>
            <a:chExt cx="3102810" cy="1015242"/>
          </a:xfrm>
          <a:solidFill>
            <a:srgbClr val="FFCCCC"/>
          </a:solidFill>
        </p:grpSpPr>
        <p:sp>
          <p:nvSpPr>
            <p:cNvPr id="20" name="円/楕円 19">
              <a:extLst>
                <a:ext uri="{FF2B5EF4-FFF2-40B4-BE49-F238E27FC236}">
                  <a16:creationId xmlns:a16="http://schemas.microsoft.com/office/drawing/2014/main" id="{F30D10B2-90DB-AA31-E44B-DC250F0C3774}"/>
                </a:ext>
              </a:extLst>
            </p:cNvPr>
            <p:cNvSpPr/>
            <p:nvPr/>
          </p:nvSpPr>
          <p:spPr>
            <a:xfrm>
              <a:off x="5834675" y="3043828"/>
              <a:ext cx="3102810" cy="1015242"/>
            </a:xfrm>
            <a:prstGeom prst="ellipse">
              <a:avLst/>
            </a:prstGeom>
            <a:grp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b="1">
                  <a:solidFill>
                    <a:schemeClr val="tx1"/>
                  </a:solidFill>
                  <a:latin typeface="+mn-ea"/>
                  <a:cs typeface="Meiryo UI" panose="020B0604030504040204" pitchFamily="50" charset="-128"/>
                </a:rPr>
                <a:t>「代理人」</a:t>
              </a:r>
              <a:r>
                <a:rPr lang="ja-JP" altLang="en-US" sz="1200" b="1">
                  <a:solidFill>
                    <a:schemeClr val="tx1"/>
                  </a:solidFill>
                  <a:latin typeface="+mn-ea"/>
                  <a:cs typeface="Meiryo UI" panose="020B0604030504040204" pitchFamily="50" charset="-128"/>
                </a:rPr>
                <a:t>として</a:t>
              </a:r>
              <a:endParaRPr lang="en-US" altLang="ja-JP" sz="1200" b="1">
                <a:solidFill>
                  <a:schemeClr val="tx1"/>
                </a:solidFill>
                <a:latin typeface="+mn-ea"/>
                <a:cs typeface="Meiryo UI" panose="020B0604030504040204" pitchFamily="50" charset="-128"/>
              </a:endParaRPr>
            </a:p>
            <a:p>
              <a:pPr algn="ctr" eaLnBrk="1" hangingPunct="1"/>
              <a:r>
                <a:rPr lang="ja-JP" altLang="en-US" sz="1600" b="1">
                  <a:solidFill>
                    <a:schemeClr val="tx1"/>
                  </a:solidFill>
                  <a:latin typeface="+mn-ea"/>
                  <a:cs typeface="Meiryo UI" panose="020B0604030504040204" pitchFamily="50" charset="-128"/>
                </a:rPr>
                <a:t>純額</a:t>
              </a:r>
              <a:r>
                <a:rPr lang="ja-JP" altLang="en-US" sz="1200" b="1">
                  <a:solidFill>
                    <a:schemeClr val="tx1"/>
                  </a:solidFill>
                  <a:latin typeface="+mn-ea"/>
                  <a:cs typeface="Meiryo UI" panose="020B0604030504040204" pitchFamily="50" charset="-128"/>
                </a:rPr>
                <a:t>を売上計上</a:t>
              </a:r>
              <a:endParaRPr lang="ja-JP" altLang="en-US" sz="1100" b="1">
                <a:solidFill>
                  <a:schemeClr val="tx1"/>
                </a:solidFill>
                <a:latin typeface="+mn-ea"/>
                <a:cs typeface="Meiryo UI" panose="020B0604030504040204" pitchFamily="50" charset="-128"/>
              </a:endParaRPr>
            </a:p>
          </p:txBody>
        </p:sp>
        <p:cxnSp>
          <p:nvCxnSpPr>
            <p:cNvPr id="21" name="直線コネクタ 20">
              <a:extLst>
                <a:ext uri="{FF2B5EF4-FFF2-40B4-BE49-F238E27FC236}">
                  <a16:creationId xmlns:a16="http://schemas.microsoft.com/office/drawing/2014/main" id="{983B49F1-45A0-9442-2CF0-1B8E3732DE6C}"/>
                </a:ext>
              </a:extLst>
            </p:cNvPr>
            <p:cNvCxnSpPr/>
            <p:nvPr/>
          </p:nvCxnSpPr>
          <p:spPr bwMode="auto">
            <a:xfrm>
              <a:off x="6740776" y="3834045"/>
              <a:ext cx="589545" cy="0"/>
            </a:xfrm>
            <a:prstGeom prst="line">
              <a:avLst/>
            </a:prstGeom>
            <a:grpFill/>
            <a:ln w="41275" cap="flat" cmpd="sng" algn="ctr">
              <a:solidFill>
                <a:srgbClr val="FF0000"/>
              </a:solidFill>
              <a:prstDash val="solid"/>
              <a:round/>
              <a:headEnd type="none" w="med" len="med"/>
              <a:tailEnd type="none" w="med" len="med"/>
            </a:ln>
            <a:effectLst/>
          </p:spPr>
        </p:cxnSp>
      </p:grpSp>
      <p:sp>
        <p:nvSpPr>
          <p:cNvPr id="22" name="テキスト ボックス 21">
            <a:extLst>
              <a:ext uri="{FF2B5EF4-FFF2-40B4-BE49-F238E27FC236}">
                <a16:creationId xmlns:a16="http://schemas.microsoft.com/office/drawing/2014/main" id="{D6197D87-8126-2BF0-9765-F6ABD90827A8}"/>
              </a:ext>
            </a:extLst>
          </p:cNvPr>
          <p:cNvSpPr txBox="1"/>
          <p:nvPr/>
        </p:nvSpPr>
        <p:spPr>
          <a:xfrm>
            <a:off x="1856816" y="3379104"/>
            <a:ext cx="2232000" cy="338554"/>
          </a:xfrm>
          <a:prstGeom prst="rect">
            <a:avLst/>
          </a:prstGeom>
          <a:noFill/>
          <a:ln>
            <a:solidFill>
              <a:schemeClr val="tx1"/>
            </a:solidFill>
            <a:prstDash val="dash"/>
          </a:ln>
        </p:spPr>
        <p:txBody>
          <a:bodyPr wrap="square" rtlCol="0" anchor="ctr">
            <a:spAutoFit/>
          </a:bodyPr>
          <a:lstStyle/>
          <a:p>
            <a:pPr algn="ctr"/>
            <a:r>
              <a:rPr lang="ja-JP" altLang="en-US" sz="1600" b="1">
                <a:latin typeface="+mn-ea"/>
              </a:rPr>
              <a:t>いずれかに該当する</a:t>
            </a:r>
            <a:endParaRPr lang="en-US" altLang="ja-JP" sz="1600" b="1">
              <a:latin typeface="+mn-ea"/>
            </a:endParaRPr>
          </a:p>
        </p:txBody>
      </p:sp>
      <p:cxnSp>
        <p:nvCxnSpPr>
          <p:cNvPr id="23" name="直線矢印コネクタ 22">
            <a:extLst>
              <a:ext uri="{FF2B5EF4-FFF2-40B4-BE49-F238E27FC236}">
                <a16:creationId xmlns:a16="http://schemas.microsoft.com/office/drawing/2014/main" id="{B3009E3F-E627-4B7F-B45F-6DD2231A5729}"/>
              </a:ext>
            </a:extLst>
          </p:cNvPr>
          <p:cNvCxnSpPr>
            <a:cxnSpLocks/>
            <a:stCxn id="22" idx="2"/>
          </p:cNvCxnSpPr>
          <p:nvPr/>
        </p:nvCxnSpPr>
        <p:spPr bwMode="auto">
          <a:xfrm>
            <a:off x="2972816" y="3717658"/>
            <a:ext cx="10799" cy="1183423"/>
          </a:xfrm>
          <a:prstGeom prst="straightConnector1">
            <a:avLst/>
          </a:prstGeom>
          <a:solidFill>
            <a:srgbClr val="FFFFFF"/>
          </a:solidFill>
          <a:ln w="28575" cap="flat" cmpd="sng" algn="ctr">
            <a:solidFill>
              <a:srgbClr val="FF0000"/>
            </a:solidFill>
            <a:prstDash val="solid"/>
            <a:round/>
            <a:headEnd type="none" w="med" len="med"/>
            <a:tailEnd type="triangle"/>
          </a:ln>
          <a:effectLst/>
        </p:spPr>
      </p:cxnSp>
      <p:sp>
        <p:nvSpPr>
          <p:cNvPr id="24" name="テキスト ボックス 23">
            <a:extLst>
              <a:ext uri="{FF2B5EF4-FFF2-40B4-BE49-F238E27FC236}">
                <a16:creationId xmlns:a16="http://schemas.microsoft.com/office/drawing/2014/main" id="{E3BE4686-2936-F7C4-1644-15E344E5D457}"/>
              </a:ext>
            </a:extLst>
          </p:cNvPr>
          <p:cNvSpPr txBox="1"/>
          <p:nvPr/>
        </p:nvSpPr>
        <p:spPr>
          <a:xfrm>
            <a:off x="8084816" y="3369717"/>
            <a:ext cx="2232000" cy="338554"/>
          </a:xfrm>
          <a:prstGeom prst="rect">
            <a:avLst/>
          </a:prstGeom>
          <a:noFill/>
          <a:ln>
            <a:solidFill>
              <a:schemeClr val="tx1"/>
            </a:solidFill>
            <a:prstDash val="dash"/>
          </a:ln>
        </p:spPr>
        <p:txBody>
          <a:bodyPr wrap="square" rtlCol="0" anchor="ctr">
            <a:spAutoFit/>
          </a:bodyPr>
          <a:lstStyle/>
          <a:p>
            <a:pPr algn="ctr"/>
            <a:r>
              <a:rPr lang="ja-JP" altLang="en-US" sz="1600" b="1">
                <a:latin typeface="+mn-ea"/>
              </a:rPr>
              <a:t>すべて該当しない</a:t>
            </a:r>
            <a:endParaRPr lang="en-US" altLang="ja-JP" sz="1600" b="1">
              <a:latin typeface="+mn-ea"/>
            </a:endParaRPr>
          </a:p>
        </p:txBody>
      </p:sp>
      <p:cxnSp>
        <p:nvCxnSpPr>
          <p:cNvPr id="25" name="直線矢印コネクタ 24">
            <a:extLst>
              <a:ext uri="{FF2B5EF4-FFF2-40B4-BE49-F238E27FC236}">
                <a16:creationId xmlns:a16="http://schemas.microsoft.com/office/drawing/2014/main" id="{4ED85CDD-ABE8-E1B5-9E59-CD22FCBD7513}"/>
              </a:ext>
            </a:extLst>
          </p:cNvPr>
          <p:cNvCxnSpPr>
            <a:cxnSpLocks/>
            <a:stCxn id="24" idx="2"/>
          </p:cNvCxnSpPr>
          <p:nvPr/>
        </p:nvCxnSpPr>
        <p:spPr bwMode="auto">
          <a:xfrm>
            <a:off x="9200816" y="3708271"/>
            <a:ext cx="4370" cy="1179597"/>
          </a:xfrm>
          <a:prstGeom prst="straightConnector1">
            <a:avLst/>
          </a:prstGeom>
          <a:solidFill>
            <a:srgbClr val="FFFFFF"/>
          </a:solidFill>
          <a:ln w="28575" cap="flat" cmpd="sng" algn="ctr">
            <a:solidFill>
              <a:srgbClr val="0000FF"/>
            </a:solidFill>
            <a:prstDash val="solid"/>
            <a:round/>
            <a:headEnd type="none" w="med" len="med"/>
            <a:tailEnd type="triangle"/>
          </a:ln>
          <a:effectLst/>
        </p:spPr>
      </p:cxnSp>
      <p:cxnSp>
        <p:nvCxnSpPr>
          <p:cNvPr id="27" name="直線矢印コネクタ 26">
            <a:extLst>
              <a:ext uri="{FF2B5EF4-FFF2-40B4-BE49-F238E27FC236}">
                <a16:creationId xmlns:a16="http://schemas.microsoft.com/office/drawing/2014/main" id="{898ED542-E1A7-01C8-C0AA-EB8C4088DF3F}"/>
              </a:ext>
            </a:extLst>
          </p:cNvPr>
          <p:cNvCxnSpPr>
            <a:cxnSpLocks/>
            <a:endCxn id="24" idx="0"/>
          </p:cNvCxnSpPr>
          <p:nvPr/>
        </p:nvCxnSpPr>
        <p:spPr bwMode="auto">
          <a:xfrm>
            <a:off x="5852984" y="3030540"/>
            <a:ext cx="3347832" cy="339177"/>
          </a:xfrm>
          <a:prstGeom prst="straightConnector1">
            <a:avLst/>
          </a:prstGeom>
          <a:solidFill>
            <a:srgbClr val="FFFFFF"/>
          </a:solidFill>
          <a:ln w="28575" cap="flat" cmpd="sng" algn="ctr">
            <a:solidFill>
              <a:schemeClr val="tx1"/>
            </a:solidFill>
            <a:prstDash val="solid"/>
            <a:round/>
            <a:headEnd type="none" w="med" len="med"/>
            <a:tailEnd type="triangle"/>
          </a:ln>
          <a:effectLst/>
        </p:spPr>
      </p:cxnSp>
      <p:cxnSp>
        <p:nvCxnSpPr>
          <p:cNvPr id="28" name="直線矢印コネクタ 27">
            <a:extLst>
              <a:ext uri="{FF2B5EF4-FFF2-40B4-BE49-F238E27FC236}">
                <a16:creationId xmlns:a16="http://schemas.microsoft.com/office/drawing/2014/main" id="{FDE5B7D7-6B42-6092-CDB6-61B325A3C13F}"/>
              </a:ext>
            </a:extLst>
          </p:cNvPr>
          <p:cNvCxnSpPr>
            <a:cxnSpLocks/>
            <a:endCxn id="22" idx="0"/>
          </p:cNvCxnSpPr>
          <p:nvPr/>
        </p:nvCxnSpPr>
        <p:spPr bwMode="auto">
          <a:xfrm flipH="1">
            <a:off x="2972816" y="3030540"/>
            <a:ext cx="2880168" cy="348564"/>
          </a:xfrm>
          <a:prstGeom prst="straightConnector1">
            <a:avLst/>
          </a:prstGeom>
          <a:solidFill>
            <a:srgbClr val="FFFFFF"/>
          </a:solidFill>
          <a:ln w="28575" cap="flat" cmpd="sng" algn="ctr">
            <a:solidFill>
              <a:schemeClr val="tx1"/>
            </a:solidFill>
            <a:prstDash val="solid"/>
            <a:round/>
            <a:headEnd type="none" w="med" len="med"/>
            <a:tailEnd type="triangle"/>
          </a:ln>
          <a:effectLst/>
        </p:spPr>
      </p:cxnSp>
      <p:sp>
        <p:nvSpPr>
          <p:cNvPr id="29" name="正方形/長方形 28">
            <a:extLst>
              <a:ext uri="{FF2B5EF4-FFF2-40B4-BE49-F238E27FC236}">
                <a16:creationId xmlns:a16="http://schemas.microsoft.com/office/drawing/2014/main" id="{343E772D-6B61-2AF1-044E-30971F875DEB}"/>
              </a:ext>
            </a:extLst>
          </p:cNvPr>
          <p:cNvSpPr/>
          <p:nvPr/>
        </p:nvSpPr>
        <p:spPr>
          <a:xfrm>
            <a:off x="820882" y="3880756"/>
            <a:ext cx="5112000" cy="720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endParaRPr kumimoji="1" lang="en-US" altLang="ja-JP" sz="1400">
              <a:solidFill>
                <a:schemeClr val="tx1"/>
              </a:solidFill>
              <a:latin typeface="+mn-ea"/>
              <a:cs typeface="Meiryo UI" panose="020B0604030504040204" pitchFamily="50" charset="-128"/>
            </a:endParaRPr>
          </a:p>
          <a:p>
            <a:pPr eaLnBrk="1" hangingPunct="1"/>
            <a:r>
              <a:rPr lang="ja-JP" altLang="en-US" sz="1400">
                <a:solidFill>
                  <a:schemeClr val="tx1"/>
                </a:solidFill>
                <a:latin typeface="+mn-ea"/>
                <a:cs typeface="Meiryo UI" panose="020B0604030504040204" pitchFamily="50" charset="-128"/>
              </a:rPr>
              <a:t>財・サービスを顧客に提供する前に</a:t>
            </a:r>
            <a:r>
              <a:rPr lang="ja-JP" altLang="en-US" sz="1400" u="sng">
                <a:solidFill>
                  <a:schemeClr val="tx1"/>
                </a:solidFill>
                <a:latin typeface="+mn-ea"/>
                <a:cs typeface="Meiryo UI" panose="020B0604030504040204" pitchFamily="50" charset="-128"/>
              </a:rPr>
              <a:t>支配していない</a:t>
            </a:r>
            <a:r>
              <a:rPr lang="ja-JP" altLang="en-US" sz="1400">
                <a:solidFill>
                  <a:schemeClr val="tx1"/>
                </a:solidFill>
                <a:latin typeface="+mn-ea"/>
                <a:cs typeface="Meiryo UI" panose="020B0604030504040204" pitchFamily="50" charset="-128"/>
              </a:rPr>
              <a:t>。</a:t>
            </a:r>
            <a:endParaRPr kumimoji="1" lang="en-US" altLang="ja-JP" sz="1400">
              <a:solidFill>
                <a:schemeClr val="tx1"/>
              </a:solidFill>
              <a:latin typeface="+mn-ea"/>
              <a:cs typeface="Meiryo UI" panose="020B0604030504040204" pitchFamily="50" charset="-128"/>
            </a:endParaRPr>
          </a:p>
          <a:p>
            <a:pPr eaLnBrk="1" hangingPunct="1"/>
            <a:r>
              <a:rPr kumimoji="1" lang="ja-JP" altLang="en-US" sz="1400">
                <a:solidFill>
                  <a:schemeClr val="tx1"/>
                </a:solidFill>
                <a:latin typeface="+mn-ea"/>
                <a:cs typeface="Meiryo UI" panose="020B0604030504040204" pitchFamily="50" charset="-128"/>
              </a:rPr>
              <a:t>　⇒財・サービスを</a:t>
            </a:r>
            <a:r>
              <a:rPr kumimoji="1" lang="ja-JP" altLang="en-US" sz="1400" u="sng">
                <a:solidFill>
                  <a:srgbClr val="FF0000"/>
                </a:solidFill>
                <a:latin typeface="+mn-ea"/>
                <a:cs typeface="Meiryo UI" panose="020B0604030504040204" pitchFamily="50" charset="-128"/>
              </a:rPr>
              <a:t>他の当事者によって提供されるよう手配</a:t>
            </a:r>
            <a:r>
              <a:rPr kumimoji="1" lang="ja-JP" altLang="en-US" sz="1400">
                <a:solidFill>
                  <a:schemeClr val="tx1"/>
                </a:solidFill>
                <a:latin typeface="+mn-ea"/>
                <a:cs typeface="Meiryo UI" panose="020B0604030504040204" pitchFamily="50" charset="-128"/>
              </a:rPr>
              <a:t>しているだけ。</a:t>
            </a:r>
            <a:endParaRPr kumimoji="1" lang="en-US" altLang="ja-JP" sz="1400">
              <a:solidFill>
                <a:schemeClr val="tx1"/>
              </a:solidFill>
              <a:latin typeface="+mn-ea"/>
              <a:cs typeface="Meiryo UI" panose="020B0604030504040204" pitchFamily="50" charset="-128"/>
            </a:endParaRPr>
          </a:p>
          <a:p>
            <a:pPr eaLnBrk="1" hangingPunct="1"/>
            <a:r>
              <a:rPr lang="ja-JP" altLang="en-US" sz="1400">
                <a:solidFill>
                  <a:schemeClr val="tx1"/>
                </a:solidFill>
                <a:latin typeface="+mn-ea"/>
                <a:cs typeface="Meiryo UI" panose="020B0604030504040204" pitchFamily="50" charset="-128"/>
              </a:rPr>
              <a:t>　</a:t>
            </a:r>
            <a:endParaRPr kumimoji="1" lang="ja-JP" altLang="en-US" sz="1400">
              <a:solidFill>
                <a:schemeClr val="tx1"/>
              </a:solidFill>
              <a:latin typeface="+mn-ea"/>
              <a:cs typeface="Meiryo UI" panose="020B0604030504040204" pitchFamily="50" charset="-128"/>
            </a:endParaRPr>
          </a:p>
        </p:txBody>
      </p:sp>
      <p:sp>
        <p:nvSpPr>
          <p:cNvPr id="30" name="正方形/長方形 29">
            <a:extLst>
              <a:ext uri="{FF2B5EF4-FFF2-40B4-BE49-F238E27FC236}">
                <a16:creationId xmlns:a16="http://schemas.microsoft.com/office/drawing/2014/main" id="{D6B02646-96B7-AB62-9C1A-63B699A6E2A5}"/>
              </a:ext>
            </a:extLst>
          </p:cNvPr>
          <p:cNvSpPr/>
          <p:nvPr/>
        </p:nvSpPr>
        <p:spPr>
          <a:xfrm>
            <a:off x="6549264" y="3895877"/>
            <a:ext cx="5112000" cy="720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400">
                <a:solidFill>
                  <a:schemeClr val="tx1"/>
                </a:solidFill>
                <a:latin typeface="+mn-ea"/>
                <a:cs typeface="Meiryo UI" panose="020B0604030504040204" pitchFamily="50" charset="-128"/>
              </a:rPr>
              <a:t>財・サービスを顧客に提供する前に</a:t>
            </a:r>
            <a:r>
              <a:rPr lang="ja-JP" altLang="en-US" sz="1400" u="sng">
                <a:solidFill>
                  <a:schemeClr val="tx1"/>
                </a:solidFill>
                <a:latin typeface="+mn-ea"/>
                <a:cs typeface="Meiryo UI" panose="020B0604030504040204" pitchFamily="50" charset="-128"/>
              </a:rPr>
              <a:t>支配している</a:t>
            </a:r>
            <a:r>
              <a:rPr lang="ja-JP" altLang="en-US" sz="1400">
                <a:solidFill>
                  <a:schemeClr val="tx1"/>
                </a:solidFill>
                <a:latin typeface="+mn-ea"/>
                <a:cs typeface="Meiryo UI" panose="020B0604030504040204" pitchFamily="50" charset="-128"/>
              </a:rPr>
              <a:t>。</a:t>
            </a:r>
            <a:endParaRPr kumimoji="1" lang="en-US" altLang="ja-JP" sz="1400">
              <a:solidFill>
                <a:schemeClr val="tx1"/>
              </a:solidFill>
              <a:latin typeface="+mn-ea"/>
              <a:cs typeface="Meiryo UI" panose="020B0604030504040204" pitchFamily="50" charset="-128"/>
            </a:endParaRPr>
          </a:p>
          <a:p>
            <a:pPr eaLnBrk="1" hangingPunct="1"/>
            <a:r>
              <a:rPr kumimoji="1" lang="ja-JP" altLang="en-US" sz="1400">
                <a:solidFill>
                  <a:schemeClr val="tx1"/>
                </a:solidFill>
                <a:latin typeface="+mn-ea"/>
                <a:cs typeface="Meiryo UI" panose="020B0604030504040204" pitchFamily="50" charset="-128"/>
              </a:rPr>
              <a:t>　⇒財・サービスを</a:t>
            </a:r>
            <a:r>
              <a:rPr kumimoji="1" lang="ja-JP" altLang="en-US" sz="1400" u="sng">
                <a:solidFill>
                  <a:srgbClr val="FF0000"/>
                </a:solidFill>
                <a:latin typeface="+mn-ea"/>
                <a:cs typeface="Meiryo UI" panose="020B0604030504040204" pitchFamily="50" charset="-128"/>
              </a:rPr>
              <a:t>自ら提供</a:t>
            </a:r>
            <a:r>
              <a:rPr kumimoji="1" lang="ja-JP" altLang="en-US" sz="1400">
                <a:solidFill>
                  <a:schemeClr val="tx1"/>
                </a:solidFill>
                <a:latin typeface="+mn-ea"/>
                <a:cs typeface="Meiryo UI" panose="020B0604030504040204" pitchFamily="50" charset="-128"/>
              </a:rPr>
              <a:t>する。</a:t>
            </a:r>
            <a:r>
              <a:rPr lang="ja-JP" altLang="en-US" sz="1400">
                <a:solidFill>
                  <a:schemeClr val="tx1"/>
                </a:solidFill>
                <a:latin typeface="+mn-ea"/>
                <a:cs typeface="Meiryo UI" panose="020B0604030504040204" pitchFamily="50" charset="-128"/>
              </a:rPr>
              <a:t>　</a:t>
            </a:r>
            <a:endParaRPr kumimoji="1" lang="ja-JP" altLang="en-US" sz="1400">
              <a:solidFill>
                <a:schemeClr val="tx1"/>
              </a:solidFill>
              <a:latin typeface="+mn-ea"/>
              <a:cs typeface="Meiryo UI" panose="020B0604030504040204" pitchFamily="50" charset="-128"/>
            </a:endParaRPr>
          </a:p>
        </p:txBody>
      </p:sp>
      <p:sp>
        <p:nvSpPr>
          <p:cNvPr id="31" name="正方形/長方形 30">
            <a:extLst>
              <a:ext uri="{FF2B5EF4-FFF2-40B4-BE49-F238E27FC236}">
                <a16:creationId xmlns:a16="http://schemas.microsoft.com/office/drawing/2014/main" id="{0A11AAD2-6DB7-5433-8AB9-4F908AABEBD1}"/>
              </a:ext>
            </a:extLst>
          </p:cNvPr>
          <p:cNvSpPr/>
          <p:nvPr/>
        </p:nvSpPr>
        <p:spPr>
          <a:xfrm>
            <a:off x="430007" y="5652356"/>
            <a:ext cx="1773141" cy="611079"/>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受領した代金：</a:t>
            </a:r>
            <a:r>
              <a:rPr kumimoji="1" lang="en-US" altLang="ja-JP" sz="1400" b="0" i="0" u="none" strike="noStrike" kern="1200" cap="none" spc="0" normalizeH="0" baseline="0" noProof="0">
                <a:ln>
                  <a:noFill/>
                </a:ln>
                <a:solidFill>
                  <a:schemeClr val="tx1"/>
                </a:solidFill>
                <a:effectLst/>
                <a:uLnTx/>
                <a:uFillTx/>
                <a:latin typeface="+mn-ea"/>
                <a:cs typeface="+mn-cs"/>
              </a:rPr>
              <a:t>100</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400">
                <a:solidFill>
                  <a:schemeClr val="tx1"/>
                </a:solidFill>
                <a:latin typeface="+mn-ea"/>
              </a:rPr>
              <a:t>仕入代価：</a:t>
            </a:r>
            <a:r>
              <a:rPr lang="en-US" altLang="ja-JP" sz="1400">
                <a:solidFill>
                  <a:schemeClr val="tx1"/>
                </a:solidFill>
                <a:latin typeface="+mn-ea"/>
              </a:rPr>
              <a:t>90</a:t>
            </a: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のケース</a:t>
            </a:r>
          </a:p>
        </p:txBody>
      </p:sp>
      <p:sp>
        <p:nvSpPr>
          <p:cNvPr id="32" name="正方形/長方形 31">
            <a:extLst>
              <a:ext uri="{FF2B5EF4-FFF2-40B4-BE49-F238E27FC236}">
                <a16:creationId xmlns:a16="http://schemas.microsoft.com/office/drawing/2014/main" id="{218E6A3E-3814-7371-588C-D65D15B9FEB7}"/>
              </a:ext>
            </a:extLst>
          </p:cNvPr>
          <p:cNvSpPr/>
          <p:nvPr/>
        </p:nvSpPr>
        <p:spPr>
          <a:xfrm>
            <a:off x="2909473" y="5721726"/>
            <a:ext cx="1773141" cy="611079"/>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lang="en-US" altLang="ja-JP" sz="1600" b="1" u="sng">
                <a:solidFill>
                  <a:schemeClr val="tx1"/>
                </a:solidFill>
                <a:latin typeface="+mn-ea"/>
              </a:rPr>
              <a:t>10</a:t>
            </a:r>
            <a:endParaRPr kumimoji="1" lang="en-US" altLang="ja-JP" sz="1600" b="1" i="0" u="sng"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0</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33" name="正方形/長方形 32">
            <a:extLst>
              <a:ext uri="{FF2B5EF4-FFF2-40B4-BE49-F238E27FC236}">
                <a16:creationId xmlns:a16="http://schemas.microsoft.com/office/drawing/2014/main" id="{F0B4FBE5-CC8E-358B-DF4F-896F544BFC21}"/>
              </a:ext>
            </a:extLst>
          </p:cNvPr>
          <p:cNvSpPr/>
          <p:nvPr/>
        </p:nvSpPr>
        <p:spPr>
          <a:xfrm>
            <a:off x="7924861" y="5721726"/>
            <a:ext cx="1773141" cy="611079"/>
          </a:xfrm>
          <a:prstGeom prst="rect">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600" b="0" i="0" u="none" strike="noStrike" kern="1200" cap="none" spc="0" normalizeH="0" baseline="0" noProof="0">
                <a:ln>
                  <a:noFill/>
                </a:ln>
                <a:solidFill>
                  <a:schemeClr val="tx1"/>
                </a:solidFill>
                <a:effectLst/>
                <a:uLnTx/>
                <a:uFillTx/>
                <a:latin typeface="+mn-ea"/>
                <a:cs typeface="+mn-cs"/>
              </a:rPr>
              <a:t>売上高：</a:t>
            </a:r>
            <a:r>
              <a:rPr kumimoji="1" lang="en-US" altLang="ja-JP" sz="1600" b="1" i="0" u="sng" strike="noStrike" kern="1200" cap="none" spc="0" normalizeH="0" baseline="0" noProof="0">
                <a:ln>
                  <a:noFill/>
                </a:ln>
                <a:solidFill>
                  <a:schemeClr val="tx1"/>
                </a:solidFill>
                <a:effectLst/>
                <a:uLnTx/>
                <a:uFillTx/>
                <a:latin typeface="+mn-ea"/>
                <a:cs typeface="+mn-cs"/>
              </a:rPr>
              <a:t>100</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90</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34" name="矢印: 右 33">
            <a:extLst>
              <a:ext uri="{FF2B5EF4-FFF2-40B4-BE49-F238E27FC236}">
                <a16:creationId xmlns:a16="http://schemas.microsoft.com/office/drawing/2014/main" id="{A323F163-33F8-B3B6-95B2-5082B5EA7818}"/>
              </a:ext>
            </a:extLst>
          </p:cNvPr>
          <p:cNvSpPr/>
          <p:nvPr/>
        </p:nvSpPr>
        <p:spPr>
          <a:xfrm>
            <a:off x="2203148" y="5745579"/>
            <a:ext cx="492981" cy="592257"/>
          </a:xfrm>
          <a:prstGeom prst="rightArrow">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 name="矢印: 左右 1">
            <a:extLst>
              <a:ext uri="{FF2B5EF4-FFF2-40B4-BE49-F238E27FC236}">
                <a16:creationId xmlns:a16="http://schemas.microsoft.com/office/drawing/2014/main" id="{3BE2F81D-C97E-CFC1-BE82-370820D7CE94}"/>
              </a:ext>
            </a:extLst>
          </p:cNvPr>
          <p:cNvSpPr/>
          <p:nvPr/>
        </p:nvSpPr>
        <p:spPr>
          <a:xfrm>
            <a:off x="5085356" y="5753594"/>
            <a:ext cx="2436762" cy="534655"/>
          </a:xfrm>
          <a:prstGeom prst="leftRightArrow">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1" i="0" u="none" strike="noStrike" kern="1200" cap="none" spc="0" normalizeH="0" baseline="0" noProof="0">
                <a:ln>
                  <a:noFill/>
                </a:ln>
                <a:solidFill>
                  <a:schemeClr val="tx1"/>
                </a:solidFill>
                <a:effectLst/>
                <a:uLnTx/>
                <a:uFillTx/>
                <a:latin typeface="+mn-ea"/>
                <a:cs typeface="+mn-cs"/>
              </a:rPr>
              <a:t>売上高が大きく変動</a:t>
            </a:r>
          </a:p>
        </p:txBody>
      </p:sp>
      <p:sp>
        <p:nvSpPr>
          <p:cNvPr id="4" name="正方形/長方形 3">
            <a:extLst>
              <a:ext uri="{FF2B5EF4-FFF2-40B4-BE49-F238E27FC236}">
                <a16:creationId xmlns:a16="http://schemas.microsoft.com/office/drawing/2014/main" id="{E72F096B-E47A-2969-C6FC-ABF2BFA97750}"/>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5" name="正方形/長方形 4">
            <a:extLst>
              <a:ext uri="{FF2B5EF4-FFF2-40B4-BE49-F238E27FC236}">
                <a16:creationId xmlns:a16="http://schemas.microsoft.com/office/drawing/2014/main" id="{187CEE08-A2FB-0769-5751-54E92011B537}"/>
              </a:ext>
            </a:extLst>
          </p:cNvPr>
          <p:cNvSpPr/>
          <p:nvPr/>
        </p:nvSpPr>
        <p:spPr>
          <a:xfrm>
            <a:off x="4340874" y="2411846"/>
            <a:ext cx="2881215" cy="503365"/>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100" b="1">
                <a:solidFill>
                  <a:schemeClr val="tx1"/>
                </a:solidFill>
                <a:latin typeface="+mn-ea"/>
                <a:cs typeface="Meiryo UI" panose="020B0604030504040204" pitchFamily="50" charset="-128"/>
              </a:rPr>
              <a:t>(</a:t>
            </a:r>
            <a:r>
              <a:rPr kumimoji="1" lang="ja-JP" altLang="en-US" sz="1100" b="1">
                <a:solidFill>
                  <a:schemeClr val="tx1"/>
                </a:solidFill>
                <a:latin typeface="+mn-ea"/>
                <a:cs typeface="Meiryo UI" panose="020B0604030504040204" pitchFamily="50" charset="-128"/>
              </a:rPr>
              <a:t>在庫リスク</a:t>
            </a:r>
            <a:r>
              <a:rPr kumimoji="1" lang="en-US" altLang="ja-JP" sz="1100" b="1">
                <a:solidFill>
                  <a:schemeClr val="tx1"/>
                </a:solidFill>
                <a:latin typeface="+mn-ea"/>
                <a:cs typeface="Meiryo UI" panose="020B0604030504040204" pitchFamily="50" charset="-128"/>
              </a:rPr>
              <a:t>)</a:t>
            </a:r>
          </a:p>
          <a:p>
            <a:pPr algn="ctr" eaLnBrk="1" hangingPunct="1"/>
            <a:r>
              <a:rPr kumimoji="1" lang="ja-JP" altLang="en-US" sz="1100" b="1">
                <a:solidFill>
                  <a:schemeClr val="tx1"/>
                </a:solidFill>
                <a:latin typeface="+mn-ea"/>
                <a:cs typeface="Meiryo UI" panose="020B0604030504040204" pitchFamily="50" charset="-128"/>
              </a:rPr>
              <a:t>売れ残り、値下がり、返品リスクを背負うか</a:t>
            </a:r>
          </a:p>
        </p:txBody>
      </p:sp>
      <p:sp>
        <p:nvSpPr>
          <p:cNvPr id="6" name="正方形/長方形 5">
            <a:extLst>
              <a:ext uri="{FF2B5EF4-FFF2-40B4-BE49-F238E27FC236}">
                <a16:creationId xmlns:a16="http://schemas.microsoft.com/office/drawing/2014/main" id="{C7E5916E-9D4B-AB13-408D-3C9A1885F756}"/>
              </a:ext>
            </a:extLst>
          </p:cNvPr>
          <p:cNvSpPr/>
          <p:nvPr/>
        </p:nvSpPr>
        <p:spPr>
          <a:xfrm>
            <a:off x="7523851" y="2411846"/>
            <a:ext cx="3830362" cy="506009"/>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100" b="1">
                <a:solidFill>
                  <a:schemeClr val="tx1"/>
                </a:solidFill>
                <a:latin typeface="+mn-ea"/>
                <a:cs typeface="Meiryo UI" panose="020B0604030504040204" pitchFamily="50" charset="-128"/>
              </a:rPr>
              <a:t>（価格設定に対する裁量権）</a:t>
            </a:r>
            <a:endParaRPr kumimoji="1" lang="en-US" altLang="ja-JP" sz="1100" b="1">
              <a:solidFill>
                <a:schemeClr val="tx1"/>
              </a:solidFill>
              <a:latin typeface="+mn-ea"/>
              <a:cs typeface="Meiryo UI" panose="020B0604030504040204" pitchFamily="50" charset="-128"/>
            </a:endParaRPr>
          </a:p>
          <a:p>
            <a:pPr algn="ctr" eaLnBrk="1" hangingPunct="1"/>
            <a:r>
              <a:rPr kumimoji="1" lang="ja-JP" altLang="en-US" sz="1100" b="1">
                <a:solidFill>
                  <a:schemeClr val="tx1"/>
                </a:solidFill>
                <a:latin typeface="+mn-ea"/>
                <a:cs typeface="Meiryo UI" panose="020B0604030504040204" pitchFamily="50" charset="-128"/>
              </a:rPr>
              <a:t>自社がその商品の販売価格や値引きを自由に決めれるか</a:t>
            </a:r>
          </a:p>
        </p:txBody>
      </p:sp>
      <p:sp>
        <p:nvSpPr>
          <p:cNvPr id="7" name="正方形/長方形 6">
            <a:extLst>
              <a:ext uri="{FF2B5EF4-FFF2-40B4-BE49-F238E27FC236}">
                <a16:creationId xmlns:a16="http://schemas.microsoft.com/office/drawing/2014/main" id="{3CCB1955-258B-D3AF-0412-78F5B4006D2D}"/>
              </a:ext>
            </a:extLst>
          </p:cNvPr>
          <p:cNvSpPr/>
          <p:nvPr/>
        </p:nvSpPr>
        <p:spPr>
          <a:xfrm>
            <a:off x="1017332" y="2411846"/>
            <a:ext cx="3054314"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200" b="1">
                <a:solidFill>
                  <a:schemeClr val="tx1"/>
                </a:solidFill>
                <a:latin typeface="+mn-ea"/>
                <a:cs typeface="Meiryo UI" panose="020B0604030504040204" pitchFamily="50" charset="-128"/>
              </a:rPr>
              <a:t>（履行責任）</a:t>
            </a:r>
            <a:endParaRPr kumimoji="1" lang="en-US" altLang="ja-JP" sz="1200" b="1">
              <a:solidFill>
                <a:schemeClr val="tx1"/>
              </a:solidFill>
              <a:latin typeface="+mn-ea"/>
              <a:cs typeface="Meiryo UI" panose="020B0604030504040204" pitchFamily="50" charset="-128"/>
            </a:endParaRPr>
          </a:p>
          <a:p>
            <a:pPr algn="ctr" eaLnBrk="1" hangingPunct="1"/>
            <a:r>
              <a:rPr kumimoji="1" lang="ja-JP" altLang="en-US" sz="1200" b="1">
                <a:solidFill>
                  <a:schemeClr val="tx1"/>
                </a:solidFill>
                <a:latin typeface="+mn-ea"/>
                <a:cs typeface="Meiryo UI" panose="020B0604030504040204" pitchFamily="50" charset="-128"/>
              </a:rPr>
              <a:t>問題が起きたとき対応責任を負うかどうか</a:t>
            </a:r>
          </a:p>
        </p:txBody>
      </p:sp>
    </p:spTree>
    <p:extLst>
      <p:ext uri="{BB962C8B-B14F-4D97-AF65-F5344CB8AC3E}">
        <p14:creationId xmlns:p14="http://schemas.microsoft.com/office/powerpoint/2010/main" val="2444878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DFDC5D1-8442-B4D3-4105-B144C4648A0D}"/>
              </a:ext>
            </a:extLst>
          </p:cNvPr>
          <p:cNvSpPr>
            <a:spLocks noGrp="1"/>
          </p:cNvSpPr>
          <p:nvPr>
            <p:ph type="title"/>
          </p:nvPr>
        </p:nvSpPr>
        <p:spPr/>
        <p:txBody>
          <a:bodyPr>
            <a:normAutofit/>
          </a:bodyPr>
          <a:lstStyle/>
          <a:p>
            <a:r>
              <a:rPr lang="en-US" altLang="ja-JP"/>
              <a:t>3-2.</a:t>
            </a:r>
            <a:r>
              <a:rPr lang="ja-JP" altLang="en-US"/>
              <a:t>スルー取引による売上の過大計上</a:t>
            </a:r>
            <a:endParaRPr lang="ja-JP" altLang="en-US">
              <a:cs typeface="Segoe UI"/>
            </a:endParaRPr>
          </a:p>
        </p:txBody>
      </p:sp>
      <p:sp>
        <p:nvSpPr>
          <p:cNvPr id="2" name="正方形/長方形 1">
            <a:extLst>
              <a:ext uri="{FF2B5EF4-FFF2-40B4-BE49-F238E27FC236}">
                <a16:creationId xmlns:a16="http://schemas.microsoft.com/office/drawing/2014/main" id="{178E41C0-978C-EC9C-EF91-BDE812E4BE1E}"/>
              </a:ext>
            </a:extLst>
          </p:cNvPr>
          <p:cNvSpPr/>
          <p:nvPr/>
        </p:nvSpPr>
        <p:spPr bwMode="gray">
          <a:xfrm>
            <a:off x="2127658" y="1612238"/>
            <a:ext cx="9720000" cy="1560808"/>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4945" defTabSz="990589">
              <a:spcBef>
                <a:spcPts val="300"/>
              </a:spcBef>
              <a:buClr>
                <a:schemeClr val="tx1"/>
              </a:buClr>
              <a:buSzPct val="100000"/>
              <a:buFont typeface="Wingdings" panose="05000000000000000000" pitchFamily="2" charset="2"/>
              <a:buChar char="Ø"/>
            </a:pPr>
            <a:r>
              <a:rPr lang="ja-JP" altLang="en-US" sz="1400" b="1">
                <a:solidFill>
                  <a:srgbClr val="FF0000"/>
                </a:solidFill>
                <a:latin typeface="+mn-ea"/>
                <a:sym typeface="Wingdings" panose="05000000000000000000" pitchFamily="2" charset="2"/>
              </a:rPr>
              <a:t>各社にて</a:t>
            </a:r>
            <a:r>
              <a:rPr lang="ja-JP" altLang="en-US" sz="1400">
                <a:latin typeface="+mn-ea"/>
                <a:sym typeface="Wingdings" panose="05000000000000000000" pitchFamily="2" charset="2"/>
              </a:rPr>
              <a:t>総額</a:t>
            </a:r>
            <a:r>
              <a:rPr lang="ja-JP" altLang="en-US" sz="1400">
                <a:solidFill>
                  <a:prstClr val="black"/>
                </a:solidFill>
                <a:latin typeface="+mn-ea"/>
              </a:rPr>
              <a:t>計上となっている仕入・売上の修正</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en-US" altLang="ja-JP" sz="1400">
                <a:solidFill>
                  <a:prstClr val="black"/>
                </a:solidFill>
                <a:latin typeface="+mn-ea"/>
              </a:rPr>
              <a:t>(</a:t>
            </a:r>
            <a:r>
              <a:rPr lang="ja-JP" altLang="en-US" sz="1400">
                <a:solidFill>
                  <a:prstClr val="black"/>
                </a:solidFill>
                <a:latin typeface="+mn-ea"/>
              </a:rPr>
              <a:t>仲介手数料相当額が</a:t>
            </a:r>
            <a:r>
              <a:rPr lang="ja-JP" altLang="en-US" sz="1400" u="sng">
                <a:solidFill>
                  <a:prstClr val="black"/>
                </a:solidFill>
                <a:latin typeface="+mn-ea"/>
              </a:rPr>
              <a:t>ない</a:t>
            </a:r>
            <a:r>
              <a:rPr lang="ja-JP" altLang="en-US" sz="1400">
                <a:solidFill>
                  <a:prstClr val="black"/>
                </a:solidFill>
                <a:latin typeface="+mn-ea"/>
              </a:rPr>
              <a:t>場合</a:t>
            </a:r>
            <a:r>
              <a:rPr lang="en-US" altLang="ja-JP" sz="1400">
                <a:solidFill>
                  <a:prstClr val="black"/>
                </a:solidFill>
                <a:latin typeface="+mn-ea"/>
              </a:rPr>
              <a:t>)</a:t>
            </a:r>
            <a:r>
              <a:rPr lang="ja-JP" altLang="en-US" sz="1400">
                <a:solidFill>
                  <a:prstClr val="black"/>
                </a:solidFill>
                <a:latin typeface="+mn-ea"/>
              </a:rPr>
              <a:t>仕入・売上の取り消し</a:t>
            </a:r>
          </a:p>
          <a:p>
            <a:pPr marL="625475" lvl="1" indent="-285750" defTabSz="990589">
              <a:spcBef>
                <a:spcPts val="300"/>
              </a:spcBef>
              <a:buSzPct val="100000"/>
              <a:buFont typeface="Arial" panose="020B0604020202020204" pitchFamily="34" charset="0"/>
              <a:buChar char="•"/>
            </a:pPr>
            <a:r>
              <a:rPr lang="en-US" altLang="ja-JP" sz="1400">
                <a:solidFill>
                  <a:prstClr val="black"/>
                </a:solidFill>
                <a:latin typeface="+mn-ea"/>
              </a:rPr>
              <a:t>(</a:t>
            </a:r>
            <a:r>
              <a:rPr lang="ja-JP" altLang="en-US" sz="1400">
                <a:solidFill>
                  <a:prstClr val="black"/>
                </a:solidFill>
                <a:latin typeface="+mn-ea"/>
              </a:rPr>
              <a:t>仲介手数料相当額が</a:t>
            </a:r>
            <a:r>
              <a:rPr lang="ja-JP" altLang="en-US" sz="1400" u="sng">
                <a:solidFill>
                  <a:prstClr val="black"/>
                </a:solidFill>
                <a:latin typeface="+mn-ea"/>
              </a:rPr>
              <a:t>ある</a:t>
            </a:r>
            <a:r>
              <a:rPr lang="ja-JP" altLang="en-US" sz="1400">
                <a:solidFill>
                  <a:prstClr val="black"/>
                </a:solidFill>
                <a:latin typeface="+mn-ea"/>
              </a:rPr>
              <a:t>場合</a:t>
            </a:r>
            <a:r>
              <a:rPr lang="en-US" altLang="ja-JP" sz="1400">
                <a:solidFill>
                  <a:prstClr val="black"/>
                </a:solidFill>
                <a:latin typeface="+mn-ea"/>
              </a:rPr>
              <a:t>)</a:t>
            </a:r>
            <a:r>
              <a:rPr lang="ja-JP" altLang="en-US" sz="1400">
                <a:solidFill>
                  <a:prstClr val="black"/>
                </a:solidFill>
                <a:latin typeface="+mn-ea"/>
              </a:rPr>
              <a:t>仲介手数料相当額のみとなるよう、仕入・売上の相殺</a:t>
            </a:r>
          </a:p>
        </p:txBody>
      </p:sp>
      <p:sp>
        <p:nvSpPr>
          <p:cNvPr id="11" name="正方形/長方形 10">
            <a:extLst>
              <a:ext uri="{FF2B5EF4-FFF2-40B4-BE49-F238E27FC236}">
                <a16:creationId xmlns:a16="http://schemas.microsoft.com/office/drawing/2014/main" id="{6EF9D809-2B3F-DB10-710D-6B647443B802}"/>
              </a:ext>
            </a:extLst>
          </p:cNvPr>
          <p:cNvSpPr/>
          <p:nvPr/>
        </p:nvSpPr>
        <p:spPr bwMode="gray">
          <a:xfrm>
            <a:off x="507602" y="1612238"/>
            <a:ext cx="1260000" cy="1560808"/>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必要な</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会計処理</a:t>
            </a:r>
            <a:endParaRPr lang="en-US" altLang="ja-JP" sz="1400" b="1">
              <a:solidFill>
                <a:schemeClr val="bg1"/>
              </a:solidFill>
              <a:latin typeface="+mn-ea"/>
            </a:endParaRPr>
          </a:p>
        </p:txBody>
      </p:sp>
      <p:sp>
        <p:nvSpPr>
          <p:cNvPr id="25" name="正方形/長方形 24">
            <a:extLst>
              <a:ext uri="{FF2B5EF4-FFF2-40B4-BE49-F238E27FC236}">
                <a16:creationId xmlns:a16="http://schemas.microsoft.com/office/drawing/2014/main" id="{A496787D-AF90-BD47-3670-FDB8A1B2E21F}"/>
              </a:ext>
            </a:extLst>
          </p:cNvPr>
          <p:cNvSpPr/>
          <p:nvPr/>
        </p:nvSpPr>
        <p:spPr bwMode="gray">
          <a:xfrm>
            <a:off x="2127658" y="3429000"/>
            <a:ext cx="9720000" cy="3002722"/>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sym typeface="Wingdings" panose="05000000000000000000" pitchFamily="2" charset="2"/>
              </a:rPr>
              <a:t>商流にグループ会社が含まれない場合：報告事項なし</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各社にて取り消し処理で完結</a:t>
            </a:r>
            <a:endParaRPr lang="en-US" altLang="ja-JP" sz="1400">
              <a:solidFill>
                <a:prstClr val="black"/>
              </a:solidFill>
              <a:latin typeface="+mn-ea"/>
            </a:endParaRPr>
          </a:p>
          <a:p>
            <a:pPr marL="90487" defTabSz="990589">
              <a:spcBef>
                <a:spcPts val="300"/>
              </a:spcBef>
              <a:buSzPct val="100000"/>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商流にグループ会社が含まれる場合</a:t>
            </a:r>
            <a:r>
              <a:rPr lang="ja-JP" altLang="en-US" sz="1400">
                <a:solidFill>
                  <a:prstClr val="black"/>
                </a:solidFill>
                <a:latin typeface="+mn-ea"/>
                <a:sym typeface="Wingdings" panose="05000000000000000000" pitchFamily="2" charset="2"/>
              </a:rPr>
              <a:t>：該当の商流、修正対象の金額</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グループ内取引において各社の認識額に相違が発生する可能性があり、連結財務諸表作成の観点から報告が必要</a:t>
            </a:r>
            <a:endParaRPr lang="en-US" altLang="ja-JP" sz="1400">
              <a:solidFill>
                <a:prstClr val="black"/>
              </a:solidFill>
              <a:latin typeface="+mn-ea"/>
            </a:endParaRPr>
          </a:p>
        </p:txBody>
      </p:sp>
      <p:sp>
        <p:nvSpPr>
          <p:cNvPr id="29" name="正方形/長方形 28">
            <a:extLst>
              <a:ext uri="{FF2B5EF4-FFF2-40B4-BE49-F238E27FC236}">
                <a16:creationId xmlns:a16="http://schemas.microsoft.com/office/drawing/2014/main" id="{F45F667D-2090-BFB4-4728-1703B94767E5}"/>
              </a:ext>
            </a:extLst>
          </p:cNvPr>
          <p:cNvSpPr/>
          <p:nvPr/>
        </p:nvSpPr>
        <p:spPr bwMode="gray">
          <a:xfrm>
            <a:off x="507602" y="3429000"/>
            <a:ext cx="1260000" cy="3002722"/>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本社経理への</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連絡事項</a:t>
            </a:r>
            <a:endParaRPr lang="en-US" altLang="ja-JP" sz="1400" b="1">
              <a:solidFill>
                <a:schemeClr val="bg1"/>
              </a:solidFill>
              <a:latin typeface="+mn-ea"/>
            </a:endParaRPr>
          </a:p>
        </p:txBody>
      </p:sp>
      <p:sp>
        <p:nvSpPr>
          <p:cNvPr id="30" name="テキスト プレースホルダー 3">
            <a:extLst>
              <a:ext uri="{FF2B5EF4-FFF2-40B4-BE49-F238E27FC236}">
                <a16:creationId xmlns:a16="http://schemas.microsoft.com/office/drawing/2014/main" id="{256DC9AA-0FDD-65B8-FD29-C17B496D4552}"/>
              </a:ext>
            </a:extLst>
          </p:cNvPr>
          <p:cNvSpPr txBox="1">
            <a:spLocks/>
          </p:cNvSpPr>
          <p:nvPr/>
        </p:nvSpPr>
        <p:spPr>
          <a:xfrm>
            <a:off x="659995" y="919865"/>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スルー取引について該当のある場合、以下の会計処理及び</a:t>
            </a:r>
            <a:r>
              <a:rPr lang="en-US" altLang="ja-JP" sz="1800" b="0"/>
              <a:t>AWI</a:t>
            </a:r>
            <a:r>
              <a:rPr lang="ja-JP" altLang="en-US" sz="1800" b="0"/>
              <a:t>経理への連絡をお願いします。</a:t>
            </a:r>
          </a:p>
        </p:txBody>
      </p:sp>
    </p:spTree>
    <p:extLst>
      <p:ext uri="{BB962C8B-B14F-4D97-AF65-F5344CB8AC3E}">
        <p14:creationId xmlns:p14="http://schemas.microsoft.com/office/powerpoint/2010/main" val="3177288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61D9C-97E7-C75C-B6D2-33DB1C24B3C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8897AE1-F711-15E1-1745-3A3AA7AB1CB7}"/>
              </a:ext>
            </a:extLst>
          </p:cNvPr>
          <p:cNvSpPr>
            <a:spLocks noGrp="1"/>
          </p:cNvSpPr>
          <p:nvPr>
            <p:ph type="title"/>
          </p:nvPr>
        </p:nvSpPr>
        <p:spPr/>
        <p:txBody>
          <a:bodyPr>
            <a:normAutofit/>
          </a:bodyPr>
          <a:lstStyle/>
          <a:p>
            <a:r>
              <a:rPr lang="en-US" altLang="ja-JP"/>
              <a:t>3-2.</a:t>
            </a:r>
            <a:r>
              <a:rPr lang="ja-JP" altLang="en-US"/>
              <a:t>スルー取引による売上の過大計上</a:t>
            </a:r>
            <a:endParaRPr lang="ja-JP" altLang="en-US">
              <a:cs typeface="Segoe UI"/>
            </a:endParaRPr>
          </a:p>
        </p:txBody>
      </p:sp>
      <p:sp>
        <p:nvSpPr>
          <p:cNvPr id="4" name="正方形/長方形 3">
            <a:extLst>
              <a:ext uri="{FF2B5EF4-FFF2-40B4-BE49-F238E27FC236}">
                <a16:creationId xmlns:a16="http://schemas.microsoft.com/office/drawing/2014/main" id="{DF1C7786-5C5A-3992-A110-1473F9B56AF1}"/>
              </a:ext>
            </a:extLst>
          </p:cNvPr>
          <p:cNvSpPr/>
          <p:nvPr/>
        </p:nvSpPr>
        <p:spPr>
          <a:xfrm>
            <a:off x="1052666" y="1680971"/>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仕入業者（</a:t>
            </a:r>
            <a:r>
              <a:rPr lang="en-US" altLang="ja-JP" sz="1600">
                <a:solidFill>
                  <a:schemeClr val="tx1"/>
                </a:solidFill>
                <a:latin typeface="+mn-ea"/>
                <a:cs typeface="Meiryo UI" panose="020B0604030504040204" pitchFamily="50" charset="-128"/>
              </a:rPr>
              <a:t>A)</a:t>
            </a:r>
            <a:endParaRPr kumimoji="1" lang="ja-JP" altLang="en-US" sz="1600">
              <a:solidFill>
                <a:schemeClr val="tx1"/>
              </a:solidFill>
              <a:latin typeface="+mn-ea"/>
              <a:cs typeface="Meiryo UI" panose="020B0604030504040204" pitchFamily="50" charset="-128"/>
            </a:endParaRPr>
          </a:p>
        </p:txBody>
      </p:sp>
      <p:cxnSp>
        <p:nvCxnSpPr>
          <p:cNvPr id="5" name="直線矢印コネクタ 4">
            <a:extLst>
              <a:ext uri="{FF2B5EF4-FFF2-40B4-BE49-F238E27FC236}">
                <a16:creationId xmlns:a16="http://schemas.microsoft.com/office/drawing/2014/main" id="{8A0B8610-2E3A-88EA-CF45-D5FB73F154B0}"/>
              </a:ext>
            </a:extLst>
          </p:cNvPr>
          <p:cNvCxnSpPr>
            <a:cxnSpLocks/>
            <a:stCxn id="4" idx="3"/>
            <a:endCxn id="6" idx="1"/>
          </p:cNvCxnSpPr>
          <p:nvPr/>
        </p:nvCxnSpPr>
        <p:spPr>
          <a:xfrm>
            <a:off x="2852666" y="1939693"/>
            <a:ext cx="231369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5D094226-1220-AF6F-7977-998641CBB3C3}"/>
              </a:ext>
            </a:extLst>
          </p:cNvPr>
          <p:cNvSpPr/>
          <p:nvPr/>
        </p:nvSpPr>
        <p:spPr>
          <a:xfrm>
            <a:off x="5166362" y="1680971"/>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エコロッカ</a:t>
            </a:r>
            <a:endParaRPr kumimoji="1" lang="ja-JP" altLang="en-US" sz="1600">
              <a:solidFill>
                <a:schemeClr val="tx1"/>
              </a:solidFill>
              <a:latin typeface="+mn-ea"/>
              <a:cs typeface="Meiryo UI" panose="020B0604030504040204" pitchFamily="50" charset="-128"/>
            </a:endParaRPr>
          </a:p>
        </p:txBody>
      </p:sp>
      <p:sp>
        <p:nvSpPr>
          <p:cNvPr id="7" name="正方形/長方形 6">
            <a:extLst>
              <a:ext uri="{FF2B5EF4-FFF2-40B4-BE49-F238E27FC236}">
                <a16:creationId xmlns:a16="http://schemas.microsoft.com/office/drawing/2014/main" id="{C7FD86B4-CE37-D34B-F955-EFE8BFCA630E}"/>
              </a:ext>
            </a:extLst>
          </p:cNvPr>
          <p:cNvSpPr/>
          <p:nvPr/>
        </p:nvSpPr>
        <p:spPr>
          <a:xfrm>
            <a:off x="9280058" y="1680971"/>
            <a:ext cx="180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S</a:t>
            </a:r>
            <a:r>
              <a:rPr kumimoji="1" lang="ja-JP" altLang="en-US" sz="1600">
                <a:solidFill>
                  <a:schemeClr val="tx1"/>
                </a:solidFill>
                <a:latin typeface="+mn-ea"/>
                <a:cs typeface="Meiryo UI" panose="020B0604030504040204" pitchFamily="50" charset="-128"/>
              </a:rPr>
              <a:t>社</a:t>
            </a:r>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その他</a:t>
            </a:r>
            <a:endParaRPr kumimoji="1" lang="en-US" altLang="ja-JP" sz="1600">
              <a:solidFill>
                <a:schemeClr val="tx1"/>
              </a:solidFill>
              <a:latin typeface="+mn-ea"/>
              <a:cs typeface="Meiryo UI" panose="020B0604030504040204" pitchFamily="50" charset="-128"/>
            </a:endParaRPr>
          </a:p>
          <a:p>
            <a:pPr algn="ctr" eaLnBrk="1" hangingPunct="1"/>
            <a:r>
              <a:rPr lang="en-US" altLang="ja-JP" sz="1600">
                <a:solidFill>
                  <a:schemeClr val="tx1"/>
                </a:solidFill>
                <a:latin typeface="+mn-ea"/>
                <a:cs typeface="Meiryo UI" panose="020B0604030504040204" pitchFamily="50" charset="-128"/>
              </a:rPr>
              <a:t>(AW</a:t>
            </a:r>
            <a:r>
              <a:rPr lang="ja-JP" altLang="en-US" sz="1600">
                <a:solidFill>
                  <a:schemeClr val="tx1"/>
                </a:solidFill>
                <a:latin typeface="+mn-ea"/>
                <a:cs typeface="Meiryo UI" panose="020B0604030504040204" pitchFamily="50" charset="-128"/>
              </a:rPr>
              <a:t>グループ外</a:t>
            </a:r>
            <a:r>
              <a:rPr lang="en-US" altLang="ja-JP" sz="1600">
                <a:solidFill>
                  <a:schemeClr val="tx1"/>
                </a:solidFill>
                <a:latin typeface="+mn-ea"/>
                <a:cs typeface="Meiryo UI" panose="020B0604030504040204" pitchFamily="50" charset="-128"/>
              </a:rPr>
              <a:t>)</a:t>
            </a:r>
            <a:endParaRPr kumimoji="1" lang="ja-JP" altLang="en-US" sz="1600">
              <a:solidFill>
                <a:schemeClr val="tx1"/>
              </a:solidFill>
              <a:latin typeface="+mn-ea"/>
              <a:cs typeface="Meiryo UI" panose="020B0604030504040204" pitchFamily="50" charset="-128"/>
            </a:endParaRPr>
          </a:p>
        </p:txBody>
      </p:sp>
      <p:cxnSp>
        <p:nvCxnSpPr>
          <p:cNvPr id="8" name="直線矢印コネクタ 7">
            <a:extLst>
              <a:ext uri="{FF2B5EF4-FFF2-40B4-BE49-F238E27FC236}">
                <a16:creationId xmlns:a16="http://schemas.microsoft.com/office/drawing/2014/main" id="{9337FC55-902F-0874-9044-15E7AAFF02FF}"/>
              </a:ext>
            </a:extLst>
          </p:cNvPr>
          <p:cNvCxnSpPr>
            <a:cxnSpLocks/>
            <a:stCxn id="6" idx="3"/>
            <a:endCxn id="7" idx="1"/>
          </p:cNvCxnSpPr>
          <p:nvPr/>
        </p:nvCxnSpPr>
        <p:spPr>
          <a:xfrm>
            <a:off x="6966362" y="1939693"/>
            <a:ext cx="2313696"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 name="乗算記号 8">
            <a:extLst>
              <a:ext uri="{FF2B5EF4-FFF2-40B4-BE49-F238E27FC236}">
                <a16:creationId xmlns:a16="http://schemas.microsoft.com/office/drawing/2014/main" id="{49D63A30-BF8A-FE04-0409-57AC79D240DA}"/>
              </a:ext>
            </a:extLst>
          </p:cNvPr>
          <p:cNvSpPr/>
          <p:nvPr/>
        </p:nvSpPr>
        <p:spPr>
          <a:xfrm>
            <a:off x="3613514" y="1615693"/>
            <a:ext cx="792000" cy="648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10" name="乗算記号 9">
            <a:extLst>
              <a:ext uri="{FF2B5EF4-FFF2-40B4-BE49-F238E27FC236}">
                <a16:creationId xmlns:a16="http://schemas.microsoft.com/office/drawing/2014/main" id="{CE8A74D7-1E19-3AA6-4B9A-C47A52739BE5}"/>
              </a:ext>
            </a:extLst>
          </p:cNvPr>
          <p:cNvSpPr/>
          <p:nvPr/>
        </p:nvSpPr>
        <p:spPr>
          <a:xfrm>
            <a:off x="7727210" y="1595873"/>
            <a:ext cx="792000" cy="648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12" name="乗算記号 11">
            <a:extLst>
              <a:ext uri="{FF2B5EF4-FFF2-40B4-BE49-F238E27FC236}">
                <a16:creationId xmlns:a16="http://schemas.microsoft.com/office/drawing/2014/main" id="{AE8AA96D-2955-1077-C609-08B94682B703}"/>
              </a:ext>
            </a:extLst>
          </p:cNvPr>
          <p:cNvSpPr/>
          <p:nvPr/>
        </p:nvSpPr>
        <p:spPr>
          <a:xfrm>
            <a:off x="1052666" y="2330857"/>
            <a:ext cx="544892" cy="544892"/>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lang="en-US" altLang="ja-JP" sz="1400">
              <a:solidFill>
                <a:srgbClr val="FFFFFF"/>
              </a:solidFill>
              <a:latin typeface="+mn-ea"/>
            </a:endParaRPr>
          </a:p>
        </p:txBody>
      </p:sp>
      <p:sp>
        <p:nvSpPr>
          <p:cNvPr id="13" name="テキスト ボックス 12">
            <a:extLst>
              <a:ext uri="{FF2B5EF4-FFF2-40B4-BE49-F238E27FC236}">
                <a16:creationId xmlns:a16="http://schemas.microsoft.com/office/drawing/2014/main" id="{8D82492C-C441-097E-CAA1-163A6B6B2E2F}"/>
              </a:ext>
            </a:extLst>
          </p:cNvPr>
          <p:cNvSpPr txBox="1"/>
          <p:nvPr/>
        </p:nvSpPr>
        <p:spPr>
          <a:xfrm>
            <a:off x="1552701" y="2426841"/>
            <a:ext cx="2313696" cy="326935"/>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sz="1200"/>
              <a:t>売上と仕入の両方を</a:t>
            </a:r>
            <a:r>
              <a:rPr lang="ja-JP" altLang="en-US" sz="1200">
                <a:solidFill>
                  <a:srgbClr val="FF0000"/>
                </a:solidFill>
              </a:rPr>
              <a:t>総額</a:t>
            </a:r>
            <a:r>
              <a:rPr lang="ja-JP" altLang="en-US" sz="1200"/>
              <a:t>で計上</a:t>
            </a:r>
          </a:p>
        </p:txBody>
      </p:sp>
      <p:sp>
        <p:nvSpPr>
          <p:cNvPr id="14" name="円: 塗りつぶしなし 13">
            <a:extLst>
              <a:ext uri="{FF2B5EF4-FFF2-40B4-BE49-F238E27FC236}">
                <a16:creationId xmlns:a16="http://schemas.microsoft.com/office/drawing/2014/main" id="{87AC723D-0994-1B7F-8CCD-A58138796BCD}"/>
              </a:ext>
            </a:extLst>
          </p:cNvPr>
          <p:cNvSpPr/>
          <p:nvPr/>
        </p:nvSpPr>
        <p:spPr>
          <a:xfrm>
            <a:off x="3959144" y="2374073"/>
            <a:ext cx="468947" cy="468947"/>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5" name="テキスト ボックス 14">
            <a:extLst>
              <a:ext uri="{FF2B5EF4-FFF2-40B4-BE49-F238E27FC236}">
                <a16:creationId xmlns:a16="http://schemas.microsoft.com/office/drawing/2014/main" id="{005F75F6-2F3B-70F1-9B9D-D99F1CBE5A40}"/>
              </a:ext>
            </a:extLst>
          </p:cNvPr>
          <p:cNvSpPr txBox="1"/>
          <p:nvPr/>
        </p:nvSpPr>
        <p:spPr>
          <a:xfrm>
            <a:off x="4520838" y="2298506"/>
            <a:ext cx="6677772" cy="576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200">
                <a:solidFill>
                  <a:schemeClr val="tx1"/>
                </a:solidFill>
              </a:rPr>
              <a:t>(</a:t>
            </a:r>
            <a:r>
              <a:rPr lang="ja-JP" altLang="en-US" sz="1200">
                <a:solidFill>
                  <a:schemeClr val="tx1"/>
                </a:solidFill>
              </a:rPr>
              <a:t>仲介手数料相当額が</a:t>
            </a:r>
            <a:r>
              <a:rPr lang="ja-JP" altLang="en-US" sz="1200" u="sng">
                <a:solidFill>
                  <a:schemeClr val="tx1"/>
                </a:solidFill>
              </a:rPr>
              <a:t>ない</a:t>
            </a:r>
            <a:r>
              <a:rPr lang="ja-JP" altLang="en-US" sz="1200">
                <a:solidFill>
                  <a:schemeClr val="tx1"/>
                </a:solidFill>
              </a:rPr>
              <a:t>場合</a:t>
            </a:r>
            <a:r>
              <a:rPr lang="en-US" altLang="ja-JP" sz="1200">
                <a:solidFill>
                  <a:schemeClr val="tx1"/>
                </a:solidFill>
              </a:rPr>
              <a:t>)</a:t>
            </a:r>
            <a:r>
              <a:rPr lang="ja-JP" altLang="en-US" sz="1200">
                <a:solidFill>
                  <a:schemeClr val="tx1"/>
                </a:solidFill>
              </a:rPr>
              <a:t>売上・仕入の計上不可</a:t>
            </a:r>
            <a:endParaRPr lang="en-US" altLang="ja-JP" sz="1200">
              <a:solidFill>
                <a:schemeClr val="tx1"/>
              </a:solidFill>
            </a:endParaRPr>
          </a:p>
          <a:p>
            <a:pPr marL="90487" indent="0">
              <a:buNone/>
            </a:pPr>
            <a:r>
              <a:rPr lang="en-US" altLang="ja-JP" sz="1200">
                <a:solidFill>
                  <a:schemeClr val="tx1"/>
                </a:solidFill>
              </a:rPr>
              <a:t>(</a:t>
            </a:r>
            <a:r>
              <a:rPr lang="ja-JP" altLang="en-US" sz="1200">
                <a:solidFill>
                  <a:schemeClr val="tx1"/>
                </a:solidFill>
              </a:rPr>
              <a:t>仲介手数料相当額が</a:t>
            </a:r>
            <a:r>
              <a:rPr lang="ja-JP" altLang="en-US" sz="1200" u="sng">
                <a:solidFill>
                  <a:schemeClr val="tx1"/>
                </a:solidFill>
              </a:rPr>
              <a:t>ある</a:t>
            </a:r>
            <a:r>
              <a:rPr lang="ja-JP" altLang="en-US" sz="1200">
                <a:solidFill>
                  <a:schemeClr val="tx1"/>
                </a:solidFill>
              </a:rPr>
              <a:t>場合</a:t>
            </a:r>
            <a:r>
              <a:rPr lang="en-US" altLang="ja-JP" sz="1200">
                <a:solidFill>
                  <a:schemeClr val="tx1"/>
                </a:solidFill>
              </a:rPr>
              <a:t>)</a:t>
            </a:r>
            <a:r>
              <a:rPr lang="ja-JP" altLang="en-US" sz="1200">
                <a:solidFill>
                  <a:schemeClr val="tx1"/>
                </a:solidFill>
              </a:rPr>
              <a:t>代理人取引として、仲介手数料相当額のみを純額で売上計上</a:t>
            </a:r>
          </a:p>
        </p:txBody>
      </p:sp>
      <p:graphicFrame>
        <p:nvGraphicFramePr>
          <p:cNvPr id="16" name="表 15">
            <a:extLst>
              <a:ext uri="{FF2B5EF4-FFF2-40B4-BE49-F238E27FC236}">
                <a16:creationId xmlns:a16="http://schemas.microsoft.com/office/drawing/2014/main" id="{EB40F959-4D2C-A7B8-BB10-746195F9F794}"/>
              </a:ext>
            </a:extLst>
          </p:cNvPr>
          <p:cNvGraphicFramePr>
            <a:graphicFrameLocks noGrp="1"/>
          </p:cNvGraphicFramePr>
          <p:nvPr>
            <p:extLst>
              <p:ext uri="{D42A27DB-BD31-4B8C-83A1-F6EECF244321}">
                <p14:modId xmlns:p14="http://schemas.microsoft.com/office/powerpoint/2010/main" val="1262190120"/>
              </p:ext>
            </p:extLst>
          </p:nvPr>
        </p:nvGraphicFramePr>
        <p:xfrm>
          <a:off x="1052666" y="3654076"/>
          <a:ext cx="8799304" cy="2103120"/>
        </p:xfrm>
        <a:graphic>
          <a:graphicData uri="http://schemas.openxmlformats.org/drawingml/2006/table">
            <a:tbl>
              <a:tblPr firstRow="1" bandRow="1">
                <a:tableStyleId>{5C22544A-7EE6-4342-B048-85BDC9FD1C3A}</a:tableStyleId>
              </a:tblPr>
              <a:tblGrid>
                <a:gridCol w="1066200">
                  <a:extLst>
                    <a:ext uri="{9D8B030D-6E8A-4147-A177-3AD203B41FA5}">
                      <a16:colId xmlns:a16="http://schemas.microsoft.com/office/drawing/2014/main" val="2062402288"/>
                    </a:ext>
                  </a:extLst>
                </a:gridCol>
                <a:gridCol w="2234834">
                  <a:extLst>
                    <a:ext uri="{9D8B030D-6E8A-4147-A177-3AD203B41FA5}">
                      <a16:colId xmlns:a16="http://schemas.microsoft.com/office/drawing/2014/main" val="2491377948"/>
                    </a:ext>
                  </a:extLst>
                </a:gridCol>
                <a:gridCol w="1980000">
                  <a:extLst>
                    <a:ext uri="{9D8B030D-6E8A-4147-A177-3AD203B41FA5}">
                      <a16:colId xmlns:a16="http://schemas.microsoft.com/office/drawing/2014/main" val="3878590817"/>
                    </a:ext>
                  </a:extLst>
                </a:gridCol>
                <a:gridCol w="522000">
                  <a:extLst>
                    <a:ext uri="{9D8B030D-6E8A-4147-A177-3AD203B41FA5}">
                      <a16:colId xmlns:a16="http://schemas.microsoft.com/office/drawing/2014/main" val="3829614655"/>
                    </a:ext>
                  </a:extLst>
                </a:gridCol>
                <a:gridCol w="494270">
                  <a:extLst>
                    <a:ext uri="{9D8B030D-6E8A-4147-A177-3AD203B41FA5}">
                      <a16:colId xmlns:a16="http://schemas.microsoft.com/office/drawing/2014/main" val="516458806"/>
                    </a:ext>
                  </a:extLst>
                </a:gridCol>
                <a:gridCol w="1980000">
                  <a:extLst>
                    <a:ext uri="{9D8B030D-6E8A-4147-A177-3AD203B41FA5}">
                      <a16:colId xmlns:a16="http://schemas.microsoft.com/office/drawing/2014/main" val="1372033464"/>
                    </a:ext>
                  </a:extLst>
                </a:gridCol>
                <a:gridCol w="522000">
                  <a:extLst>
                    <a:ext uri="{9D8B030D-6E8A-4147-A177-3AD203B41FA5}">
                      <a16:colId xmlns:a16="http://schemas.microsoft.com/office/drawing/2014/main" val="3186572524"/>
                    </a:ext>
                  </a:extLst>
                </a:gridCol>
              </a:tblGrid>
              <a:tr h="360922">
                <a:tc>
                  <a:txBody>
                    <a:bodyPr/>
                    <a:lstStyle/>
                    <a:p>
                      <a:pPr algn="ctr"/>
                      <a:r>
                        <a:rPr kumimoji="1" lang="ja-JP" altLang="en-US"/>
                        <a:t>仕訳</a:t>
                      </a:r>
                      <a:r>
                        <a:rPr kumimoji="1" lang="en-US" altLang="ja-JP"/>
                        <a:t>No.</a:t>
                      </a:r>
                      <a:endParaRPr kumimoji="1" lang="ja-JP" altLang="en-US"/>
                    </a:p>
                  </a:txBody>
                  <a:tcPr anchor="ctr"/>
                </a:tc>
                <a:tc>
                  <a:txBody>
                    <a:bodyPr/>
                    <a:lstStyle/>
                    <a:p>
                      <a:pPr algn="ctr"/>
                      <a:r>
                        <a:rPr kumimoji="1" lang="ja-JP" altLang="en-US"/>
                        <a:t>仕訳の内容</a:t>
                      </a:r>
                    </a:p>
                  </a:txBody>
                  <a:tcPr anchor="ctr"/>
                </a:tc>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仕訳</a:t>
                      </a: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a:p>
                  </a:txBody>
                  <a:tcPr anchor="ctr"/>
                </a:tc>
                <a:extLst>
                  <a:ext uri="{0D108BD9-81ED-4DB2-BD59-A6C34878D82A}">
                    <a16:rowId xmlns:a16="http://schemas.microsoft.com/office/drawing/2014/main" val="2899885730"/>
                  </a:ext>
                </a:extLst>
              </a:tr>
              <a:tr h="400534">
                <a:tc>
                  <a:txBody>
                    <a:bodyPr/>
                    <a:lstStyle/>
                    <a:p>
                      <a:pPr algn="ctr"/>
                      <a:r>
                        <a:rPr kumimoji="1" lang="ja-JP" altLang="en-US"/>
                        <a:t>１</a:t>
                      </a:r>
                    </a:p>
                  </a:txBody>
                  <a:tcPr anchor="ctr"/>
                </a:tc>
                <a:tc>
                  <a:txBody>
                    <a:bodyPr/>
                    <a:lstStyle/>
                    <a:p>
                      <a:pPr algn="ctr"/>
                      <a:r>
                        <a:rPr kumimoji="1" lang="en-US" altLang="ja-JP" sz="1600"/>
                        <a:t>A</a:t>
                      </a:r>
                      <a:r>
                        <a:rPr kumimoji="1" lang="ja-JP" altLang="en-US" sz="1600"/>
                        <a:t>からの仕入</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（借）　仕入（</a:t>
                      </a:r>
                      <a:r>
                        <a:rPr lang="en-US" altLang="ja-JP" sz="1600" b="0">
                          <a:solidFill>
                            <a:schemeClr val="tx1"/>
                          </a:solidFill>
                        </a:rPr>
                        <a:t>A</a:t>
                      </a:r>
                      <a:r>
                        <a:rPr lang="ja-JP" altLang="en-US" sz="1600" b="0">
                          <a:solidFill>
                            <a:schemeClr val="tx1"/>
                          </a:solidFill>
                        </a:rPr>
                        <a:t>）</a:t>
                      </a:r>
                      <a:endParaRPr kumimoji="1" lang="en-US" altLang="ja-JP" sz="1600"/>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90</a:t>
                      </a:r>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chemeClr val="tx1"/>
                          </a:solidFill>
                        </a:rPr>
                        <a:t>（貸）　買掛金（</a:t>
                      </a:r>
                      <a:r>
                        <a:rPr lang="en-US" altLang="ja-JP" sz="1600" b="0">
                          <a:solidFill>
                            <a:schemeClr val="tx1"/>
                          </a:solidFill>
                        </a:rPr>
                        <a:t>A</a:t>
                      </a: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t>90</a:t>
                      </a:r>
                    </a:p>
                  </a:txBody>
                  <a:tcPr anchor="ctr">
                    <a:lnL w="12700" cmpd="sng">
                      <a:noFill/>
                    </a:lnL>
                  </a:tcPr>
                </a:tc>
                <a:extLst>
                  <a:ext uri="{0D108BD9-81ED-4DB2-BD59-A6C34878D82A}">
                    <a16:rowId xmlns:a16="http://schemas.microsoft.com/office/drawing/2014/main" val="985906880"/>
                  </a:ext>
                </a:extLst>
              </a:tr>
              <a:tr h="400534">
                <a:tc>
                  <a:txBody>
                    <a:bodyPr/>
                    <a:lstStyle/>
                    <a:p>
                      <a:pPr algn="ctr"/>
                      <a:r>
                        <a:rPr kumimoji="1" lang="ja-JP" altLang="en-US"/>
                        <a:t>２</a:t>
                      </a:r>
                    </a:p>
                  </a:txBody>
                  <a:tcPr anchor="ctr"/>
                </a:tc>
                <a:tc>
                  <a:txBody>
                    <a:bodyPr/>
                    <a:lstStyle/>
                    <a:p>
                      <a:pPr algn="ctr"/>
                      <a:r>
                        <a:rPr kumimoji="1" lang="en-US" altLang="ja-JP" sz="1600"/>
                        <a:t>S</a:t>
                      </a:r>
                      <a:r>
                        <a:rPr kumimoji="1" lang="ja-JP" altLang="en-US" sz="1600"/>
                        <a:t>社への売上</a:t>
                      </a:r>
                      <a:endParaRPr kumimoji="1" lang="en-US" altLang="ja-JP" sz="1600"/>
                    </a:p>
                  </a:txBody>
                  <a:tcPr anchor="ctr"/>
                </a:tc>
                <a:tc>
                  <a:txBody>
                    <a:bodyPr/>
                    <a:lstStyle/>
                    <a:p>
                      <a:r>
                        <a:rPr kumimoji="1" lang="ja-JP" altLang="en-US" sz="1600"/>
                        <a:t>（借）　売掛金（</a:t>
                      </a:r>
                      <a:r>
                        <a:rPr kumimoji="1" lang="en-US" altLang="ja-JP" sz="1600"/>
                        <a:t>S</a:t>
                      </a:r>
                      <a:r>
                        <a:rPr kumimoji="1" lang="ja-JP" altLang="en-US" sz="1600"/>
                        <a:t>社）</a:t>
                      </a:r>
                      <a:endParaRPr kumimoji="1" lang="en-US" altLang="ja-JP" sz="1600"/>
                    </a:p>
                  </a:txBody>
                  <a:tcPr anchor="ctr">
                    <a:lnR w="12700" cmpd="sng">
                      <a:noFill/>
                    </a:lnR>
                  </a:tcPr>
                </a:tc>
                <a:tc>
                  <a:txBody>
                    <a:bodyPr/>
                    <a:lstStyle/>
                    <a:p>
                      <a:pPr algn="r"/>
                      <a:r>
                        <a:rPr kumimoji="1" lang="en-US" altLang="ja-JP" sz="1600"/>
                        <a:t>100</a:t>
                      </a:r>
                    </a:p>
                  </a:txBody>
                  <a:tcPr anchor="ctr">
                    <a:lnL w="12700" cmpd="sng">
                      <a:noFill/>
                    </a:lnL>
                    <a:lnR w="12700" cmpd="sng">
                      <a:noFill/>
                    </a:lnR>
                  </a:tcPr>
                </a:tc>
                <a:tc>
                  <a:txBody>
                    <a:bodyPr/>
                    <a:lstStyle/>
                    <a:p>
                      <a:pPr algn="ctr"/>
                      <a:r>
                        <a:rPr lang="ja-JP" altLang="en-US" sz="1600" b="0">
                          <a:solidFill>
                            <a:schemeClr val="tx1"/>
                          </a:solidFill>
                        </a:rPr>
                        <a:t>／</a:t>
                      </a:r>
                      <a:endParaRPr kumimoji="1" lang="en-US" altLang="ja-JP" sz="1600"/>
                    </a:p>
                  </a:txBody>
                  <a:tcPr anchor="ctr">
                    <a:lnL w="12700" cmpd="sng">
                      <a:noFill/>
                    </a:lnL>
                    <a:lnR w="12700" cmpd="sng">
                      <a:noFill/>
                    </a:lnR>
                  </a:tcPr>
                </a:tc>
                <a:tc>
                  <a:txBody>
                    <a:bodyPr/>
                    <a:lstStyle/>
                    <a:p>
                      <a:r>
                        <a:rPr kumimoji="1" lang="ja-JP" altLang="en-US" sz="1600"/>
                        <a:t>（貸）　売上（</a:t>
                      </a:r>
                      <a:r>
                        <a:rPr kumimoji="1" lang="en-US" altLang="ja-JP" sz="1600"/>
                        <a:t>S</a:t>
                      </a:r>
                      <a:r>
                        <a:rPr kumimoji="1" lang="ja-JP" altLang="en-US" sz="1600"/>
                        <a:t>社）</a:t>
                      </a:r>
                      <a:endParaRPr kumimoji="1" lang="en-US" altLang="ja-JP" sz="1600"/>
                    </a:p>
                  </a:txBody>
                  <a:tcPr anchor="ctr">
                    <a:lnL w="12700" cmpd="sng">
                      <a:noFill/>
                    </a:lnL>
                    <a:lnR w="12700" cmpd="sng">
                      <a:noFill/>
                    </a:lnR>
                  </a:tcPr>
                </a:tc>
                <a:tc>
                  <a:txBody>
                    <a:bodyPr/>
                    <a:lstStyle/>
                    <a:p>
                      <a:pPr algn="r"/>
                      <a:r>
                        <a:rPr kumimoji="1" lang="en-US" altLang="ja-JP" sz="1600"/>
                        <a:t>100</a:t>
                      </a:r>
                    </a:p>
                  </a:txBody>
                  <a:tcPr anchor="ctr">
                    <a:lnL w="12700" cmpd="sng">
                      <a:noFill/>
                    </a:lnL>
                  </a:tcPr>
                </a:tc>
                <a:extLst>
                  <a:ext uri="{0D108BD9-81ED-4DB2-BD59-A6C34878D82A}">
                    <a16:rowId xmlns:a16="http://schemas.microsoft.com/office/drawing/2014/main" val="885145048"/>
                  </a:ext>
                </a:extLst>
              </a:tr>
              <a:tr h="571459">
                <a:tc>
                  <a:txBody>
                    <a:bodyPr/>
                    <a:lstStyle/>
                    <a:p>
                      <a:pPr lvl="0" algn="ctr">
                        <a:buNone/>
                      </a:pPr>
                      <a:r>
                        <a:rPr kumimoji="1" lang="ja-JP" altLang="en-US">
                          <a:solidFill>
                            <a:srgbClr val="FF0000"/>
                          </a:solidFill>
                        </a:rPr>
                        <a:t>３</a:t>
                      </a:r>
                    </a:p>
                  </a:txBody>
                  <a:tcPr anchor="ctr"/>
                </a:tc>
                <a:tc>
                  <a:txBody>
                    <a:bodyPr/>
                    <a:lstStyle/>
                    <a:p>
                      <a:pPr lvl="0" algn="ctr">
                        <a:buNone/>
                      </a:pPr>
                      <a:r>
                        <a:rPr kumimoji="1" lang="ja-JP" altLang="en-US" sz="1600">
                          <a:solidFill>
                            <a:srgbClr val="FF0000"/>
                          </a:solidFill>
                        </a:rPr>
                        <a:t>総額→純額で売上計上</a:t>
                      </a:r>
                      <a:endParaRPr kumimoji="1" lang="en-US" altLang="ja-JP" sz="1600">
                        <a:solidFill>
                          <a:srgbClr val="FF0000"/>
                        </a:solidFill>
                      </a:endParaRPr>
                    </a:p>
                    <a:p>
                      <a:pPr lvl="0" algn="ctr">
                        <a:buNone/>
                      </a:pPr>
                      <a:r>
                        <a:rPr kumimoji="1" lang="ja-JP" altLang="en-US" sz="1600">
                          <a:solidFill>
                            <a:srgbClr val="FF0000"/>
                          </a:solidFill>
                        </a:rPr>
                        <a:t>（調整仕訳）</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（借）　売上（その他）</a:t>
                      </a:r>
                      <a:endParaRPr kumimoji="1" lang="en-US" altLang="ja-JP" sz="1600">
                        <a:solidFill>
                          <a:srgbClr val="FF0000"/>
                        </a:solidFill>
                      </a:endParaRPr>
                    </a:p>
                  </a:txBody>
                  <a:tcPr anchor="ctr">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solidFill>
                            <a:srgbClr val="FF0000"/>
                          </a:solidFill>
                        </a:rPr>
                        <a:t>90</a:t>
                      </a:r>
                    </a:p>
                  </a:txBody>
                  <a:tcPr anchor="ctr">
                    <a:lnL w="12700" cmpd="sng">
                      <a:noFill/>
                    </a:lnL>
                    <a:lnR w="12700" cmpd="sng">
                      <a:noFill/>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a:t>
                      </a:r>
                      <a:endParaRPr kumimoji="1" lang="en-US" altLang="ja-JP" sz="1600">
                        <a:solidFill>
                          <a:srgbClr val="FF0000"/>
                        </a:solidFill>
                      </a:endParaRPr>
                    </a:p>
                  </a:txBody>
                  <a:tcPr anchor="ctr">
                    <a:lnL w="12700" cmpd="sng">
                      <a:noFill/>
                    </a:lnL>
                    <a:lnR w="12700" cmpd="sng">
                      <a:noFill/>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b="0">
                          <a:solidFill>
                            <a:srgbClr val="FF0000"/>
                          </a:solidFill>
                        </a:rPr>
                        <a:t>（貸）　仕入（その他）</a:t>
                      </a:r>
                      <a:endParaRPr kumimoji="1" lang="en-US" altLang="ja-JP" sz="1600">
                        <a:solidFill>
                          <a:srgbClr val="FF0000"/>
                        </a:solidFill>
                      </a:endParaRPr>
                    </a:p>
                  </a:txBody>
                  <a:tcPr anchor="ctr">
                    <a:lnL w="12700" cmpd="sng">
                      <a:noFill/>
                    </a:lnL>
                    <a:lnR w="12700" cmpd="sng">
                      <a:noFill/>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600">
                          <a:solidFill>
                            <a:srgbClr val="FF0000"/>
                          </a:solidFill>
                        </a:rPr>
                        <a:t>90</a:t>
                      </a:r>
                    </a:p>
                  </a:txBody>
                  <a:tcPr anchor="ctr">
                    <a:lnL w="12700" cmpd="sng">
                      <a:noFill/>
                    </a:lnL>
                  </a:tcPr>
                </a:tc>
                <a:extLst>
                  <a:ext uri="{0D108BD9-81ED-4DB2-BD59-A6C34878D82A}">
                    <a16:rowId xmlns:a16="http://schemas.microsoft.com/office/drawing/2014/main" val="4267633493"/>
                  </a:ext>
                </a:extLst>
              </a:tr>
            </a:tbl>
          </a:graphicData>
        </a:graphic>
      </p:graphicFrame>
      <p:sp>
        <p:nvSpPr>
          <p:cNvPr id="17" name="正方形/長方形 16">
            <a:extLst>
              <a:ext uri="{FF2B5EF4-FFF2-40B4-BE49-F238E27FC236}">
                <a16:creationId xmlns:a16="http://schemas.microsoft.com/office/drawing/2014/main" id="{EB656A8C-DAF4-252F-9ABF-ED717A45E9D2}"/>
              </a:ext>
            </a:extLst>
          </p:cNvPr>
          <p:cNvSpPr/>
          <p:nvPr/>
        </p:nvSpPr>
        <p:spPr>
          <a:xfrm>
            <a:off x="1052666" y="3170670"/>
            <a:ext cx="1468404" cy="299322"/>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200" b="1">
                <a:solidFill>
                  <a:schemeClr val="tx1"/>
                </a:solidFill>
                <a:latin typeface="+mn-ea"/>
                <a:cs typeface="Meiryo UI" panose="020B0604030504040204" pitchFamily="50" charset="-128"/>
              </a:rPr>
              <a:t>代理人取引の場合</a:t>
            </a:r>
          </a:p>
        </p:txBody>
      </p:sp>
      <p:sp>
        <p:nvSpPr>
          <p:cNvPr id="18" name="正方形/長方形 17">
            <a:extLst>
              <a:ext uri="{FF2B5EF4-FFF2-40B4-BE49-F238E27FC236}">
                <a16:creationId xmlns:a16="http://schemas.microsoft.com/office/drawing/2014/main" id="{ED373BEC-B8B1-7176-29A6-849444C14085}"/>
              </a:ext>
            </a:extLst>
          </p:cNvPr>
          <p:cNvSpPr/>
          <p:nvPr/>
        </p:nvSpPr>
        <p:spPr bwMode="gray">
          <a:xfrm>
            <a:off x="2709549" y="3159224"/>
            <a:ext cx="6496796" cy="299322"/>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0805" defTabSz="990589">
              <a:spcBef>
                <a:spcPts val="300"/>
              </a:spcBef>
              <a:buClr>
                <a:schemeClr val="tx1"/>
              </a:buClr>
              <a:buSzPct val="100000"/>
            </a:pPr>
            <a:r>
              <a:rPr lang="ja-JP" altLang="en-US" sz="1400" b="1" u="sng">
                <a:solidFill>
                  <a:srgbClr val="FF0000"/>
                </a:solidFill>
                <a:latin typeface="+mn-ea"/>
                <a:sym typeface="Wingdings" panose="05000000000000000000" pitchFamily="2" charset="2"/>
              </a:rPr>
              <a:t>仲介手数料相当額（＝仕入と売上の差額）を純額で売上を計上</a:t>
            </a:r>
            <a:endParaRPr lang="ja-JP" altLang="en-US" sz="1400" u="sng">
              <a:solidFill>
                <a:prstClr val="black"/>
              </a:solidFill>
              <a:latin typeface="+mn-ea"/>
            </a:endParaRPr>
          </a:p>
        </p:txBody>
      </p:sp>
      <p:sp>
        <p:nvSpPr>
          <p:cNvPr id="19" name="矢印: 下 18">
            <a:extLst>
              <a:ext uri="{FF2B5EF4-FFF2-40B4-BE49-F238E27FC236}">
                <a16:creationId xmlns:a16="http://schemas.microsoft.com/office/drawing/2014/main" id="{8BBF33BA-4670-8CAE-E744-A27DBBF5E8FE}"/>
              </a:ext>
            </a:extLst>
          </p:cNvPr>
          <p:cNvSpPr/>
          <p:nvPr/>
        </p:nvSpPr>
        <p:spPr>
          <a:xfrm rot="16200000">
            <a:off x="9657931" y="4321104"/>
            <a:ext cx="1044255" cy="411892"/>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0" name="正方形/長方形 19">
            <a:extLst>
              <a:ext uri="{FF2B5EF4-FFF2-40B4-BE49-F238E27FC236}">
                <a16:creationId xmlns:a16="http://schemas.microsoft.com/office/drawing/2014/main" id="{69470DB5-990F-4797-71E1-6EF3E9850F68}"/>
              </a:ext>
            </a:extLst>
          </p:cNvPr>
          <p:cNvSpPr/>
          <p:nvPr/>
        </p:nvSpPr>
        <p:spPr>
          <a:xfrm>
            <a:off x="10599016" y="4616123"/>
            <a:ext cx="1246620" cy="866110"/>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en-US" altLang="ja-JP" sz="1600">
                <a:solidFill>
                  <a:schemeClr val="tx1"/>
                </a:solidFill>
                <a:latin typeface="+mn-ea"/>
              </a:rPr>
              <a:t>PL</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売上高</a:t>
            </a:r>
            <a:r>
              <a:rPr kumimoji="1" lang="ja-JP" altLang="en-US" sz="1600" b="0" i="0" u="none" strike="noStrike" kern="1200" cap="none" spc="0" normalizeH="0" baseline="0" noProof="0">
                <a:ln>
                  <a:noFill/>
                </a:ln>
                <a:solidFill>
                  <a:schemeClr val="tx1"/>
                </a:solidFill>
                <a:effectLst/>
                <a:uLnTx/>
                <a:uFillTx/>
                <a:latin typeface="+mn-ea"/>
                <a:cs typeface="+mn-cs"/>
              </a:rPr>
              <a:t>：</a:t>
            </a:r>
            <a:r>
              <a:rPr lang="en-US" altLang="ja-JP" sz="1600" b="1" u="sng">
                <a:solidFill>
                  <a:schemeClr val="tx1"/>
                </a:solidFill>
                <a:latin typeface="+mn-ea"/>
              </a:rPr>
              <a:t>10</a:t>
            </a:r>
            <a:endParaRPr kumimoji="1" lang="en-US" altLang="ja-JP" sz="1600" b="1" i="0" u="sng"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原価：</a:t>
            </a:r>
            <a:r>
              <a:rPr lang="en-US" altLang="ja-JP" sz="1600">
                <a:solidFill>
                  <a:schemeClr val="tx1"/>
                </a:solidFill>
                <a:latin typeface="+mn-ea"/>
              </a:rPr>
              <a:t>0</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21" name="正方形/長方形 20">
            <a:extLst>
              <a:ext uri="{FF2B5EF4-FFF2-40B4-BE49-F238E27FC236}">
                <a16:creationId xmlns:a16="http://schemas.microsoft.com/office/drawing/2014/main" id="{03288D39-B383-0F99-F632-13A229027729}"/>
              </a:ext>
            </a:extLst>
          </p:cNvPr>
          <p:cNvSpPr/>
          <p:nvPr/>
        </p:nvSpPr>
        <p:spPr>
          <a:xfrm>
            <a:off x="10599015" y="3654076"/>
            <a:ext cx="1246619" cy="866111"/>
          </a:xfrm>
          <a:prstGeom prst="rect">
            <a:avLst/>
          </a:prstGeom>
          <a:solidFill>
            <a:srgbClr val="FFCCCC"/>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en-US" altLang="ja-JP" sz="1600">
                <a:solidFill>
                  <a:schemeClr val="tx1"/>
                </a:solidFill>
                <a:latin typeface="+mn-ea"/>
              </a:rPr>
              <a:t>BS</a:t>
            </a: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売掛金</a:t>
            </a:r>
            <a:r>
              <a:rPr kumimoji="1" lang="ja-JP" altLang="en-US" sz="1600" b="0" i="0" u="none" strike="noStrike" kern="1200" cap="none" spc="0" normalizeH="0" baseline="0" noProof="0">
                <a:ln>
                  <a:noFill/>
                </a:ln>
                <a:solidFill>
                  <a:schemeClr val="tx1"/>
                </a:solidFill>
                <a:effectLst/>
                <a:uLnTx/>
                <a:uFillTx/>
                <a:latin typeface="+mn-ea"/>
                <a:cs typeface="+mn-cs"/>
              </a:rPr>
              <a:t>：</a:t>
            </a:r>
            <a:r>
              <a:rPr lang="en-US" altLang="ja-JP" sz="1600" b="1" u="sng">
                <a:solidFill>
                  <a:schemeClr val="tx1"/>
                </a:solidFill>
                <a:latin typeface="+mn-ea"/>
              </a:rPr>
              <a:t>100</a:t>
            </a:r>
            <a:endParaRPr kumimoji="1" lang="en-US" altLang="ja-JP" sz="1600" b="1" i="0" u="sng"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買掛金：</a:t>
            </a:r>
            <a:r>
              <a:rPr lang="en-US" altLang="ja-JP" sz="1600" b="1" u="sng">
                <a:solidFill>
                  <a:schemeClr val="tx1"/>
                </a:solidFill>
                <a:latin typeface="+mn-ea"/>
              </a:rPr>
              <a:t>90</a:t>
            </a:r>
            <a:endParaRPr kumimoji="1" lang="ja-JP" altLang="en-US" sz="1600" b="1" i="0" u="sng" strike="noStrike" kern="1200" cap="none" spc="0" normalizeH="0" baseline="0" noProof="0">
              <a:ln>
                <a:noFill/>
              </a:ln>
              <a:solidFill>
                <a:schemeClr val="tx1"/>
              </a:solidFill>
              <a:effectLst/>
              <a:uLnTx/>
              <a:uFillTx/>
              <a:latin typeface="+mn-ea"/>
              <a:cs typeface="+mn-cs"/>
            </a:endParaRPr>
          </a:p>
        </p:txBody>
      </p:sp>
      <p:sp>
        <p:nvSpPr>
          <p:cNvPr id="22" name="正方形/長方形 21">
            <a:extLst>
              <a:ext uri="{FF2B5EF4-FFF2-40B4-BE49-F238E27FC236}">
                <a16:creationId xmlns:a16="http://schemas.microsoft.com/office/drawing/2014/main" id="{A0D58CD8-5E76-1ED0-544B-1545BA8D7B7B}"/>
              </a:ext>
            </a:extLst>
          </p:cNvPr>
          <p:cNvSpPr/>
          <p:nvPr/>
        </p:nvSpPr>
        <p:spPr>
          <a:xfrm>
            <a:off x="10488122" y="3170670"/>
            <a:ext cx="1468404" cy="299322"/>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200" b="1">
                <a:solidFill>
                  <a:schemeClr val="tx1"/>
                </a:solidFill>
                <a:latin typeface="+mn-ea"/>
                <a:cs typeface="Meiryo UI" panose="020B0604030504040204" pitchFamily="50" charset="-128"/>
              </a:rPr>
              <a:t>最終</a:t>
            </a:r>
            <a:r>
              <a:rPr kumimoji="1" lang="en-US" altLang="ja-JP" sz="1200" b="1">
                <a:solidFill>
                  <a:schemeClr val="tx1"/>
                </a:solidFill>
                <a:latin typeface="+mn-ea"/>
                <a:cs typeface="Meiryo UI" panose="020B0604030504040204" pitchFamily="50" charset="-128"/>
              </a:rPr>
              <a:t>BS/PL</a:t>
            </a:r>
            <a:endParaRPr kumimoji="1" lang="ja-JP" altLang="en-US" sz="1200" b="1">
              <a:solidFill>
                <a:schemeClr val="tx1"/>
              </a:solidFill>
              <a:latin typeface="+mn-ea"/>
              <a:cs typeface="Meiryo UI" panose="020B0604030504040204" pitchFamily="50" charset="-128"/>
            </a:endParaRPr>
          </a:p>
        </p:txBody>
      </p:sp>
      <p:sp>
        <p:nvSpPr>
          <p:cNvPr id="23" name="テキスト プレースホルダー 3">
            <a:extLst>
              <a:ext uri="{FF2B5EF4-FFF2-40B4-BE49-F238E27FC236}">
                <a16:creationId xmlns:a16="http://schemas.microsoft.com/office/drawing/2014/main" id="{94F414E4-3166-C9CC-0FD0-175D1D2562A3}"/>
              </a:ext>
            </a:extLst>
          </p:cNvPr>
          <p:cNvSpPr txBox="1">
            <a:spLocks/>
          </p:cNvSpPr>
          <p:nvPr/>
        </p:nvSpPr>
        <p:spPr>
          <a:xfrm>
            <a:off x="660000" y="797823"/>
            <a:ext cx="11160088" cy="720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必ずしもスルー取引が全て禁止というわけではないものの、役割のない会社が商流に入る取引は無くすよう商流の整理をお願い致します。</a:t>
            </a:r>
          </a:p>
        </p:txBody>
      </p:sp>
      <p:sp>
        <p:nvSpPr>
          <p:cNvPr id="24" name="テキスト ボックス 23">
            <a:extLst>
              <a:ext uri="{FF2B5EF4-FFF2-40B4-BE49-F238E27FC236}">
                <a16:creationId xmlns:a16="http://schemas.microsoft.com/office/drawing/2014/main" id="{54BAFF87-DDEF-A508-11A7-11DAD4745BAB}"/>
              </a:ext>
            </a:extLst>
          </p:cNvPr>
          <p:cNvSpPr txBox="1"/>
          <p:nvPr/>
        </p:nvSpPr>
        <p:spPr>
          <a:xfrm>
            <a:off x="1052665" y="5536414"/>
            <a:ext cx="9333339" cy="641959"/>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a:t>※</a:t>
            </a:r>
            <a:r>
              <a:rPr lang="ja-JP" altLang="en-US" b="1" u="sng"/>
              <a:t>商流にグループ会社が含まれる場合、</a:t>
            </a:r>
            <a:r>
              <a:rPr lang="ja-JP" altLang="en-US" b="1" u="sng">
                <a:sym typeface="Wingdings" panose="05000000000000000000" pitchFamily="2" charset="2"/>
              </a:rPr>
              <a:t>該当の商流について、</a:t>
            </a:r>
            <a:r>
              <a:rPr lang="en-US" altLang="ja-JP" b="1" u="sng">
                <a:sym typeface="Wingdings" panose="05000000000000000000" pitchFamily="2" charset="2"/>
              </a:rPr>
              <a:t>AWI</a:t>
            </a:r>
            <a:r>
              <a:rPr lang="ja-JP" altLang="en-US" b="1" u="sng">
                <a:sym typeface="Wingdings" panose="05000000000000000000" pitchFamily="2" charset="2"/>
              </a:rPr>
              <a:t>経理へご連絡ください。</a:t>
            </a:r>
            <a:endParaRPr lang="en-US" altLang="ja-JP" b="1" u="sng">
              <a:sym typeface="Wingdings" panose="05000000000000000000" pitchFamily="2" charset="2"/>
            </a:endParaRPr>
          </a:p>
          <a:p>
            <a:pPr marL="252000" indent="0">
              <a:buNone/>
            </a:pPr>
            <a:r>
              <a:rPr lang="ja-JP" altLang="en-US">
                <a:solidFill>
                  <a:prstClr val="black"/>
                </a:solidFill>
                <a:latin typeface="+mn-ea"/>
              </a:rPr>
              <a:t>→グループ内取引において各社の認識額に相違が発生する可能性があり、連結財務諸表作成の観点から報告が必要</a:t>
            </a:r>
            <a:endParaRPr lang="ja-JP" altLang="en-US"/>
          </a:p>
        </p:txBody>
      </p:sp>
    </p:spTree>
    <p:extLst>
      <p:ext uri="{BB962C8B-B14F-4D97-AF65-F5344CB8AC3E}">
        <p14:creationId xmlns:p14="http://schemas.microsoft.com/office/powerpoint/2010/main" val="1988857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60188-73C0-B797-ABF3-1D06474A8D3D}"/>
            </a:ext>
          </a:extLst>
        </p:cNvPr>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DB99BE0-FEB7-E9DB-861F-D738B46D80A6}"/>
              </a:ext>
            </a:extLst>
          </p:cNvPr>
          <p:cNvGraphicFramePr>
            <a:graphicFrameLocks noChangeAspect="1"/>
          </p:cNvGraphicFramePr>
          <p:nvPr>
            <p:custDataLst>
              <p:tags r:id="rId1"/>
            </p:custDataLst>
            <p:extLst>
              <p:ext uri="{D42A27DB-BD31-4B8C-83A1-F6EECF244321}">
                <p14:modId xmlns:p14="http://schemas.microsoft.com/office/powerpoint/2010/main" val="1847117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639" imgH="639" progId="TCLayout.ActiveDocument.1">
                  <p:embed/>
                </p:oleObj>
              </mc:Choice>
              <mc:Fallback>
                <p:oleObj name="think-cellスライド" r:id="rId3" imgW="639" imgH="639" progId="TCLayout.ActiveDocument.1">
                  <p:embed/>
                  <p:pic>
                    <p:nvPicPr>
                      <p:cNvPr id="17" name="think-cell data - do not delete" hidden="1">
                        <a:extLst>
                          <a:ext uri="{FF2B5EF4-FFF2-40B4-BE49-F238E27FC236}">
                            <a16:creationId xmlns:a16="http://schemas.microsoft.com/office/drawing/2014/main" id="{FDB99BE0-FEB7-E9DB-861F-D738B46D80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3691D73A-86E4-1976-D0D8-CF3E7CD49CDB}"/>
              </a:ext>
            </a:extLst>
          </p:cNvPr>
          <p:cNvSpPr>
            <a:spLocks noGrp="1"/>
          </p:cNvSpPr>
          <p:nvPr>
            <p:ph type="title"/>
          </p:nvPr>
        </p:nvSpPr>
        <p:spPr>
          <a:xfrm>
            <a:off x="659999" y="365508"/>
            <a:ext cx="6869385" cy="371961"/>
          </a:xfrm>
        </p:spPr>
        <p:txBody>
          <a:bodyPr vert="horz">
            <a:normAutofit/>
          </a:bodyPr>
          <a:lstStyle/>
          <a:p>
            <a:r>
              <a:rPr lang="en-US" altLang="ja-JP"/>
              <a:t>3-3.</a:t>
            </a:r>
            <a:r>
              <a:rPr lang="ja-JP" altLang="en-US"/>
              <a:t>検収未完了や分割検収による売上の前倒し計上</a:t>
            </a:r>
          </a:p>
        </p:txBody>
      </p:sp>
      <p:sp>
        <p:nvSpPr>
          <p:cNvPr id="2" name="正方形/長方形 1">
            <a:extLst>
              <a:ext uri="{FF2B5EF4-FFF2-40B4-BE49-F238E27FC236}">
                <a16:creationId xmlns:a16="http://schemas.microsoft.com/office/drawing/2014/main" id="{FF84527D-E244-798E-D911-BAA64B33C1C5}"/>
              </a:ext>
            </a:extLst>
          </p:cNvPr>
          <p:cNvSpPr/>
          <p:nvPr/>
        </p:nvSpPr>
        <p:spPr bwMode="gray">
          <a:xfrm>
            <a:off x="2127658" y="1626925"/>
            <a:ext cx="9720000" cy="115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産業医療ガスが、グループ外企業の</a:t>
            </a:r>
            <a:r>
              <a:rPr lang="en-US" altLang="ja-JP" sz="1400">
                <a:solidFill>
                  <a:prstClr val="black"/>
                </a:solidFill>
                <a:latin typeface="+mn-ea"/>
              </a:rPr>
              <a:t>By</a:t>
            </a:r>
            <a:r>
              <a:rPr lang="ja-JP" altLang="en-US" sz="1400">
                <a:solidFill>
                  <a:prstClr val="black"/>
                </a:solidFill>
                <a:latin typeface="+mn-ea"/>
              </a:rPr>
              <a:t>社から製作を請け負い、</a:t>
            </a:r>
            <a:r>
              <a:rPr lang="en-US" altLang="ja-JP" sz="1400">
                <a:solidFill>
                  <a:prstClr val="black"/>
                </a:solidFill>
                <a:latin typeface="+mn-ea"/>
              </a:rPr>
              <a:t>AWMX</a:t>
            </a:r>
            <a:r>
              <a:rPr lang="ja-JP" altLang="en-US" sz="1400">
                <a:solidFill>
                  <a:prstClr val="black"/>
                </a:solidFill>
                <a:latin typeface="+mn-ea"/>
              </a:rPr>
              <a:t>が産業医療ガスから製作を請け負った案件について、契約で「性能確認合格後に検収」と合意していたにも関わらず、予算達成を目的として性能確認前に検収扱いとすることについて</a:t>
            </a:r>
            <a:r>
              <a:rPr lang="en-US" altLang="ja-JP" sz="1400">
                <a:solidFill>
                  <a:prstClr val="black"/>
                </a:solidFill>
                <a:latin typeface="+mn-ea"/>
              </a:rPr>
              <a:t>By</a:t>
            </a:r>
            <a:r>
              <a:rPr lang="ja-JP" altLang="en-US" sz="1400">
                <a:solidFill>
                  <a:prstClr val="black"/>
                </a:solidFill>
                <a:latin typeface="+mn-ea"/>
              </a:rPr>
              <a:t>社と合意し、産業医療ガス及び</a:t>
            </a:r>
            <a:r>
              <a:rPr lang="en-US" altLang="ja-JP" sz="1400">
                <a:solidFill>
                  <a:prstClr val="black"/>
                </a:solidFill>
                <a:latin typeface="+mn-ea"/>
              </a:rPr>
              <a:t>AWMX</a:t>
            </a:r>
            <a:r>
              <a:rPr lang="ja-JP" altLang="en-US" sz="1400">
                <a:solidFill>
                  <a:prstClr val="black"/>
                </a:solidFill>
                <a:latin typeface="+mn-ea"/>
              </a:rPr>
              <a:t>において、</a:t>
            </a:r>
            <a:r>
              <a:rPr lang="en-US" altLang="ja-JP" sz="1400">
                <a:solidFill>
                  <a:prstClr val="black"/>
                </a:solidFill>
                <a:latin typeface="+mn-ea"/>
              </a:rPr>
              <a:t>2025</a:t>
            </a:r>
            <a:r>
              <a:rPr lang="ja-JP" altLang="en-US" sz="1400">
                <a:solidFill>
                  <a:prstClr val="black"/>
                </a:solidFill>
                <a:latin typeface="+mn-ea"/>
              </a:rPr>
              <a:t>年</a:t>
            </a:r>
            <a:r>
              <a:rPr lang="en-US" altLang="ja-JP" sz="1400">
                <a:solidFill>
                  <a:prstClr val="black"/>
                </a:solidFill>
                <a:latin typeface="+mn-ea"/>
              </a:rPr>
              <a:t>3</a:t>
            </a:r>
            <a:r>
              <a:rPr lang="ja-JP" altLang="en-US" sz="1400">
                <a:solidFill>
                  <a:prstClr val="black"/>
                </a:solidFill>
                <a:latin typeface="+mn-ea"/>
              </a:rPr>
              <a:t>月分の売上として先行計上している</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AWMX</a:t>
            </a:r>
            <a:r>
              <a:rPr lang="ja-JP" altLang="en-US" sz="1400">
                <a:solidFill>
                  <a:prstClr val="black"/>
                </a:solidFill>
                <a:latin typeface="+mn-ea"/>
              </a:rPr>
              <a:t>においては上記事案以外にも、検収条件が満たされていない売上先行計上が過年度含め複数発見されている</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6B08A121-4B8C-5F3F-078D-988547AA7371}"/>
              </a:ext>
            </a:extLst>
          </p:cNvPr>
          <p:cNvSpPr/>
          <p:nvPr/>
        </p:nvSpPr>
        <p:spPr bwMode="gray">
          <a:xfrm>
            <a:off x="507602" y="1626925"/>
            <a:ext cx="1260000" cy="115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2BBD7468-BAF2-092D-CDF4-F8C85B0471B2}"/>
              </a:ext>
            </a:extLst>
          </p:cNvPr>
          <p:cNvSpPr txBox="1">
            <a:spLocks/>
          </p:cNvSpPr>
          <p:nvPr/>
        </p:nvSpPr>
        <p:spPr>
          <a:xfrm>
            <a:off x="681161" y="775103"/>
            <a:ext cx="11183334" cy="829956"/>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売上をいくらで、いつ計上するかは、収益認識基準の</a:t>
            </a:r>
            <a:r>
              <a:rPr lang="en-US" altLang="ja-JP" sz="1800" b="0"/>
              <a:t>5</a:t>
            </a:r>
            <a:r>
              <a:rPr lang="ja-JP" altLang="en-US" sz="1800" b="0"/>
              <a:t>ステップ</a:t>
            </a:r>
            <a:r>
              <a:rPr lang="en-US" altLang="ja-JP" sz="1800" b="0"/>
              <a:t>(</a:t>
            </a:r>
            <a:r>
              <a:rPr lang="ja-JP" altLang="en-US" sz="1800" b="0"/>
              <a:t>右下図</a:t>
            </a:r>
            <a:r>
              <a:rPr lang="en-US" altLang="ja-JP" sz="1800" b="0"/>
              <a:t>)</a:t>
            </a:r>
            <a:r>
              <a:rPr lang="ja-JP" altLang="en-US" sz="1800" b="0"/>
              <a:t>を経て判断することになります。なお、検収未完了の状態で売上計上することはステップ⑤の要件を満たさないことから、認められません。</a:t>
            </a:r>
            <a:endParaRPr lang="en-US" altLang="ja-JP" sz="1800" b="0"/>
          </a:p>
        </p:txBody>
      </p:sp>
      <p:sp>
        <p:nvSpPr>
          <p:cNvPr id="4" name="正方形/長方形 3">
            <a:extLst>
              <a:ext uri="{FF2B5EF4-FFF2-40B4-BE49-F238E27FC236}">
                <a16:creationId xmlns:a16="http://schemas.microsoft.com/office/drawing/2014/main" id="{1B7FEAB1-4E28-D816-BDD6-D04E1E78E2AD}"/>
              </a:ext>
            </a:extLst>
          </p:cNvPr>
          <p:cNvSpPr/>
          <p:nvPr/>
        </p:nvSpPr>
        <p:spPr>
          <a:xfrm>
            <a:off x="3554686" y="3442508"/>
            <a:ext cx="936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600">
                <a:solidFill>
                  <a:schemeClr val="tx1"/>
                </a:solidFill>
                <a:latin typeface="+mn-ea"/>
                <a:cs typeface="Meiryo UI" panose="020B0604030504040204" pitchFamily="50" charset="-128"/>
              </a:rPr>
              <a:t>産業医療ガス</a:t>
            </a:r>
          </a:p>
        </p:txBody>
      </p:sp>
      <p:sp>
        <p:nvSpPr>
          <p:cNvPr id="5" name="正方形/長方形 4">
            <a:extLst>
              <a:ext uri="{FF2B5EF4-FFF2-40B4-BE49-F238E27FC236}">
                <a16:creationId xmlns:a16="http://schemas.microsoft.com/office/drawing/2014/main" id="{347A1163-592A-FB7E-CF10-8ACB55848E38}"/>
              </a:ext>
            </a:extLst>
          </p:cNvPr>
          <p:cNvSpPr/>
          <p:nvPr/>
        </p:nvSpPr>
        <p:spPr>
          <a:xfrm>
            <a:off x="6541961" y="3442508"/>
            <a:ext cx="936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By</a:t>
            </a:r>
            <a:r>
              <a:rPr kumimoji="1" lang="ja-JP" altLang="en-US" sz="1600">
                <a:solidFill>
                  <a:schemeClr val="tx1"/>
                </a:solidFill>
                <a:latin typeface="+mn-ea"/>
                <a:cs typeface="Meiryo UI" panose="020B0604030504040204" pitchFamily="50" charset="-128"/>
              </a:rPr>
              <a:t>社</a:t>
            </a:r>
          </a:p>
        </p:txBody>
      </p:sp>
      <p:cxnSp>
        <p:nvCxnSpPr>
          <p:cNvPr id="8" name="直線矢印コネクタ 7">
            <a:extLst>
              <a:ext uri="{FF2B5EF4-FFF2-40B4-BE49-F238E27FC236}">
                <a16:creationId xmlns:a16="http://schemas.microsoft.com/office/drawing/2014/main" id="{CE2DEDD4-AE5F-8989-C6A0-8F0859E7E48E}"/>
              </a:ext>
            </a:extLst>
          </p:cNvPr>
          <p:cNvCxnSpPr>
            <a:cxnSpLocks/>
            <a:stCxn id="4" idx="3"/>
            <a:endCxn id="5" idx="1"/>
          </p:cNvCxnSpPr>
          <p:nvPr/>
        </p:nvCxnSpPr>
        <p:spPr>
          <a:xfrm>
            <a:off x="4490686" y="3701230"/>
            <a:ext cx="2051275" cy="0"/>
          </a:xfrm>
          <a:prstGeom prst="straightConnector1">
            <a:avLst/>
          </a:prstGeom>
          <a:ln w="3810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AA70200B-41A0-9F6C-63EB-F6667B246194}"/>
              </a:ext>
            </a:extLst>
          </p:cNvPr>
          <p:cNvSpPr/>
          <p:nvPr/>
        </p:nvSpPr>
        <p:spPr>
          <a:xfrm>
            <a:off x="487002" y="3442508"/>
            <a:ext cx="936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AWMX</a:t>
            </a:r>
            <a:endParaRPr kumimoji="1" lang="ja-JP" altLang="en-US" sz="1600">
              <a:solidFill>
                <a:schemeClr val="tx1"/>
              </a:solidFill>
              <a:latin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562B6A48-2980-A111-0562-D74A3F997E8E}"/>
              </a:ext>
            </a:extLst>
          </p:cNvPr>
          <p:cNvSpPr/>
          <p:nvPr/>
        </p:nvSpPr>
        <p:spPr>
          <a:xfrm>
            <a:off x="9182113" y="3138925"/>
            <a:ext cx="2106564" cy="40571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契約の識別</a:t>
            </a:r>
          </a:p>
        </p:txBody>
      </p:sp>
      <p:sp>
        <p:nvSpPr>
          <p:cNvPr id="19" name="Rectangle 22">
            <a:extLst>
              <a:ext uri="{FF2B5EF4-FFF2-40B4-BE49-F238E27FC236}">
                <a16:creationId xmlns:a16="http://schemas.microsoft.com/office/drawing/2014/main" id="{731B6DED-5CDE-E1E3-F238-FF99173B5D54}"/>
              </a:ext>
            </a:extLst>
          </p:cNvPr>
          <p:cNvSpPr>
            <a:spLocks noChangeArrowheads="1"/>
          </p:cNvSpPr>
          <p:nvPr/>
        </p:nvSpPr>
        <p:spPr bwMode="gray">
          <a:xfrm>
            <a:off x="7922412" y="3138925"/>
            <a:ext cx="1152000" cy="405711"/>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ステップ</a:t>
            </a:r>
            <a:r>
              <a:rPr kumimoji="1" lang="ja-JP" altLang="en-US" sz="1600" b="1">
                <a:solidFill>
                  <a:schemeClr val="bg1"/>
                </a:solidFill>
              </a:rPr>
              <a:t>①</a:t>
            </a:r>
            <a:endParaRPr kumimoji="1" lang="en-US" altLang="ja-JP" sz="1600" b="1">
              <a:solidFill>
                <a:schemeClr val="bg1"/>
              </a:solidFill>
            </a:endParaRPr>
          </a:p>
        </p:txBody>
      </p:sp>
      <p:sp>
        <p:nvSpPr>
          <p:cNvPr id="29" name="テキスト ボックス 28">
            <a:extLst>
              <a:ext uri="{FF2B5EF4-FFF2-40B4-BE49-F238E27FC236}">
                <a16:creationId xmlns:a16="http://schemas.microsoft.com/office/drawing/2014/main" id="{CB98A867-3E67-8FEE-064C-0D1FE931977E}"/>
              </a:ext>
            </a:extLst>
          </p:cNvPr>
          <p:cNvSpPr txBox="1"/>
          <p:nvPr/>
        </p:nvSpPr>
        <p:spPr>
          <a:xfrm>
            <a:off x="3708569" y="4280075"/>
            <a:ext cx="3672801"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a:solidFill>
                  <a:srgbClr val="FF0000"/>
                </a:solidFill>
              </a:rPr>
              <a:t>性能確認合格後</a:t>
            </a:r>
            <a:r>
              <a:rPr lang="ja-JP" altLang="en-US" sz="1600"/>
              <a:t>に検収を行う合意</a:t>
            </a:r>
          </a:p>
        </p:txBody>
      </p:sp>
      <p:pic>
        <p:nvPicPr>
          <p:cNvPr id="31" name="グラフィックス 30" descr="握手 単色塗りつぶし">
            <a:extLst>
              <a:ext uri="{FF2B5EF4-FFF2-40B4-BE49-F238E27FC236}">
                <a16:creationId xmlns:a16="http://schemas.microsoft.com/office/drawing/2014/main" id="{A634B948-EC83-8638-B5B9-DA7DCB079FD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53784" y="3571298"/>
            <a:ext cx="914400" cy="914400"/>
          </a:xfrm>
          <a:prstGeom prst="rect">
            <a:avLst/>
          </a:prstGeom>
        </p:spPr>
      </p:pic>
      <p:cxnSp>
        <p:nvCxnSpPr>
          <p:cNvPr id="6" name="直線矢印コネクタ 5">
            <a:extLst>
              <a:ext uri="{FF2B5EF4-FFF2-40B4-BE49-F238E27FC236}">
                <a16:creationId xmlns:a16="http://schemas.microsoft.com/office/drawing/2014/main" id="{B696287A-32D0-A61C-990F-5D4EECAD8AEC}"/>
              </a:ext>
            </a:extLst>
          </p:cNvPr>
          <p:cNvCxnSpPr>
            <a:cxnSpLocks/>
          </p:cNvCxnSpPr>
          <p:nvPr/>
        </p:nvCxnSpPr>
        <p:spPr>
          <a:xfrm>
            <a:off x="1442253" y="3701230"/>
            <a:ext cx="2052000" cy="0"/>
          </a:xfrm>
          <a:prstGeom prst="straightConnector1">
            <a:avLst/>
          </a:prstGeom>
          <a:ln w="38100" cap="rnd">
            <a:solidFill>
              <a:schemeClr val="tx1"/>
            </a:solidFill>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09FE434B-1707-9867-6EA6-DF40AE804DA5}"/>
              </a:ext>
            </a:extLst>
          </p:cNvPr>
          <p:cNvSpPr txBox="1"/>
          <p:nvPr/>
        </p:nvSpPr>
        <p:spPr>
          <a:xfrm>
            <a:off x="1847935" y="3242838"/>
            <a:ext cx="1242433"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a:t>製作を委託</a:t>
            </a:r>
          </a:p>
        </p:txBody>
      </p:sp>
      <p:sp>
        <p:nvSpPr>
          <p:cNvPr id="30" name="正方形/長方形 29">
            <a:extLst>
              <a:ext uri="{FF2B5EF4-FFF2-40B4-BE49-F238E27FC236}">
                <a16:creationId xmlns:a16="http://schemas.microsoft.com/office/drawing/2014/main" id="{6B41AE67-E552-48F2-4339-8BDC4693C2AE}"/>
              </a:ext>
            </a:extLst>
          </p:cNvPr>
          <p:cNvSpPr/>
          <p:nvPr/>
        </p:nvSpPr>
        <p:spPr>
          <a:xfrm>
            <a:off x="9182113" y="3649208"/>
            <a:ext cx="2106564" cy="40571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履行義務の識別</a:t>
            </a:r>
          </a:p>
        </p:txBody>
      </p:sp>
      <p:sp>
        <p:nvSpPr>
          <p:cNvPr id="32" name="Rectangle 22">
            <a:extLst>
              <a:ext uri="{FF2B5EF4-FFF2-40B4-BE49-F238E27FC236}">
                <a16:creationId xmlns:a16="http://schemas.microsoft.com/office/drawing/2014/main" id="{71A76CBC-B031-3795-93E1-2E441795E0B2}"/>
              </a:ext>
            </a:extLst>
          </p:cNvPr>
          <p:cNvSpPr>
            <a:spLocks noChangeArrowheads="1"/>
          </p:cNvSpPr>
          <p:nvPr/>
        </p:nvSpPr>
        <p:spPr bwMode="gray">
          <a:xfrm>
            <a:off x="7922412" y="3649208"/>
            <a:ext cx="1152000" cy="405711"/>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ステップ②</a:t>
            </a:r>
            <a:endParaRPr kumimoji="1" lang="en-US" altLang="ja-JP" sz="1600" b="1">
              <a:solidFill>
                <a:schemeClr val="bg1"/>
              </a:solidFill>
            </a:endParaRPr>
          </a:p>
        </p:txBody>
      </p:sp>
      <p:sp>
        <p:nvSpPr>
          <p:cNvPr id="24" name="正方形/長方形 23">
            <a:extLst>
              <a:ext uri="{FF2B5EF4-FFF2-40B4-BE49-F238E27FC236}">
                <a16:creationId xmlns:a16="http://schemas.microsoft.com/office/drawing/2014/main" id="{AE5986A2-A447-777D-41E2-F1FE723E65DE}"/>
              </a:ext>
            </a:extLst>
          </p:cNvPr>
          <p:cNvSpPr/>
          <p:nvPr/>
        </p:nvSpPr>
        <p:spPr>
          <a:xfrm>
            <a:off x="487003" y="5304343"/>
            <a:ext cx="4003684"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AWMX</a:t>
            </a:r>
            <a:r>
              <a:rPr kumimoji="1" lang="ja-JP" altLang="en-US" sz="1600">
                <a:solidFill>
                  <a:schemeClr val="tx1"/>
                </a:solidFill>
                <a:latin typeface="+mn-ea"/>
                <a:cs typeface="Meiryo UI" panose="020B0604030504040204" pitchFamily="50" charset="-128"/>
              </a:rPr>
              <a:t>・産業医療ガス</a:t>
            </a:r>
          </a:p>
        </p:txBody>
      </p:sp>
      <p:sp>
        <p:nvSpPr>
          <p:cNvPr id="33" name="正方形/長方形 32">
            <a:extLst>
              <a:ext uri="{FF2B5EF4-FFF2-40B4-BE49-F238E27FC236}">
                <a16:creationId xmlns:a16="http://schemas.microsoft.com/office/drawing/2014/main" id="{C9AF5D85-C321-7F62-D8F7-873B4EEC1F9B}"/>
              </a:ext>
            </a:extLst>
          </p:cNvPr>
          <p:cNvSpPr/>
          <p:nvPr/>
        </p:nvSpPr>
        <p:spPr>
          <a:xfrm>
            <a:off x="9182113" y="4159491"/>
            <a:ext cx="2106564" cy="40571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取引価格の算定</a:t>
            </a:r>
          </a:p>
        </p:txBody>
      </p:sp>
      <p:sp>
        <p:nvSpPr>
          <p:cNvPr id="34" name="Rectangle 22">
            <a:extLst>
              <a:ext uri="{FF2B5EF4-FFF2-40B4-BE49-F238E27FC236}">
                <a16:creationId xmlns:a16="http://schemas.microsoft.com/office/drawing/2014/main" id="{376AE1C0-68B8-3562-1454-68A8A50828CE}"/>
              </a:ext>
            </a:extLst>
          </p:cNvPr>
          <p:cNvSpPr>
            <a:spLocks noChangeArrowheads="1"/>
          </p:cNvSpPr>
          <p:nvPr/>
        </p:nvSpPr>
        <p:spPr bwMode="gray">
          <a:xfrm>
            <a:off x="7922412" y="4159491"/>
            <a:ext cx="1152000" cy="405711"/>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ステップ③</a:t>
            </a:r>
            <a:endParaRPr kumimoji="1" lang="en-US" altLang="ja-JP" sz="1600" b="1">
              <a:solidFill>
                <a:schemeClr val="bg1"/>
              </a:solidFill>
            </a:endParaRPr>
          </a:p>
        </p:txBody>
      </p:sp>
      <p:sp>
        <p:nvSpPr>
          <p:cNvPr id="35" name="正方形/長方形 34">
            <a:extLst>
              <a:ext uri="{FF2B5EF4-FFF2-40B4-BE49-F238E27FC236}">
                <a16:creationId xmlns:a16="http://schemas.microsoft.com/office/drawing/2014/main" id="{25B1EA70-1B33-7BEC-72F6-EB043CA30BBC}"/>
              </a:ext>
            </a:extLst>
          </p:cNvPr>
          <p:cNvSpPr/>
          <p:nvPr/>
        </p:nvSpPr>
        <p:spPr>
          <a:xfrm>
            <a:off x="9182113" y="4669774"/>
            <a:ext cx="2106564" cy="40571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取引価格の配分</a:t>
            </a:r>
          </a:p>
        </p:txBody>
      </p:sp>
      <p:sp>
        <p:nvSpPr>
          <p:cNvPr id="36" name="Rectangle 22">
            <a:extLst>
              <a:ext uri="{FF2B5EF4-FFF2-40B4-BE49-F238E27FC236}">
                <a16:creationId xmlns:a16="http://schemas.microsoft.com/office/drawing/2014/main" id="{E18C5703-ECFC-2438-C0F8-CB1C1E64F3F7}"/>
              </a:ext>
            </a:extLst>
          </p:cNvPr>
          <p:cNvSpPr>
            <a:spLocks noChangeArrowheads="1"/>
          </p:cNvSpPr>
          <p:nvPr/>
        </p:nvSpPr>
        <p:spPr bwMode="gray">
          <a:xfrm>
            <a:off x="7922412" y="4669774"/>
            <a:ext cx="1152000" cy="405711"/>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ステップ④</a:t>
            </a:r>
            <a:endParaRPr kumimoji="1" lang="en-US" altLang="ja-JP" sz="1600" b="1">
              <a:solidFill>
                <a:schemeClr val="bg1"/>
              </a:solidFill>
            </a:endParaRPr>
          </a:p>
        </p:txBody>
      </p:sp>
      <p:sp>
        <p:nvSpPr>
          <p:cNvPr id="37" name="正方形/長方形 36">
            <a:extLst>
              <a:ext uri="{FF2B5EF4-FFF2-40B4-BE49-F238E27FC236}">
                <a16:creationId xmlns:a16="http://schemas.microsoft.com/office/drawing/2014/main" id="{A429BADF-491A-EA53-6911-E1A22D5204AB}"/>
              </a:ext>
            </a:extLst>
          </p:cNvPr>
          <p:cNvSpPr/>
          <p:nvPr/>
        </p:nvSpPr>
        <p:spPr>
          <a:xfrm>
            <a:off x="9182113" y="5180057"/>
            <a:ext cx="2106564" cy="40571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履行義務の充足</a:t>
            </a:r>
          </a:p>
        </p:txBody>
      </p:sp>
      <p:sp>
        <p:nvSpPr>
          <p:cNvPr id="38" name="Rectangle 22">
            <a:extLst>
              <a:ext uri="{FF2B5EF4-FFF2-40B4-BE49-F238E27FC236}">
                <a16:creationId xmlns:a16="http://schemas.microsoft.com/office/drawing/2014/main" id="{AC8AE01F-CD07-7804-D01A-9C7BB636A38C}"/>
              </a:ext>
            </a:extLst>
          </p:cNvPr>
          <p:cNvSpPr>
            <a:spLocks noChangeArrowheads="1"/>
          </p:cNvSpPr>
          <p:nvPr/>
        </p:nvSpPr>
        <p:spPr bwMode="gray">
          <a:xfrm>
            <a:off x="7922412" y="5180057"/>
            <a:ext cx="1152000" cy="405711"/>
          </a:xfrm>
          <a:prstGeom prst="rect">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ステップ⑤</a:t>
            </a:r>
            <a:endParaRPr kumimoji="1" lang="en-US" altLang="ja-JP" sz="1600" b="1">
              <a:solidFill>
                <a:schemeClr val="bg1"/>
              </a:solidFill>
            </a:endParaRPr>
          </a:p>
        </p:txBody>
      </p:sp>
      <p:sp>
        <p:nvSpPr>
          <p:cNvPr id="25" name="正方形/長方形 24">
            <a:extLst>
              <a:ext uri="{FF2B5EF4-FFF2-40B4-BE49-F238E27FC236}">
                <a16:creationId xmlns:a16="http://schemas.microsoft.com/office/drawing/2014/main" id="{A2FE5523-5FC0-888B-73DE-C7BA9D53FCEE}"/>
              </a:ext>
            </a:extLst>
          </p:cNvPr>
          <p:cNvSpPr/>
          <p:nvPr/>
        </p:nvSpPr>
        <p:spPr>
          <a:xfrm>
            <a:off x="6541962" y="5304343"/>
            <a:ext cx="905211"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By</a:t>
            </a:r>
            <a:r>
              <a:rPr lang="ja-JP" altLang="en-US" sz="1600">
                <a:solidFill>
                  <a:schemeClr val="tx1"/>
                </a:solidFill>
                <a:latin typeface="+mn-ea"/>
                <a:cs typeface="Meiryo UI" panose="020B0604030504040204" pitchFamily="50" charset="-128"/>
              </a:rPr>
              <a:t>社</a:t>
            </a:r>
            <a:endParaRPr kumimoji="1" lang="ja-JP" altLang="en-US" sz="1600">
              <a:solidFill>
                <a:schemeClr val="tx1"/>
              </a:solidFill>
              <a:latin typeface="+mn-ea"/>
              <a:cs typeface="Meiryo UI" panose="020B0604030504040204" pitchFamily="50" charset="-128"/>
            </a:endParaRPr>
          </a:p>
        </p:txBody>
      </p:sp>
      <p:sp>
        <p:nvSpPr>
          <p:cNvPr id="40" name="テキスト ボックス 39">
            <a:extLst>
              <a:ext uri="{FF2B5EF4-FFF2-40B4-BE49-F238E27FC236}">
                <a16:creationId xmlns:a16="http://schemas.microsoft.com/office/drawing/2014/main" id="{909DCFAF-A9FF-F313-DCEA-CD56F68EE330}"/>
              </a:ext>
            </a:extLst>
          </p:cNvPr>
          <p:cNvSpPr txBox="1"/>
          <p:nvPr/>
        </p:nvSpPr>
        <p:spPr>
          <a:xfrm>
            <a:off x="5089768" y="3242838"/>
            <a:ext cx="1242433"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a:t>製作を委託</a:t>
            </a:r>
          </a:p>
        </p:txBody>
      </p:sp>
      <p:pic>
        <p:nvPicPr>
          <p:cNvPr id="43" name="グラフィックス 42" descr="握手 単色塗りつぶし">
            <a:extLst>
              <a:ext uri="{FF2B5EF4-FFF2-40B4-BE49-F238E27FC236}">
                <a16:creationId xmlns:a16="http://schemas.microsoft.com/office/drawing/2014/main" id="{AD9A74C0-188A-A570-7E1B-F4595B7B83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53784" y="5417595"/>
            <a:ext cx="914400" cy="914400"/>
          </a:xfrm>
          <a:prstGeom prst="rect">
            <a:avLst/>
          </a:prstGeom>
        </p:spPr>
      </p:pic>
      <p:cxnSp>
        <p:nvCxnSpPr>
          <p:cNvPr id="44" name="直線矢印コネクタ 43">
            <a:extLst>
              <a:ext uri="{FF2B5EF4-FFF2-40B4-BE49-F238E27FC236}">
                <a16:creationId xmlns:a16="http://schemas.microsoft.com/office/drawing/2014/main" id="{36520DDD-A159-FE34-C1BC-F339B43DCB7A}"/>
              </a:ext>
            </a:extLst>
          </p:cNvPr>
          <p:cNvCxnSpPr>
            <a:cxnSpLocks/>
            <a:stCxn id="25" idx="1"/>
            <a:endCxn id="24" idx="3"/>
          </p:cNvCxnSpPr>
          <p:nvPr/>
        </p:nvCxnSpPr>
        <p:spPr>
          <a:xfrm flipH="1">
            <a:off x="4490687" y="5563065"/>
            <a:ext cx="2051275" cy="0"/>
          </a:xfrm>
          <a:prstGeom prst="straightConnector1">
            <a:avLst/>
          </a:prstGeom>
          <a:ln w="38100" cap="rnd">
            <a:solidFill>
              <a:schemeClr val="bg1">
                <a:lumMod val="75000"/>
              </a:schemeClr>
            </a:solidFill>
            <a:prstDash val="sysDash"/>
            <a:round/>
            <a:headEnd type="triangle"/>
            <a:tailEnd type="none"/>
          </a:ln>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6B359325-73AF-EB00-DD97-FB81ABEA7E45}"/>
              </a:ext>
            </a:extLst>
          </p:cNvPr>
          <p:cNvSpPr txBox="1"/>
          <p:nvPr/>
        </p:nvSpPr>
        <p:spPr>
          <a:xfrm>
            <a:off x="5089768" y="5194220"/>
            <a:ext cx="1242433" cy="241168"/>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a:t>性能確認</a:t>
            </a:r>
            <a:r>
              <a:rPr lang="ja-JP" altLang="en-US" sz="1600">
                <a:solidFill>
                  <a:srgbClr val="FF0000"/>
                </a:solidFill>
              </a:rPr>
              <a:t>未了</a:t>
            </a:r>
          </a:p>
        </p:txBody>
      </p:sp>
      <p:sp>
        <p:nvSpPr>
          <p:cNvPr id="50" name="テキスト ボックス 49">
            <a:extLst>
              <a:ext uri="{FF2B5EF4-FFF2-40B4-BE49-F238E27FC236}">
                <a16:creationId xmlns:a16="http://schemas.microsoft.com/office/drawing/2014/main" id="{94839852-5DA7-C0AA-8BF3-5F0220829CBC}"/>
              </a:ext>
            </a:extLst>
          </p:cNvPr>
          <p:cNvSpPr txBox="1"/>
          <p:nvPr/>
        </p:nvSpPr>
        <p:spPr>
          <a:xfrm>
            <a:off x="853720" y="6406609"/>
            <a:ext cx="3492000"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en-US" altLang="ja-JP" sz="1600"/>
              <a:t>2025</a:t>
            </a:r>
            <a:r>
              <a:rPr lang="ja-JP" altLang="en-US" sz="1600"/>
              <a:t>年</a:t>
            </a:r>
            <a:r>
              <a:rPr lang="en-US" altLang="ja-JP" sz="1600"/>
              <a:t>3</a:t>
            </a:r>
            <a:r>
              <a:rPr lang="ja-JP" altLang="en-US" sz="1600"/>
              <a:t>月分の売上として</a:t>
            </a:r>
            <a:r>
              <a:rPr lang="ja-JP" altLang="en-US" sz="1600">
                <a:solidFill>
                  <a:srgbClr val="FF0000"/>
                </a:solidFill>
              </a:rPr>
              <a:t>先行計上</a:t>
            </a:r>
          </a:p>
        </p:txBody>
      </p:sp>
      <p:sp>
        <p:nvSpPr>
          <p:cNvPr id="45" name="矢印: 下 44">
            <a:extLst>
              <a:ext uri="{FF2B5EF4-FFF2-40B4-BE49-F238E27FC236}">
                <a16:creationId xmlns:a16="http://schemas.microsoft.com/office/drawing/2014/main" id="{5B6BCE2F-3720-7480-EBA5-6CD92003DAF0}"/>
              </a:ext>
            </a:extLst>
          </p:cNvPr>
          <p:cNvSpPr/>
          <p:nvPr/>
        </p:nvSpPr>
        <p:spPr>
          <a:xfrm>
            <a:off x="4664830" y="4665148"/>
            <a:ext cx="1980000" cy="504000"/>
          </a:xfrm>
          <a:prstGeom prst="downArrow">
            <a:avLst/>
          </a:prstGeom>
          <a:solidFill>
            <a:schemeClr val="accent5">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交渉・協議</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46" name="矢印: 下 45">
            <a:extLst>
              <a:ext uri="{FF2B5EF4-FFF2-40B4-BE49-F238E27FC236}">
                <a16:creationId xmlns:a16="http://schemas.microsoft.com/office/drawing/2014/main" id="{7747F96F-C7E7-777A-678D-BE28C30B3A5A}"/>
              </a:ext>
            </a:extLst>
          </p:cNvPr>
          <p:cNvSpPr/>
          <p:nvPr/>
        </p:nvSpPr>
        <p:spPr>
          <a:xfrm>
            <a:off x="1499099" y="5914617"/>
            <a:ext cx="1980000" cy="504000"/>
          </a:xfrm>
          <a:prstGeom prst="downArrow">
            <a:avLst/>
          </a:prstGeom>
          <a:solidFill>
            <a:schemeClr val="accent5">
              <a:lumMod val="9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会計処理</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51" name="テキスト ボックス 50">
            <a:extLst>
              <a:ext uri="{FF2B5EF4-FFF2-40B4-BE49-F238E27FC236}">
                <a16:creationId xmlns:a16="http://schemas.microsoft.com/office/drawing/2014/main" id="{F899FAE0-AA98-C706-CEEE-F982869EDC95}"/>
              </a:ext>
            </a:extLst>
          </p:cNvPr>
          <p:cNvSpPr txBox="1"/>
          <p:nvPr/>
        </p:nvSpPr>
        <p:spPr>
          <a:xfrm>
            <a:off x="7864661" y="5659190"/>
            <a:ext cx="3420000" cy="582488"/>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a:solidFill>
                  <a:srgbClr val="FF0000"/>
                </a:solidFill>
              </a:rPr>
              <a:t>➡本事案は、履行義務を充足しておらず、収益認識すべきでない</a:t>
            </a:r>
            <a:endParaRPr lang="ja-JP" altLang="en-US" sz="1600"/>
          </a:p>
        </p:txBody>
      </p:sp>
      <p:sp>
        <p:nvSpPr>
          <p:cNvPr id="56" name="テキスト ボックス 55">
            <a:extLst>
              <a:ext uri="{FF2B5EF4-FFF2-40B4-BE49-F238E27FC236}">
                <a16:creationId xmlns:a16="http://schemas.microsoft.com/office/drawing/2014/main" id="{29D57165-F34D-1C59-26C6-C5219672896A}"/>
              </a:ext>
            </a:extLst>
          </p:cNvPr>
          <p:cNvSpPr txBox="1"/>
          <p:nvPr/>
        </p:nvSpPr>
        <p:spPr>
          <a:xfrm>
            <a:off x="5229968" y="6155424"/>
            <a:ext cx="2260916" cy="514251"/>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a:solidFill>
                  <a:srgbClr val="FF0000"/>
                </a:solidFill>
              </a:rPr>
              <a:t>性能確認前</a:t>
            </a:r>
            <a:r>
              <a:rPr lang="ja-JP" altLang="en-US" sz="1600"/>
              <a:t>に検収扱いとする合意</a:t>
            </a:r>
          </a:p>
        </p:txBody>
      </p:sp>
      <p:sp>
        <p:nvSpPr>
          <p:cNvPr id="57" name="テキスト ボックス 56">
            <a:extLst>
              <a:ext uri="{FF2B5EF4-FFF2-40B4-BE49-F238E27FC236}">
                <a16:creationId xmlns:a16="http://schemas.microsoft.com/office/drawing/2014/main" id="{0657F746-6022-056B-23CA-3163D51814FA}"/>
              </a:ext>
            </a:extLst>
          </p:cNvPr>
          <p:cNvSpPr txBox="1"/>
          <p:nvPr/>
        </p:nvSpPr>
        <p:spPr>
          <a:xfrm>
            <a:off x="684997" y="2890103"/>
            <a:ext cx="2019698"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事案の概要図</a:t>
            </a:r>
          </a:p>
        </p:txBody>
      </p:sp>
      <p:sp>
        <p:nvSpPr>
          <p:cNvPr id="58" name="テキスト ボックス 57">
            <a:extLst>
              <a:ext uri="{FF2B5EF4-FFF2-40B4-BE49-F238E27FC236}">
                <a16:creationId xmlns:a16="http://schemas.microsoft.com/office/drawing/2014/main" id="{D6F040AA-6F2B-6418-4338-BD751E52D3DB}"/>
              </a:ext>
            </a:extLst>
          </p:cNvPr>
          <p:cNvSpPr txBox="1"/>
          <p:nvPr/>
        </p:nvSpPr>
        <p:spPr>
          <a:xfrm>
            <a:off x="7546439" y="2778925"/>
            <a:ext cx="3715594"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solidFill>
                  <a:schemeClr val="tx1"/>
                </a:solidFill>
              </a:rPr>
              <a:t>収益認識基準－</a:t>
            </a:r>
            <a:r>
              <a:rPr lang="en-US" altLang="ja-JP" sz="1600" b="1">
                <a:solidFill>
                  <a:schemeClr val="tx1"/>
                </a:solidFill>
              </a:rPr>
              <a:t>5</a:t>
            </a:r>
            <a:r>
              <a:rPr lang="ja-JP" altLang="en-US" sz="1600" b="1">
                <a:solidFill>
                  <a:schemeClr val="tx1"/>
                </a:solidFill>
              </a:rPr>
              <a:t>ステップ</a:t>
            </a:r>
          </a:p>
        </p:txBody>
      </p:sp>
      <p:sp>
        <p:nvSpPr>
          <p:cNvPr id="61" name="乗算記号 60">
            <a:extLst>
              <a:ext uri="{FF2B5EF4-FFF2-40B4-BE49-F238E27FC236}">
                <a16:creationId xmlns:a16="http://schemas.microsoft.com/office/drawing/2014/main" id="{0B6FDC8A-DF0E-1A0D-5BF1-1D38D45A9C87}"/>
              </a:ext>
            </a:extLst>
          </p:cNvPr>
          <p:cNvSpPr/>
          <p:nvPr/>
        </p:nvSpPr>
        <p:spPr>
          <a:xfrm>
            <a:off x="311836" y="6338625"/>
            <a:ext cx="591394" cy="514256"/>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2" name="乗算記号 61">
            <a:extLst>
              <a:ext uri="{FF2B5EF4-FFF2-40B4-BE49-F238E27FC236}">
                <a16:creationId xmlns:a16="http://schemas.microsoft.com/office/drawing/2014/main" id="{1355C709-C704-572D-21FF-6E3743A5B000}"/>
              </a:ext>
            </a:extLst>
          </p:cNvPr>
          <p:cNvSpPr/>
          <p:nvPr/>
        </p:nvSpPr>
        <p:spPr>
          <a:xfrm>
            <a:off x="4620447" y="6153789"/>
            <a:ext cx="591394" cy="514256"/>
          </a:xfrm>
          <a:prstGeom prst="mathMultiply">
            <a:avLst>
              <a:gd name="adj1" fmla="val 23520"/>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 name="正方形/長方形 6">
            <a:extLst>
              <a:ext uri="{FF2B5EF4-FFF2-40B4-BE49-F238E27FC236}">
                <a16:creationId xmlns:a16="http://schemas.microsoft.com/office/drawing/2014/main" id="{BD4E25E5-53FE-F89D-0746-844C522AF81E}"/>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9" name="テキスト ボックス 8">
            <a:extLst>
              <a:ext uri="{FF2B5EF4-FFF2-40B4-BE49-F238E27FC236}">
                <a16:creationId xmlns:a16="http://schemas.microsoft.com/office/drawing/2014/main" id="{2D645088-A696-D4BA-D190-23BDE5BF0EEE}"/>
              </a:ext>
            </a:extLst>
          </p:cNvPr>
          <p:cNvSpPr txBox="1"/>
          <p:nvPr/>
        </p:nvSpPr>
        <p:spPr>
          <a:xfrm>
            <a:off x="7909800" y="6241678"/>
            <a:ext cx="3420000" cy="582488"/>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a:solidFill>
                  <a:srgbClr val="FF0000"/>
                </a:solidFill>
                <a:highlight>
                  <a:srgbClr val="FFFF00"/>
                </a:highlight>
              </a:rPr>
              <a:t>収益認識基準</a:t>
            </a:r>
            <a:r>
              <a:rPr lang="en-US" altLang="ja-JP" sz="1600">
                <a:solidFill>
                  <a:srgbClr val="FF0000"/>
                </a:solidFill>
                <a:highlight>
                  <a:srgbClr val="FFFF00"/>
                </a:highlight>
              </a:rPr>
              <a:t>-</a:t>
            </a:r>
            <a:r>
              <a:rPr lang="ja-JP" altLang="en-US" sz="1600">
                <a:solidFill>
                  <a:srgbClr val="FF0000"/>
                </a:solidFill>
                <a:highlight>
                  <a:srgbClr val="FFFF00"/>
                </a:highlight>
              </a:rPr>
              <a:t>５ステップの解説はスライド末尾に別掲しています。</a:t>
            </a:r>
            <a:endParaRPr lang="ja-JP" altLang="en-US" sz="1600">
              <a:highlight>
                <a:srgbClr val="FFFF00"/>
              </a:highlight>
            </a:endParaRPr>
          </a:p>
        </p:txBody>
      </p:sp>
    </p:spTree>
    <p:extLst>
      <p:ext uri="{BB962C8B-B14F-4D97-AF65-F5344CB8AC3E}">
        <p14:creationId xmlns:p14="http://schemas.microsoft.com/office/powerpoint/2010/main" val="3094111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99864-FFE4-5400-02E8-1C3200CBB8EC}"/>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B2A9025-7FE8-19B2-A71C-73171AE6ABF8}"/>
              </a:ext>
            </a:extLst>
          </p:cNvPr>
          <p:cNvGraphicFramePr>
            <a:graphicFrameLocks noChangeAspect="1"/>
          </p:cNvGraphicFramePr>
          <p:nvPr>
            <p:custDataLst>
              <p:tags r:id="rId1"/>
            </p:custDataLst>
            <p:extLst>
              <p:ext uri="{D42A27DB-BD31-4B8C-83A1-F6EECF244321}">
                <p14:modId xmlns:p14="http://schemas.microsoft.com/office/powerpoint/2010/main" val="2526606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512" imgH="511" progId="TCLayout.ActiveDocument.1">
                  <p:embed/>
                </p:oleObj>
              </mc:Choice>
              <mc:Fallback>
                <p:oleObj name="think-cellスライド" r:id="rId3" imgW="512" imgH="511" progId="TCLayout.ActiveDocument.1">
                  <p:embed/>
                  <p:pic>
                    <p:nvPicPr>
                      <p:cNvPr id="4" name="think-cell data - do not delete" hidden="1">
                        <a:extLst>
                          <a:ext uri="{FF2B5EF4-FFF2-40B4-BE49-F238E27FC236}">
                            <a16:creationId xmlns:a16="http://schemas.microsoft.com/office/drawing/2014/main" id="{1B2A9025-7FE8-19B2-A71C-73171AE6AB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8BAB9330-B931-22A6-8AD9-8C2C7AE36469}"/>
              </a:ext>
            </a:extLst>
          </p:cNvPr>
          <p:cNvSpPr>
            <a:spLocks noGrp="1"/>
          </p:cNvSpPr>
          <p:nvPr>
            <p:ph type="title"/>
          </p:nvPr>
        </p:nvSpPr>
        <p:spPr>
          <a:xfrm>
            <a:off x="659999" y="365508"/>
            <a:ext cx="6869385" cy="371961"/>
          </a:xfrm>
        </p:spPr>
        <p:txBody>
          <a:bodyPr vert="horz">
            <a:normAutofit/>
          </a:bodyPr>
          <a:lstStyle/>
          <a:p>
            <a:r>
              <a:rPr lang="en-US" altLang="ja-JP"/>
              <a:t>3-4.</a:t>
            </a:r>
            <a:r>
              <a:rPr lang="ja-JP" altLang="en-US"/>
              <a:t>既完了案件の売上の後倒し計上</a:t>
            </a:r>
          </a:p>
        </p:txBody>
      </p:sp>
      <p:sp>
        <p:nvSpPr>
          <p:cNvPr id="2" name="正方形/長方形 1">
            <a:extLst>
              <a:ext uri="{FF2B5EF4-FFF2-40B4-BE49-F238E27FC236}">
                <a16:creationId xmlns:a16="http://schemas.microsoft.com/office/drawing/2014/main" id="{A9B77E6B-1FF2-3CD8-CE7F-9E08CA73EA3C}"/>
              </a:ext>
            </a:extLst>
          </p:cNvPr>
          <p:cNvSpPr/>
          <p:nvPr/>
        </p:nvSpPr>
        <p:spPr bwMode="gray">
          <a:xfrm>
            <a:off x="2127658" y="1598050"/>
            <a:ext cx="9720000" cy="540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防災の医療事業部、防災事業部において、営業目標達成後に売上を意図的に翌年度に繰り延べる処理が行われていた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BF492189-07FA-FE28-B931-A812AF902C6A}"/>
              </a:ext>
            </a:extLst>
          </p:cNvPr>
          <p:cNvSpPr/>
          <p:nvPr/>
        </p:nvSpPr>
        <p:spPr bwMode="gray">
          <a:xfrm>
            <a:off x="507602" y="1598050"/>
            <a:ext cx="1260000" cy="540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5535EB11-F388-C487-CE3F-957D009145A1}"/>
              </a:ext>
            </a:extLst>
          </p:cNvPr>
          <p:cNvSpPr txBox="1">
            <a:spLocks/>
          </p:cNvSpPr>
          <p:nvPr/>
        </p:nvSpPr>
        <p:spPr>
          <a:xfrm>
            <a:off x="659995" y="928103"/>
            <a:ext cx="11268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売上計上時期を意図的に後倒し</a:t>
            </a:r>
            <a:r>
              <a:rPr lang="en-US" altLang="ja-JP" sz="1800" b="0"/>
              <a:t>(</a:t>
            </a:r>
            <a:r>
              <a:rPr lang="ja-JP" altLang="en-US" sz="1800" b="0"/>
              <a:t>繰延</a:t>
            </a:r>
            <a:r>
              <a:rPr lang="en-US" altLang="ja-JP" sz="1800" b="0"/>
              <a:t>)</a:t>
            </a:r>
            <a:r>
              <a:rPr lang="ja-JP" altLang="en-US" sz="1800" b="0"/>
              <a:t>することは認められず、適切な期間損益計上を行うことが必要です</a:t>
            </a:r>
          </a:p>
        </p:txBody>
      </p:sp>
      <p:cxnSp>
        <p:nvCxnSpPr>
          <p:cNvPr id="5" name="直線コネクタ 4">
            <a:extLst>
              <a:ext uri="{FF2B5EF4-FFF2-40B4-BE49-F238E27FC236}">
                <a16:creationId xmlns:a16="http://schemas.microsoft.com/office/drawing/2014/main" id="{07953407-105E-DC36-A85C-5C6E48756BB5}"/>
              </a:ext>
            </a:extLst>
          </p:cNvPr>
          <p:cNvCxnSpPr>
            <a:cxnSpLocks/>
          </p:cNvCxnSpPr>
          <p:nvPr/>
        </p:nvCxnSpPr>
        <p:spPr>
          <a:xfrm>
            <a:off x="5973023" y="2551865"/>
            <a:ext cx="0" cy="3275131"/>
          </a:xfrm>
          <a:prstGeom prst="line">
            <a:avLst/>
          </a:prstGeom>
          <a:ln w="12700" cap="rnd">
            <a:solidFill>
              <a:schemeClr val="accent1"/>
            </a:solidFill>
            <a:prstDash val="lgDash"/>
            <a:round/>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B9FA9793-77DE-267B-8F1E-3635FCEB1169}"/>
              </a:ext>
            </a:extLst>
          </p:cNvPr>
          <p:cNvSpPr txBox="1"/>
          <p:nvPr/>
        </p:nvSpPr>
        <p:spPr>
          <a:xfrm>
            <a:off x="507602" y="2234063"/>
            <a:ext cx="5312901" cy="736805"/>
          </a:xfrm>
          <a:prstGeom prst="rect">
            <a:avLst/>
          </a:prstGeom>
          <a:noFill/>
        </p:spPr>
        <p:txBody>
          <a:bodyPr wrap="square" lIns="0" tIns="0" rIns="0" bIns="0" rtlCol="0">
            <a:spAutoFit/>
          </a:bodyPr>
          <a:lstStyle/>
          <a:p>
            <a:pPr marL="285750" indent="-285750" algn="l">
              <a:lnSpc>
                <a:spcPct val="120000"/>
              </a:lnSpc>
              <a:buFont typeface="Wingdings" panose="05000000000000000000" pitchFamily="2" charset="2"/>
              <a:buChar char="n"/>
            </a:pPr>
            <a:r>
              <a:rPr kumimoji="1" lang="ja-JP" altLang="en-US" sz="1400" spc="110" baseline="0">
                <a:latin typeface="+mn-ea"/>
              </a:rPr>
              <a:t>医療事業部で、</a:t>
            </a:r>
            <a:r>
              <a:rPr kumimoji="1" lang="en-US" altLang="ja-JP" sz="1400" spc="110" baseline="0">
                <a:latin typeface="+mn-ea"/>
              </a:rPr>
              <a:t>2021</a:t>
            </a:r>
            <a:r>
              <a:rPr kumimoji="1" lang="ja-JP" altLang="en-US" sz="1400" spc="110" baseline="0">
                <a:latin typeface="+mn-ea"/>
              </a:rPr>
              <a:t>年度末から</a:t>
            </a:r>
            <a:r>
              <a:rPr kumimoji="1" lang="en-US" altLang="ja-JP" sz="1400" spc="110" baseline="0">
                <a:latin typeface="+mn-ea"/>
              </a:rPr>
              <a:t>2025</a:t>
            </a:r>
            <a:r>
              <a:rPr kumimoji="1" lang="ja-JP" altLang="en-US" sz="1400" spc="110" baseline="0">
                <a:latin typeface="+mn-ea"/>
              </a:rPr>
              <a:t>年</a:t>
            </a:r>
            <a:r>
              <a:rPr kumimoji="1" lang="en-US" altLang="ja-JP" sz="1400" spc="110" baseline="0">
                <a:latin typeface="+mn-ea"/>
              </a:rPr>
              <a:t>12</a:t>
            </a:r>
            <a:r>
              <a:rPr kumimoji="1" lang="ja-JP" altLang="en-US" sz="1400" spc="110" baseline="0">
                <a:latin typeface="+mn-ea"/>
              </a:rPr>
              <a:t>月までの約</a:t>
            </a:r>
            <a:r>
              <a:rPr kumimoji="1" lang="en-US" altLang="ja-JP" sz="1400" spc="110" baseline="0">
                <a:latin typeface="+mn-ea"/>
              </a:rPr>
              <a:t>3</a:t>
            </a:r>
            <a:r>
              <a:rPr kumimoji="1" lang="ja-JP" altLang="en-US" sz="1400" spc="110" baseline="0">
                <a:latin typeface="+mn-ea"/>
              </a:rPr>
              <a:t>年</a:t>
            </a:r>
            <a:r>
              <a:rPr kumimoji="1" lang="en-US" altLang="ja-JP" sz="1400" spc="110" baseline="0">
                <a:latin typeface="+mn-ea"/>
              </a:rPr>
              <a:t>9</a:t>
            </a:r>
            <a:r>
              <a:rPr kumimoji="1" lang="ja-JP" altLang="en-US" sz="1400" spc="110" baseline="0">
                <a:latin typeface="+mn-ea"/>
              </a:rPr>
              <a:t>か月間にわたり、</a:t>
            </a:r>
            <a:r>
              <a:rPr lang="ja-JP" altLang="en-US" sz="1400" spc="110">
                <a:latin typeface="+mn-ea"/>
              </a:rPr>
              <a:t>年度内（</a:t>
            </a:r>
            <a:r>
              <a:rPr lang="en-US" altLang="ja-JP" sz="1400" spc="110">
                <a:latin typeface="+mn-ea"/>
              </a:rPr>
              <a:t>3</a:t>
            </a:r>
            <a:r>
              <a:rPr lang="ja-JP" altLang="en-US" sz="1400" spc="110">
                <a:latin typeface="+mn-ea"/>
              </a:rPr>
              <a:t>月まで）に本来計上すべき売上を、システム上で翌年度（</a:t>
            </a:r>
            <a:r>
              <a:rPr lang="en-US" altLang="ja-JP" sz="1400" spc="110">
                <a:latin typeface="+mn-ea"/>
              </a:rPr>
              <a:t>4</a:t>
            </a:r>
            <a:r>
              <a:rPr lang="ja-JP" altLang="en-US" sz="1400" spc="110">
                <a:latin typeface="+mn-ea"/>
              </a:rPr>
              <a:t>月以降）に繰延計上していた</a:t>
            </a:r>
            <a:endParaRPr kumimoji="1" lang="en-US" altLang="ja-JP" sz="1400" spc="110" baseline="0">
              <a:latin typeface="+mn-ea"/>
            </a:endParaRPr>
          </a:p>
        </p:txBody>
      </p:sp>
      <p:sp>
        <p:nvSpPr>
          <p:cNvPr id="7" name="正方形/長方形 6">
            <a:extLst>
              <a:ext uri="{FF2B5EF4-FFF2-40B4-BE49-F238E27FC236}">
                <a16:creationId xmlns:a16="http://schemas.microsoft.com/office/drawing/2014/main" id="{274A9041-6C9C-2C7E-2A74-42DF76526B62}"/>
              </a:ext>
            </a:extLst>
          </p:cNvPr>
          <p:cNvSpPr/>
          <p:nvPr/>
        </p:nvSpPr>
        <p:spPr>
          <a:xfrm>
            <a:off x="504735" y="3309366"/>
            <a:ext cx="2160000" cy="2502421"/>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rgbClr val="FFFFFF"/>
              </a:solidFill>
              <a:effectLst/>
              <a:uLnTx/>
              <a:uFillTx/>
              <a:latin typeface="+mn-ea"/>
              <a:cs typeface="+mn-cs"/>
            </a:endParaRPr>
          </a:p>
        </p:txBody>
      </p:sp>
      <p:sp>
        <p:nvSpPr>
          <p:cNvPr id="9" name="テキスト ボックス 8">
            <a:extLst>
              <a:ext uri="{FF2B5EF4-FFF2-40B4-BE49-F238E27FC236}">
                <a16:creationId xmlns:a16="http://schemas.microsoft.com/office/drawing/2014/main" id="{011D3E42-A925-3D91-9F68-F1E0D3E6F010}"/>
              </a:ext>
            </a:extLst>
          </p:cNvPr>
          <p:cNvSpPr txBox="1"/>
          <p:nvPr/>
        </p:nvSpPr>
        <p:spPr>
          <a:xfrm>
            <a:off x="782815" y="3005087"/>
            <a:ext cx="1800000" cy="219740"/>
          </a:xfrm>
          <a:prstGeom prst="rect">
            <a:avLst/>
          </a:prstGeom>
          <a:noFill/>
        </p:spPr>
        <p:txBody>
          <a:bodyPr wrap="square" lIns="0" tIns="0" rIns="0" bIns="0" rtlCol="0" anchor="ctr">
            <a:spAutoFit/>
          </a:bodyPr>
          <a:lstStyle/>
          <a:p>
            <a:pPr algn="ctr">
              <a:lnSpc>
                <a:spcPct val="120000"/>
              </a:lnSpc>
            </a:pPr>
            <a:r>
              <a:rPr lang="en-US" altLang="ja-JP" sz="1400" spc="110">
                <a:latin typeface="+mn-ea"/>
              </a:rPr>
              <a:t>20X1</a:t>
            </a:r>
            <a:r>
              <a:rPr lang="ja-JP" altLang="en-US" sz="1400" spc="110">
                <a:latin typeface="+mn-ea"/>
              </a:rPr>
              <a:t>年度　売上</a:t>
            </a:r>
            <a:endParaRPr kumimoji="1" lang="en-US" altLang="ja-JP" sz="1400" spc="110" baseline="0">
              <a:latin typeface="+mn-ea"/>
            </a:endParaRPr>
          </a:p>
        </p:txBody>
      </p:sp>
      <p:pic>
        <p:nvPicPr>
          <p:cNvPr id="10" name="図 9">
            <a:extLst>
              <a:ext uri="{FF2B5EF4-FFF2-40B4-BE49-F238E27FC236}">
                <a16:creationId xmlns:a16="http://schemas.microsoft.com/office/drawing/2014/main" id="{444C7A73-040A-BEF8-1484-5A1399B3C16B}"/>
              </a:ext>
            </a:extLst>
          </p:cNvPr>
          <p:cNvPicPr>
            <a:picLocks noChangeAspect="1"/>
          </p:cNvPicPr>
          <p:nvPr/>
        </p:nvPicPr>
        <p:blipFill>
          <a:blip r:embed="rId5"/>
          <a:stretch>
            <a:fillRect/>
          </a:stretch>
        </p:blipFill>
        <p:spPr>
          <a:xfrm>
            <a:off x="676378" y="3386813"/>
            <a:ext cx="552436" cy="692386"/>
          </a:xfrm>
          <a:prstGeom prst="rect">
            <a:avLst/>
          </a:prstGeom>
        </p:spPr>
      </p:pic>
      <p:sp>
        <p:nvSpPr>
          <p:cNvPr id="12" name="Rectangle 34">
            <a:extLst>
              <a:ext uri="{FF2B5EF4-FFF2-40B4-BE49-F238E27FC236}">
                <a16:creationId xmlns:a16="http://schemas.microsoft.com/office/drawing/2014/main" id="{0B3EF64C-0130-5D7D-70B9-18DEC79DEA25}"/>
              </a:ext>
            </a:extLst>
          </p:cNvPr>
          <p:cNvSpPr>
            <a:spLocks noChangeArrowheads="1"/>
          </p:cNvSpPr>
          <p:nvPr/>
        </p:nvSpPr>
        <p:spPr bwMode="gray">
          <a:xfrm>
            <a:off x="1142011" y="3549405"/>
            <a:ext cx="1512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工事案件</a:t>
            </a:r>
            <a:br>
              <a:rPr lang="en-US" altLang="ja-JP" sz="1400" kern="0">
                <a:latin typeface="+mn-lt"/>
              </a:rPr>
            </a:br>
            <a:r>
              <a:rPr lang="ja-JP" altLang="en-US" sz="1400" kern="0">
                <a:latin typeface="+mn-lt"/>
              </a:rPr>
              <a:t>（</a:t>
            </a:r>
            <a:r>
              <a:rPr lang="en-US" altLang="ja-JP" sz="1400" kern="0">
                <a:latin typeface="+mn-lt"/>
              </a:rPr>
              <a:t>20X1</a:t>
            </a:r>
            <a:r>
              <a:rPr lang="ja-JP" altLang="en-US" sz="1400" kern="0">
                <a:latin typeface="+mn-lt"/>
              </a:rPr>
              <a:t>年度完了）</a:t>
            </a:r>
            <a:endParaRPr lang="ja-JP" altLang="nl-NL" sz="1400" kern="0">
              <a:latin typeface="+mn-lt"/>
            </a:endParaRPr>
          </a:p>
        </p:txBody>
      </p:sp>
      <p:pic>
        <p:nvPicPr>
          <p:cNvPr id="14" name="図 13">
            <a:extLst>
              <a:ext uri="{FF2B5EF4-FFF2-40B4-BE49-F238E27FC236}">
                <a16:creationId xmlns:a16="http://schemas.microsoft.com/office/drawing/2014/main" id="{152DC191-43A1-8A3D-EB78-D959271E8430}"/>
              </a:ext>
            </a:extLst>
          </p:cNvPr>
          <p:cNvPicPr>
            <a:picLocks noChangeAspect="1"/>
          </p:cNvPicPr>
          <p:nvPr/>
        </p:nvPicPr>
        <p:blipFill>
          <a:blip r:embed="rId5"/>
          <a:stretch>
            <a:fillRect/>
          </a:stretch>
        </p:blipFill>
        <p:spPr>
          <a:xfrm>
            <a:off x="676378" y="4205240"/>
            <a:ext cx="552436" cy="692386"/>
          </a:xfrm>
          <a:prstGeom prst="rect">
            <a:avLst/>
          </a:prstGeom>
        </p:spPr>
      </p:pic>
      <p:pic>
        <p:nvPicPr>
          <p:cNvPr id="16" name="図 15">
            <a:extLst>
              <a:ext uri="{FF2B5EF4-FFF2-40B4-BE49-F238E27FC236}">
                <a16:creationId xmlns:a16="http://schemas.microsoft.com/office/drawing/2014/main" id="{0C888815-DEB9-932D-384C-29432BD68753}"/>
              </a:ext>
            </a:extLst>
          </p:cNvPr>
          <p:cNvPicPr>
            <a:picLocks noChangeAspect="1"/>
          </p:cNvPicPr>
          <p:nvPr/>
        </p:nvPicPr>
        <p:blipFill>
          <a:blip r:embed="rId5"/>
          <a:stretch>
            <a:fillRect/>
          </a:stretch>
        </p:blipFill>
        <p:spPr>
          <a:xfrm>
            <a:off x="676378" y="5023668"/>
            <a:ext cx="552436" cy="692386"/>
          </a:xfrm>
          <a:prstGeom prst="rect">
            <a:avLst/>
          </a:prstGeom>
        </p:spPr>
      </p:pic>
      <p:sp>
        <p:nvSpPr>
          <p:cNvPr id="28" name="正方形/長方形 27">
            <a:extLst>
              <a:ext uri="{FF2B5EF4-FFF2-40B4-BE49-F238E27FC236}">
                <a16:creationId xmlns:a16="http://schemas.microsoft.com/office/drawing/2014/main" id="{ACB67AD4-EB75-E26E-55C2-B7C1E20C39BA}"/>
              </a:ext>
            </a:extLst>
          </p:cNvPr>
          <p:cNvSpPr/>
          <p:nvPr/>
        </p:nvSpPr>
        <p:spPr>
          <a:xfrm>
            <a:off x="614830" y="4152485"/>
            <a:ext cx="1944000" cy="1606547"/>
          </a:xfrm>
          <a:prstGeom prst="rect">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rgbClr val="FFFFFF"/>
              </a:solidFill>
              <a:effectLst/>
              <a:uLnTx/>
              <a:uFillTx/>
              <a:latin typeface="+mn-ea"/>
              <a:cs typeface="+mn-cs"/>
            </a:endParaRPr>
          </a:p>
        </p:txBody>
      </p:sp>
      <p:sp>
        <p:nvSpPr>
          <p:cNvPr id="29" name="Rectangle 34">
            <a:extLst>
              <a:ext uri="{FF2B5EF4-FFF2-40B4-BE49-F238E27FC236}">
                <a16:creationId xmlns:a16="http://schemas.microsoft.com/office/drawing/2014/main" id="{AD3396B6-E67F-45A1-99A6-BC3E76DB53E0}"/>
              </a:ext>
            </a:extLst>
          </p:cNvPr>
          <p:cNvSpPr>
            <a:spLocks noChangeArrowheads="1"/>
          </p:cNvSpPr>
          <p:nvPr/>
        </p:nvSpPr>
        <p:spPr bwMode="gray">
          <a:xfrm>
            <a:off x="1142011" y="4361618"/>
            <a:ext cx="1512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solidFill>
                  <a:schemeClr val="bg1">
                    <a:lumMod val="50000"/>
                  </a:schemeClr>
                </a:solidFill>
              </a:rPr>
              <a:t>修理</a:t>
            </a:r>
            <a:r>
              <a:rPr lang="ja-JP" altLang="en-US" sz="1400" kern="0">
                <a:solidFill>
                  <a:schemeClr val="bg1">
                    <a:lumMod val="50000"/>
                  </a:schemeClr>
                </a:solidFill>
                <a:latin typeface="+mn-lt"/>
              </a:rPr>
              <a:t>案件</a:t>
            </a:r>
            <a:br>
              <a:rPr lang="en-US" altLang="ja-JP" sz="1400" kern="0">
                <a:solidFill>
                  <a:schemeClr val="bg1">
                    <a:lumMod val="50000"/>
                  </a:schemeClr>
                </a:solidFill>
                <a:latin typeface="+mn-lt"/>
              </a:rPr>
            </a:br>
            <a:r>
              <a:rPr lang="ja-JP" altLang="en-US" sz="1400" kern="0">
                <a:solidFill>
                  <a:schemeClr val="bg1">
                    <a:lumMod val="50000"/>
                  </a:schemeClr>
                </a:solidFill>
                <a:latin typeface="+mn-lt"/>
              </a:rPr>
              <a:t>（</a:t>
            </a:r>
            <a:r>
              <a:rPr lang="en-US" altLang="ja-JP" sz="1400" kern="0">
                <a:solidFill>
                  <a:schemeClr val="bg1">
                    <a:lumMod val="50000"/>
                  </a:schemeClr>
                </a:solidFill>
                <a:latin typeface="+mn-lt"/>
              </a:rPr>
              <a:t>20X1</a:t>
            </a:r>
            <a:r>
              <a:rPr lang="ja-JP" altLang="en-US" sz="1400" kern="0">
                <a:solidFill>
                  <a:schemeClr val="bg1">
                    <a:lumMod val="50000"/>
                  </a:schemeClr>
                </a:solidFill>
                <a:latin typeface="+mn-lt"/>
              </a:rPr>
              <a:t>年度完了）</a:t>
            </a:r>
            <a:endParaRPr lang="ja-JP" altLang="nl-NL" sz="1400" kern="0">
              <a:solidFill>
                <a:schemeClr val="bg1">
                  <a:lumMod val="50000"/>
                </a:schemeClr>
              </a:solidFill>
              <a:latin typeface="+mn-lt"/>
            </a:endParaRPr>
          </a:p>
        </p:txBody>
      </p:sp>
      <p:sp>
        <p:nvSpPr>
          <p:cNvPr id="30" name="Rectangle 34">
            <a:extLst>
              <a:ext uri="{FF2B5EF4-FFF2-40B4-BE49-F238E27FC236}">
                <a16:creationId xmlns:a16="http://schemas.microsoft.com/office/drawing/2014/main" id="{08E4345E-6754-CA3E-BD58-F6815B1B63B7}"/>
              </a:ext>
            </a:extLst>
          </p:cNvPr>
          <p:cNvSpPr>
            <a:spLocks noChangeArrowheads="1"/>
          </p:cNvSpPr>
          <p:nvPr/>
        </p:nvSpPr>
        <p:spPr bwMode="gray">
          <a:xfrm>
            <a:off x="1142011" y="5173831"/>
            <a:ext cx="1512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solidFill>
                  <a:schemeClr val="bg1">
                    <a:lumMod val="50000"/>
                  </a:schemeClr>
                </a:solidFill>
              </a:rPr>
              <a:t>点検</a:t>
            </a:r>
            <a:r>
              <a:rPr lang="ja-JP" altLang="en-US" sz="1400" kern="0">
                <a:solidFill>
                  <a:schemeClr val="bg1">
                    <a:lumMod val="50000"/>
                  </a:schemeClr>
                </a:solidFill>
                <a:latin typeface="+mn-lt"/>
              </a:rPr>
              <a:t>案件</a:t>
            </a:r>
            <a:br>
              <a:rPr lang="en-US" altLang="ja-JP" sz="1400" kern="0">
                <a:solidFill>
                  <a:schemeClr val="bg1">
                    <a:lumMod val="50000"/>
                  </a:schemeClr>
                </a:solidFill>
                <a:latin typeface="+mn-lt"/>
              </a:rPr>
            </a:br>
            <a:r>
              <a:rPr lang="ja-JP" altLang="en-US" sz="1400" kern="0">
                <a:solidFill>
                  <a:schemeClr val="bg1">
                    <a:lumMod val="50000"/>
                  </a:schemeClr>
                </a:solidFill>
                <a:latin typeface="+mn-lt"/>
              </a:rPr>
              <a:t>（</a:t>
            </a:r>
            <a:r>
              <a:rPr lang="en-US" altLang="ja-JP" sz="1400" kern="0">
                <a:solidFill>
                  <a:schemeClr val="bg1">
                    <a:lumMod val="50000"/>
                  </a:schemeClr>
                </a:solidFill>
                <a:latin typeface="+mn-lt"/>
              </a:rPr>
              <a:t>20X1</a:t>
            </a:r>
            <a:r>
              <a:rPr lang="ja-JP" altLang="en-US" sz="1400" kern="0">
                <a:solidFill>
                  <a:schemeClr val="bg1">
                    <a:lumMod val="50000"/>
                  </a:schemeClr>
                </a:solidFill>
                <a:latin typeface="+mn-lt"/>
              </a:rPr>
              <a:t>年度完了）</a:t>
            </a:r>
            <a:endParaRPr lang="ja-JP" altLang="nl-NL" sz="1400" kern="0">
              <a:solidFill>
                <a:schemeClr val="bg1">
                  <a:lumMod val="50000"/>
                </a:schemeClr>
              </a:solidFill>
              <a:latin typeface="+mn-lt"/>
            </a:endParaRPr>
          </a:p>
        </p:txBody>
      </p:sp>
      <p:sp>
        <p:nvSpPr>
          <p:cNvPr id="31" name="正方形/長方形 30">
            <a:extLst>
              <a:ext uri="{FF2B5EF4-FFF2-40B4-BE49-F238E27FC236}">
                <a16:creationId xmlns:a16="http://schemas.microsoft.com/office/drawing/2014/main" id="{850AA2FC-60D8-D05A-FEAF-14F5FF2C5FA1}"/>
              </a:ext>
            </a:extLst>
          </p:cNvPr>
          <p:cNvSpPr/>
          <p:nvPr/>
        </p:nvSpPr>
        <p:spPr>
          <a:xfrm>
            <a:off x="3608419" y="3309366"/>
            <a:ext cx="2160000" cy="2502421"/>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rgbClr val="FFFFFF"/>
              </a:solidFill>
              <a:effectLst/>
              <a:uLnTx/>
              <a:uFillTx/>
              <a:latin typeface="+mn-ea"/>
              <a:cs typeface="+mn-cs"/>
            </a:endParaRPr>
          </a:p>
        </p:txBody>
      </p:sp>
      <p:sp>
        <p:nvSpPr>
          <p:cNvPr id="32" name="テキスト ボックス 31">
            <a:extLst>
              <a:ext uri="{FF2B5EF4-FFF2-40B4-BE49-F238E27FC236}">
                <a16:creationId xmlns:a16="http://schemas.microsoft.com/office/drawing/2014/main" id="{3ABEDF31-A3E1-DACF-2A17-1DA239B62F15}"/>
              </a:ext>
            </a:extLst>
          </p:cNvPr>
          <p:cNvSpPr txBox="1"/>
          <p:nvPr/>
        </p:nvSpPr>
        <p:spPr>
          <a:xfrm>
            <a:off x="3819346" y="3005087"/>
            <a:ext cx="1800000" cy="219740"/>
          </a:xfrm>
          <a:prstGeom prst="rect">
            <a:avLst/>
          </a:prstGeom>
          <a:noFill/>
        </p:spPr>
        <p:txBody>
          <a:bodyPr wrap="square" lIns="0" tIns="0" rIns="0" bIns="0" rtlCol="0" anchor="ctr">
            <a:spAutoFit/>
          </a:bodyPr>
          <a:lstStyle/>
          <a:p>
            <a:pPr algn="ctr">
              <a:lnSpc>
                <a:spcPct val="120000"/>
              </a:lnSpc>
            </a:pPr>
            <a:r>
              <a:rPr lang="en-US" altLang="ja-JP" sz="1400" spc="110">
                <a:latin typeface="+mn-ea"/>
              </a:rPr>
              <a:t>20X2</a:t>
            </a:r>
            <a:r>
              <a:rPr lang="ja-JP" altLang="en-US" sz="1400" spc="110">
                <a:latin typeface="+mn-ea"/>
              </a:rPr>
              <a:t>年度　売上</a:t>
            </a:r>
            <a:endParaRPr kumimoji="1" lang="en-US" altLang="ja-JP" sz="1400" spc="110" baseline="0">
              <a:latin typeface="+mn-ea"/>
            </a:endParaRPr>
          </a:p>
        </p:txBody>
      </p:sp>
      <p:pic>
        <p:nvPicPr>
          <p:cNvPr id="35" name="図 34">
            <a:extLst>
              <a:ext uri="{FF2B5EF4-FFF2-40B4-BE49-F238E27FC236}">
                <a16:creationId xmlns:a16="http://schemas.microsoft.com/office/drawing/2014/main" id="{1E16386D-5A89-9CA2-2B4F-52C804F67723}"/>
              </a:ext>
            </a:extLst>
          </p:cNvPr>
          <p:cNvPicPr>
            <a:picLocks noChangeAspect="1"/>
          </p:cNvPicPr>
          <p:nvPr/>
        </p:nvPicPr>
        <p:blipFill>
          <a:blip r:embed="rId5"/>
          <a:stretch>
            <a:fillRect/>
          </a:stretch>
        </p:blipFill>
        <p:spPr>
          <a:xfrm>
            <a:off x="3808937" y="4205240"/>
            <a:ext cx="552436" cy="692386"/>
          </a:xfrm>
          <a:prstGeom prst="rect">
            <a:avLst/>
          </a:prstGeom>
        </p:spPr>
      </p:pic>
      <p:pic>
        <p:nvPicPr>
          <p:cNvPr id="36" name="図 35">
            <a:extLst>
              <a:ext uri="{FF2B5EF4-FFF2-40B4-BE49-F238E27FC236}">
                <a16:creationId xmlns:a16="http://schemas.microsoft.com/office/drawing/2014/main" id="{082B3C9F-4720-E9A6-0E70-DC42793A94FB}"/>
              </a:ext>
            </a:extLst>
          </p:cNvPr>
          <p:cNvPicPr>
            <a:picLocks noChangeAspect="1"/>
          </p:cNvPicPr>
          <p:nvPr/>
        </p:nvPicPr>
        <p:blipFill>
          <a:blip r:embed="rId5"/>
          <a:stretch>
            <a:fillRect/>
          </a:stretch>
        </p:blipFill>
        <p:spPr>
          <a:xfrm>
            <a:off x="3808937" y="5023668"/>
            <a:ext cx="552436" cy="692386"/>
          </a:xfrm>
          <a:prstGeom prst="rect">
            <a:avLst/>
          </a:prstGeom>
        </p:spPr>
      </p:pic>
      <p:sp>
        <p:nvSpPr>
          <p:cNvPr id="37" name="正方形/長方形 36">
            <a:extLst>
              <a:ext uri="{FF2B5EF4-FFF2-40B4-BE49-F238E27FC236}">
                <a16:creationId xmlns:a16="http://schemas.microsoft.com/office/drawing/2014/main" id="{A8D31FE9-CB7E-F30D-9D59-E4C6CB361F52}"/>
              </a:ext>
            </a:extLst>
          </p:cNvPr>
          <p:cNvSpPr/>
          <p:nvPr/>
        </p:nvSpPr>
        <p:spPr>
          <a:xfrm>
            <a:off x="3747389" y="4152485"/>
            <a:ext cx="1944000" cy="1606547"/>
          </a:xfrm>
          <a:prstGeom prst="rect">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rgbClr val="FFFFFF"/>
              </a:solidFill>
              <a:effectLst/>
              <a:uLnTx/>
              <a:uFillTx/>
              <a:latin typeface="+mn-ea"/>
              <a:cs typeface="+mn-cs"/>
            </a:endParaRPr>
          </a:p>
        </p:txBody>
      </p:sp>
      <p:sp>
        <p:nvSpPr>
          <p:cNvPr id="38" name="Rectangle 34">
            <a:extLst>
              <a:ext uri="{FF2B5EF4-FFF2-40B4-BE49-F238E27FC236}">
                <a16:creationId xmlns:a16="http://schemas.microsoft.com/office/drawing/2014/main" id="{5C4477B9-0B98-FEB6-7799-F2D2BDCEEFBC}"/>
              </a:ext>
            </a:extLst>
          </p:cNvPr>
          <p:cNvSpPr>
            <a:spLocks noChangeArrowheads="1"/>
          </p:cNvSpPr>
          <p:nvPr/>
        </p:nvSpPr>
        <p:spPr bwMode="gray">
          <a:xfrm>
            <a:off x="4274570" y="4361618"/>
            <a:ext cx="1512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修理</a:t>
            </a:r>
            <a:r>
              <a:rPr lang="ja-JP" altLang="en-US" sz="1400" kern="0">
                <a:latin typeface="+mn-lt"/>
              </a:rPr>
              <a:t>案件</a:t>
            </a:r>
            <a:br>
              <a:rPr lang="en-US" altLang="ja-JP" sz="1400" kern="0">
                <a:latin typeface="+mn-lt"/>
              </a:rPr>
            </a:br>
            <a:r>
              <a:rPr lang="ja-JP" altLang="en-US" sz="1400" kern="0">
                <a:latin typeface="+mn-lt"/>
              </a:rPr>
              <a:t>（</a:t>
            </a:r>
            <a:r>
              <a:rPr lang="en-US" altLang="ja-JP" sz="1400" kern="0">
                <a:latin typeface="+mn-lt"/>
              </a:rPr>
              <a:t>20X1</a:t>
            </a:r>
            <a:r>
              <a:rPr lang="ja-JP" altLang="en-US" sz="1400" kern="0">
                <a:latin typeface="+mn-lt"/>
              </a:rPr>
              <a:t>年度完了）</a:t>
            </a:r>
            <a:endParaRPr lang="ja-JP" altLang="nl-NL" sz="1400" kern="0">
              <a:latin typeface="+mn-lt"/>
            </a:endParaRPr>
          </a:p>
        </p:txBody>
      </p:sp>
      <p:sp>
        <p:nvSpPr>
          <p:cNvPr id="39" name="Rectangle 34">
            <a:extLst>
              <a:ext uri="{FF2B5EF4-FFF2-40B4-BE49-F238E27FC236}">
                <a16:creationId xmlns:a16="http://schemas.microsoft.com/office/drawing/2014/main" id="{71D4DECD-4ECF-1FDD-B67B-0983E9128C85}"/>
              </a:ext>
            </a:extLst>
          </p:cNvPr>
          <p:cNvSpPr>
            <a:spLocks noChangeArrowheads="1"/>
          </p:cNvSpPr>
          <p:nvPr/>
        </p:nvSpPr>
        <p:spPr bwMode="gray">
          <a:xfrm>
            <a:off x="4274570" y="5173831"/>
            <a:ext cx="1512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点検</a:t>
            </a:r>
            <a:r>
              <a:rPr lang="ja-JP" altLang="en-US" sz="1400" kern="0">
                <a:latin typeface="+mn-lt"/>
              </a:rPr>
              <a:t>案件</a:t>
            </a:r>
            <a:br>
              <a:rPr lang="en-US" altLang="ja-JP" sz="1400" kern="0">
                <a:latin typeface="+mn-lt"/>
              </a:rPr>
            </a:br>
            <a:r>
              <a:rPr lang="ja-JP" altLang="en-US" sz="1400" kern="0">
                <a:latin typeface="+mn-lt"/>
              </a:rPr>
              <a:t>（</a:t>
            </a:r>
            <a:r>
              <a:rPr lang="en-US" altLang="ja-JP" sz="1400" kern="0">
                <a:latin typeface="+mn-lt"/>
              </a:rPr>
              <a:t>20X1</a:t>
            </a:r>
            <a:r>
              <a:rPr lang="ja-JP" altLang="en-US" sz="1400" kern="0">
                <a:latin typeface="+mn-lt"/>
              </a:rPr>
              <a:t>年度完了）</a:t>
            </a:r>
            <a:endParaRPr lang="ja-JP" altLang="nl-NL" sz="1400" kern="0">
              <a:latin typeface="+mn-lt"/>
            </a:endParaRPr>
          </a:p>
        </p:txBody>
      </p:sp>
      <p:sp>
        <p:nvSpPr>
          <p:cNvPr id="44" name="矢印: 右 43">
            <a:extLst>
              <a:ext uri="{FF2B5EF4-FFF2-40B4-BE49-F238E27FC236}">
                <a16:creationId xmlns:a16="http://schemas.microsoft.com/office/drawing/2014/main" id="{9624B0B0-82CF-8E91-E1D1-DE8C172A697F}"/>
              </a:ext>
            </a:extLst>
          </p:cNvPr>
          <p:cNvSpPr/>
          <p:nvPr/>
        </p:nvSpPr>
        <p:spPr>
          <a:xfrm>
            <a:off x="2558562" y="4831403"/>
            <a:ext cx="1188827" cy="259889"/>
          </a:xfrm>
          <a:prstGeom prst="rightArrow">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rgbClr val="FFFFFF"/>
              </a:solidFill>
              <a:effectLst/>
              <a:uLnTx/>
              <a:uFillTx/>
              <a:latin typeface="+mn-ea"/>
              <a:cs typeface="+mn-cs"/>
            </a:endParaRPr>
          </a:p>
        </p:txBody>
      </p:sp>
      <p:sp>
        <p:nvSpPr>
          <p:cNvPr id="45" name="テキスト ボックス 44">
            <a:extLst>
              <a:ext uri="{FF2B5EF4-FFF2-40B4-BE49-F238E27FC236}">
                <a16:creationId xmlns:a16="http://schemas.microsoft.com/office/drawing/2014/main" id="{312D3CDD-5538-D687-0023-EC164027C2F3}"/>
              </a:ext>
            </a:extLst>
          </p:cNvPr>
          <p:cNvSpPr txBox="1"/>
          <p:nvPr/>
        </p:nvSpPr>
        <p:spPr>
          <a:xfrm>
            <a:off x="6165112" y="2234063"/>
            <a:ext cx="5682544" cy="736805"/>
          </a:xfrm>
          <a:prstGeom prst="rect">
            <a:avLst/>
          </a:prstGeom>
          <a:noFill/>
        </p:spPr>
        <p:txBody>
          <a:bodyPr wrap="square" lIns="0" tIns="0" rIns="0" bIns="0" rtlCol="0">
            <a:spAutoFit/>
          </a:bodyPr>
          <a:lstStyle/>
          <a:p>
            <a:pPr marL="285750" indent="-285750">
              <a:lnSpc>
                <a:spcPct val="120000"/>
              </a:lnSpc>
              <a:buFont typeface="Wingdings" panose="05000000000000000000" pitchFamily="2" charset="2"/>
              <a:buChar char="n"/>
            </a:pPr>
            <a:r>
              <a:rPr kumimoji="1" lang="ja-JP" altLang="en-US" sz="1400" spc="110" baseline="0">
                <a:latin typeface="+mn-ea"/>
              </a:rPr>
              <a:t>防災事業部は、</a:t>
            </a:r>
            <a:r>
              <a:rPr kumimoji="1" lang="en-US" altLang="ja-JP" sz="1400" spc="110" baseline="0">
                <a:latin typeface="+mn-ea"/>
              </a:rPr>
              <a:t>2023</a:t>
            </a:r>
            <a:r>
              <a:rPr kumimoji="1" lang="ja-JP" altLang="en-US" sz="1400" spc="110" baseline="0">
                <a:latin typeface="+mn-ea"/>
              </a:rPr>
              <a:t>年</a:t>
            </a:r>
            <a:r>
              <a:rPr kumimoji="1" lang="en-US" altLang="ja-JP" sz="1400" spc="110" baseline="0">
                <a:latin typeface="+mn-ea"/>
              </a:rPr>
              <a:t>3</a:t>
            </a:r>
            <a:r>
              <a:rPr kumimoji="1" lang="ja-JP" altLang="en-US" sz="1400" spc="110" baseline="0">
                <a:latin typeface="+mn-ea"/>
              </a:rPr>
              <a:t>月末に売上予定の案件のうち、低利益で翌期へ繰延可能な案件について、</a:t>
            </a:r>
            <a:r>
              <a:rPr lang="ja-JP" altLang="en-US" sz="1400" spc="110">
                <a:latin typeface="+mn-ea"/>
              </a:rPr>
              <a:t>システム上の納期変更を行うことで、売上を翌年度（</a:t>
            </a:r>
            <a:r>
              <a:rPr lang="en-US" altLang="ja-JP" sz="1400" spc="110">
                <a:latin typeface="+mn-ea"/>
              </a:rPr>
              <a:t>4</a:t>
            </a:r>
            <a:r>
              <a:rPr lang="ja-JP" altLang="en-US" sz="1400" spc="110">
                <a:latin typeface="+mn-ea"/>
              </a:rPr>
              <a:t>月）に繰延計上していた</a:t>
            </a:r>
            <a:endParaRPr kumimoji="1" lang="en-US" altLang="ja-JP" sz="1400" spc="110" baseline="0">
              <a:latin typeface="+mn-ea"/>
            </a:endParaRPr>
          </a:p>
        </p:txBody>
      </p:sp>
      <p:sp>
        <p:nvSpPr>
          <p:cNvPr id="50" name="正方形/長方形 49">
            <a:extLst>
              <a:ext uri="{FF2B5EF4-FFF2-40B4-BE49-F238E27FC236}">
                <a16:creationId xmlns:a16="http://schemas.microsoft.com/office/drawing/2014/main" id="{6B66B63F-511F-62BB-A8CB-D7335E71793A}"/>
              </a:ext>
            </a:extLst>
          </p:cNvPr>
          <p:cNvSpPr/>
          <p:nvPr/>
        </p:nvSpPr>
        <p:spPr>
          <a:xfrm>
            <a:off x="6296398" y="3309366"/>
            <a:ext cx="2160000" cy="25020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52" name="正方形/長方形 51">
            <a:extLst>
              <a:ext uri="{FF2B5EF4-FFF2-40B4-BE49-F238E27FC236}">
                <a16:creationId xmlns:a16="http://schemas.microsoft.com/office/drawing/2014/main" id="{9F69EAD9-7936-D24C-19F2-DC730661C55B}"/>
              </a:ext>
            </a:extLst>
          </p:cNvPr>
          <p:cNvSpPr/>
          <p:nvPr/>
        </p:nvSpPr>
        <p:spPr>
          <a:xfrm>
            <a:off x="9594443" y="3309366"/>
            <a:ext cx="2160000" cy="25020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59" name="矢印: 右 58">
            <a:extLst>
              <a:ext uri="{FF2B5EF4-FFF2-40B4-BE49-F238E27FC236}">
                <a16:creationId xmlns:a16="http://schemas.microsoft.com/office/drawing/2014/main" id="{5E40BA39-F3DA-9708-683B-AD1F0A20DD34}"/>
              </a:ext>
            </a:extLst>
          </p:cNvPr>
          <p:cNvSpPr/>
          <p:nvPr/>
        </p:nvSpPr>
        <p:spPr>
          <a:xfrm>
            <a:off x="8393093" y="5016270"/>
            <a:ext cx="1240345" cy="259889"/>
          </a:xfrm>
          <a:prstGeom prst="rightArrow">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2" name="Rectangle 34">
            <a:extLst>
              <a:ext uri="{FF2B5EF4-FFF2-40B4-BE49-F238E27FC236}">
                <a16:creationId xmlns:a16="http://schemas.microsoft.com/office/drawing/2014/main" id="{B750F23E-A6D3-DCB2-510E-A6FC89CBBD7D}"/>
              </a:ext>
            </a:extLst>
          </p:cNvPr>
          <p:cNvSpPr>
            <a:spLocks noChangeArrowheads="1"/>
          </p:cNvSpPr>
          <p:nvPr/>
        </p:nvSpPr>
        <p:spPr bwMode="gray">
          <a:xfrm>
            <a:off x="6982835" y="3803560"/>
            <a:ext cx="1548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通常案件</a:t>
            </a:r>
            <a:br>
              <a:rPr lang="en-US" altLang="ja-JP" sz="1400" kern="0">
                <a:latin typeface="+mn-lt"/>
              </a:rPr>
            </a:br>
            <a:r>
              <a:rPr lang="ja-JP" altLang="en-US" sz="1400" kern="0">
                <a:latin typeface="+mn-lt"/>
              </a:rPr>
              <a:t>（</a:t>
            </a:r>
            <a:r>
              <a:rPr lang="en-US" altLang="ja-JP" sz="1400" kern="0">
                <a:latin typeface="+mn-lt"/>
              </a:rPr>
              <a:t>2022</a:t>
            </a:r>
            <a:r>
              <a:rPr lang="ja-JP" altLang="en-US" sz="1400" kern="0">
                <a:latin typeface="+mn-lt"/>
              </a:rPr>
              <a:t>年度完了）</a:t>
            </a:r>
            <a:endParaRPr lang="ja-JP" altLang="nl-NL" sz="1400" kern="0">
              <a:latin typeface="+mn-lt"/>
            </a:endParaRPr>
          </a:p>
        </p:txBody>
      </p:sp>
      <p:sp>
        <p:nvSpPr>
          <p:cNvPr id="64" name="Rectangle 34">
            <a:extLst>
              <a:ext uri="{FF2B5EF4-FFF2-40B4-BE49-F238E27FC236}">
                <a16:creationId xmlns:a16="http://schemas.microsoft.com/office/drawing/2014/main" id="{699A6D35-85C2-327C-6CCF-0CDFB6D26C99}"/>
              </a:ext>
            </a:extLst>
          </p:cNvPr>
          <p:cNvSpPr>
            <a:spLocks noChangeArrowheads="1"/>
          </p:cNvSpPr>
          <p:nvPr/>
        </p:nvSpPr>
        <p:spPr bwMode="gray">
          <a:xfrm>
            <a:off x="6924294" y="4896053"/>
            <a:ext cx="1548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solidFill>
                  <a:schemeClr val="bg1">
                    <a:lumMod val="50000"/>
                  </a:schemeClr>
                </a:solidFill>
              </a:rPr>
              <a:t>繰延ても利益影響が小さい案件</a:t>
            </a:r>
            <a:endParaRPr lang="en-US" altLang="ja-JP" sz="1400" kern="0">
              <a:solidFill>
                <a:schemeClr val="bg1">
                  <a:lumMod val="50000"/>
                </a:schemeClr>
              </a:solidFill>
            </a:endParaRPr>
          </a:p>
          <a:p>
            <a:pPr algn="ctr" eaLnBrk="0" fontAlgn="auto" hangingPunct="0">
              <a:spcBef>
                <a:spcPts val="0"/>
              </a:spcBef>
              <a:spcAft>
                <a:spcPts val="0"/>
              </a:spcAft>
              <a:defRPr/>
            </a:pPr>
            <a:r>
              <a:rPr lang="ja-JP" altLang="en-US" sz="1400" kern="0">
                <a:solidFill>
                  <a:schemeClr val="bg1">
                    <a:lumMod val="50000"/>
                  </a:schemeClr>
                </a:solidFill>
                <a:latin typeface="+mn-lt"/>
              </a:rPr>
              <a:t>（</a:t>
            </a:r>
            <a:r>
              <a:rPr lang="en-US" altLang="ja-JP" sz="1400" kern="0">
                <a:solidFill>
                  <a:schemeClr val="bg1">
                    <a:lumMod val="50000"/>
                  </a:schemeClr>
                </a:solidFill>
              </a:rPr>
              <a:t> 2022</a:t>
            </a:r>
            <a:r>
              <a:rPr lang="ja-JP" altLang="en-US" sz="1400" kern="0">
                <a:solidFill>
                  <a:schemeClr val="bg1">
                    <a:lumMod val="50000"/>
                  </a:schemeClr>
                </a:solidFill>
              </a:rPr>
              <a:t>年度完了</a:t>
            </a:r>
            <a:r>
              <a:rPr lang="ja-JP" altLang="en-US" sz="1400" kern="0">
                <a:solidFill>
                  <a:schemeClr val="bg1">
                    <a:lumMod val="50000"/>
                  </a:schemeClr>
                </a:solidFill>
                <a:latin typeface="+mn-lt"/>
              </a:rPr>
              <a:t>）</a:t>
            </a:r>
            <a:endParaRPr lang="ja-JP" altLang="nl-NL" sz="1400" kern="0">
              <a:solidFill>
                <a:schemeClr val="bg1">
                  <a:lumMod val="50000"/>
                </a:schemeClr>
              </a:solidFill>
              <a:latin typeface="+mn-lt"/>
            </a:endParaRPr>
          </a:p>
        </p:txBody>
      </p:sp>
      <p:sp>
        <p:nvSpPr>
          <p:cNvPr id="65" name="正方形/長方形 64">
            <a:extLst>
              <a:ext uri="{FF2B5EF4-FFF2-40B4-BE49-F238E27FC236}">
                <a16:creationId xmlns:a16="http://schemas.microsoft.com/office/drawing/2014/main" id="{BE489310-2FF1-EDF6-369F-2B9B4450A633}"/>
              </a:ext>
            </a:extLst>
          </p:cNvPr>
          <p:cNvSpPr/>
          <p:nvPr/>
        </p:nvSpPr>
        <p:spPr>
          <a:xfrm>
            <a:off x="6369398" y="4689621"/>
            <a:ext cx="2023695" cy="900000"/>
          </a:xfrm>
          <a:prstGeom prst="rect">
            <a:avLst/>
          </a:prstGeom>
          <a:noFill/>
          <a:ln w="19050">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7" name="Rectangle 34">
            <a:extLst>
              <a:ext uri="{FF2B5EF4-FFF2-40B4-BE49-F238E27FC236}">
                <a16:creationId xmlns:a16="http://schemas.microsoft.com/office/drawing/2014/main" id="{32DD8840-3CD0-B1C3-668B-20B8531F6196}"/>
              </a:ext>
            </a:extLst>
          </p:cNvPr>
          <p:cNvSpPr>
            <a:spLocks noChangeArrowheads="1"/>
          </p:cNvSpPr>
          <p:nvPr/>
        </p:nvSpPr>
        <p:spPr bwMode="gray">
          <a:xfrm>
            <a:off x="10184182" y="4955758"/>
            <a:ext cx="1548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繰延ても利益影響が小さい案件</a:t>
            </a:r>
            <a:endParaRPr lang="en-US" altLang="ja-JP" sz="1400" kern="0"/>
          </a:p>
          <a:p>
            <a:pPr algn="ctr" eaLnBrk="0" fontAlgn="auto" hangingPunct="0">
              <a:spcBef>
                <a:spcPts val="0"/>
              </a:spcBef>
              <a:spcAft>
                <a:spcPts val="0"/>
              </a:spcAft>
              <a:defRPr/>
            </a:pPr>
            <a:r>
              <a:rPr lang="ja-JP" altLang="en-US" sz="1400" kern="0">
                <a:latin typeface="+mn-lt"/>
              </a:rPr>
              <a:t>（</a:t>
            </a:r>
            <a:r>
              <a:rPr lang="en-US" altLang="ja-JP" sz="1400" kern="0"/>
              <a:t> 2022</a:t>
            </a:r>
            <a:r>
              <a:rPr lang="ja-JP" altLang="en-US" sz="1400" kern="0"/>
              <a:t>年度完了</a:t>
            </a:r>
            <a:r>
              <a:rPr lang="ja-JP" altLang="en-US" sz="1400" kern="0">
                <a:latin typeface="+mn-lt"/>
              </a:rPr>
              <a:t>）</a:t>
            </a:r>
            <a:endParaRPr lang="ja-JP" altLang="nl-NL" sz="1400" kern="0">
              <a:latin typeface="+mn-lt"/>
            </a:endParaRPr>
          </a:p>
        </p:txBody>
      </p:sp>
      <p:sp>
        <p:nvSpPr>
          <p:cNvPr id="68" name="正方形/長方形 67">
            <a:extLst>
              <a:ext uri="{FF2B5EF4-FFF2-40B4-BE49-F238E27FC236}">
                <a16:creationId xmlns:a16="http://schemas.microsoft.com/office/drawing/2014/main" id="{9367A783-0D60-E8F9-E388-B39E3D16D4D3}"/>
              </a:ext>
            </a:extLst>
          </p:cNvPr>
          <p:cNvSpPr/>
          <p:nvPr/>
        </p:nvSpPr>
        <p:spPr>
          <a:xfrm>
            <a:off x="9652201" y="4700188"/>
            <a:ext cx="2016000" cy="864000"/>
          </a:xfrm>
          <a:prstGeom prst="rect">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7" name="テキスト ボックス 16">
            <a:extLst>
              <a:ext uri="{FF2B5EF4-FFF2-40B4-BE49-F238E27FC236}">
                <a16:creationId xmlns:a16="http://schemas.microsoft.com/office/drawing/2014/main" id="{8BFBBCD0-A5AA-13DA-C1BA-9C5AFD1ED7E1}"/>
              </a:ext>
            </a:extLst>
          </p:cNvPr>
          <p:cNvSpPr txBox="1"/>
          <p:nvPr/>
        </p:nvSpPr>
        <p:spPr>
          <a:xfrm>
            <a:off x="6585256" y="3013112"/>
            <a:ext cx="1800000" cy="219740"/>
          </a:xfrm>
          <a:prstGeom prst="rect">
            <a:avLst/>
          </a:prstGeom>
          <a:noFill/>
        </p:spPr>
        <p:txBody>
          <a:bodyPr wrap="square" lIns="0" tIns="0" rIns="0" bIns="0" rtlCol="0" anchor="ctr">
            <a:spAutoFit/>
          </a:bodyPr>
          <a:lstStyle/>
          <a:p>
            <a:pPr algn="ctr">
              <a:lnSpc>
                <a:spcPct val="120000"/>
              </a:lnSpc>
            </a:pPr>
            <a:r>
              <a:rPr lang="en-US" altLang="ja-JP" sz="1400" spc="110">
                <a:latin typeface="+mn-ea"/>
              </a:rPr>
              <a:t>2022</a:t>
            </a:r>
            <a:r>
              <a:rPr lang="ja-JP" altLang="en-US" sz="1400" spc="110">
                <a:latin typeface="+mn-ea"/>
              </a:rPr>
              <a:t>年度　売上</a:t>
            </a:r>
            <a:endParaRPr kumimoji="1" lang="en-US" altLang="ja-JP" sz="1400" spc="110" baseline="0">
              <a:latin typeface="+mn-ea"/>
            </a:endParaRPr>
          </a:p>
        </p:txBody>
      </p:sp>
      <p:sp>
        <p:nvSpPr>
          <p:cNvPr id="18" name="テキスト ボックス 17">
            <a:extLst>
              <a:ext uri="{FF2B5EF4-FFF2-40B4-BE49-F238E27FC236}">
                <a16:creationId xmlns:a16="http://schemas.microsoft.com/office/drawing/2014/main" id="{80F5204E-27D2-2AB4-EB8F-9D20FD798ECC}"/>
              </a:ext>
            </a:extLst>
          </p:cNvPr>
          <p:cNvSpPr txBox="1"/>
          <p:nvPr/>
        </p:nvSpPr>
        <p:spPr>
          <a:xfrm>
            <a:off x="9833542" y="3013112"/>
            <a:ext cx="1800000" cy="219740"/>
          </a:xfrm>
          <a:prstGeom prst="rect">
            <a:avLst/>
          </a:prstGeom>
          <a:noFill/>
        </p:spPr>
        <p:txBody>
          <a:bodyPr wrap="square" lIns="0" tIns="0" rIns="0" bIns="0" rtlCol="0" anchor="ctr">
            <a:spAutoFit/>
          </a:bodyPr>
          <a:lstStyle/>
          <a:p>
            <a:pPr algn="ctr">
              <a:lnSpc>
                <a:spcPct val="120000"/>
              </a:lnSpc>
            </a:pPr>
            <a:r>
              <a:rPr lang="en-US" altLang="ja-JP" sz="1400" spc="110">
                <a:latin typeface="+mn-ea"/>
              </a:rPr>
              <a:t>2023</a:t>
            </a:r>
            <a:r>
              <a:rPr lang="ja-JP" altLang="en-US" sz="1400" spc="110">
                <a:latin typeface="+mn-ea"/>
              </a:rPr>
              <a:t>年度　売上</a:t>
            </a:r>
            <a:endParaRPr kumimoji="1" lang="en-US" altLang="ja-JP" sz="1400" spc="110" baseline="0">
              <a:latin typeface="+mn-ea"/>
            </a:endParaRPr>
          </a:p>
        </p:txBody>
      </p:sp>
      <p:pic>
        <p:nvPicPr>
          <p:cNvPr id="19" name="図 18">
            <a:extLst>
              <a:ext uri="{FF2B5EF4-FFF2-40B4-BE49-F238E27FC236}">
                <a16:creationId xmlns:a16="http://schemas.microsoft.com/office/drawing/2014/main" id="{24CFC538-A5DA-3C58-EC50-DEFEACCD58E4}"/>
              </a:ext>
            </a:extLst>
          </p:cNvPr>
          <p:cNvPicPr>
            <a:picLocks noChangeAspect="1"/>
          </p:cNvPicPr>
          <p:nvPr/>
        </p:nvPicPr>
        <p:blipFill>
          <a:blip r:embed="rId5"/>
          <a:stretch>
            <a:fillRect/>
          </a:stretch>
        </p:blipFill>
        <p:spPr>
          <a:xfrm>
            <a:off x="6430399" y="3667433"/>
            <a:ext cx="552436" cy="692386"/>
          </a:xfrm>
          <a:prstGeom prst="rect">
            <a:avLst/>
          </a:prstGeom>
        </p:spPr>
      </p:pic>
      <p:pic>
        <p:nvPicPr>
          <p:cNvPr id="20" name="図 19">
            <a:extLst>
              <a:ext uri="{FF2B5EF4-FFF2-40B4-BE49-F238E27FC236}">
                <a16:creationId xmlns:a16="http://schemas.microsoft.com/office/drawing/2014/main" id="{AA143DE1-5E63-5D43-6A64-4E8C441C3703}"/>
              </a:ext>
            </a:extLst>
          </p:cNvPr>
          <p:cNvPicPr>
            <a:picLocks noChangeAspect="1"/>
          </p:cNvPicPr>
          <p:nvPr/>
        </p:nvPicPr>
        <p:blipFill>
          <a:blip r:embed="rId5"/>
          <a:stretch>
            <a:fillRect/>
          </a:stretch>
        </p:blipFill>
        <p:spPr>
          <a:xfrm>
            <a:off x="6430399" y="4754199"/>
            <a:ext cx="552436" cy="692386"/>
          </a:xfrm>
          <a:prstGeom prst="rect">
            <a:avLst/>
          </a:prstGeom>
        </p:spPr>
      </p:pic>
      <p:pic>
        <p:nvPicPr>
          <p:cNvPr id="21" name="図 20">
            <a:extLst>
              <a:ext uri="{FF2B5EF4-FFF2-40B4-BE49-F238E27FC236}">
                <a16:creationId xmlns:a16="http://schemas.microsoft.com/office/drawing/2014/main" id="{FF374000-BE2A-046D-5C7B-C7FBEF94D5DF}"/>
              </a:ext>
            </a:extLst>
          </p:cNvPr>
          <p:cNvPicPr>
            <a:picLocks noChangeAspect="1"/>
          </p:cNvPicPr>
          <p:nvPr/>
        </p:nvPicPr>
        <p:blipFill>
          <a:blip r:embed="rId5"/>
          <a:stretch>
            <a:fillRect/>
          </a:stretch>
        </p:blipFill>
        <p:spPr>
          <a:xfrm>
            <a:off x="9681079" y="4754199"/>
            <a:ext cx="552436" cy="692386"/>
          </a:xfrm>
          <a:prstGeom prst="rect">
            <a:avLst/>
          </a:prstGeom>
        </p:spPr>
      </p:pic>
      <p:sp>
        <p:nvSpPr>
          <p:cNvPr id="15" name="テキスト ボックス 14">
            <a:extLst>
              <a:ext uri="{FF2B5EF4-FFF2-40B4-BE49-F238E27FC236}">
                <a16:creationId xmlns:a16="http://schemas.microsoft.com/office/drawing/2014/main" id="{E82FBFD5-3D59-8B42-CC55-2E822FACCD7E}"/>
              </a:ext>
            </a:extLst>
          </p:cNvPr>
          <p:cNvSpPr txBox="1"/>
          <p:nvPr/>
        </p:nvSpPr>
        <p:spPr>
          <a:xfrm>
            <a:off x="1085312" y="5924825"/>
            <a:ext cx="10159599" cy="675301"/>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buNone/>
            </a:pPr>
            <a:r>
              <a:rPr lang="ja-JP" altLang="en-US" sz="1600" b="1">
                <a:solidFill>
                  <a:schemeClr val="accent1"/>
                </a:solidFill>
              </a:rPr>
              <a:t>いずれも、期末実績が、翌年度の営業目標設定に直接影響するため、営業目標を達成した後に、売上を意図的に翌年度に繰り延べ、翌年度目標の上方修正を回避する目的で行われていた</a:t>
            </a:r>
          </a:p>
        </p:txBody>
      </p:sp>
      <p:sp>
        <p:nvSpPr>
          <p:cNvPr id="8" name="正方形/長方形 7">
            <a:extLst>
              <a:ext uri="{FF2B5EF4-FFF2-40B4-BE49-F238E27FC236}">
                <a16:creationId xmlns:a16="http://schemas.microsoft.com/office/drawing/2014/main" id="{E3D6A23E-CA18-8155-C84E-2357C455C031}"/>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563529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B0934-4945-3E13-4432-408341F319F8}"/>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D19D285-1A75-94A8-99DB-1579DFDBDA67}"/>
              </a:ext>
            </a:extLst>
          </p:cNvPr>
          <p:cNvSpPr>
            <a:spLocks noGrp="1"/>
          </p:cNvSpPr>
          <p:nvPr>
            <p:ph type="title"/>
          </p:nvPr>
        </p:nvSpPr>
        <p:spPr/>
        <p:txBody>
          <a:bodyPr/>
          <a:lstStyle/>
          <a:p>
            <a:r>
              <a:rPr lang="en-US" altLang="ja-JP"/>
              <a:t>3-5.</a:t>
            </a:r>
            <a:r>
              <a:rPr lang="ja-JP" altLang="en-US"/>
              <a:t>未出荷取引による売上の過大計上</a:t>
            </a:r>
            <a:endParaRPr lang="ja-JP" altLang="en-US">
              <a:cs typeface="Segoe UI"/>
            </a:endParaRPr>
          </a:p>
        </p:txBody>
      </p:sp>
      <p:sp>
        <p:nvSpPr>
          <p:cNvPr id="7" name="正方形/長方形 6">
            <a:extLst>
              <a:ext uri="{FF2B5EF4-FFF2-40B4-BE49-F238E27FC236}">
                <a16:creationId xmlns:a16="http://schemas.microsoft.com/office/drawing/2014/main" id="{E42FD021-B87F-53B3-3EAC-A2AEC0B95233}"/>
              </a:ext>
            </a:extLst>
          </p:cNvPr>
          <p:cNvSpPr/>
          <p:nvPr/>
        </p:nvSpPr>
        <p:spPr>
          <a:xfrm>
            <a:off x="1978011" y="1538655"/>
            <a:ext cx="9632098" cy="324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500">
                <a:solidFill>
                  <a:schemeClr val="tx1"/>
                </a:solidFill>
                <a:latin typeface="+mn-ea"/>
                <a:cs typeface="Meiryo UI" panose="020B0604030504040204" pitchFamily="50" charset="-128"/>
              </a:rPr>
              <a:t>請求済未出荷契約の理由が実質的なものでなければならない（例えば、顧客が当該契約を要請している）</a:t>
            </a:r>
          </a:p>
        </p:txBody>
      </p:sp>
      <p:sp>
        <p:nvSpPr>
          <p:cNvPr id="9" name="Rectangle 22">
            <a:extLst>
              <a:ext uri="{FF2B5EF4-FFF2-40B4-BE49-F238E27FC236}">
                <a16:creationId xmlns:a16="http://schemas.microsoft.com/office/drawing/2014/main" id="{F3F6CAED-F60B-A2A7-3DF1-7B2EC379F2CC}"/>
              </a:ext>
            </a:extLst>
          </p:cNvPr>
          <p:cNvSpPr>
            <a:spLocks noChangeArrowheads="1"/>
          </p:cNvSpPr>
          <p:nvPr/>
        </p:nvSpPr>
        <p:spPr bwMode="gray">
          <a:xfrm>
            <a:off x="920541" y="1538653"/>
            <a:ext cx="1057470" cy="324000"/>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要件①</a:t>
            </a:r>
            <a:endParaRPr kumimoji="1" lang="en-US" altLang="ja-JP" sz="1600" b="1">
              <a:solidFill>
                <a:schemeClr val="bg1"/>
              </a:solidFill>
            </a:endParaRPr>
          </a:p>
        </p:txBody>
      </p:sp>
      <p:sp>
        <p:nvSpPr>
          <p:cNvPr id="25" name="Text Placeholder 3">
            <a:extLst>
              <a:ext uri="{FF2B5EF4-FFF2-40B4-BE49-F238E27FC236}">
                <a16:creationId xmlns:a16="http://schemas.microsoft.com/office/drawing/2014/main" id="{B150796E-3033-89D6-C8BD-54E769B57129}"/>
              </a:ext>
            </a:extLst>
          </p:cNvPr>
          <p:cNvSpPr txBox="1">
            <a:spLocks/>
          </p:cNvSpPr>
          <p:nvPr/>
        </p:nvSpPr>
        <p:spPr>
          <a:xfrm rot="16200000">
            <a:off x="1433127" y="1559419"/>
            <a:ext cx="583092" cy="1266665"/>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28" name="Text Placeholder 4">
            <a:extLst>
              <a:ext uri="{FF2B5EF4-FFF2-40B4-BE49-F238E27FC236}">
                <a16:creationId xmlns:a16="http://schemas.microsoft.com/office/drawing/2014/main" id="{20CA1963-6F86-3B38-32CA-06613D956AE3}"/>
              </a:ext>
            </a:extLst>
          </p:cNvPr>
          <p:cNvSpPr txBox="1">
            <a:spLocks/>
          </p:cNvSpPr>
          <p:nvPr/>
        </p:nvSpPr>
        <p:spPr>
          <a:xfrm>
            <a:off x="2358005" y="1908298"/>
            <a:ext cx="9252104" cy="576000"/>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a:latin typeface="+mn-ea"/>
                <a:cs typeface="Meiryo UI" panose="020B0604030504040204" pitchFamily="50" charset="-128"/>
              </a:rPr>
              <a:t>○　顧客倉庫に置き場がないため、</a:t>
            </a:r>
            <a:r>
              <a:rPr lang="ja-JP" altLang="en-US" sz="1200" u="sng">
                <a:solidFill>
                  <a:srgbClr val="FF0000"/>
                </a:solidFill>
                <a:latin typeface="+mn-ea"/>
                <a:cs typeface="Meiryo UI" panose="020B0604030504040204" pitchFamily="50" charset="-128"/>
              </a:rPr>
              <a:t>顧客からの依頼</a:t>
            </a:r>
            <a:r>
              <a:rPr lang="ja-JP" altLang="en-US" sz="1200">
                <a:latin typeface="+mn-ea"/>
                <a:cs typeface="Meiryo UI" panose="020B0604030504040204" pitchFamily="50" charset="-128"/>
              </a:rPr>
              <a:t>で、自社倉庫に保管する。</a:t>
            </a:r>
            <a:r>
              <a:rPr lang="en-US" altLang="ja-JP" sz="1200">
                <a:latin typeface="+mn-ea"/>
                <a:cs typeface="Meiryo UI" panose="020B0604030504040204" pitchFamily="50" charset="-128"/>
              </a:rPr>
              <a:t>(</a:t>
            </a:r>
            <a:r>
              <a:rPr lang="ja-JP" altLang="en-US" sz="1200">
                <a:latin typeface="+mn-ea"/>
                <a:cs typeface="Meiryo UI" panose="020B0604030504040204" pitchFamily="50" charset="-128"/>
              </a:rPr>
              <a:t>顧客から保管料を受領するケースもあります</a:t>
            </a:r>
            <a:r>
              <a:rPr lang="en-US" altLang="ja-JP" sz="1200">
                <a:latin typeface="+mn-ea"/>
                <a:cs typeface="Meiryo UI" panose="020B0604030504040204" pitchFamily="50" charset="-128"/>
              </a:rPr>
              <a:t>)</a:t>
            </a:r>
          </a:p>
          <a:p>
            <a:pPr>
              <a:spcBef>
                <a:spcPts val="600"/>
              </a:spcBef>
            </a:pPr>
            <a:r>
              <a:rPr lang="en-US" altLang="ja-JP" sz="1200">
                <a:latin typeface="+mn-ea"/>
                <a:cs typeface="Meiryo UI" panose="020B0604030504040204" pitchFamily="50" charset="-128"/>
              </a:rPr>
              <a:t>×</a:t>
            </a:r>
            <a:r>
              <a:rPr lang="ja-JP" altLang="en-US" sz="1200">
                <a:latin typeface="+mn-ea"/>
                <a:cs typeface="Meiryo UI" panose="020B0604030504040204" pitchFamily="50" charset="-128"/>
              </a:rPr>
              <a:t>　決算月で売上を早く計上するために、</a:t>
            </a:r>
            <a:r>
              <a:rPr lang="ja-JP" altLang="en-US" sz="1200" u="sng">
                <a:solidFill>
                  <a:srgbClr val="FF0000"/>
                </a:solidFill>
                <a:latin typeface="+mn-ea"/>
                <a:cs typeface="Meiryo UI" panose="020B0604030504040204" pitchFamily="50" charset="-128"/>
              </a:rPr>
              <a:t>自社都合</a:t>
            </a:r>
            <a:r>
              <a:rPr lang="ja-JP" altLang="en-US" sz="1200">
                <a:latin typeface="+mn-ea"/>
                <a:cs typeface="Meiryo UI" panose="020B0604030504040204" pitchFamily="50" charset="-128"/>
              </a:rPr>
              <a:t>で、請求だけ先に出し、商品はそのまま自社倉庫に保管する。</a:t>
            </a:r>
          </a:p>
        </p:txBody>
      </p:sp>
      <p:sp>
        <p:nvSpPr>
          <p:cNvPr id="29" name="正方形/長方形 28">
            <a:extLst>
              <a:ext uri="{FF2B5EF4-FFF2-40B4-BE49-F238E27FC236}">
                <a16:creationId xmlns:a16="http://schemas.microsoft.com/office/drawing/2014/main" id="{BBC3B8AC-5008-F82D-4985-BCF46C6F5767}"/>
              </a:ext>
            </a:extLst>
          </p:cNvPr>
          <p:cNvSpPr/>
          <p:nvPr/>
        </p:nvSpPr>
        <p:spPr>
          <a:xfrm>
            <a:off x="1978011" y="2562394"/>
            <a:ext cx="9632098"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当該製品が顧客に属するものとして区分して識別されていなければならない</a:t>
            </a:r>
          </a:p>
        </p:txBody>
      </p:sp>
      <p:sp>
        <p:nvSpPr>
          <p:cNvPr id="30" name="Rectangle 22">
            <a:extLst>
              <a:ext uri="{FF2B5EF4-FFF2-40B4-BE49-F238E27FC236}">
                <a16:creationId xmlns:a16="http://schemas.microsoft.com/office/drawing/2014/main" id="{46E8FF3E-8CE9-713D-EE86-3DD80BBBD9FB}"/>
              </a:ext>
            </a:extLst>
          </p:cNvPr>
          <p:cNvSpPr>
            <a:spLocks noChangeArrowheads="1"/>
          </p:cNvSpPr>
          <p:nvPr/>
        </p:nvSpPr>
        <p:spPr bwMode="gray">
          <a:xfrm>
            <a:off x="920541" y="2562394"/>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要件②</a:t>
            </a:r>
            <a:endParaRPr kumimoji="1" lang="en-US" altLang="ja-JP" sz="1600" b="1">
              <a:solidFill>
                <a:schemeClr val="bg1"/>
              </a:solidFill>
            </a:endParaRPr>
          </a:p>
        </p:txBody>
      </p:sp>
      <p:sp>
        <p:nvSpPr>
          <p:cNvPr id="31" name="Text Placeholder 3">
            <a:extLst>
              <a:ext uri="{FF2B5EF4-FFF2-40B4-BE49-F238E27FC236}">
                <a16:creationId xmlns:a16="http://schemas.microsoft.com/office/drawing/2014/main" id="{EB3040A8-C946-3671-9C7E-6A56052C0E54}"/>
              </a:ext>
            </a:extLst>
          </p:cNvPr>
          <p:cNvSpPr txBox="1">
            <a:spLocks/>
          </p:cNvSpPr>
          <p:nvPr/>
        </p:nvSpPr>
        <p:spPr>
          <a:xfrm rot="16200000">
            <a:off x="1437221" y="2602545"/>
            <a:ext cx="583092" cy="1258483"/>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34" name="Text Placeholder 4">
            <a:extLst>
              <a:ext uri="{FF2B5EF4-FFF2-40B4-BE49-F238E27FC236}">
                <a16:creationId xmlns:a16="http://schemas.microsoft.com/office/drawing/2014/main" id="{C1E2CD20-DBAE-A5EF-6F7D-E8A24B4758F9}"/>
              </a:ext>
            </a:extLst>
          </p:cNvPr>
          <p:cNvSpPr txBox="1">
            <a:spLocks/>
          </p:cNvSpPr>
          <p:nvPr/>
        </p:nvSpPr>
        <p:spPr>
          <a:xfrm>
            <a:off x="2358005" y="2945935"/>
            <a:ext cx="9252104" cy="576000"/>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600"/>
              </a:spcBef>
            </a:pPr>
            <a:r>
              <a:rPr lang="ja-JP" altLang="en-US" sz="1200">
                <a:latin typeface="+mn-ea"/>
                <a:cs typeface="Meiryo UI" panose="020B0604030504040204" pitchFamily="50" charset="-128"/>
              </a:rPr>
              <a:t>○　顧客向けの商品に</a:t>
            </a:r>
            <a:r>
              <a:rPr lang="ja-JP" altLang="en-US" sz="1200" u="sng">
                <a:solidFill>
                  <a:srgbClr val="FF0000"/>
                </a:solidFill>
                <a:latin typeface="+mn-ea"/>
                <a:cs typeface="Meiryo UI" panose="020B0604030504040204" pitchFamily="50" charset="-128"/>
              </a:rPr>
              <a:t>顧客名・注文番号を付けて</a:t>
            </a:r>
            <a:r>
              <a:rPr lang="ja-JP" altLang="en-US" sz="1200">
                <a:latin typeface="+mn-ea"/>
                <a:cs typeface="Meiryo UI" panose="020B0604030504040204" pitchFamily="50" charset="-128"/>
              </a:rPr>
              <a:t>、</a:t>
            </a:r>
            <a:r>
              <a:rPr lang="ja-JP" altLang="en-US" sz="1200" u="sng">
                <a:solidFill>
                  <a:srgbClr val="FF0000"/>
                </a:solidFill>
                <a:latin typeface="+mn-ea"/>
                <a:cs typeface="Meiryo UI" panose="020B0604030504040204" pitchFamily="50" charset="-128"/>
              </a:rPr>
              <a:t>他の在庫とは別の場所に保管</a:t>
            </a:r>
            <a:r>
              <a:rPr lang="ja-JP" altLang="en-US" sz="1200">
                <a:latin typeface="+mn-ea"/>
                <a:cs typeface="Meiryo UI" panose="020B0604030504040204" pitchFamily="50" charset="-128"/>
              </a:rPr>
              <a:t>している。</a:t>
            </a:r>
            <a:endParaRPr lang="en-US" altLang="ja-JP" sz="1200">
              <a:latin typeface="+mn-ea"/>
              <a:cs typeface="Meiryo UI" panose="020B0604030504040204" pitchFamily="50" charset="-128"/>
            </a:endParaRPr>
          </a:p>
          <a:p>
            <a:pPr>
              <a:spcBef>
                <a:spcPts val="600"/>
              </a:spcBef>
            </a:pPr>
            <a:r>
              <a:rPr lang="en-US" altLang="ja-JP" sz="1200">
                <a:latin typeface="+mn-ea"/>
                <a:cs typeface="Meiryo UI" panose="020B0604030504040204" pitchFamily="50" charset="-128"/>
              </a:rPr>
              <a:t>×</a:t>
            </a:r>
            <a:r>
              <a:rPr lang="ja-JP" altLang="en-US" sz="1200">
                <a:latin typeface="+mn-ea"/>
                <a:cs typeface="Meiryo UI" panose="020B0604030504040204" pitchFamily="50" charset="-128"/>
              </a:rPr>
              <a:t>　同じ型番の商品が自社倉庫に大量にあり、請求はしているが、</a:t>
            </a:r>
            <a:r>
              <a:rPr lang="ja-JP" altLang="en-US" sz="1200" u="sng">
                <a:solidFill>
                  <a:srgbClr val="FF0000"/>
                </a:solidFill>
                <a:latin typeface="+mn-ea"/>
                <a:cs typeface="Meiryo UI" panose="020B0604030504040204" pitchFamily="50" charset="-128"/>
              </a:rPr>
              <a:t>どれが顧客分の商品かわからない。</a:t>
            </a:r>
          </a:p>
        </p:txBody>
      </p:sp>
      <p:sp>
        <p:nvSpPr>
          <p:cNvPr id="35" name="正方形/長方形 34">
            <a:extLst>
              <a:ext uri="{FF2B5EF4-FFF2-40B4-BE49-F238E27FC236}">
                <a16:creationId xmlns:a16="http://schemas.microsoft.com/office/drawing/2014/main" id="{F1F16C53-D765-24BD-5E41-2BB294D837C0}"/>
              </a:ext>
            </a:extLst>
          </p:cNvPr>
          <p:cNvSpPr/>
          <p:nvPr/>
        </p:nvSpPr>
        <p:spPr>
          <a:xfrm>
            <a:off x="1978011" y="3626464"/>
            <a:ext cx="9632098"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当該製品は現時点で顧客への物理的な移転の準備ができていなければならない</a:t>
            </a:r>
          </a:p>
        </p:txBody>
      </p:sp>
      <p:sp>
        <p:nvSpPr>
          <p:cNvPr id="38" name="Rectangle 22">
            <a:extLst>
              <a:ext uri="{FF2B5EF4-FFF2-40B4-BE49-F238E27FC236}">
                <a16:creationId xmlns:a16="http://schemas.microsoft.com/office/drawing/2014/main" id="{047F28F1-95B4-1501-1E16-45373C99C4B7}"/>
              </a:ext>
            </a:extLst>
          </p:cNvPr>
          <p:cNvSpPr>
            <a:spLocks noChangeArrowheads="1"/>
          </p:cNvSpPr>
          <p:nvPr/>
        </p:nvSpPr>
        <p:spPr bwMode="gray">
          <a:xfrm>
            <a:off x="920541" y="3626464"/>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a:t>
            </a:r>
            <a:r>
              <a:rPr lang="ja-JP" altLang="en-US" sz="1600" b="1">
                <a:solidFill>
                  <a:schemeClr val="bg1"/>
                </a:solidFill>
              </a:rPr>
              <a:t>③</a:t>
            </a:r>
            <a:endParaRPr kumimoji="1" lang="en-US" altLang="ja-JP" sz="1600" b="1">
              <a:solidFill>
                <a:schemeClr val="bg1"/>
              </a:solidFill>
            </a:endParaRPr>
          </a:p>
        </p:txBody>
      </p:sp>
      <p:sp>
        <p:nvSpPr>
          <p:cNvPr id="41" name="Text Placeholder 3">
            <a:extLst>
              <a:ext uri="{FF2B5EF4-FFF2-40B4-BE49-F238E27FC236}">
                <a16:creationId xmlns:a16="http://schemas.microsoft.com/office/drawing/2014/main" id="{0DA4E280-4BC6-CA90-C87F-A2AB0143A385}"/>
              </a:ext>
            </a:extLst>
          </p:cNvPr>
          <p:cNvSpPr txBox="1">
            <a:spLocks/>
          </p:cNvSpPr>
          <p:nvPr/>
        </p:nvSpPr>
        <p:spPr>
          <a:xfrm rot="16200000">
            <a:off x="1403927" y="3717294"/>
            <a:ext cx="583092" cy="1208267"/>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42" name="Text Placeholder 4">
            <a:extLst>
              <a:ext uri="{FF2B5EF4-FFF2-40B4-BE49-F238E27FC236}">
                <a16:creationId xmlns:a16="http://schemas.microsoft.com/office/drawing/2014/main" id="{A24030C5-3FEF-55FA-5F7C-EB15DAD08A83}"/>
              </a:ext>
            </a:extLst>
          </p:cNvPr>
          <p:cNvSpPr txBox="1">
            <a:spLocks/>
          </p:cNvSpPr>
          <p:nvPr/>
        </p:nvSpPr>
        <p:spPr>
          <a:xfrm>
            <a:off x="2299605" y="4035576"/>
            <a:ext cx="9310504" cy="576000"/>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600"/>
              </a:spcBef>
            </a:pPr>
            <a:r>
              <a:rPr lang="ja-JP" altLang="en-US" sz="1200">
                <a:latin typeface="+mn-ea"/>
                <a:cs typeface="Meiryo UI" panose="020B0604030504040204" pitchFamily="50" charset="-128"/>
              </a:rPr>
              <a:t>○　製品は</a:t>
            </a:r>
            <a:r>
              <a:rPr lang="ja-JP" altLang="en-US" sz="1200" u="sng">
                <a:solidFill>
                  <a:srgbClr val="FF0000"/>
                </a:solidFill>
                <a:latin typeface="+mn-ea"/>
                <a:cs typeface="Meiryo UI" panose="020B0604030504040204" pitchFamily="50" charset="-128"/>
              </a:rPr>
              <a:t>既に完成</a:t>
            </a:r>
            <a:r>
              <a:rPr lang="ja-JP" altLang="en-US" sz="1200">
                <a:latin typeface="+mn-ea"/>
                <a:cs typeface="Meiryo UI" panose="020B0604030504040204" pitchFamily="50" charset="-128"/>
              </a:rPr>
              <a:t>し、</a:t>
            </a:r>
            <a:r>
              <a:rPr lang="ja-JP" altLang="en-US" sz="1200" u="sng">
                <a:solidFill>
                  <a:srgbClr val="FF0000"/>
                </a:solidFill>
                <a:latin typeface="+mn-ea"/>
                <a:cs typeface="Meiryo UI" panose="020B0604030504040204" pitchFamily="50" charset="-128"/>
              </a:rPr>
              <a:t>検査も終わっている</a:t>
            </a:r>
            <a:r>
              <a:rPr lang="ja-JP" altLang="en-US" sz="1200">
                <a:latin typeface="+mn-ea"/>
                <a:cs typeface="Meiryo UI" panose="020B0604030504040204" pitchFamily="50" charset="-128"/>
              </a:rPr>
              <a:t>ため顧客から依頼があれば</a:t>
            </a:r>
            <a:r>
              <a:rPr lang="ja-JP" altLang="en-US" sz="1200" u="sng">
                <a:solidFill>
                  <a:srgbClr val="FF0000"/>
                </a:solidFill>
                <a:latin typeface="+mn-ea"/>
                <a:cs typeface="Meiryo UI" panose="020B0604030504040204" pitchFamily="50" charset="-128"/>
              </a:rPr>
              <a:t>すぐ発送できる状態にある。</a:t>
            </a:r>
            <a:endParaRPr lang="en-US" altLang="ja-JP" sz="1200" u="sng">
              <a:solidFill>
                <a:srgbClr val="FF0000"/>
              </a:solidFill>
              <a:latin typeface="+mn-ea"/>
              <a:cs typeface="Meiryo UI" panose="020B0604030504040204" pitchFamily="50" charset="-128"/>
            </a:endParaRPr>
          </a:p>
          <a:p>
            <a:pPr>
              <a:spcBef>
                <a:spcPts val="600"/>
              </a:spcBef>
            </a:pPr>
            <a:r>
              <a:rPr lang="en-US" altLang="ja-JP" sz="1200">
                <a:latin typeface="+mn-ea"/>
                <a:cs typeface="Meiryo UI" panose="020B0604030504040204" pitchFamily="50" charset="-128"/>
              </a:rPr>
              <a:t>×</a:t>
            </a:r>
            <a:r>
              <a:rPr lang="ja-JP" altLang="en-US" sz="1200">
                <a:latin typeface="+mn-ea"/>
                <a:cs typeface="Meiryo UI" panose="020B0604030504040204" pitchFamily="50" charset="-128"/>
              </a:rPr>
              <a:t>　</a:t>
            </a:r>
            <a:r>
              <a:rPr lang="ja-JP" altLang="en-US" sz="1200" u="sng">
                <a:solidFill>
                  <a:srgbClr val="FF0000"/>
                </a:solidFill>
                <a:latin typeface="+mn-ea"/>
                <a:cs typeface="Meiryo UI" panose="020B0604030504040204" pitchFamily="50" charset="-128"/>
              </a:rPr>
              <a:t>組立途中、最終検査前、梱包前などで、実際にはまだ出荷できない。</a:t>
            </a:r>
          </a:p>
        </p:txBody>
      </p:sp>
      <p:sp>
        <p:nvSpPr>
          <p:cNvPr id="43" name="正方形/長方形 42">
            <a:extLst>
              <a:ext uri="{FF2B5EF4-FFF2-40B4-BE49-F238E27FC236}">
                <a16:creationId xmlns:a16="http://schemas.microsoft.com/office/drawing/2014/main" id="{427B60A2-E674-A8BA-797B-85634C2DDA16}"/>
              </a:ext>
            </a:extLst>
          </p:cNvPr>
          <p:cNvSpPr/>
          <p:nvPr/>
        </p:nvSpPr>
        <p:spPr>
          <a:xfrm>
            <a:off x="1951339" y="4761686"/>
            <a:ext cx="9658770"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企業は当該製品を使用したり別の顧客に振り向けたりする能力を有することができない</a:t>
            </a:r>
          </a:p>
        </p:txBody>
      </p:sp>
      <p:sp>
        <p:nvSpPr>
          <p:cNvPr id="44" name="Rectangle 22">
            <a:extLst>
              <a:ext uri="{FF2B5EF4-FFF2-40B4-BE49-F238E27FC236}">
                <a16:creationId xmlns:a16="http://schemas.microsoft.com/office/drawing/2014/main" id="{7C5F1521-D2C1-7884-2AAA-8F0A264A9F86}"/>
              </a:ext>
            </a:extLst>
          </p:cNvPr>
          <p:cNvSpPr>
            <a:spLocks noChangeArrowheads="1"/>
          </p:cNvSpPr>
          <p:nvPr/>
        </p:nvSpPr>
        <p:spPr bwMode="gray">
          <a:xfrm>
            <a:off x="920541" y="4761686"/>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要件④</a:t>
            </a:r>
            <a:endParaRPr kumimoji="1" lang="en-US" altLang="ja-JP" sz="1600" b="1">
              <a:solidFill>
                <a:schemeClr val="bg1"/>
              </a:solidFill>
            </a:endParaRPr>
          </a:p>
        </p:txBody>
      </p:sp>
      <p:sp>
        <p:nvSpPr>
          <p:cNvPr id="45" name="Text Placeholder 3">
            <a:extLst>
              <a:ext uri="{FF2B5EF4-FFF2-40B4-BE49-F238E27FC236}">
                <a16:creationId xmlns:a16="http://schemas.microsoft.com/office/drawing/2014/main" id="{87E04F08-6804-0536-C646-84A4B090198A}"/>
              </a:ext>
            </a:extLst>
          </p:cNvPr>
          <p:cNvSpPr txBox="1">
            <a:spLocks/>
          </p:cNvSpPr>
          <p:nvPr/>
        </p:nvSpPr>
        <p:spPr>
          <a:xfrm rot="16200000">
            <a:off x="1403926" y="4866588"/>
            <a:ext cx="583092" cy="1208267"/>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46" name="Text Placeholder 4">
            <a:extLst>
              <a:ext uri="{FF2B5EF4-FFF2-40B4-BE49-F238E27FC236}">
                <a16:creationId xmlns:a16="http://schemas.microsoft.com/office/drawing/2014/main" id="{20D0C106-F99F-AF37-862E-97A8B9A27C57}"/>
              </a:ext>
            </a:extLst>
          </p:cNvPr>
          <p:cNvSpPr txBox="1">
            <a:spLocks/>
          </p:cNvSpPr>
          <p:nvPr/>
        </p:nvSpPr>
        <p:spPr>
          <a:xfrm>
            <a:off x="2299603" y="5184870"/>
            <a:ext cx="9310505" cy="576000"/>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600"/>
              </a:spcBef>
            </a:pPr>
            <a:r>
              <a:rPr lang="ja-JP" altLang="en-US" sz="1200">
                <a:latin typeface="+mn-ea"/>
                <a:cs typeface="Meiryo UI" panose="020B0604030504040204" pitchFamily="50" charset="-128"/>
              </a:rPr>
              <a:t>○　その商品は</a:t>
            </a:r>
            <a:r>
              <a:rPr lang="ja-JP" altLang="en-US" sz="1200" u="sng">
                <a:solidFill>
                  <a:srgbClr val="FF0000"/>
                </a:solidFill>
                <a:latin typeface="+mn-ea"/>
                <a:cs typeface="Meiryo UI" panose="020B0604030504040204" pitchFamily="50" charset="-128"/>
              </a:rPr>
              <a:t>顧客専用</a:t>
            </a:r>
            <a:r>
              <a:rPr lang="ja-JP" altLang="en-US" sz="1200">
                <a:latin typeface="+mn-ea"/>
                <a:cs typeface="Meiryo UI" panose="020B0604030504040204" pitchFamily="50" charset="-128"/>
              </a:rPr>
              <a:t>で、</a:t>
            </a:r>
            <a:r>
              <a:rPr lang="ja-JP" altLang="en-US" sz="1200" u="sng">
                <a:solidFill>
                  <a:srgbClr val="FF0000"/>
                </a:solidFill>
                <a:latin typeface="+mn-ea"/>
                <a:cs typeface="Meiryo UI" panose="020B0604030504040204" pitchFamily="50" charset="-128"/>
              </a:rPr>
              <a:t>他の顧客用に振り替えたり、自社使用ができない。</a:t>
            </a:r>
            <a:endParaRPr lang="en-US" altLang="ja-JP" sz="1200" u="sng">
              <a:solidFill>
                <a:srgbClr val="FF0000"/>
              </a:solidFill>
              <a:latin typeface="+mn-ea"/>
              <a:cs typeface="Meiryo UI" panose="020B0604030504040204" pitchFamily="50" charset="-128"/>
            </a:endParaRPr>
          </a:p>
          <a:p>
            <a:pPr>
              <a:spcBef>
                <a:spcPts val="600"/>
              </a:spcBef>
            </a:pPr>
            <a:r>
              <a:rPr lang="en-US" altLang="ja-JP" sz="1200">
                <a:latin typeface="+mn-ea"/>
                <a:cs typeface="Meiryo UI" panose="020B0604030504040204" pitchFamily="50" charset="-128"/>
              </a:rPr>
              <a:t>×</a:t>
            </a:r>
            <a:r>
              <a:rPr lang="ja-JP" altLang="en-US" sz="1200">
                <a:latin typeface="+mn-ea"/>
                <a:cs typeface="Meiryo UI" panose="020B0604030504040204" pitchFamily="50" charset="-128"/>
              </a:rPr>
              <a:t>　同じ商品を</a:t>
            </a:r>
            <a:r>
              <a:rPr lang="ja-JP" altLang="en-US" sz="1200" u="sng">
                <a:solidFill>
                  <a:srgbClr val="FF0000"/>
                </a:solidFill>
                <a:latin typeface="+mn-ea"/>
                <a:cs typeface="Meiryo UI" panose="020B0604030504040204" pitchFamily="50" charset="-128"/>
              </a:rPr>
              <a:t>他の注文に回すことができ、</a:t>
            </a:r>
            <a:r>
              <a:rPr lang="ja-JP" altLang="en-US" sz="1200">
                <a:latin typeface="+mn-ea"/>
                <a:cs typeface="Meiryo UI" panose="020B0604030504040204" pitchFamily="50" charset="-128"/>
              </a:rPr>
              <a:t>必要なら</a:t>
            </a:r>
            <a:r>
              <a:rPr lang="ja-JP" altLang="en-US" sz="1200" u="sng">
                <a:solidFill>
                  <a:srgbClr val="FF0000"/>
                </a:solidFill>
                <a:latin typeface="+mn-ea"/>
                <a:cs typeface="Meiryo UI" panose="020B0604030504040204" pitchFamily="50" charset="-128"/>
              </a:rPr>
              <a:t>後で別の商品を補充できる状態。</a:t>
            </a:r>
          </a:p>
        </p:txBody>
      </p:sp>
      <p:sp>
        <p:nvSpPr>
          <p:cNvPr id="2" name="テキスト プレースホルダー 3">
            <a:extLst>
              <a:ext uri="{FF2B5EF4-FFF2-40B4-BE49-F238E27FC236}">
                <a16:creationId xmlns:a16="http://schemas.microsoft.com/office/drawing/2014/main" id="{4BB6FEF1-6370-46EF-669A-4C225B18C8FE}"/>
              </a:ext>
            </a:extLst>
          </p:cNvPr>
          <p:cNvSpPr txBox="1">
            <a:spLocks/>
          </p:cNvSpPr>
          <p:nvPr/>
        </p:nvSpPr>
        <p:spPr>
          <a:xfrm>
            <a:off x="640095" y="818654"/>
            <a:ext cx="11260151" cy="540128"/>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請求済未出荷契約による売上</a:t>
            </a:r>
            <a:r>
              <a:rPr lang="en-US" altLang="ja-JP"/>
              <a:t>(=</a:t>
            </a:r>
            <a:r>
              <a:rPr lang="ja-JP" altLang="en-US"/>
              <a:t>預り売上</a:t>
            </a:r>
            <a:r>
              <a:rPr lang="en-US" altLang="ja-JP"/>
              <a:t>)</a:t>
            </a:r>
            <a:r>
              <a:rPr lang="ja-JP" altLang="en-US"/>
              <a:t>計上は、原則として禁止です。　　　　　　　　　　　　　　　　　　　　計上にあたっては、以下</a:t>
            </a:r>
            <a:r>
              <a:rPr lang="en-US" altLang="ja-JP"/>
              <a:t>4</a:t>
            </a:r>
            <a:r>
              <a:rPr lang="ja-JP" altLang="en-US"/>
              <a:t>つの要件を全て満たす必要があります。</a:t>
            </a:r>
          </a:p>
        </p:txBody>
      </p:sp>
      <p:sp>
        <p:nvSpPr>
          <p:cNvPr id="4" name="テキスト ボックス 3">
            <a:extLst>
              <a:ext uri="{FF2B5EF4-FFF2-40B4-BE49-F238E27FC236}">
                <a16:creationId xmlns:a16="http://schemas.microsoft.com/office/drawing/2014/main" id="{B1A5296F-9015-4EFB-16F8-65407C19C5D4}"/>
              </a:ext>
            </a:extLst>
          </p:cNvPr>
          <p:cNvSpPr txBox="1"/>
          <p:nvPr/>
        </p:nvSpPr>
        <p:spPr>
          <a:xfrm>
            <a:off x="2299604" y="5942261"/>
            <a:ext cx="7745047" cy="576000"/>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u="sng">
                <a:solidFill>
                  <a:srgbClr val="FF0000"/>
                </a:solidFill>
              </a:rPr>
              <a:t>原則としては禁止</a:t>
            </a:r>
            <a:r>
              <a:rPr lang="ja-JP" altLang="en-US" sz="1600" b="1">
                <a:solidFill>
                  <a:schemeClr val="accent1"/>
                </a:solidFill>
              </a:rPr>
              <a:t>となります！</a:t>
            </a:r>
            <a:br>
              <a:rPr lang="en-US" altLang="ja-JP" sz="1600" b="1">
                <a:solidFill>
                  <a:schemeClr val="accent1"/>
                </a:solidFill>
              </a:rPr>
            </a:br>
            <a:r>
              <a:rPr lang="ja-JP" altLang="en-US" sz="1600" b="1">
                <a:solidFill>
                  <a:schemeClr val="accent1"/>
                </a:solidFill>
              </a:rPr>
              <a:t>ビジネス上已むを得ない場合は上記の要件を確実に満たしている必要があります</a:t>
            </a:r>
          </a:p>
        </p:txBody>
      </p:sp>
      <p:sp>
        <p:nvSpPr>
          <p:cNvPr id="5" name="乗算記号 4">
            <a:extLst>
              <a:ext uri="{FF2B5EF4-FFF2-40B4-BE49-F238E27FC236}">
                <a16:creationId xmlns:a16="http://schemas.microsoft.com/office/drawing/2014/main" id="{21F66315-713B-71E5-0BB3-280E1C36136D}"/>
              </a:ext>
            </a:extLst>
          </p:cNvPr>
          <p:cNvSpPr/>
          <p:nvPr/>
        </p:nvSpPr>
        <p:spPr>
          <a:xfrm>
            <a:off x="1339060" y="5896908"/>
            <a:ext cx="978399" cy="644738"/>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 name="正方形/長方形 5">
            <a:extLst>
              <a:ext uri="{FF2B5EF4-FFF2-40B4-BE49-F238E27FC236}">
                <a16:creationId xmlns:a16="http://schemas.microsoft.com/office/drawing/2014/main" id="{80E62C06-7F76-B092-2403-B9B2D37283C1}"/>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042066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4282E-AE68-FFB3-FACE-84B29192B832}"/>
            </a:ext>
          </a:extLst>
        </p:cNvPr>
        <p:cNvGrpSpPr/>
        <p:nvPr/>
      </p:nvGrpSpPr>
      <p:grpSpPr>
        <a:xfrm>
          <a:off x="0" y="0"/>
          <a:ext cx="0" cy="0"/>
          <a:chOff x="0" y="0"/>
          <a:chExt cx="0" cy="0"/>
        </a:xfrm>
      </p:grpSpPr>
      <p:sp>
        <p:nvSpPr>
          <p:cNvPr id="20" name="正方形/長方形 19">
            <a:extLst>
              <a:ext uri="{FF2B5EF4-FFF2-40B4-BE49-F238E27FC236}">
                <a16:creationId xmlns:a16="http://schemas.microsoft.com/office/drawing/2014/main" id="{5AB55B53-BCB1-2370-9F2E-5245EDFD77EF}"/>
              </a:ext>
            </a:extLst>
          </p:cNvPr>
          <p:cNvSpPr/>
          <p:nvPr/>
        </p:nvSpPr>
        <p:spPr>
          <a:xfrm>
            <a:off x="536340" y="5222791"/>
            <a:ext cx="1512000" cy="10080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 name="タイトル 2">
            <a:extLst>
              <a:ext uri="{FF2B5EF4-FFF2-40B4-BE49-F238E27FC236}">
                <a16:creationId xmlns:a16="http://schemas.microsoft.com/office/drawing/2014/main" id="{114B12D0-A4FC-41C4-6DA9-CD8B4F43DEBA}"/>
              </a:ext>
            </a:extLst>
          </p:cNvPr>
          <p:cNvSpPr>
            <a:spLocks noGrp="1"/>
          </p:cNvSpPr>
          <p:nvPr>
            <p:ph type="title"/>
          </p:nvPr>
        </p:nvSpPr>
        <p:spPr>
          <a:xfrm>
            <a:off x="659999" y="365508"/>
            <a:ext cx="6869385" cy="371961"/>
          </a:xfrm>
        </p:spPr>
        <p:txBody>
          <a:bodyPr>
            <a:normAutofit/>
          </a:bodyPr>
          <a:lstStyle/>
          <a:p>
            <a:r>
              <a:rPr lang="en-US" altLang="ja-JP"/>
              <a:t>3-5.</a:t>
            </a:r>
            <a:r>
              <a:rPr lang="ja-JP" altLang="en-US"/>
              <a:t>未出荷取引による売上の過大計上</a:t>
            </a:r>
          </a:p>
        </p:txBody>
      </p:sp>
      <p:sp>
        <p:nvSpPr>
          <p:cNvPr id="2" name="正方形/長方形 1">
            <a:extLst>
              <a:ext uri="{FF2B5EF4-FFF2-40B4-BE49-F238E27FC236}">
                <a16:creationId xmlns:a16="http://schemas.microsoft.com/office/drawing/2014/main" id="{B985C796-A1D4-93B5-AD83-FC57A2CD427B}"/>
              </a:ext>
            </a:extLst>
          </p:cNvPr>
          <p:cNvSpPr/>
          <p:nvPr/>
        </p:nvSpPr>
        <p:spPr bwMode="gray">
          <a:xfrm>
            <a:off x="2127658" y="1701747"/>
            <a:ext cx="9720000" cy="864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決算期における売上目標達成等を目的として、実際には製品が未出荷にもかかわらず、取引先の在庫を預かっているとの形式</a:t>
            </a:r>
            <a:r>
              <a:rPr lang="en-US" altLang="ja-JP" sz="1400">
                <a:solidFill>
                  <a:prstClr val="black"/>
                </a:solidFill>
                <a:latin typeface="+mn-ea"/>
              </a:rPr>
              <a:t>(=</a:t>
            </a:r>
            <a:r>
              <a:rPr lang="ja-JP" altLang="en-US" sz="1400">
                <a:solidFill>
                  <a:prstClr val="black"/>
                </a:solidFill>
                <a:latin typeface="+mn-ea"/>
              </a:rPr>
              <a:t>以下、「預り在庫」と記載</a:t>
            </a:r>
            <a:r>
              <a:rPr lang="en-US" altLang="ja-JP" sz="1400">
                <a:solidFill>
                  <a:prstClr val="black"/>
                </a:solidFill>
                <a:latin typeface="+mn-ea"/>
              </a:rPr>
              <a:t>)</a:t>
            </a:r>
            <a:r>
              <a:rPr lang="ja-JP" altLang="en-US" sz="1400">
                <a:solidFill>
                  <a:prstClr val="black"/>
                </a:solidFill>
                <a:latin typeface="+mn-ea"/>
              </a:rPr>
              <a:t>を採用することで、売上を先行計上していた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また、預り在庫として一旦売上計上後、買戻しが行われる事例も確認されている</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CF681E99-B2C9-14DB-F385-8C8DE2C7E5DB}"/>
              </a:ext>
            </a:extLst>
          </p:cNvPr>
          <p:cNvSpPr/>
          <p:nvPr/>
        </p:nvSpPr>
        <p:spPr bwMode="gray">
          <a:xfrm>
            <a:off x="507602" y="1701747"/>
            <a:ext cx="1260000" cy="864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4" name="正方形/長方形 3">
            <a:extLst>
              <a:ext uri="{FF2B5EF4-FFF2-40B4-BE49-F238E27FC236}">
                <a16:creationId xmlns:a16="http://schemas.microsoft.com/office/drawing/2014/main" id="{AC9E6BAD-4B74-7B7A-FD02-66B32819B264}"/>
              </a:ext>
            </a:extLst>
          </p:cNvPr>
          <p:cNvSpPr/>
          <p:nvPr/>
        </p:nvSpPr>
        <p:spPr>
          <a:xfrm>
            <a:off x="659995" y="3839830"/>
            <a:ext cx="1764000" cy="540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エコロッカ</a:t>
            </a:r>
            <a:endParaRPr kumimoji="1" lang="ja-JP" altLang="en-US" sz="1600">
              <a:solidFill>
                <a:schemeClr val="tx1"/>
              </a:solidFill>
              <a:latin typeface="+mn-ea"/>
              <a:cs typeface="Meiryo UI" panose="020B0604030504040204" pitchFamily="50" charset="-128"/>
            </a:endParaRPr>
          </a:p>
        </p:txBody>
      </p:sp>
      <p:sp>
        <p:nvSpPr>
          <p:cNvPr id="5" name="正方形/長方形 4">
            <a:extLst>
              <a:ext uri="{FF2B5EF4-FFF2-40B4-BE49-F238E27FC236}">
                <a16:creationId xmlns:a16="http://schemas.microsoft.com/office/drawing/2014/main" id="{145ADB4D-C849-0966-C140-B9C968A24556}"/>
              </a:ext>
            </a:extLst>
          </p:cNvPr>
          <p:cNvSpPr/>
          <p:nvPr/>
        </p:nvSpPr>
        <p:spPr>
          <a:xfrm>
            <a:off x="10175579" y="3839830"/>
            <a:ext cx="1764000" cy="540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600">
                <a:solidFill>
                  <a:schemeClr val="tx1"/>
                </a:solidFill>
                <a:latin typeface="+mn-ea"/>
                <a:cs typeface="Meiryo UI" panose="020B0604030504040204" pitchFamily="50" charset="-128"/>
              </a:rPr>
              <a:t>取引先</a:t>
            </a:r>
            <a:endParaRPr kumimoji="1" lang="en-US" altLang="ja-JP" sz="1600">
              <a:solidFill>
                <a:schemeClr val="tx1"/>
              </a:solidFill>
              <a:latin typeface="+mn-ea"/>
              <a:cs typeface="Meiryo UI" panose="020B0604030504040204" pitchFamily="50" charset="-128"/>
            </a:endParaRPr>
          </a:p>
          <a:p>
            <a:pPr algn="ctr" eaLnBrk="1" hangingPunct="1"/>
            <a:r>
              <a:rPr lang="en-US" altLang="ja-JP" sz="1600">
                <a:solidFill>
                  <a:schemeClr val="tx1"/>
                </a:solidFill>
                <a:latin typeface="+mn-ea"/>
                <a:cs typeface="Meiryo UI" panose="020B0604030504040204" pitchFamily="50" charset="-128"/>
              </a:rPr>
              <a:t>(AW</a:t>
            </a:r>
            <a:r>
              <a:rPr lang="ja-JP" altLang="en-US" sz="1600">
                <a:solidFill>
                  <a:schemeClr val="tx1"/>
                </a:solidFill>
                <a:latin typeface="+mn-ea"/>
                <a:cs typeface="Meiryo UI" panose="020B0604030504040204" pitchFamily="50" charset="-128"/>
              </a:rPr>
              <a:t>グループ外</a:t>
            </a:r>
            <a:r>
              <a:rPr lang="en-US" altLang="ja-JP" sz="1600">
                <a:solidFill>
                  <a:schemeClr val="tx1"/>
                </a:solidFill>
                <a:latin typeface="+mn-ea"/>
                <a:cs typeface="Meiryo UI" panose="020B0604030504040204" pitchFamily="50" charset="-128"/>
              </a:rPr>
              <a:t>)</a:t>
            </a:r>
            <a:endParaRPr kumimoji="1" lang="ja-JP" altLang="en-US" sz="1600">
              <a:solidFill>
                <a:schemeClr val="tx1"/>
              </a:solidFill>
              <a:latin typeface="+mn-ea"/>
              <a:cs typeface="Meiryo UI" panose="020B0604030504040204" pitchFamily="50" charset="-128"/>
            </a:endParaRPr>
          </a:p>
        </p:txBody>
      </p:sp>
      <p:sp>
        <p:nvSpPr>
          <p:cNvPr id="8" name="テキスト プレースホルダー 3">
            <a:extLst>
              <a:ext uri="{FF2B5EF4-FFF2-40B4-BE49-F238E27FC236}">
                <a16:creationId xmlns:a16="http://schemas.microsoft.com/office/drawing/2014/main" id="{F156C8E0-8C66-BAB0-96BA-16AEAB2790F0}"/>
              </a:ext>
            </a:extLst>
          </p:cNvPr>
          <p:cNvSpPr txBox="1">
            <a:spLocks/>
          </p:cNvSpPr>
          <p:nvPr/>
        </p:nvSpPr>
        <p:spPr>
          <a:xfrm>
            <a:off x="2641242" y="2803091"/>
            <a:ext cx="7164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79388" indent="-179388">
              <a:spcBef>
                <a:spcPts val="0"/>
              </a:spcBef>
            </a:pPr>
            <a:r>
              <a:rPr lang="ja-JP" altLang="en-US" sz="1600" b="0">
                <a:solidFill>
                  <a:schemeClr val="tx1"/>
                </a:solidFill>
              </a:rPr>
              <a:t>①工事の進捗状況により、当初予定していた納期に製品出荷不可と判明したが、売上目標の達成等を目的として、予定通りの注文及び出荷を要請</a:t>
            </a:r>
            <a:endParaRPr lang="en-US" altLang="ja-JP" sz="1600" b="0">
              <a:solidFill>
                <a:schemeClr val="tx1"/>
              </a:solidFill>
            </a:endParaRPr>
          </a:p>
        </p:txBody>
      </p:sp>
      <p:cxnSp>
        <p:nvCxnSpPr>
          <p:cNvPr id="10" name="直線矢印コネクタ 9">
            <a:extLst>
              <a:ext uri="{FF2B5EF4-FFF2-40B4-BE49-F238E27FC236}">
                <a16:creationId xmlns:a16="http://schemas.microsoft.com/office/drawing/2014/main" id="{9328B266-73E7-4420-8357-9DEFAB7508BD}"/>
              </a:ext>
            </a:extLst>
          </p:cNvPr>
          <p:cNvCxnSpPr>
            <a:cxnSpLocks/>
            <a:stCxn id="4" idx="3"/>
            <a:endCxn id="5" idx="1"/>
          </p:cNvCxnSpPr>
          <p:nvPr/>
        </p:nvCxnSpPr>
        <p:spPr>
          <a:xfrm>
            <a:off x="2423995" y="4109830"/>
            <a:ext cx="7751584" cy="0"/>
          </a:xfrm>
          <a:prstGeom prst="straightConnector1">
            <a:avLst/>
          </a:prstGeom>
          <a:ln w="3175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15" name="テキスト プレースホルダー 3">
            <a:extLst>
              <a:ext uri="{FF2B5EF4-FFF2-40B4-BE49-F238E27FC236}">
                <a16:creationId xmlns:a16="http://schemas.microsoft.com/office/drawing/2014/main" id="{DFF2687F-8E71-4315-6019-5740A41E0EB7}"/>
              </a:ext>
            </a:extLst>
          </p:cNvPr>
          <p:cNvSpPr txBox="1">
            <a:spLocks/>
          </p:cNvSpPr>
          <p:nvPr/>
        </p:nvSpPr>
        <p:spPr>
          <a:xfrm>
            <a:off x="2623326" y="3935006"/>
            <a:ext cx="7232832" cy="517442"/>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endParaRPr lang="en-US" altLang="ja-JP" sz="1400" b="0">
              <a:solidFill>
                <a:schemeClr val="tx1"/>
              </a:solidFill>
            </a:endParaRPr>
          </a:p>
        </p:txBody>
      </p:sp>
      <p:sp>
        <p:nvSpPr>
          <p:cNvPr id="18" name="直方体 17">
            <a:extLst>
              <a:ext uri="{FF2B5EF4-FFF2-40B4-BE49-F238E27FC236}">
                <a16:creationId xmlns:a16="http://schemas.microsoft.com/office/drawing/2014/main" id="{4F286F98-F921-DAFE-33D3-FFD343E774E3}"/>
              </a:ext>
            </a:extLst>
          </p:cNvPr>
          <p:cNvSpPr/>
          <p:nvPr/>
        </p:nvSpPr>
        <p:spPr>
          <a:xfrm>
            <a:off x="711492" y="5382899"/>
            <a:ext cx="1152000" cy="669947"/>
          </a:xfrm>
          <a:prstGeom prst="cub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預り在庫</a:t>
            </a:r>
          </a:p>
        </p:txBody>
      </p:sp>
      <p:sp>
        <p:nvSpPr>
          <p:cNvPr id="19" name="二等辺三角形 18">
            <a:extLst>
              <a:ext uri="{FF2B5EF4-FFF2-40B4-BE49-F238E27FC236}">
                <a16:creationId xmlns:a16="http://schemas.microsoft.com/office/drawing/2014/main" id="{824AA10E-5468-D278-28EF-7848DD5CBA3C}"/>
              </a:ext>
            </a:extLst>
          </p:cNvPr>
          <p:cNvSpPr/>
          <p:nvPr/>
        </p:nvSpPr>
        <p:spPr>
          <a:xfrm>
            <a:off x="210618" y="4574416"/>
            <a:ext cx="2196000" cy="648000"/>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400">
                <a:solidFill>
                  <a:schemeClr val="tx1"/>
                </a:solidFill>
                <a:latin typeface="+mn-ea"/>
              </a:rPr>
              <a:t>エコロッカ</a:t>
            </a:r>
            <a:endParaRPr lang="en-US" altLang="ja-JP" sz="1400">
              <a:solidFill>
                <a:schemeClr val="tx1"/>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倉庫</a:t>
            </a:r>
          </a:p>
        </p:txBody>
      </p:sp>
      <p:pic>
        <p:nvPicPr>
          <p:cNvPr id="21" name="図 20">
            <a:extLst>
              <a:ext uri="{FF2B5EF4-FFF2-40B4-BE49-F238E27FC236}">
                <a16:creationId xmlns:a16="http://schemas.microsoft.com/office/drawing/2014/main" id="{A73DE7C0-1561-4EFF-63A1-4CC019A906FE}"/>
              </a:ext>
            </a:extLst>
          </p:cNvPr>
          <p:cNvPicPr>
            <a:picLocks noChangeAspect="1"/>
          </p:cNvPicPr>
          <p:nvPr/>
        </p:nvPicPr>
        <p:blipFill>
          <a:blip r:embed="rId3"/>
          <a:stretch>
            <a:fillRect/>
          </a:stretch>
        </p:blipFill>
        <p:spPr>
          <a:xfrm>
            <a:off x="2416672" y="4889168"/>
            <a:ext cx="631915" cy="792000"/>
          </a:xfrm>
          <a:prstGeom prst="rect">
            <a:avLst/>
          </a:prstGeom>
        </p:spPr>
      </p:pic>
      <p:sp>
        <p:nvSpPr>
          <p:cNvPr id="23" name="テキスト プレースホルダー 3">
            <a:extLst>
              <a:ext uri="{FF2B5EF4-FFF2-40B4-BE49-F238E27FC236}">
                <a16:creationId xmlns:a16="http://schemas.microsoft.com/office/drawing/2014/main" id="{2A1F34F2-BF64-FBFC-1C84-41EB77CD64F2}"/>
              </a:ext>
            </a:extLst>
          </p:cNvPr>
          <p:cNvSpPr txBox="1">
            <a:spLocks/>
          </p:cNvSpPr>
          <p:nvPr/>
        </p:nvSpPr>
        <p:spPr>
          <a:xfrm>
            <a:off x="2641242" y="4201889"/>
            <a:ext cx="7164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79388" indent="-179388">
              <a:spcBef>
                <a:spcPts val="0"/>
              </a:spcBef>
            </a:pPr>
            <a:r>
              <a:rPr lang="ja-JP" altLang="en-US" sz="1600" b="0">
                <a:solidFill>
                  <a:schemeClr val="tx1"/>
                </a:solidFill>
              </a:rPr>
              <a:t>②預り在庫の形式を採用し、取引先に対して「預り証」を発行及び請求を行うことにより売上計上。その後、買戻しを行う事例もあり。</a:t>
            </a:r>
            <a:endParaRPr lang="en-US" altLang="ja-JP" sz="1600" b="0">
              <a:solidFill>
                <a:schemeClr val="tx1"/>
              </a:solidFill>
            </a:endParaRPr>
          </a:p>
        </p:txBody>
      </p:sp>
      <p:sp>
        <p:nvSpPr>
          <p:cNvPr id="26" name="テキスト プレースホルダー 3">
            <a:extLst>
              <a:ext uri="{FF2B5EF4-FFF2-40B4-BE49-F238E27FC236}">
                <a16:creationId xmlns:a16="http://schemas.microsoft.com/office/drawing/2014/main" id="{23B278A7-EED6-77D7-637B-D09A80AC1F68}"/>
              </a:ext>
            </a:extLst>
          </p:cNvPr>
          <p:cNvSpPr txBox="1">
            <a:spLocks/>
          </p:cNvSpPr>
          <p:nvPr/>
        </p:nvSpPr>
        <p:spPr>
          <a:xfrm>
            <a:off x="3825723" y="4916675"/>
            <a:ext cx="6156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0"/>
              </a:spcBef>
            </a:pPr>
            <a:r>
              <a:rPr lang="ja-JP" altLang="en-US" sz="1600" b="0">
                <a:solidFill>
                  <a:srgbClr val="FF0000"/>
                </a:solidFill>
              </a:rPr>
              <a:t>預り証に取引先の押印や署名等がなく、取引先が預り在庫取引について明確に合意・承諾していたことを裏付ける資料なし</a:t>
            </a:r>
            <a:endParaRPr lang="en-US" altLang="ja-JP" sz="1600" b="0">
              <a:solidFill>
                <a:srgbClr val="FF0000"/>
              </a:solidFill>
            </a:endParaRPr>
          </a:p>
        </p:txBody>
      </p:sp>
      <p:sp>
        <p:nvSpPr>
          <p:cNvPr id="28" name="乗算記号 27">
            <a:extLst>
              <a:ext uri="{FF2B5EF4-FFF2-40B4-BE49-F238E27FC236}">
                <a16:creationId xmlns:a16="http://schemas.microsoft.com/office/drawing/2014/main" id="{8DC246D2-7CDB-311F-E5C4-6A4446CA041A}"/>
              </a:ext>
            </a:extLst>
          </p:cNvPr>
          <p:cNvSpPr/>
          <p:nvPr/>
        </p:nvSpPr>
        <p:spPr>
          <a:xfrm>
            <a:off x="3096288" y="4829203"/>
            <a:ext cx="828000" cy="720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800" b="0" i="0" u="none" strike="noStrike" kern="1200" cap="none" spc="0" normalizeH="0" baseline="0" noProof="0">
                <a:ln>
                  <a:noFill/>
                </a:ln>
                <a:solidFill>
                  <a:srgbClr val="FFFFFF"/>
                </a:solidFill>
                <a:effectLst/>
                <a:uLnTx/>
                <a:uFillTx/>
                <a:latin typeface="+mn-ea"/>
                <a:cs typeface="+mn-cs"/>
              </a:rPr>
              <a:t>２</a:t>
            </a:r>
          </a:p>
        </p:txBody>
      </p:sp>
      <p:sp>
        <p:nvSpPr>
          <p:cNvPr id="29" name="Rectangle 34">
            <a:extLst>
              <a:ext uri="{FF2B5EF4-FFF2-40B4-BE49-F238E27FC236}">
                <a16:creationId xmlns:a16="http://schemas.microsoft.com/office/drawing/2014/main" id="{C2E59061-65CE-763B-C32B-2F8B151067D8}"/>
              </a:ext>
            </a:extLst>
          </p:cNvPr>
          <p:cNvSpPr>
            <a:spLocks noChangeArrowheads="1"/>
          </p:cNvSpPr>
          <p:nvPr/>
        </p:nvSpPr>
        <p:spPr bwMode="gray">
          <a:xfrm>
            <a:off x="2216696" y="5684647"/>
            <a:ext cx="1116000" cy="387246"/>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預り証発行</a:t>
            </a:r>
            <a:endParaRPr lang="ja-JP" altLang="nl-NL" sz="1400" kern="0">
              <a:latin typeface="+mn-lt"/>
            </a:endParaRPr>
          </a:p>
        </p:txBody>
      </p:sp>
      <p:sp>
        <p:nvSpPr>
          <p:cNvPr id="30" name="正方形/長方形 29">
            <a:extLst>
              <a:ext uri="{FF2B5EF4-FFF2-40B4-BE49-F238E27FC236}">
                <a16:creationId xmlns:a16="http://schemas.microsoft.com/office/drawing/2014/main" id="{A5BCBBD5-3084-0ACD-9850-1CDD43856836}"/>
              </a:ext>
            </a:extLst>
          </p:cNvPr>
          <p:cNvSpPr/>
          <p:nvPr/>
        </p:nvSpPr>
        <p:spPr>
          <a:xfrm>
            <a:off x="10253333" y="5222791"/>
            <a:ext cx="1512000" cy="1008000"/>
          </a:xfrm>
          <a:prstGeom prst="rect">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1" name="二等辺三角形 30">
            <a:extLst>
              <a:ext uri="{FF2B5EF4-FFF2-40B4-BE49-F238E27FC236}">
                <a16:creationId xmlns:a16="http://schemas.microsoft.com/office/drawing/2014/main" id="{40CB8223-3CE3-EC08-9D9E-35C1F6544BBC}"/>
              </a:ext>
            </a:extLst>
          </p:cNvPr>
          <p:cNvSpPr/>
          <p:nvPr/>
        </p:nvSpPr>
        <p:spPr>
          <a:xfrm>
            <a:off x="9918184" y="4574416"/>
            <a:ext cx="2196000" cy="648000"/>
          </a:xfrm>
          <a:prstGeom prst="triangl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取引先</a:t>
            </a:r>
            <a:endParaRPr kumimoji="1" lang="en-US" altLang="ja-JP" sz="1400" b="0" i="0" u="none" strike="noStrike" kern="1200" cap="none" spc="0" normalizeH="0" baseline="0" noProof="0">
              <a:ln>
                <a:noFill/>
              </a:ln>
              <a:solidFill>
                <a:schemeClr val="tx1"/>
              </a:solidFill>
              <a:effectLst/>
              <a:uLnTx/>
              <a:uFillTx/>
              <a:latin typeface="+mn-ea"/>
              <a:cs typeface="+mn-cs"/>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400" b="0" i="0" u="none" strike="noStrike" kern="1200" cap="none" spc="0" normalizeH="0" baseline="0" noProof="0">
                <a:ln>
                  <a:noFill/>
                </a:ln>
                <a:solidFill>
                  <a:schemeClr val="tx1"/>
                </a:solidFill>
                <a:effectLst/>
                <a:uLnTx/>
                <a:uFillTx/>
                <a:latin typeface="+mn-ea"/>
                <a:cs typeface="+mn-cs"/>
              </a:rPr>
              <a:t>倉庫</a:t>
            </a:r>
          </a:p>
        </p:txBody>
      </p:sp>
      <p:sp>
        <p:nvSpPr>
          <p:cNvPr id="32" name="直方体 31">
            <a:extLst>
              <a:ext uri="{FF2B5EF4-FFF2-40B4-BE49-F238E27FC236}">
                <a16:creationId xmlns:a16="http://schemas.microsoft.com/office/drawing/2014/main" id="{ED1B7EBA-ECC1-BC80-020B-70A1D3B2E164}"/>
              </a:ext>
            </a:extLst>
          </p:cNvPr>
          <p:cNvSpPr/>
          <p:nvPr/>
        </p:nvSpPr>
        <p:spPr>
          <a:xfrm>
            <a:off x="10447337" y="5372903"/>
            <a:ext cx="1152000" cy="669947"/>
          </a:xfrm>
          <a:prstGeom prst="cube">
            <a:avLst/>
          </a:pr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400">
                <a:solidFill>
                  <a:schemeClr val="tx1"/>
                </a:solidFill>
                <a:latin typeface="+mn-ea"/>
              </a:rPr>
              <a:t>未出荷のため在庫なし</a:t>
            </a: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33" name="テキスト プレースホルダー 3">
            <a:extLst>
              <a:ext uri="{FF2B5EF4-FFF2-40B4-BE49-F238E27FC236}">
                <a16:creationId xmlns:a16="http://schemas.microsoft.com/office/drawing/2014/main" id="{EF9D66E7-A230-14B0-31A4-EC6154A71CCD}"/>
              </a:ext>
            </a:extLst>
          </p:cNvPr>
          <p:cNvSpPr txBox="1">
            <a:spLocks/>
          </p:cNvSpPr>
          <p:nvPr/>
        </p:nvSpPr>
        <p:spPr>
          <a:xfrm>
            <a:off x="3167280" y="3415931"/>
            <a:ext cx="6768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0"/>
              </a:spcBef>
            </a:pPr>
            <a:r>
              <a:rPr lang="ja-JP" altLang="en-US" sz="1600" b="0">
                <a:solidFill>
                  <a:srgbClr val="FF0000"/>
                </a:solidFill>
              </a:rPr>
              <a:t>エコロッカから取引先に対して預り在庫取引への協力要請しており、取引先からの要望をもとに預り在庫としたことを裏付ける資料なし</a:t>
            </a:r>
            <a:endParaRPr lang="en-US" altLang="ja-JP" sz="1600" b="0">
              <a:solidFill>
                <a:srgbClr val="FF0000"/>
              </a:solidFill>
            </a:endParaRPr>
          </a:p>
        </p:txBody>
      </p:sp>
      <p:sp>
        <p:nvSpPr>
          <p:cNvPr id="34" name="乗算記号 33">
            <a:extLst>
              <a:ext uri="{FF2B5EF4-FFF2-40B4-BE49-F238E27FC236}">
                <a16:creationId xmlns:a16="http://schemas.microsoft.com/office/drawing/2014/main" id="{EB1C3155-0DBA-EAB3-745D-8080B2C1F574}"/>
              </a:ext>
            </a:extLst>
          </p:cNvPr>
          <p:cNvSpPr/>
          <p:nvPr/>
        </p:nvSpPr>
        <p:spPr>
          <a:xfrm>
            <a:off x="2435011" y="3339723"/>
            <a:ext cx="828000" cy="720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en-US" altLang="ja-JP">
                <a:solidFill>
                  <a:srgbClr val="FFFFFF"/>
                </a:solidFill>
                <a:latin typeface="+mn-ea"/>
              </a:rPr>
              <a:t>1</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5" name="テキスト プレースホルダー 3">
            <a:extLst>
              <a:ext uri="{FF2B5EF4-FFF2-40B4-BE49-F238E27FC236}">
                <a16:creationId xmlns:a16="http://schemas.microsoft.com/office/drawing/2014/main" id="{E33123F8-2139-B9FD-4981-CBC369E4E83D}"/>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請求済未出荷契約による売上</a:t>
            </a:r>
            <a:r>
              <a:rPr lang="en-US" altLang="ja-JP" sz="1800" b="0"/>
              <a:t>(=</a:t>
            </a:r>
            <a:r>
              <a:rPr lang="ja-JP" altLang="en-US" sz="1800" b="0"/>
              <a:t>預り売上</a:t>
            </a:r>
            <a:r>
              <a:rPr lang="en-US" altLang="ja-JP" sz="1800" b="0"/>
              <a:t>)</a:t>
            </a:r>
            <a:r>
              <a:rPr lang="ja-JP" altLang="en-US" sz="1800" b="0"/>
              <a:t>計上は、理由が実質的なものであるか等、前項に記載の</a:t>
            </a:r>
            <a:r>
              <a:rPr lang="en-US" altLang="ja-JP" sz="1800" b="0"/>
              <a:t>4</a:t>
            </a:r>
            <a:r>
              <a:rPr lang="ja-JP" altLang="en-US" sz="1800" b="0"/>
              <a:t>つの要件を全て満たす必要があるため、売上計上にあたっては慎重な判断が必要です</a:t>
            </a:r>
          </a:p>
        </p:txBody>
      </p:sp>
      <p:sp>
        <p:nvSpPr>
          <p:cNvPr id="6" name="乗算記号 5">
            <a:extLst>
              <a:ext uri="{FF2B5EF4-FFF2-40B4-BE49-F238E27FC236}">
                <a16:creationId xmlns:a16="http://schemas.microsoft.com/office/drawing/2014/main" id="{C045AEC5-C05E-6D26-26E8-B391AB3BECB8}"/>
              </a:ext>
            </a:extLst>
          </p:cNvPr>
          <p:cNvSpPr/>
          <p:nvPr/>
        </p:nvSpPr>
        <p:spPr>
          <a:xfrm>
            <a:off x="3096288" y="5667966"/>
            <a:ext cx="828000" cy="720000"/>
          </a:xfrm>
          <a:prstGeom prst="mathMultiply">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800" b="0" i="0" u="none" strike="noStrike" kern="1200" cap="none" spc="0" normalizeH="0" baseline="0" noProof="0">
                <a:ln>
                  <a:noFill/>
                </a:ln>
                <a:solidFill>
                  <a:srgbClr val="FFFFFF"/>
                </a:solidFill>
                <a:effectLst/>
                <a:uLnTx/>
                <a:uFillTx/>
                <a:latin typeface="+mn-ea"/>
                <a:cs typeface="+mn-cs"/>
              </a:rPr>
              <a:t>3</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 name="テキスト プレースホルダー 3">
            <a:extLst>
              <a:ext uri="{FF2B5EF4-FFF2-40B4-BE49-F238E27FC236}">
                <a16:creationId xmlns:a16="http://schemas.microsoft.com/office/drawing/2014/main" id="{0B3A1201-23C4-B262-CA4A-BDFA56689424}"/>
              </a:ext>
            </a:extLst>
          </p:cNvPr>
          <p:cNvSpPr txBox="1">
            <a:spLocks/>
          </p:cNvSpPr>
          <p:nvPr/>
        </p:nvSpPr>
        <p:spPr>
          <a:xfrm>
            <a:off x="3825723" y="5711603"/>
            <a:ext cx="6156000" cy="576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spcBef>
                <a:spcPts val="0"/>
              </a:spcBef>
            </a:pPr>
            <a:r>
              <a:rPr lang="ja-JP" altLang="en-US" sz="1600" b="0">
                <a:solidFill>
                  <a:srgbClr val="FF0000"/>
                </a:solidFill>
              </a:rPr>
              <a:t>買戻しが行われるケースにおいては、実質的にはエコロッカが他の取引先に当該在庫を振り向ける能力を有していたといえる</a:t>
            </a:r>
            <a:endParaRPr lang="en-US" altLang="ja-JP" sz="1600" b="0">
              <a:solidFill>
                <a:srgbClr val="FF0000"/>
              </a:solidFill>
            </a:endParaRPr>
          </a:p>
        </p:txBody>
      </p:sp>
      <p:sp>
        <p:nvSpPr>
          <p:cNvPr id="9" name="正方形/長方形 8">
            <a:extLst>
              <a:ext uri="{FF2B5EF4-FFF2-40B4-BE49-F238E27FC236}">
                <a16:creationId xmlns:a16="http://schemas.microsoft.com/office/drawing/2014/main" id="{E69CE0D3-78BC-7D6B-2D81-6C4000CEC1F6}"/>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3357120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CDFDC5D1-8442-B4D3-4105-B144C4648A0D}"/>
              </a:ext>
            </a:extLst>
          </p:cNvPr>
          <p:cNvSpPr>
            <a:spLocks noGrp="1"/>
          </p:cNvSpPr>
          <p:nvPr>
            <p:ph type="title"/>
          </p:nvPr>
        </p:nvSpPr>
        <p:spPr/>
        <p:txBody>
          <a:bodyPr>
            <a:normAutofit/>
          </a:bodyPr>
          <a:lstStyle/>
          <a:p>
            <a:r>
              <a:rPr lang="en-US" altLang="ja-JP"/>
              <a:t>3-5.</a:t>
            </a:r>
            <a:r>
              <a:rPr lang="ja-JP" altLang="en-US"/>
              <a:t>未出荷取引による売上の過大計上</a:t>
            </a:r>
            <a:endParaRPr lang="ja-JP" altLang="en-US">
              <a:cs typeface="Segoe UI"/>
            </a:endParaRPr>
          </a:p>
        </p:txBody>
      </p:sp>
      <p:sp>
        <p:nvSpPr>
          <p:cNvPr id="2" name="正方形/長方形 1">
            <a:extLst>
              <a:ext uri="{FF2B5EF4-FFF2-40B4-BE49-F238E27FC236}">
                <a16:creationId xmlns:a16="http://schemas.microsoft.com/office/drawing/2014/main" id="{178E41C0-978C-EC9C-EF91-BDE812E4BE1E}"/>
              </a:ext>
            </a:extLst>
          </p:cNvPr>
          <p:cNvSpPr/>
          <p:nvPr/>
        </p:nvSpPr>
        <p:spPr bwMode="gray">
          <a:xfrm>
            <a:off x="2127658" y="1612238"/>
            <a:ext cx="9720000" cy="1560808"/>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Clr>
                <a:schemeClr val="tx1"/>
              </a:buClr>
              <a:buSzPct val="100000"/>
              <a:buFont typeface="Wingdings" panose="05000000000000000000" pitchFamily="2" charset="2"/>
              <a:buChar char="Ø"/>
            </a:pPr>
            <a:r>
              <a:rPr lang="ja-JP" altLang="en-US" sz="1400" b="1">
                <a:solidFill>
                  <a:srgbClr val="FF0000"/>
                </a:solidFill>
                <a:latin typeface="+mn-ea"/>
              </a:rPr>
              <a:t>各社にて</a:t>
            </a:r>
            <a:r>
              <a:rPr lang="ja-JP" altLang="en-US" sz="1400">
                <a:solidFill>
                  <a:prstClr val="black"/>
                </a:solidFill>
                <a:latin typeface="+mn-ea"/>
              </a:rPr>
              <a:t>未出荷取引についての売上計上の原則禁止。</a:t>
            </a:r>
            <a:endParaRPr lang="en-US" altLang="ja-JP" sz="1400">
              <a:solidFill>
                <a:prstClr val="black"/>
              </a:solidFill>
              <a:latin typeface="+mn-ea"/>
            </a:endParaRPr>
          </a:p>
          <a:p>
            <a:pPr marL="90487" defTabSz="990589">
              <a:spcBef>
                <a:spcPts val="300"/>
              </a:spcBef>
              <a:buClr>
                <a:schemeClr val="tx1"/>
              </a:buClr>
              <a:buSzPct val="100000"/>
            </a:pPr>
            <a:r>
              <a:rPr lang="ja-JP" altLang="en-US" sz="1400">
                <a:solidFill>
                  <a:prstClr val="black"/>
                </a:solidFill>
                <a:latin typeface="+mn-ea"/>
              </a:rPr>
              <a:t>　 </a:t>
            </a:r>
            <a:r>
              <a:rPr lang="en-US" altLang="ja-JP" sz="1400">
                <a:solidFill>
                  <a:prstClr val="black"/>
                </a:solidFill>
                <a:latin typeface="+mn-ea"/>
              </a:rPr>
              <a:t>AWI</a:t>
            </a:r>
            <a:r>
              <a:rPr lang="ja-JP" altLang="en-US" sz="1400">
                <a:solidFill>
                  <a:prstClr val="black"/>
                </a:solidFill>
                <a:latin typeface="+mn-ea"/>
              </a:rPr>
              <a:t>経理からの合意を得られていない預り売上を計上している場合には、</a:t>
            </a:r>
            <a:endParaRPr lang="en-US" altLang="ja-JP" sz="1400">
              <a:solidFill>
                <a:prstClr val="black"/>
              </a:solidFill>
              <a:latin typeface="+mn-ea"/>
            </a:endParaRPr>
          </a:p>
          <a:p>
            <a:pPr marL="90487" defTabSz="990589">
              <a:spcBef>
                <a:spcPts val="300"/>
              </a:spcBef>
              <a:buClr>
                <a:schemeClr val="tx1"/>
              </a:buClr>
              <a:buSzPct val="100000"/>
            </a:pPr>
            <a:r>
              <a:rPr lang="ja-JP" altLang="en-US" sz="1400">
                <a:solidFill>
                  <a:prstClr val="black"/>
                </a:solidFill>
                <a:latin typeface="+mn-ea"/>
              </a:rPr>
              <a:t>　 決算上は当該売上高の取消処理が必要。</a:t>
            </a:r>
            <a:endParaRPr lang="en-US" altLang="ja-JP" sz="1400">
              <a:solidFill>
                <a:prstClr val="black"/>
              </a:solidFill>
              <a:latin typeface="+mn-ea"/>
            </a:endParaRPr>
          </a:p>
          <a:p>
            <a:pPr marL="90487" defTabSz="990589">
              <a:spcBef>
                <a:spcPts val="300"/>
              </a:spcBef>
              <a:buClr>
                <a:schemeClr val="tx1"/>
              </a:buClr>
              <a:buSzPct val="100000"/>
            </a:pPr>
            <a:endParaRPr lang="en-US" altLang="ja-JP" sz="1400">
              <a:solidFill>
                <a:prstClr val="black"/>
              </a:solidFill>
              <a:latin typeface="+mn-ea"/>
            </a:endParaRPr>
          </a:p>
          <a:p>
            <a:pPr marL="90487" defTabSz="990589">
              <a:spcBef>
                <a:spcPts val="300"/>
              </a:spcBef>
              <a:buClr>
                <a:schemeClr val="tx1"/>
              </a:buClr>
              <a:buSzPct val="100000"/>
            </a:pPr>
            <a:r>
              <a:rPr lang="en-US" altLang="ja-JP" sz="1400">
                <a:solidFill>
                  <a:prstClr val="black"/>
                </a:solidFill>
                <a:latin typeface="+mn-ea"/>
              </a:rPr>
              <a:t>※</a:t>
            </a:r>
            <a:r>
              <a:rPr lang="ja-JP" altLang="en-US" sz="1400">
                <a:solidFill>
                  <a:prstClr val="black"/>
                </a:solidFill>
                <a:latin typeface="+mn-ea"/>
              </a:rPr>
              <a:t>顧客の依頼により、</a:t>
            </a:r>
            <a:r>
              <a:rPr lang="en-US" altLang="ja-JP" sz="1400">
                <a:solidFill>
                  <a:prstClr val="black"/>
                </a:solidFill>
                <a:latin typeface="+mn-ea"/>
              </a:rPr>
              <a:t>4</a:t>
            </a:r>
            <a:r>
              <a:rPr lang="ja-JP" altLang="en-US" sz="1400">
                <a:solidFill>
                  <a:prstClr val="black"/>
                </a:solidFill>
                <a:latin typeface="+mn-ea"/>
              </a:rPr>
              <a:t>つの要件をすべて満たした上で、預り売上の計上が必要であると考える場合、各社単独での判断を</a:t>
            </a:r>
            <a:endParaRPr lang="en-US" altLang="ja-JP" sz="1400">
              <a:solidFill>
                <a:prstClr val="black"/>
              </a:solidFill>
              <a:latin typeface="+mn-ea"/>
            </a:endParaRPr>
          </a:p>
          <a:p>
            <a:pPr marL="90487" defTabSz="990589">
              <a:spcBef>
                <a:spcPts val="300"/>
              </a:spcBef>
              <a:buClr>
                <a:schemeClr val="tx1"/>
              </a:buClr>
              <a:buSzPct val="100000"/>
            </a:pPr>
            <a:r>
              <a:rPr lang="ja-JP" altLang="en-US" sz="1400">
                <a:solidFill>
                  <a:prstClr val="black"/>
                </a:solidFill>
                <a:latin typeface="+mn-ea"/>
              </a:rPr>
              <a:t>　行わず、</a:t>
            </a:r>
            <a:r>
              <a:rPr lang="en-US" altLang="ja-JP" sz="1400">
                <a:solidFill>
                  <a:prstClr val="black"/>
                </a:solidFill>
                <a:latin typeface="+mn-ea"/>
              </a:rPr>
              <a:t>AWI</a:t>
            </a:r>
            <a:r>
              <a:rPr lang="ja-JP" altLang="en-US" sz="1400">
                <a:solidFill>
                  <a:prstClr val="black"/>
                </a:solidFill>
                <a:latin typeface="+mn-ea"/>
              </a:rPr>
              <a:t>経理へ情報及び検討内容を提出してください。</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6EF9D809-2B3F-DB10-710D-6B647443B802}"/>
              </a:ext>
            </a:extLst>
          </p:cNvPr>
          <p:cNvSpPr/>
          <p:nvPr/>
        </p:nvSpPr>
        <p:spPr bwMode="gray">
          <a:xfrm>
            <a:off x="507602" y="1612238"/>
            <a:ext cx="1260000" cy="1560808"/>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必要な対応</a:t>
            </a:r>
            <a:endParaRPr lang="en-US" altLang="ja-JP" sz="1400" b="1">
              <a:solidFill>
                <a:schemeClr val="bg1"/>
              </a:solidFill>
              <a:latin typeface="+mn-ea"/>
            </a:endParaRPr>
          </a:p>
        </p:txBody>
      </p:sp>
      <p:sp>
        <p:nvSpPr>
          <p:cNvPr id="25" name="正方形/長方形 24">
            <a:extLst>
              <a:ext uri="{FF2B5EF4-FFF2-40B4-BE49-F238E27FC236}">
                <a16:creationId xmlns:a16="http://schemas.microsoft.com/office/drawing/2014/main" id="{A496787D-AF90-BD47-3670-FDB8A1B2E21F}"/>
              </a:ext>
            </a:extLst>
          </p:cNvPr>
          <p:cNvSpPr/>
          <p:nvPr/>
        </p:nvSpPr>
        <p:spPr bwMode="gray">
          <a:xfrm>
            <a:off x="2119112" y="3429000"/>
            <a:ext cx="9720000" cy="3002722"/>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取引先の依頼内容、背景（要件➀、要件②を充足する情報）</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取引の内容（要件③、要件④を充足する情報）</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対象のアイテム</a:t>
            </a:r>
            <a:endParaRPr lang="en-US" altLang="ja-JP" sz="1400">
              <a:solidFill>
                <a:prstClr val="black"/>
              </a:solidFill>
              <a:latin typeface="+mn-ea"/>
            </a:endParaRPr>
          </a:p>
          <a:p>
            <a:pPr marL="625475" lvl="1" indent="-285750" defTabSz="990589">
              <a:spcBef>
                <a:spcPts val="300"/>
              </a:spcBef>
              <a:buSzPct val="100000"/>
              <a:buFont typeface="Arial" panose="020B0604020202020204" pitchFamily="34" charset="0"/>
              <a:buChar char="•"/>
            </a:pPr>
            <a:r>
              <a:rPr lang="ja-JP" altLang="en-US" sz="1400">
                <a:solidFill>
                  <a:prstClr val="black"/>
                </a:solidFill>
                <a:latin typeface="+mn-ea"/>
              </a:rPr>
              <a:t>本来の取引条件（買戻し条件の有無を含む）</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endParaRPr lang="en-US" altLang="ja-JP" sz="1400">
              <a:solidFill>
                <a:prstClr val="black"/>
              </a:solidFill>
              <a:latin typeface="+mn-ea"/>
            </a:endParaRPr>
          </a:p>
        </p:txBody>
      </p:sp>
      <p:sp>
        <p:nvSpPr>
          <p:cNvPr id="29" name="正方形/長方形 28">
            <a:extLst>
              <a:ext uri="{FF2B5EF4-FFF2-40B4-BE49-F238E27FC236}">
                <a16:creationId xmlns:a16="http://schemas.microsoft.com/office/drawing/2014/main" id="{F45F667D-2090-BFB4-4728-1703B94767E5}"/>
              </a:ext>
            </a:extLst>
          </p:cNvPr>
          <p:cNvSpPr/>
          <p:nvPr/>
        </p:nvSpPr>
        <p:spPr bwMode="gray">
          <a:xfrm>
            <a:off x="507602" y="3429000"/>
            <a:ext cx="1260000" cy="3002722"/>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本社経理への</a:t>
            </a:r>
            <a:endParaRPr lang="en-US" altLang="ja-JP" sz="1400" b="1">
              <a:solidFill>
                <a:schemeClr val="bg1"/>
              </a:solidFill>
              <a:latin typeface="+mn-ea"/>
            </a:endParaRPr>
          </a:p>
          <a:p>
            <a:pPr algn="ctr" defTabSz="990589">
              <a:spcBef>
                <a:spcPts val="300"/>
              </a:spcBef>
              <a:buSzPct val="100000"/>
            </a:pPr>
            <a:r>
              <a:rPr lang="ja-JP" altLang="en-US" sz="1400" b="1">
                <a:solidFill>
                  <a:schemeClr val="bg1"/>
                </a:solidFill>
                <a:latin typeface="+mn-ea"/>
              </a:rPr>
              <a:t>連絡事項</a:t>
            </a:r>
            <a:endParaRPr lang="en-US" altLang="ja-JP" sz="1400" b="1">
              <a:solidFill>
                <a:schemeClr val="bg1"/>
              </a:solidFill>
              <a:latin typeface="+mn-ea"/>
            </a:endParaRPr>
          </a:p>
        </p:txBody>
      </p:sp>
      <p:sp>
        <p:nvSpPr>
          <p:cNvPr id="30" name="テキスト プレースホルダー 3">
            <a:extLst>
              <a:ext uri="{FF2B5EF4-FFF2-40B4-BE49-F238E27FC236}">
                <a16:creationId xmlns:a16="http://schemas.microsoft.com/office/drawing/2014/main" id="{256DC9AA-0FDD-65B8-FD29-C17B496D4552}"/>
              </a:ext>
            </a:extLst>
          </p:cNvPr>
          <p:cNvSpPr txBox="1">
            <a:spLocks/>
          </p:cNvSpPr>
          <p:nvPr/>
        </p:nvSpPr>
        <p:spPr>
          <a:xfrm>
            <a:off x="659995" y="919865"/>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未出荷取引についての売上計上は原則禁止とします。</a:t>
            </a:r>
            <a:br>
              <a:rPr lang="en-US" altLang="ja-JP" sz="1800" b="0"/>
            </a:br>
            <a:r>
              <a:rPr lang="ja-JP" altLang="en-US" sz="1800" b="0"/>
              <a:t>取引先から在庫について納期後も預かってほしい旨の依頼があった際は</a:t>
            </a:r>
            <a:r>
              <a:rPr lang="en-US" altLang="ja-JP" sz="1800" b="0"/>
              <a:t>AWI</a:t>
            </a:r>
            <a:r>
              <a:rPr lang="ja-JP" altLang="en-US" sz="1800" b="0"/>
              <a:t>経理へ連絡をお願いします。</a:t>
            </a:r>
          </a:p>
        </p:txBody>
      </p:sp>
    </p:spTree>
    <p:extLst>
      <p:ext uri="{BB962C8B-B14F-4D97-AF65-F5344CB8AC3E}">
        <p14:creationId xmlns:p14="http://schemas.microsoft.com/office/powerpoint/2010/main" val="2038630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C7D2C-B812-1D3C-6F98-34AE977213B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D2C0F13-8F12-E4E8-D2D0-A0402BAC4A6C}"/>
              </a:ext>
            </a:extLst>
          </p:cNvPr>
          <p:cNvSpPr>
            <a:spLocks noGrp="1"/>
          </p:cNvSpPr>
          <p:nvPr>
            <p:ph type="title"/>
          </p:nvPr>
        </p:nvSpPr>
        <p:spPr/>
        <p:txBody>
          <a:bodyPr/>
          <a:lstStyle/>
          <a:p>
            <a:r>
              <a:rPr lang="en-US" altLang="ja-JP"/>
              <a:t>3-5.</a:t>
            </a:r>
            <a:r>
              <a:rPr lang="ja-JP" altLang="en-US"/>
              <a:t>未出荷取引による売上の過大計上</a:t>
            </a:r>
            <a:endParaRPr lang="ja-JP" altLang="en-US">
              <a:cs typeface="Segoe UI"/>
            </a:endParaRPr>
          </a:p>
        </p:txBody>
      </p:sp>
      <p:sp>
        <p:nvSpPr>
          <p:cNvPr id="14" name="Rounded Rectangle 2">
            <a:extLst>
              <a:ext uri="{FF2B5EF4-FFF2-40B4-BE49-F238E27FC236}">
                <a16:creationId xmlns:a16="http://schemas.microsoft.com/office/drawing/2014/main" id="{3CF9D09E-0828-5F22-892D-8E09C70E77B4}"/>
              </a:ext>
            </a:extLst>
          </p:cNvPr>
          <p:cNvSpPr/>
          <p:nvPr/>
        </p:nvSpPr>
        <p:spPr>
          <a:xfrm>
            <a:off x="699957" y="1478385"/>
            <a:ext cx="10872002" cy="3940596"/>
          </a:xfrm>
          <a:prstGeom prst="roundRect">
            <a:avLst/>
          </a:prstGeom>
          <a:solidFill>
            <a:srgbClr val="F1F3F5"/>
          </a:solidFill>
          <a:ln>
            <a:solidFill>
              <a:srgbClr val="F1F3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5">
            <a:extLst>
              <a:ext uri="{FF2B5EF4-FFF2-40B4-BE49-F238E27FC236}">
                <a16:creationId xmlns:a16="http://schemas.microsoft.com/office/drawing/2014/main" id="{6ECCF42E-71B6-A85D-FE60-13D965E210DF}"/>
              </a:ext>
            </a:extLst>
          </p:cNvPr>
          <p:cNvSpPr/>
          <p:nvPr/>
        </p:nvSpPr>
        <p:spPr>
          <a:xfrm>
            <a:off x="3873565" y="1642109"/>
            <a:ext cx="5394960" cy="377890"/>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1200">
                <a:solidFill>
                  <a:schemeClr val="tx1"/>
                </a:solidFill>
                <a:latin typeface="Meiryo"/>
              </a:rPr>
              <a:t>請求済未出荷契約による売上を計上する</a:t>
            </a:r>
          </a:p>
          <a:p>
            <a:pPr algn="ctr"/>
            <a:r>
              <a:rPr lang="ja-JP" altLang="en-US" sz="1200">
                <a:solidFill>
                  <a:schemeClr val="tx1"/>
                </a:solidFill>
                <a:latin typeface="Meiryo"/>
              </a:rPr>
              <a:t>やむを得ない事情がある</a:t>
            </a:r>
          </a:p>
        </p:txBody>
      </p:sp>
      <p:sp>
        <p:nvSpPr>
          <p:cNvPr id="18" name="Down Arrow 6">
            <a:extLst>
              <a:ext uri="{FF2B5EF4-FFF2-40B4-BE49-F238E27FC236}">
                <a16:creationId xmlns:a16="http://schemas.microsoft.com/office/drawing/2014/main" id="{0931FD1A-1A7B-920A-2C1C-A54F4A91C9D0}"/>
              </a:ext>
            </a:extLst>
          </p:cNvPr>
          <p:cNvSpPr/>
          <p:nvPr/>
        </p:nvSpPr>
        <p:spPr>
          <a:xfrm>
            <a:off x="5876117" y="2069198"/>
            <a:ext cx="182880" cy="261291"/>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10">
            <a:extLst>
              <a:ext uri="{FF2B5EF4-FFF2-40B4-BE49-F238E27FC236}">
                <a16:creationId xmlns:a16="http://schemas.microsoft.com/office/drawing/2014/main" id="{FD785C54-2997-3E4A-0F45-3D1CD734EECD}"/>
              </a:ext>
            </a:extLst>
          </p:cNvPr>
          <p:cNvSpPr/>
          <p:nvPr/>
        </p:nvSpPr>
        <p:spPr>
          <a:xfrm>
            <a:off x="3704417" y="2369177"/>
            <a:ext cx="4663440" cy="373273"/>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80" b="0" err="1">
                <a:solidFill>
                  <a:srgbClr val="1E1E1E"/>
                </a:solidFill>
                <a:latin typeface="Meiryo"/>
              </a:rPr>
              <a:t>請求済未出荷契約の理由が実質的なものか</a:t>
            </a:r>
            <a:r>
              <a:rPr sz="1280" b="0">
                <a:solidFill>
                  <a:srgbClr val="1E1E1E"/>
                </a:solidFill>
                <a:latin typeface="Meiryo"/>
              </a:rPr>
              <a:t>
（</a:t>
            </a:r>
            <a:r>
              <a:rPr sz="1280" b="0" err="1">
                <a:solidFill>
                  <a:srgbClr val="1E1E1E"/>
                </a:solidFill>
                <a:latin typeface="Meiryo"/>
              </a:rPr>
              <a:t>例：顧客が当該契約を要請している</a:t>
            </a:r>
            <a:r>
              <a:rPr sz="1280" b="0">
                <a:solidFill>
                  <a:srgbClr val="1E1E1E"/>
                </a:solidFill>
                <a:latin typeface="Meiryo"/>
              </a:rPr>
              <a:t>）</a:t>
            </a:r>
          </a:p>
        </p:txBody>
      </p:sp>
      <p:sp>
        <p:nvSpPr>
          <p:cNvPr id="23" name="Rounded Rectangle 11">
            <a:extLst>
              <a:ext uri="{FF2B5EF4-FFF2-40B4-BE49-F238E27FC236}">
                <a16:creationId xmlns:a16="http://schemas.microsoft.com/office/drawing/2014/main" id="{4FF5F4D3-BECB-4E46-E4F2-2B98BB9DC653}"/>
              </a:ext>
            </a:extLst>
          </p:cNvPr>
          <p:cNvSpPr/>
          <p:nvPr/>
        </p:nvSpPr>
        <p:spPr>
          <a:xfrm>
            <a:off x="8953234" y="2265383"/>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No</a:t>
            </a:r>
          </a:p>
        </p:txBody>
      </p:sp>
      <p:sp>
        <p:nvSpPr>
          <p:cNvPr id="24" name="Right Arrow 12">
            <a:extLst>
              <a:ext uri="{FF2B5EF4-FFF2-40B4-BE49-F238E27FC236}">
                <a16:creationId xmlns:a16="http://schemas.microsoft.com/office/drawing/2014/main" id="{C338D4D7-B377-9FD8-432E-2CCB8C117758}"/>
              </a:ext>
            </a:extLst>
          </p:cNvPr>
          <p:cNvSpPr/>
          <p:nvPr/>
        </p:nvSpPr>
        <p:spPr>
          <a:xfrm>
            <a:off x="8509533" y="2471061"/>
            <a:ext cx="1578050" cy="158221"/>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14">
            <a:extLst>
              <a:ext uri="{FF2B5EF4-FFF2-40B4-BE49-F238E27FC236}">
                <a16:creationId xmlns:a16="http://schemas.microsoft.com/office/drawing/2014/main" id="{7FB7176B-C507-2069-F95E-6C18D9F5FE47}"/>
              </a:ext>
            </a:extLst>
          </p:cNvPr>
          <p:cNvSpPr/>
          <p:nvPr/>
        </p:nvSpPr>
        <p:spPr>
          <a:xfrm>
            <a:off x="3693618" y="3043556"/>
            <a:ext cx="4663440" cy="373273"/>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80" b="0" err="1">
                <a:solidFill>
                  <a:srgbClr val="1E1E1E"/>
                </a:solidFill>
                <a:latin typeface="Meiryo"/>
              </a:rPr>
              <a:t>当該製品が顧客に属するものとして</a:t>
            </a:r>
            <a:r>
              <a:rPr sz="1280" b="0">
                <a:solidFill>
                  <a:srgbClr val="1E1E1E"/>
                </a:solidFill>
                <a:latin typeface="Meiryo"/>
              </a:rPr>
              <a:t>
</a:t>
            </a:r>
            <a:r>
              <a:rPr sz="1280" b="0" err="1">
                <a:solidFill>
                  <a:srgbClr val="1E1E1E"/>
                </a:solidFill>
                <a:latin typeface="Meiryo"/>
              </a:rPr>
              <a:t>区分して識別されているか</a:t>
            </a:r>
            <a:endParaRPr sz="1280" b="0">
              <a:solidFill>
                <a:srgbClr val="1E1E1E"/>
              </a:solidFill>
              <a:latin typeface="Meiryo"/>
            </a:endParaRPr>
          </a:p>
        </p:txBody>
      </p:sp>
      <p:sp>
        <p:nvSpPr>
          <p:cNvPr id="27" name="Rounded Rectangle 15">
            <a:extLst>
              <a:ext uri="{FF2B5EF4-FFF2-40B4-BE49-F238E27FC236}">
                <a16:creationId xmlns:a16="http://schemas.microsoft.com/office/drawing/2014/main" id="{ADBF9DEE-D81E-104F-E7C7-00377B293BED}"/>
              </a:ext>
            </a:extLst>
          </p:cNvPr>
          <p:cNvSpPr/>
          <p:nvPr/>
        </p:nvSpPr>
        <p:spPr>
          <a:xfrm>
            <a:off x="8953234" y="2987438"/>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No</a:t>
            </a:r>
          </a:p>
        </p:txBody>
      </p:sp>
      <p:sp>
        <p:nvSpPr>
          <p:cNvPr id="32" name="Rounded Rectangle 18">
            <a:extLst>
              <a:ext uri="{FF2B5EF4-FFF2-40B4-BE49-F238E27FC236}">
                <a16:creationId xmlns:a16="http://schemas.microsoft.com/office/drawing/2014/main" id="{9F101780-0301-D7FC-7955-A2DBA868996C}"/>
              </a:ext>
            </a:extLst>
          </p:cNvPr>
          <p:cNvSpPr/>
          <p:nvPr/>
        </p:nvSpPr>
        <p:spPr>
          <a:xfrm>
            <a:off x="3693618" y="3707386"/>
            <a:ext cx="4663440" cy="373273"/>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80" b="0" err="1">
                <a:solidFill>
                  <a:srgbClr val="1E1E1E"/>
                </a:solidFill>
                <a:latin typeface="Meiryo"/>
              </a:rPr>
              <a:t>当該製品は現時点で顧客への物理的な移転の</a:t>
            </a:r>
            <a:r>
              <a:rPr sz="1280" b="0">
                <a:solidFill>
                  <a:srgbClr val="1E1E1E"/>
                </a:solidFill>
                <a:latin typeface="Meiryo"/>
              </a:rPr>
              <a:t>
</a:t>
            </a:r>
            <a:r>
              <a:rPr sz="1280" b="0" err="1">
                <a:solidFill>
                  <a:srgbClr val="1E1E1E"/>
                </a:solidFill>
                <a:latin typeface="Meiryo"/>
              </a:rPr>
              <a:t>準備ができているか</a:t>
            </a:r>
            <a:endParaRPr sz="1280" b="0">
              <a:solidFill>
                <a:srgbClr val="1E1E1E"/>
              </a:solidFill>
              <a:latin typeface="Meiryo"/>
            </a:endParaRPr>
          </a:p>
        </p:txBody>
      </p:sp>
      <p:sp>
        <p:nvSpPr>
          <p:cNvPr id="33" name="Rounded Rectangle 19">
            <a:extLst>
              <a:ext uri="{FF2B5EF4-FFF2-40B4-BE49-F238E27FC236}">
                <a16:creationId xmlns:a16="http://schemas.microsoft.com/office/drawing/2014/main" id="{2EEEF454-BC3F-0D2C-3388-C8D28D105C09}"/>
              </a:ext>
            </a:extLst>
          </p:cNvPr>
          <p:cNvSpPr/>
          <p:nvPr/>
        </p:nvSpPr>
        <p:spPr>
          <a:xfrm>
            <a:off x="8953234" y="3614602"/>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No</a:t>
            </a:r>
          </a:p>
        </p:txBody>
      </p:sp>
      <p:sp>
        <p:nvSpPr>
          <p:cNvPr id="36" name="Rounded Rectangle 22">
            <a:extLst>
              <a:ext uri="{FF2B5EF4-FFF2-40B4-BE49-F238E27FC236}">
                <a16:creationId xmlns:a16="http://schemas.microsoft.com/office/drawing/2014/main" id="{4B7EE349-C4F1-E81B-3196-25E24CB63C73}"/>
              </a:ext>
            </a:extLst>
          </p:cNvPr>
          <p:cNvSpPr/>
          <p:nvPr/>
        </p:nvSpPr>
        <p:spPr>
          <a:xfrm>
            <a:off x="3693618" y="4361875"/>
            <a:ext cx="4663440" cy="373273"/>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80" b="0" err="1">
                <a:solidFill>
                  <a:srgbClr val="1E1E1E"/>
                </a:solidFill>
                <a:latin typeface="Meiryo"/>
              </a:rPr>
              <a:t>企業は当該製品を使用したり</a:t>
            </a:r>
            <a:r>
              <a:rPr sz="1280" b="0">
                <a:solidFill>
                  <a:srgbClr val="1E1E1E"/>
                </a:solidFill>
                <a:latin typeface="Meiryo"/>
              </a:rPr>
              <a:t>
</a:t>
            </a:r>
            <a:r>
              <a:rPr sz="1280" b="0" err="1">
                <a:solidFill>
                  <a:srgbClr val="1E1E1E"/>
                </a:solidFill>
                <a:latin typeface="Meiryo"/>
              </a:rPr>
              <a:t>別の顧客に振り向けたりできないか</a:t>
            </a:r>
            <a:endParaRPr sz="1280" b="0">
              <a:solidFill>
                <a:srgbClr val="1E1E1E"/>
              </a:solidFill>
              <a:latin typeface="Meiryo"/>
            </a:endParaRPr>
          </a:p>
        </p:txBody>
      </p:sp>
      <p:sp>
        <p:nvSpPr>
          <p:cNvPr id="37" name="Rounded Rectangle 23">
            <a:extLst>
              <a:ext uri="{FF2B5EF4-FFF2-40B4-BE49-F238E27FC236}">
                <a16:creationId xmlns:a16="http://schemas.microsoft.com/office/drawing/2014/main" id="{0010265A-F58F-8E4A-D283-594A04B7325B}"/>
              </a:ext>
            </a:extLst>
          </p:cNvPr>
          <p:cNvSpPr/>
          <p:nvPr/>
        </p:nvSpPr>
        <p:spPr>
          <a:xfrm>
            <a:off x="8953234" y="4309542"/>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No</a:t>
            </a:r>
          </a:p>
        </p:txBody>
      </p:sp>
      <p:sp>
        <p:nvSpPr>
          <p:cNvPr id="39" name="Rounded Rectangle 25">
            <a:extLst>
              <a:ext uri="{FF2B5EF4-FFF2-40B4-BE49-F238E27FC236}">
                <a16:creationId xmlns:a16="http://schemas.microsoft.com/office/drawing/2014/main" id="{364154EF-A5A0-2951-6CB4-065D76EEE7BF}"/>
              </a:ext>
            </a:extLst>
          </p:cNvPr>
          <p:cNvSpPr/>
          <p:nvPr/>
        </p:nvSpPr>
        <p:spPr>
          <a:xfrm>
            <a:off x="6160072" y="2106312"/>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Yes</a:t>
            </a:r>
          </a:p>
        </p:txBody>
      </p:sp>
      <p:sp>
        <p:nvSpPr>
          <p:cNvPr id="60" name="Rectangle 22">
            <a:extLst>
              <a:ext uri="{FF2B5EF4-FFF2-40B4-BE49-F238E27FC236}">
                <a16:creationId xmlns:a16="http://schemas.microsoft.com/office/drawing/2014/main" id="{A652844E-E7A7-F303-D117-1F2B75F6562B}"/>
              </a:ext>
            </a:extLst>
          </p:cNvPr>
          <p:cNvSpPr>
            <a:spLocks noChangeArrowheads="1"/>
          </p:cNvSpPr>
          <p:nvPr/>
        </p:nvSpPr>
        <p:spPr bwMode="gray">
          <a:xfrm>
            <a:off x="2879848" y="2452450"/>
            <a:ext cx="681760" cy="2777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200" b="1">
                <a:solidFill>
                  <a:schemeClr val="bg1"/>
                </a:solidFill>
              </a:rPr>
              <a:t>要件①</a:t>
            </a:r>
            <a:endParaRPr kumimoji="1" lang="en-US" altLang="ja-JP" sz="1200" b="1">
              <a:solidFill>
                <a:schemeClr val="bg1"/>
              </a:solidFill>
            </a:endParaRPr>
          </a:p>
        </p:txBody>
      </p:sp>
      <p:sp>
        <p:nvSpPr>
          <p:cNvPr id="61" name="Rectangle 22">
            <a:extLst>
              <a:ext uri="{FF2B5EF4-FFF2-40B4-BE49-F238E27FC236}">
                <a16:creationId xmlns:a16="http://schemas.microsoft.com/office/drawing/2014/main" id="{759B7096-AB23-6CC9-1BD1-646409CEEA24}"/>
              </a:ext>
            </a:extLst>
          </p:cNvPr>
          <p:cNvSpPr>
            <a:spLocks noChangeArrowheads="1"/>
          </p:cNvSpPr>
          <p:nvPr/>
        </p:nvSpPr>
        <p:spPr bwMode="gray">
          <a:xfrm>
            <a:off x="2879848" y="3101118"/>
            <a:ext cx="681760" cy="2777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200" b="1">
                <a:solidFill>
                  <a:schemeClr val="bg1"/>
                </a:solidFill>
              </a:rPr>
              <a:t>要件</a:t>
            </a:r>
            <a:r>
              <a:rPr lang="ja-JP" altLang="en-US" sz="1200" b="1">
                <a:solidFill>
                  <a:schemeClr val="bg1"/>
                </a:solidFill>
              </a:rPr>
              <a:t>②</a:t>
            </a:r>
            <a:endParaRPr kumimoji="1" lang="en-US" altLang="ja-JP" sz="1200" b="1">
              <a:solidFill>
                <a:schemeClr val="bg1"/>
              </a:solidFill>
            </a:endParaRPr>
          </a:p>
        </p:txBody>
      </p:sp>
      <p:sp>
        <p:nvSpPr>
          <p:cNvPr id="62" name="Rectangle 22">
            <a:extLst>
              <a:ext uri="{FF2B5EF4-FFF2-40B4-BE49-F238E27FC236}">
                <a16:creationId xmlns:a16="http://schemas.microsoft.com/office/drawing/2014/main" id="{F7449660-D038-71F7-D4C2-D94A2AD8FE03}"/>
              </a:ext>
            </a:extLst>
          </p:cNvPr>
          <p:cNvSpPr>
            <a:spLocks noChangeArrowheads="1"/>
          </p:cNvSpPr>
          <p:nvPr/>
        </p:nvSpPr>
        <p:spPr bwMode="gray">
          <a:xfrm>
            <a:off x="2879848" y="3750461"/>
            <a:ext cx="681760" cy="2777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200" b="1">
                <a:solidFill>
                  <a:schemeClr val="bg1"/>
                </a:solidFill>
              </a:rPr>
              <a:t>要件③</a:t>
            </a:r>
            <a:endParaRPr kumimoji="1" lang="en-US" altLang="ja-JP" sz="1200" b="1">
              <a:solidFill>
                <a:schemeClr val="bg1"/>
              </a:solidFill>
            </a:endParaRPr>
          </a:p>
        </p:txBody>
      </p:sp>
      <p:sp>
        <p:nvSpPr>
          <p:cNvPr id="63" name="Rectangle 22">
            <a:extLst>
              <a:ext uri="{FF2B5EF4-FFF2-40B4-BE49-F238E27FC236}">
                <a16:creationId xmlns:a16="http://schemas.microsoft.com/office/drawing/2014/main" id="{124530A1-D7D3-DDC6-4404-B97C3732C6F2}"/>
              </a:ext>
            </a:extLst>
          </p:cNvPr>
          <p:cNvSpPr>
            <a:spLocks noChangeArrowheads="1"/>
          </p:cNvSpPr>
          <p:nvPr/>
        </p:nvSpPr>
        <p:spPr bwMode="gray">
          <a:xfrm>
            <a:off x="2879848" y="4399804"/>
            <a:ext cx="681760" cy="2777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200" b="1">
                <a:solidFill>
                  <a:schemeClr val="bg1"/>
                </a:solidFill>
              </a:rPr>
              <a:t>要件</a:t>
            </a:r>
            <a:r>
              <a:rPr lang="ja-JP" altLang="en-US" sz="1200" b="1">
                <a:solidFill>
                  <a:schemeClr val="bg1"/>
                </a:solidFill>
              </a:rPr>
              <a:t>④</a:t>
            </a:r>
            <a:endParaRPr kumimoji="1" lang="en-US" altLang="ja-JP" sz="1200" b="1">
              <a:solidFill>
                <a:schemeClr val="bg1"/>
              </a:solidFill>
            </a:endParaRPr>
          </a:p>
        </p:txBody>
      </p:sp>
      <p:sp>
        <p:nvSpPr>
          <p:cNvPr id="65" name="Down Arrow 6">
            <a:extLst>
              <a:ext uri="{FF2B5EF4-FFF2-40B4-BE49-F238E27FC236}">
                <a16:creationId xmlns:a16="http://schemas.microsoft.com/office/drawing/2014/main" id="{2E9D5EB8-0CA6-301E-FA99-E4E6C0943FB5}"/>
              </a:ext>
            </a:extLst>
          </p:cNvPr>
          <p:cNvSpPr/>
          <p:nvPr/>
        </p:nvSpPr>
        <p:spPr>
          <a:xfrm>
            <a:off x="5876117" y="2755348"/>
            <a:ext cx="182880" cy="261291"/>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Down Arrow 6">
            <a:extLst>
              <a:ext uri="{FF2B5EF4-FFF2-40B4-BE49-F238E27FC236}">
                <a16:creationId xmlns:a16="http://schemas.microsoft.com/office/drawing/2014/main" id="{20FFB993-C741-616D-820F-5DEE10958458}"/>
              </a:ext>
            </a:extLst>
          </p:cNvPr>
          <p:cNvSpPr/>
          <p:nvPr/>
        </p:nvSpPr>
        <p:spPr>
          <a:xfrm>
            <a:off x="5876117" y="3427966"/>
            <a:ext cx="182880" cy="261291"/>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Down Arrow 6">
            <a:extLst>
              <a:ext uri="{FF2B5EF4-FFF2-40B4-BE49-F238E27FC236}">
                <a16:creationId xmlns:a16="http://schemas.microsoft.com/office/drawing/2014/main" id="{0DEDB0EA-B5B3-3F7F-FBE0-B013D779B019}"/>
              </a:ext>
            </a:extLst>
          </p:cNvPr>
          <p:cNvSpPr/>
          <p:nvPr/>
        </p:nvSpPr>
        <p:spPr>
          <a:xfrm>
            <a:off x="5876117" y="4079383"/>
            <a:ext cx="182880" cy="261291"/>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ounded Rectangle 25">
            <a:extLst>
              <a:ext uri="{FF2B5EF4-FFF2-40B4-BE49-F238E27FC236}">
                <a16:creationId xmlns:a16="http://schemas.microsoft.com/office/drawing/2014/main" id="{0D280922-401D-A73E-80A0-66FB0E4A152A}"/>
              </a:ext>
            </a:extLst>
          </p:cNvPr>
          <p:cNvSpPr/>
          <p:nvPr/>
        </p:nvSpPr>
        <p:spPr>
          <a:xfrm>
            <a:off x="6160072" y="2822348"/>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Yes</a:t>
            </a:r>
          </a:p>
        </p:txBody>
      </p:sp>
      <p:sp>
        <p:nvSpPr>
          <p:cNvPr id="69" name="Rounded Rectangle 25">
            <a:extLst>
              <a:ext uri="{FF2B5EF4-FFF2-40B4-BE49-F238E27FC236}">
                <a16:creationId xmlns:a16="http://schemas.microsoft.com/office/drawing/2014/main" id="{6C35D075-F8C7-8107-EE92-19D0ED7F15CB}"/>
              </a:ext>
            </a:extLst>
          </p:cNvPr>
          <p:cNvSpPr/>
          <p:nvPr/>
        </p:nvSpPr>
        <p:spPr>
          <a:xfrm>
            <a:off x="6160072" y="3481492"/>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Yes</a:t>
            </a:r>
          </a:p>
        </p:txBody>
      </p:sp>
      <p:sp>
        <p:nvSpPr>
          <p:cNvPr id="70" name="Rounded Rectangle 25">
            <a:extLst>
              <a:ext uri="{FF2B5EF4-FFF2-40B4-BE49-F238E27FC236}">
                <a16:creationId xmlns:a16="http://schemas.microsoft.com/office/drawing/2014/main" id="{D3A83FC1-1007-3D90-0469-D143014E42E2}"/>
              </a:ext>
            </a:extLst>
          </p:cNvPr>
          <p:cNvSpPr/>
          <p:nvPr/>
        </p:nvSpPr>
        <p:spPr>
          <a:xfrm>
            <a:off x="6160072" y="4151563"/>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Yes</a:t>
            </a:r>
          </a:p>
        </p:txBody>
      </p:sp>
      <p:sp>
        <p:nvSpPr>
          <p:cNvPr id="71" name="Right Arrow 12">
            <a:extLst>
              <a:ext uri="{FF2B5EF4-FFF2-40B4-BE49-F238E27FC236}">
                <a16:creationId xmlns:a16="http://schemas.microsoft.com/office/drawing/2014/main" id="{C248C534-B2BD-DD50-E999-D2FCFE5F6357}"/>
              </a:ext>
            </a:extLst>
          </p:cNvPr>
          <p:cNvSpPr/>
          <p:nvPr/>
        </p:nvSpPr>
        <p:spPr>
          <a:xfrm>
            <a:off x="8509533" y="3194197"/>
            <a:ext cx="1578050" cy="158221"/>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ight Arrow 12">
            <a:extLst>
              <a:ext uri="{FF2B5EF4-FFF2-40B4-BE49-F238E27FC236}">
                <a16:creationId xmlns:a16="http://schemas.microsoft.com/office/drawing/2014/main" id="{273F8FC1-DF3B-5C52-8A80-199F1706784E}"/>
              </a:ext>
            </a:extLst>
          </p:cNvPr>
          <p:cNvSpPr/>
          <p:nvPr/>
        </p:nvSpPr>
        <p:spPr>
          <a:xfrm>
            <a:off x="8509533" y="3810954"/>
            <a:ext cx="1578050" cy="158221"/>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ight Arrow 12">
            <a:extLst>
              <a:ext uri="{FF2B5EF4-FFF2-40B4-BE49-F238E27FC236}">
                <a16:creationId xmlns:a16="http://schemas.microsoft.com/office/drawing/2014/main" id="{1FD5929B-D986-465D-F0B5-92E3E5500FD7}"/>
              </a:ext>
            </a:extLst>
          </p:cNvPr>
          <p:cNvSpPr/>
          <p:nvPr/>
        </p:nvSpPr>
        <p:spPr>
          <a:xfrm>
            <a:off x="8509533" y="4467690"/>
            <a:ext cx="1578050" cy="158221"/>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5">
            <a:extLst>
              <a:ext uri="{FF2B5EF4-FFF2-40B4-BE49-F238E27FC236}">
                <a16:creationId xmlns:a16="http://schemas.microsoft.com/office/drawing/2014/main" id="{B3CC14BE-06FE-4A0C-7CEF-95AF3609A6C5}"/>
              </a:ext>
            </a:extLst>
          </p:cNvPr>
          <p:cNvSpPr/>
          <p:nvPr/>
        </p:nvSpPr>
        <p:spPr>
          <a:xfrm>
            <a:off x="10266921" y="1642109"/>
            <a:ext cx="433320" cy="3093039"/>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2400" b="1">
                <a:solidFill>
                  <a:srgbClr val="FF0000"/>
                </a:solidFill>
                <a:latin typeface="Meiryo"/>
              </a:rPr>
              <a:t>禁止</a:t>
            </a:r>
          </a:p>
        </p:txBody>
      </p:sp>
      <p:sp>
        <p:nvSpPr>
          <p:cNvPr id="75" name="Rounded Rectangle 11">
            <a:extLst>
              <a:ext uri="{FF2B5EF4-FFF2-40B4-BE49-F238E27FC236}">
                <a16:creationId xmlns:a16="http://schemas.microsoft.com/office/drawing/2014/main" id="{10AD2C31-89D1-CD8B-7D83-13A2DF51CBE6}"/>
              </a:ext>
            </a:extLst>
          </p:cNvPr>
          <p:cNvSpPr/>
          <p:nvPr/>
        </p:nvSpPr>
        <p:spPr>
          <a:xfrm>
            <a:off x="9539123" y="1591912"/>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No</a:t>
            </a:r>
          </a:p>
        </p:txBody>
      </p:sp>
      <p:sp>
        <p:nvSpPr>
          <p:cNvPr id="76" name="Right Arrow 12">
            <a:extLst>
              <a:ext uri="{FF2B5EF4-FFF2-40B4-BE49-F238E27FC236}">
                <a16:creationId xmlns:a16="http://schemas.microsoft.com/office/drawing/2014/main" id="{DDE682A8-9CA9-64C1-95A5-663D0807794B}"/>
              </a:ext>
            </a:extLst>
          </p:cNvPr>
          <p:cNvSpPr/>
          <p:nvPr/>
        </p:nvSpPr>
        <p:spPr>
          <a:xfrm>
            <a:off x="9298558" y="1746135"/>
            <a:ext cx="900901" cy="158221"/>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ounded Rectangle 14">
            <a:extLst>
              <a:ext uri="{FF2B5EF4-FFF2-40B4-BE49-F238E27FC236}">
                <a16:creationId xmlns:a16="http://schemas.microsoft.com/office/drawing/2014/main" id="{077D79E3-6CC9-BDC2-C893-E83526099C78}"/>
              </a:ext>
            </a:extLst>
          </p:cNvPr>
          <p:cNvSpPr/>
          <p:nvPr/>
        </p:nvSpPr>
        <p:spPr>
          <a:xfrm>
            <a:off x="888026" y="1694121"/>
            <a:ext cx="1890747" cy="1272735"/>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1600" b="1" u="sng">
                <a:solidFill>
                  <a:srgbClr val="BE0000"/>
                </a:solidFill>
                <a:latin typeface="Meiryo"/>
              </a:rPr>
              <a:t>前提</a:t>
            </a:r>
          </a:p>
          <a:p>
            <a:pPr algn="ctr"/>
            <a:r>
              <a:rPr lang="ja-JP" altLang="en-US" sz="1200" b="1">
                <a:solidFill>
                  <a:srgbClr val="BE0000"/>
                </a:solidFill>
                <a:latin typeface="Meiryo"/>
              </a:rPr>
              <a:t>客先と未出荷契約による売上について、客観的に合意を交わしたことが確認できる資料が用意できている。</a:t>
            </a:r>
            <a:endParaRPr lang="en-US" altLang="ja-JP" sz="1200" b="1">
              <a:solidFill>
                <a:srgbClr val="BE0000"/>
              </a:solidFill>
              <a:latin typeface="Meiryo"/>
            </a:endParaRPr>
          </a:p>
        </p:txBody>
      </p:sp>
      <p:sp>
        <p:nvSpPr>
          <p:cNvPr id="89" name="Rounded Rectangle 22">
            <a:extLst>
              <a:ext uri="{FF2B5EF4-FFF2-40B4-BE49-F238E27FC236}">
                <a16:creationId xmlns:a16="http://schemas.microsoft.com/office/drawing/2014/main" id="{F26DDA59-EFE1-8219-E122-1FB448363C27}"/>
              </a:ext>
            </a:extLst>
          </p:cNvPr>
          <p:cNvSpPr/>
          <p:nvPr/>
        </p:nvSpPr>
        <p:spPr>
          <a:xfrm>
            <a:off x="3693618" y="5023477"/>
            <a:ext cx="4663440" cy="281875"/>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ja-JP" altLang="en-US" sz="1280" b="0">
                <a:solidFill>
                  <a:srgbClr val="1E1E1E"/>
                </a:solidFill>
                <a:latin typeface="Meiryo"/>
              </a:rPr>
              <a:t>本社経理への連絡、預かり売上計上</a:t>
            </a:r>
            <a:endParaRPr sz="1280" b="0">
              <a:solidFill>
                <a:srgbClr val="1E1E1E"/>
              </a:solidFill>
              <a:latin typeface="Meiryo"/>
            </a:endParaRPr>
          </a:p>
        </p:txBody>
      </p:sp>
      <p:sp>
        <p:nvSpPr>
          <p:cNvPr id="90" name="Down Arrow 6">
            <a:extLst>
              <a:ext uri="{FF2B5EF4-FFF2-40B4-BE49-F238E27FC236}">
                <a16:creationId xmlns:a16="http://schemas.microsoft.com/office/drawing/2014/main" id="{F5B2BC41-F1C8-641B-3AC8-463BA02CEEFD}"/>
              </a:ext>
            </a:extLst>
          </p:cNvPr>
          <p:cNvSpPr/>
          <p:nvPr/>
        </p:nvSpPr>
        <p:spPr>
          <a:xfrm>
            <a:off x="5876117" y="4740985"/>
            <a:ext cx="182880" cy="261291"/>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25">
            <a:extLst>
              <a:ext uri="{FF2B5EF4-FFF2-40B4-BE49-F238E27FC236}">
                <a16:creationId xmlns:a16="http://schemas.microsoft.com/office/drawing/2014/main" id="{5A84EB09-E70F-AD1D-7F8F-B571D9CD3BA1}"/>
              </a:ext>
            </a:extLst>
          </p:cNvPr>
          <p:cNvSpPr/>
          <p:nvPr/>
        </p:nvSpPr>
        <p:spPr>
          <a:xfrm>
            <a:off x="6160072" y="4813165"/>
            <a:ext cx="457200" cy="149309"/>
          </a:xfrm>
          <a:prstGeom prst="roundRect">
            <a:avLst/>
          </a:prstGeom>
          <a:solidFill>
            <a:srgbClr val="FFFFFF"/>
          </a:solidFill>
          <a:ln w="1143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50" b="1">
                <a:solidFill>
                  <a:srgbClr val="1E1E1E"/>
                </a:solidFill>
                <a:latin typeface="Meiryo"/>
              </a:rPr>
              <a:t>Yes</a:t>
            </a:r>
          </a:p>
        </p:txBody>
      </p:sp>
      <p:sp>
        <p:nvSpPr>
          <p:cNvPr id="50" name="テキスト ボックス 49">
            <a:extLst>
              <a:ext uri="{FF2B5EF4-FFF2-40B4-BE49-F238E27FC236}">
                <a16:creationId xmlns:a16="http://schemas.microsoft.com/office/drawing/2014/main" id="{D79F0FE5-C00E-C580-E4DB-31FD60757010}"/>
              </a:ext>
            </a:extLst>
          </p:cNvPr>
          <p:cNvSpPr txBox="1"/>
          <p:nvPr/>
        </p:nvSpPr>
        <p:spPr>
          <a:xfrm>
            <a:off x="5631284" y="1803566"/>
            <a:ext cx="394054" cy="166199"/>
          </a:xfrm>
          <a:prstGeom prst="rect">
            <a:avLst/>
          </a:prstGeom>
          <a:noFill/>
        </p:spPr>
        <p:txBody>
          <a:bodyPr wrap="square" lIns="0" tIns="0" rIns="0" bIns="0" rtlCol="0">
            <a:spAutoFit/>
          </a:bodyPr>
          <a:lstStyle/>
          <a:p>
            <a:pPr algn="l">
              <a:lnSpc>
                <a:spcPct val="120000"/>
              </a:lnSpc>
            </a:pPr>
            <a:r>
              <a:rPr kumimoji="1" lang="en-US" altLang="ja-JP" sz="1000" spc="110" baseline="0"/>
              <a:t>※</a:t>
            </a:r>
            <a:endParaRPr kumimoji="1" lang="ja-JP" altLang="en-US" sz="1000" spc="110" baseline="0"/>
          </a:p>
        </p:txBody>
      </p:sp>
      <p:sp>
        <p:nvSpPr>
          <p:cNvPr id="53" name="Rounded Rectangle 5">
            <a:extLst>
              <a:ext uri="{FF2B5EF4-FFF2-40B4-BE49-F238E27FC236}">
                <a16:creationId xmlns:a16="http://schemas.microsoft.com/office/drawing/2014/main" id="{741D8E52-B52B-F839-A3BB-27793CB7A736}"/>
              </a:ext>
            </a:extLst>
          </p:cNvPr>
          <p:cNvSpPr/>
          <p:nvPr/>
        </p:nvSpPr>
        <p:spPr>
          <a:xfrm>
            <a:off x="746774" y="5527390"/>
            <a:ext cx="10872002" cy="1087696"/>
          </a:xfrm>
          <a:prstGeom prst="roundRect">
            <a:avLst/>
          </a:prstGeom>
          <a:solidFill>
            <a:srgbClr val="FFFFFF"/>
          </a:solidFill>
          <a:ln w="2032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nSpc>
                <a:spcPct val="120000"/>
              </a:lnSpc>
            </a:pPr>
            <a:r>
              <a:rPr lang="ja-JP" altLang="en-US" sz="1400" b="1" spc="110">
                <a:solidFill>
                  <a:srgbClr val="FF0000"/>
                </a:solidFill>
              </a:rPr>
              <a:t>未出荷取引売上が認められる具体例）</a:t>
            </a:r>
            <a:endParaRPr lang="en-US" altLang="ja-JP" sz="1400" b="1" spc="110">
              <a:solidFill>
                <a:srgbClr val="FF0000"/>
              </a:solidFill>
            </a:endParaRPr>
          </a:p>
          <a:p>
            <a:pPr>
              <a:lnSpc>
                <a:spcPct val="120000"/>
              </a:lnSpc>
            </a:pPr>
            <a:r>
              <a:rPr lang="ja-JP" altLang="en-US" sz="1050" b="1" spc="110">
                <a:solidFill>
                  <a:srgbClr val="FF0000"/>
                </a:solidFill>
              </a:rPr>
              <a:t>顧客倉庫に商品の置き場がない（やむを得ない事情）ので、口頭ではなく、メールで自社倉庫に商品を一旦置かせてほしい旨顧客から連絡を頂いた。（要件➀）</a:t>
            </a:r>
            <a:endParaRPr lang="en-US" altLang="ja-JP" sz="1050" b="1" spc="110">
              <a:solidFill>
                <a:srgbClr val="FF0000"/>
              </a:solidFill>
            </a:endParaRPr>
          </a:p>
          <a:p>
            <a:pPr>
              <a:lnSpc>
                <a:spcPct val="120000"/>
              </a:lnSpc>
            </a:pPr>
            <a:r>
              <a:rPr lang="ja-JP" altLang="en-US" sz="1050" b="1" spc="110">
                <a:solidFill>
                  <a:srgbClr val="FF0000"/>
                </a:solidFill>
              </a:rPr>
              <a:t>そのため、商品には顧客名と注文番号をタグ付けし、他の商品とはロケーションを分けて保管することとした。（要件②）</a:t>
            </a:r>
            <a:endParaRPr lang="en-US" altLang="ja-JP" sz="1050" b="1" spc="110">
              <a:solidFill>
                <a:srgbClr val="FF0000"/>
              </a:solidFill>
            </a:endParaRPr>
          </a:p>
          <a:p>
            <a:pPr>
              <a:lnSpc>
                <a:spcPct val="120000"/>
              </a:lnSpc>
            </a:pPr>
            <a:r>
              <a:rPr lang="ja-JP" altLang="en-US" sz="1050" b="1" spc="110">
                <a:solidFill>
                  <a:srgbClr val="FF0000"/>
                </a:solidFill>
              </a:rPr>
              <a:t>また、すぐに搬出できるように商品の検査や梱包は完了している。（要件③）</a:t>
            </a:r>
            <a:endParaRPr lang="en-US" altLang="ja-JP" sz="1050" b="1" spc="110">
              <a:solidFill>
                <a:srgbClr val="FF0000"/>
              </a:solidFill>
            </a:endParaRPr>
          </a:p>
          <a:p>
            <a:pPr>
              <a:lnSpc>
                <a:spcPct val="120000"/>
              </a:lnSpc>
            </a:pPr>
            <a:r>
              <a:rPr lang="ja-JP" altLang="en-US" sz="1050" b="1" spc="110">
                <a:solidFill>
                  <a:srgbClr val="FF0000"/>
                </a:solidFill>
              </a:rPr>
              <a:t>その商品は、顧客が求める特注の商品であり、他の顧客へ流用することはできない。（案件④）</a:t>
            </a:r>
          </a:p>
        </p:txBody>
      </p:sp>
      <p:sp>
        <p:nvSpPr>
          <p:cNvPr id="52" name="テキスト プレースホルダー 3">
            <a:extLst>
              <a:ext uri="{FF2B5EF4-FFF2-40B4-BE49-F238E27FC236}">
                <a16:creationId xmlns:a16="http://schemas.microsoft.com/office/drawing/2014/main" id="{5609CCF5-E4F0-9012-6B29-AC6C38730F6C}"/>
              </a:ext>
            </a:extLst>
          </p:cNvPr>
          <p:cNvSpPr txBox="1">
            <a:spLocks/>
          </p:cNvSpPr>
          <p:nvPr/>
        </p:nvSpPr>
        <p:spPr>
          <a:xfrm>
            <a:off x="659995" y="837284"/>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未出荷取引についての売上計上は原則禁止とします。</a:t>
            </a:r>
            <a:br>
              <a:rPr lang="en-US" altLang="ja-JP" sz="1800" b="0"/>
            </a:br>
            <a:r>
              <a:rPr lang="ja-JP" altLang="en-US" sz="1800" b="0"/>
              <a:t>取引先から在庫について納期後も預かってほしい旨の依頼があった際は</a:t>
            </a:r>
            <a:r>
              <a:rPr lang="en-US" altLang="ja-JP" sz="1800" b="0"/>
              <a:t>AWI</a:t>
            </a:r>
            <a:r>
              <a:rPr lang="ja-JP" altLang="en-US" sz="1800" b="0"/>
              <a:t>経理へ連絡をお願いします。</a:t>
            </a:r>
          </a:p>
        </p:txBody>
      </p:sp>
    </p:spTree>
    <p:extLst>
      <p:ext uri="{BB962C8B-B14F-4D97-AF65-F5344CB8AC3E}">
        <p14:creationId xmlns:p14="http://schemas.microsoft.com/office/powerpoint/2010/main" val="2618899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70E8-346B-6174-384D-DA7003A07C8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DA67845-4294-1808-E84E-EE52B829D93D}"/>
              </a:ext>
            </a:extLst>
          </p:cNvPr>
          <p:cNvSpPr>
            <a:spLocks noGrp="1"/>
          </p:cNvSpPr>
          <p:nvPr>
            <p:ph type="title"/>
          </p:nvPr>
        </p:nvSpPr>
        <p:spPr/>
        <p:txBody>
          <a:bodyPr>
            <a:normAutofit/>
          </a:bodyPr>
          <a:lstStyle/>
          <a:p>
            <a:r>
              <a:rPr lang="en-US" altLang="ja-JP"/>
              <a:t>3-6.</a:t>
            </a:r>
            <a:r>
              <a:rPr lang="ja-JP" altLang="en-US"/>
              <a:t>工事進行基準の適用①（要件）</a:t>
            </a:r>
            <a:endParaRPr lang="ja-JP" altLang="en-US">
              <a:cs typeface="Segoe UI"/>
            </a:endParaRPr>
          </a:p>
        </p:txBody>
      </p:sp>
      <p:sp>
        <p:nvSpPr>
          <p:cNvPr id="10" name="テキスト プレースホルダー 3">
            <a:extLst>
              <a:ext uri="{FF2B5EF4-FFF2-40B4-BE49-F238E27FC236}">
                <a16:creationId xmlns:a16="http://schemas.microsoft.com/office/drawing/2014/main" id="{1036D160-3A66-2A41-07A5-829EA4D28255}"/>
              </a:ext>
            </a:extLst>
          </p:cNvPr>
          <p:cNvSpPr txBox="1">
            <a:spLocks/>
          </p:cNvSpPr>
          <p:nvPr/>
        </p:nvSpPr>
        <p:spPr>
          <a:xfrm>
            <a:off x="659999" y="911921"/>
            <a:ext cx="11260151" cy="720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一定期間にわたり収益を認識する場合（いわゆる工事進行基準の適用）は、進捗状況に合わせて売上・原価を計上しますが、以下のいずれかの要件を満たす必要があります。</a:t>
            </a:r>
          </a:p>
          <a:p>
            <a:endParaRPr lang="ja-JP" altLang="en-US"/>
          </a:p>
        </p:txBody>
      </p:sp>
      <p:sp>
        <p:nvSpPr>
          <p:cNvPr id="29" name="正方形/長方形 28">
            <a:extLst>
              <a:ext uri="{FF2B5EF4-FFF2-40B4-BE49-F238E27FC236}">
                <a16:creationId xmlns:a16="http://schemas.microsoft.com/office/drawing/2014/main" id="{B51EA8D1-6BA4-70BB-048F-07DB31B45B84}"/>
              </a:ext>
            </a:extLst>
          </p:cNvPr>
          <p:cNvSpPr/>
          <p:nvPr/>
        </p:nvSpPr>
        <p:spPr>
          <a:xfrm>
            <a:off x="2047799" y="2719367"/>
            <a:ext cx="3737704" cy="57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義務の履行につれて、顧客が便益を享受する</a:t>
            </a:r>
          </a:p>
        </p:txBody>
      </p:sp>
      <p:sp>
        <p:nvSpPr>
          <p:cNvPr id="2" name="Rectangle 22">
            <a:extLst>
              <a:ext uri="{FF2B5EF4-FFF2-40B4-BE49-F238E27FC236}">
                <a16:creationId xmlns:a16="http://schemas.microsoft.com/office/drawing/2014/main" id="{FE27CA33-DDA7-1539-9A5E-395C022AED9B}"/>
              </a:ext>
            </a:extLst>
          </p:cNvPr>
          <p:cNvSpPr>
            <a:spLocks noChangeArrowheads="1"/>
          </p:cNvSpPr>
          <p:nvPr/>
        </p:nvSpPr>
        <p:spPr bwMode="gray">
          <a:xfrm>
            <a:off x="1070539" y="2719367"/>
            <a:ext cx="854514" cy="576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要件①</a:t>
            </a:r>
            <a:endParaRPr kumimoji="1" lang="en-US" altLang="ja-JP" sz="1600" b="1">
              <a:solidFill>
                <a:schemeClr val="bg1"/>
              </a:solidFill>
            </a:endParaRPr>
          </a:p>
        </p:txBody>
      </p:sp>
      <p:sp>
        <p:nvSpPr>
          <p:cNvPr id="4" name="Rectangle 22">
            <a:extLst>
              <a:ext uri="{FF2B5EF4-FFF2-40B4-BE49-F238E27FC236}">
                <a16:creationId xmlns:a16="http://schemas.microsoft.com/office/drawing/2014/main" id="{1D67E6D1-DE90-887B-5ECE-EB30D98F66BE}"/>
              </a:ext>
            </a:extLst>
          </p:cNvPr>
          <p:cNvSpPr>
            <a:spLocks noChangeArrowheads="1"/>
          </p:cNvSpPr>
          <p:nvPr/>
        </p:nvSpPr>
        <p:spPr bwMode="gray">
          <a:xfrm>
            <a:off x="1070539" y="3429000"/>
            <a:ext cx="854514" cy="1045765"/>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a:t>
            </a:r>
            <a:r>
              <a:rPr lang="ja-JP" altLang="en-US" sz="1600" b="1">
                <a:solidFill>
                  <a:schemeClr val="bg1"/>
                </a:solidFill>
              </a:rPr>
              <a:t>②</a:t>
            </a:r>
            <a:endParaRPr kumimoji="1" lang="en-US" altLang="ja-JP" sz="1600" b="1">
              <a:solidFill>
                <a:schemeClr val="bg1"/>
              </a:solidFill>
            </a:endParaRPr>
          </a:p>
        </p:txBody>
      </p:sp>
      <p:sp>
        <p:nvSpPr>
          <p:cNvPr id="5" name="Rectangle 22">
            <a:extLst>
              <a:ext uri="{FF2B5EF4-FFF2-40B4-BE49-F238E27FC236}">
                <a16:creationId xmlns:a16="http://schemas.microsoft.com/office/drawing/2014/main" id="{3A83CFA6-7959-49AA-5B1A-13D59EACA6D9}"/>
              </a:ext>
            </a:extLst>
          </p:cNvPr>
          <p:cNvSpPr>
            <a:spLocks noChangeArrowheads="1"/>
          </p:cNvSpPr>
          <p:nvPr/>
        </p:nvSpPr>
        <p:spPr bwMode="gray">
          <a:xfrm>
            <a:off x="1070539" y="4608398"/>
            <a:ext cx="854514" cy="576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要件③</a:t>
            </a:r>
            <a:endParaRPr kumimoji="1" lang="en-US" altLang="ja-JP" sz="1600" b="1">
              <a:solidFill>
                <a:schemeClr val="bg1"/>
              </a:solidFill>
            </a:endParaRPr>
          </a:p>
        </p:txBody>
      </p:sp>
      <p:sp>
        <p:nvSpPr>
          <p:cNvPr id="7" name="正方形/長方形 6">
            <a:extLst>
              <a:ext uri="{FF2B5EF4-FFF2-40B4-BE49-F238E27FC236}">
                <a16:creationId xmlns:a16="http://schemas.microsoft.com/office/drawing/2014/main" id="{5B105C08-7940-13DB-6D13-74367CA76798}"/>
              </a:ext>
            </a:extLst>
          </p:cNvPr>
          <p:cNvSpPr/>
          <p:nvPr/>
        </p:nvSpPr>
        <p:spPr>
          <a:xfrm>
            <a:off x="2047799" y="4608398"/>
            <a:ext cx="3737702" cy="576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zh-TW" altLang="en-US" sz="1600">
                <a:solidFill>
                  <a:schemeClr val="tx1"/>
                </a:solidFill>
                <a:latin typeface="+mn-ea"/>
                <a:cs typeface="Meiryo UI" panose="020B0604030504040204" pitchFamily="50" charset="-128"/>
              </a:rPr>
              <a:t>他用途</a:t>
            </a:r>
            <a:r>
              <a:rPr lang="ja-JP" altLang="en-US" sz="1600">
                <a:solidFill>
                  <a:schemeClr val="tx1"/>
                </a:solidFill>
                <a:latin typeface="+mn-ea"/>
                <a:cs typeface="Meiryo UI" panose="020B0604030504040204" pitchFamily="50" charset="-128"/>
              </a:rPr>
              <a:t>への</a:t>
            </a:r>
            <a:r>
              <a:rPr lang="zh-TW" altLang="en-US" sz="1600">
                <a:solidFill>
                  <a:schemeClr val="tx1"/>
                </a:solidFill>
                <a:latin typeface="+mn-ea"/>
                <a:cs typeface="Meiryo UI" panose="020B0604030504040204" pitchFamily="50" charset="-128"/>
              </a:rPr>
              <a:t>転用不可 </a:t>
            </a:r>
            <a:r>
              <a:rPr lang="en-US" altLang="zh-TW" sz="1600">
                <a:solidFill>
                  <a:schemeClr val="tx1"/>
                </a:solidFill>
                <a:latin typeface="+mn-ea"/>
                <a:cs typeface="Meiryo UI" panose="020B0604030504040204" pitchFamily="50" charset="-128"/>
              </a:rPr>
              <a:t>+ </a:t>
            </a:r>
            <a:r>
              <a:rPr lang="ja-JP" altLang="en-US" sz="1600">
                <a:solidFill>
                  <a:schemeClr val="tx1"/>
                </a:solidFill>
                <a:latin typeface="+mn-ea"/>
                <a:cs typeface="Meiryo UI" panose="020B0604030504040204" pitchFamily="50" charset="-128"/>
              </a:rPr>
              <a:t>途中でも完了部分の</a:t>
            </a:r>
            <a:r>
              <a:rPr lang="zh-TW" altLang="en-US" sz="1600">
                <a:solidFill>
                  <a:schemeClr val="tx1"/>
                </a:solidFill>
                <a:latin typeface="+mn-ea"/>
                <a:cs typeface="Meiryo UI" panose="020B0604030504040204" pitchFamily="50" charset="-128"/>
              </a:rPr>
              <a:t>対価</a:t>
            </a:r>
            <a:r>
              <a:rPr lang="ja-JP" altLang="en-US" sz="1600">
                <a:solidFill>
                  <a:schemeClr val="tx1"/>
                </a:solidFill>
                <a:latin typeface="+mn-ea"/>
                <a:cs typeface="Meiryo UI" panose="020B0604030504040204" pitchFamily="50" charset="-128"/>
              </a:rPr>
              <a:t>を</a:t>
            </a:r>
            <a:r>
              <a:rPr lang="zh-TW" altLang="en-US" sz="1600">
                <a:solidFill>
                  <a:schemeClr val="tx1"/>
                </a:solidFill>
                <a:latin typeface="+mn-ea"/>
                <a:cs typeface="Meiryo UI" panose="020B0604030504040204" pitchFamily="50" charset="-128"/>
              </a:rPr>
              <a:t>請求</a:t>
            </a:r>
            <a:r>
              <a:rPr lang="ja-JP" altLang="en-US" sz="1600">
                <a:solidFill>
                  <a:schemeClr val="tx1"/>
                </a:solidFill>
                <a:latin typeface="+mn-ea"/>
                <a:cs typeface="Meiryo UI" panose="020B0604030504040204" pitchFamily="50" charset="-128"/>
              </a:rPr>
              <a:t>できる。</a:t>
            </a:r>
            <a:endParaRPr lang="zh-TW" altLang="en-US" sz="1600">
              <a:solidFill>
                <a:schemeClr val="tx1"/>
              </a:solidFill>
              <a:latin typeface="+mn-ea"/>
              <a:cs typeface="Meiryo UI" panose="020B0604030504040204" pitchFamily="50" charset="-128"/>
            </a:endParaRPr>
          </a:p>
        </p:txBody>
      </p:sp>
      <p:sp>
        <p:nvSpPr>
          <p:cNvPr id="8" name="正方形/長方形 7">
            <a:extLst>
              <a:ext uri="{FF2B5EF4-FFF2-40B4-BE49-F238E27FC236}">
                <a16:creationId xmlns:a16="http://schemas.microsoft.com/office/drawing/2014/main" id="{DC4E9417-ED37-7EA6-F2D1-A4BB399965CF}"/>
              </a:ext>
            </a:extLst>
          </p:cNvPr>
          <p:cNvSpPr/>
          <p:nvPr/>
        </p:nvSpPr>
        <p:spPr>
          <a:xfrm>
            <a:off x="2047798" y="3429000"/>
            <a:ext cx="3737703" cy="1045765"/>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履行が資産の生成・価値を増加させ、顧客がそれを支配する</a:t>
            </a:r>
            <a:endParaRPr lang="en-US" altLang="ja-JP" sz="1600">
              <a:solidFill>
                <a:schemeClr val="tx1"/>
              </a:solidFill>
              <a:latin typeface="+mn-ea"/>
              <a:cs typeface="Meiryo UI" panose="020B0604030504040204" pitchFamily="50" charset="-128"/>
            </a:endParaRPr>
          </a:p>
          <a:p>
            <a:pPr eaLnBrk="1" hangingPunct="1"/>
            <a:r>
              <a:rPr lang="ja-JP" altLang="en-US" sz="1600">
                <a:solidFill>
                  <a:schemeClr val="tx1"/>
                </a:solidFill>
                <a:latin typeface="+mn-ea"/>
                <a:cs typeface="Meiryo UI" panose="020B0604030504040204" pitchFamily="50" charset="-128"/>
              </a:rPr>
              <a:t>（例</a:t>
            </a:r>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顧客の建物・敷地内での工事など、未完成でも顧客側の資産の一部になる）</a:t>
            </a:r>
          </a:p>
        </p:txBody>
      </p:sp>
      <p:sp>
        <p:nvSpPr>
          <p:cNvPr id="11" name="テキスト ボックス 10">
            <a:extLst>
              <a:ext uri="{FF2B5EF4-FFF2-40B4-BE49-F238E27FC236}">
                <a16:creationId xmlns:a16="http://schemas.microsoft.com/office/drawing/2014/main" id="{95B42F4B-B31E-6A78-E292-B4E9ECF08AD3}"/>
              </a:ext>
            </a:extLst>
          </p:cNvPr>
          <p:cNvSpPr txBox="1"/>
          <p:nvPr/>
        </p:nvSpPr>
        <p:spPr>
          <a:xfrm>
            <a:off x="1070539" y="5627077"/>
            <a:ext cx="10050920" cy="760076"/>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工事契約については実務上、要件②または要件③を満たすことが多いと考えられます。</a:t>
            </a:r>
          </a:p>
        </p:txBody>
      </p:sp>
      <p:sp>
        <p:nvSpPr>
          <p:cNvPr id="18" name="Rectangle 22">
            <a:extLst>
              <a:ext uri="{FF2B5EF4-FFF2-40B4-BE49-F238E27FC236}">
                <a16:creationId xmlns:a16="http://schemas.microsoft.com/office/drawing/2014/main" id="{5D8F3E4B-29BE-8565-A988-01F8B79FD816}"/>
              </a:ext>
            </a:extLst>
          </p:cNvPr>
          <p:cNvSpPr>
            <a:spLocks noChangeArrowheads="1"/>
          </p:cNvSpPr>
          <p:nvPr/>
        </p:nvSpPr>
        <p:spPr bwMode="gray">
          <a:xfrm>
            <a:off x="1070539" y="2164594"/>
            <a:ext cx="4714964" cy="38662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a:t>
            </a:r>
            <a:endParaRPr kumimoji="1" lang="en-US" altLang="ja-JP" sz="1600" b="1">
              <a:solidFill>
                <a:schemeClr val="bg1"/>
              </a:solidFill>
            </a:endParaRPr>
          </a:p>
        </p:txBody>
      </p:sp>
      <p:sp>
        <p:nvSpPr>
          <p:cNvPr id="20" name="Rectangle 22">
            <a:extLst>
              <a:ext uri="{FF2B5EF4-FFF2-40B4-BE49-F238E27FC236}">
                <a16:creationId xmlns:a16="http://schemas.microsoft.com/office/drawing/2014/main" id="{7A255098-CBC4-788E-3336-21CF3B653B1F}"/>
              </a:ext>
            </a:extLst>
          </p:cNvPr>
          <p:cNvSpPr>
            <a:spLocks noChangeArrowheads="1"/>
          </p:cNvSpPr>
          <p:nvPr/>
        </p:nvSpPr>
        <p:spPr bwMode="gray">
          <a:xfrm>
            <a:off x="7366473" y="2164594"/>
            <a:ext cx="3754987" cy="38662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収益認識時点</a:t>
            </a:r>
            <a:endParaRPr kumimoji="1" lang="en-US" altLang="ja-JP" sz="1600" b="1">
              <a:solidFill>
                <a:schemeClr val="bg1"/>
              </a:solidFill>
            </a:endParaRPr>
          </a:p>
        </p:txBody>
      </p:sp>
      <p:sp>
        <p:nvSpPr>
          <p:cNvPr id="21" name="正方形/長方形 20">
            <a:extLst>
              <a:ext uri="{FF2B5EF4-FFF2-40B4-BE49-F238E27FC236}">
                <a16:creationId xmlns:a16="http://schemas.microsoft.com/office/drawing/2014/main" id="{7938B52F-2B15-AE4C-9D98-C62BECD2AAD4}"/>
              </a:ext>
            </a:extLst>
          </p:cNvPr>
          <p:cNvSpPr/>
          <p:nvPr/>
        </p:nvSpPr>
        <p:spPr>
          <a:xfrm>
            <a:off x="7366474" y="2719366"/>
            <a:ext cx="3754985" cy="810045"/>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履行義務が充足されるとき（一時点）に、一括で収益を認識する。</a:t>
            </a:r>
          </a:p>
        </p:txBody>
      </p:sp>
      <p:sp>
        <p:nvSpPr>
          <p:cNvPr id="22" name="正方形/長方形 21">
            <a:extLst>
              <a:ext uri="{FF2B5EF4-FFF2-40B4-BE49-F238E27FC236}">
                <a16:creationId xmlns:a16="http://schemas.microsoft.com/office/drawing/2014/main" id="{6E782651-861A-4D6F-24F7-4AF082ED432B}"/>
              </a:ext>
            </a:extLst>
          </p:cNvPr>
          <p:cNvSpPr/>
          <p:nvPr/>
        </p:nvSpPr>
        <p:spPr>
          <a:xfrm>
            <a:off x="7366474" y="3761914"/>
            <a:ext cx="3754985" cy="141911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履行義務の充足の</a:t>
            </a:r>
            <a:r>
              <a:rPr lang="ja-JP" altLang="en-US" sz="1600" b="1">
                <a:solidFill>
                  <a:srgbClr val="FF0000"/>
                </a:solidFill>
                <a:latin typeface="+mn-ea"/>
                <a:cs typeface="Meiryo UI" panose="020B0604030504040204" pitchFamily="50" charset="-128"/>
              </a:rPr>
              <a:t>進捗度を見積もり、</a:t>
            </a:r>
            <a:endParaRPr lang="en-US" altLang="ja-JP" sz="1600" b="1">
              <a:solidFill>
                <a:srgbClr val="FF0000"/>
              </a:solidFill>
              <a:latin typeface="+mn-ea"/>
              <a:cs typeface="Meiryo UI" panose="020B0604030504040204" pitchFamily="50" charset="-128"/>
            </a:endParaRPr>
          </a:p>
          <a:p>
            <a:pPr eaLnBrk="1" hangingPunct="1"/>
            <a:r>
              <a:rPr lang="ja-JP" altLang="en-US" sz="1600" b="1">
                <a:solidFill>
                  <a:srgbClr val="FF0000"/>
                </a:solidFill>
                <a:latin typeface="+mn-ea"/>
                <a:cs typeface="Meiryo UI" panose="020B0604030504040204" pitchFamily="50" charset="-128"/>
              </a:rPr>
              <a:t>進捗度に基づき一定期間にわたり収益を認識する</a:t>
            </a:r>
            <a:r>
              <a:rPr lang="ja-JP" altLang="en-US" sz="1600">
                <a:solidFill>
                  <a:schemeClr val="tx1"/>
                </a:solidFill>
                <a:latin typeface="+mn-ea"/>
                <a:cs typeface="Meiryo UI" panose="020B0604030504040204" pitchFamily="50" charset="-128"/>
              </a:rPr>
              <a:t>。</a:t>
            </a:r>
            <a:endParaRPr lang="en-US" altLang="ja-JP" sz="1600">
              <a:solidFill>
                <a:schemeClr val="tx1"/>
              </a:solidFill>
              <a:latin typeface="+mn-ea"/>
              <a:cs typeface="Meiryo UI" panose="020B0604030504040204" pitchFamily="50" charset="-128"/>
            </a:endParaRPr>
          </a:p>
          <a:p>
            <a:pPr eaLnBrk="1" hangingPunct="1"/>
            <a:r>
              <a:rPr lang="ja-JP" altLang="en-US" sz="1600">
                <a:solidFill>
                  <a:schemeClr val="tx1"/>
                </a:solidFill>
                <a:latin typeface="+mn-ea"/>
                <a:cs typeface="Meiryo UI" panose="020B0604030504040204" pitchFamily="50" charset="-128"/>
              </a:rPr>
              <a:t>（いわゆる工事進行基準はこの方法）</a:t>
            </a:r>
          </a:p>
        </p:txBody>
      </p:sp>
      <p:sp>
        <p:nvSpPr>
          <p:cNvPr id="23" name="右大かっこ 22">
            <a:extLst>
              <a:ext uri="{FF2B5EF4-FFF2-40B4-BE49-F238E27FC236}">
                <a16:creationId xmlns:a16="http://schemas.microsoft.com/office/drawing/2014/main" id="{837D41C5-1F58-C34F-7AFE-3544BC4835D5}"/>
              </a:ext>
            </a:extLst>
          </p:cNvPr>
          <p:cNvSpPr/>
          <p:nvPr/>
        </p:nvSpPr>
        <p:spPr>
          <a:xfrm>
            <a:off x="5899527" y="2719366"/>
            <a:ext cx="121831" cy="2465013"/>
          </a:xfrm>
          <a:prstGeom prst="rightBracket">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24" name="直線矢印コネクタ 23">
            <a:extLst>
              <a:ext uri="{FF2B5EF4-FFF2-40B4-BE49-F238E27FC236}">
                <a16:creationId xmlns:a16="http://schemas.microsoft.com/office/drawing/2014/main" id="{E6FEF835-141C-E68F-0824-A0931DA71F32}"/>
              </a:ext>
            </a:extLst>
          </p:cNvPr>
          <p:cNvCxnSpPr>
            <a:cxnSpLocks/>
          </p:cNvCxnSpPr>
          <p:nvPr/>
        </p:nvCxnSpPr>
        <p:spPr>
          <a:xfrm>
            <a:off x="6243575" y="3106292"/>
            <a:ext cx="940825" cy="0"/>
          </a:xfrm>
          <a:prstGeom prst="straightConnector1">
            <a:avLst/>
          </a:prstGeom>
          <a:ln w="38100" cap="rnd">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FAA43496-03EC-1F2D-FE97-3F4F7933498E}"/>
              </a:ext>
            </a:extLst>
          </p:cNvPr>
          <p:cNvSpPr txBox="1"/>
          <p:nvPr/>
        </p:nvSpPr>
        <p:spPr>
          <a:xfrm>
            <a:off x="6403996" y="3163927"/>
            <a:ext cx="726621" cy="265073"/>
          </a:xfrm>
          <a:prstGeom prst="rect">
            <a:avLst/>
          </a:prstGeom>
          <a:noFill/>
        </p:spPr>
        <p:txBody>
          <a:bodyPr wrap="square" lIns="0" tIns="0" rIns="0" bIns="0" rtlCol="0" anchor="ctr">
            <a:spAutoFit/>
          </a:bodyPr>
          <a:lstStyle/>
          <a:p>
            <a:pPr>
              <a:lnSpc>
                <a:spcPct val="120000"/>
              </a:lnSpc>
            </a:pPr>
            <a:r>
              <a:rPr lang="ja-JP" altLang="en-US" sz="1600">
                <a:solidFill>
                  <a:srgbClr val="FF0000"/>
                </a:solidFill>
              </a:rPr>
              <a:t>全部</a:t>
            </a:r>
            <a:r>
              <a:rPr lang="en-US" altLang="ja-JP" sz="1600">
                <a:solidFill>
                  <a:srgbClr val="FF0000"/>
                </a:solidFill>
              </a:rPr>
              <a:t>×</a:t>
            </a:r>
          </a:p>
        </p:txBody>
      </p:sp>
      <p:cxnSp>
        <p:nvCxnSpPr>
          <p:cNvPr id="32" name="直線矢印コネクタ 31">
            <a:extLst>
              <a:ext uri="{FF2B5EF4-FFF2-40B4-BE49-F238E27FC236}">
                <a16:creationId xmlns:a16="http://schemas.microsoft.com/office/drawing/2014/main" id="{A6DB232F-4CAF-E73B-5EDF-C014AA3F7AA5}"/>
              </a:ext>
            </a:extLst>
          </p:cNvPr>
          <p:cNvCxnSpPr>
            <a:cxnSpLocks/>
          </p:cNvCxnSpPr>
          <p:nvPr/>
        </p:nvCxnSpPr>
        <p:spPr>
          <a:xfrm>
            <a:off x="6243575" y="4389799"/>
            <a:ext cx="940825" cy="0"/>
          </a:xfrm>
          <a:prstGeom prst="straightConnector1">
            <a:avLst/>
          </a:prstGeom>
          <a:ln w="38100" cap="rnd">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F63730C5-7B56-E75E-63A9-C1A203807F9C}"/>
              </a:ext>
            </a:extLst>
          </p:cNvPr>
          <p:cNvSpPr txBox="1"/>
          <p:nvPr/>
        </p:nvSpPr>
        <p:spPr>
          <a:xfrm>
            <a:off x="6208706" y="4447434"/>
            <a:ext cx="1071161" cy="265073"/>
          </a:xfrm>
          <a:prstGeom prst="rect">
            <a:avLst/>
          </a:prstGeom>
          <a:noFill/>
        </p:spPr>
        <p:txBody>
          <a:bodyPr wrap="square" lIns="0" tIns="0" rIns="0" bIns="0" rtlCol="0" anchor="ctr">
            <a:spAutoFit/>
          </a:bodyPr>
          <a:lstStyle/>
          <a:p>
            <a:pPr>
              <a:lnSpc>
                <a:spcPct val="120000"/>
              </a:lnSpc>
            </a:pPr>
            <a:r>
              <a:rPr lang="ja-JP" altLang="en-US" sz="1600">
                <a:solidFill>
                  <a:srgbClr val="FF0000"/>
                </a:solidFill>
              </a:rPr>
              <a:t>いずれか○</a:t>
            </a:r>
            <a:endParaRPr lang="en-US" altLang="ja-JP" sz="1600">
              <a:solidFill>
                <a:srgbClr val="FF0000"/>
              </a:solidFill>
            </a:endParaRPr>
          </a:p>
        </p:txBody>
      </p:sp>
    </p:spTree>
    <p:extLst>
      <p:ext uri="{BB962C8B-B14F-4D97-AF65-F5344CB8AC3E}">
        <p14:creationId xmlns:p14="http://schemas.microsoft.com/office/powerpoint/2010/main" val="1458605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70E8-346B-6174-384D-DA7003A07C8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DA67845-4294-1808-E84E-EE52B829D93D}"/>
              </a:ext>
            </a:extLst>
          </p:cNvPr>
          <p:cNvSpPr>
            <a:spLocks noGrp="1"/>
          </p:cNvSpPr>
          <p:nvPr>
            <p:ph type="title"/>
          </p:nvPr>
        </p:nvSpPr>
        <p:spPr>
          <a:xfrm>
            <a:off x="660000" y="365508"/>
            <a:ext cx="6262093" cy="371961"/>
          </a:xfrm>
        </p:spPr>
        <p:txBody>
          <a:bodyPr vert="horz" lIns="0" tIns="36000" rIns="0" bIns="0" rtlCol="0" anchor="ctr">
            <a:noAutofit/>
          </a:bodyPr>
          <a:lstStyle/>
          <a:p>
            <a:r>
              <a:rPr lang="en-US" altLang="ja-JP"/>
              <a:t>3-6.</a:t>
            </a:r>
            <a:r>
              <a:rPr lang="ja-JP" altLang="en-US"/>
              <a:t>工事進行基準の適用②（進捗度の測定方法）</a:t>
            </a:r>
            <a:endParaRPr lang="ja-JP" altLang="en-US">
              <a:cs typeface="Segoe UI"/>
            </a:endParaRPr>
          </a:p>
        </p:txBody>
      </p:sp>
      <p:sp>
        <p:nvSpPr>
          <p:cNvPr id="10" name="テキスト プレースホルダー 3">
            <a:extLst>
              <a:ext uri="{FF2B5EF4-FFF2-40B4-BE49-F238E27FC236}">
                <a16:creationId xmlns:a16="http://schemas.microsoft.com/office/drawing/2014/main" id="{1036D160-3A66-2A41-07A5-829EA4D28255}"/>
              </a:ext>
            </a:extLst>
          </p:cNvPr>
          <p:cNvSpPr txBox="1">
            <a:spLocks/>
          </p:cNvSpPr>
          <p:nvPr/>
        </p:nvSpPr>
        <p:spPr>
          <a:xfrm>
            <a:off x="659999" y="911921"/>
            <a:ext cx="11260151" cy="746658"/>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工事進行基準では進捗度に基づき収益を認識するため、進捗度を合理的に見積もることができない場合には収益認識ができないことから、進捗度の測定方法・見積もりの精度が非常に重要です。</a:t>
            </a:r>
            <a:endParaRPr lang="en-US" altLang="ja-JP"/>
          </a:p>
        </p:txBody>
      </p:sp>
      <p:sp>
        <p:nvSpPr>
          <p:cNvPr id="29" name="正方形/長方形 28">
            <a:extLst>
              <a:ext uri="{FF2B5EF4-FFF2-40B4-BE49-F238E27FC236}">
                <a16:creationId xmlns:a16="http://schemas.microsoft.com/office/drawing/2014/main" id="{B51EA8D1-6BA4-70BB-048F-07DB31B45B84}"/>
              </a:ext>
            </a:extLst>
          </p:cNvPr>
          <p:cNvSpPr/>
          <p:nvPr/>
        </p:nvSpPr>
        <p:spPr>
          <a:xfrm>
            <a:off x="2047798" y="2676630"/>
            <a:ext cx="4447193" cy="70963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顧客にとっての価値を直接見積もることができる指標に基づいて進捗度を測定する方法</a:t>
            </a:r>
          </a:p>
        </p:txBody>
      </p:sp>
      <p:sp>
        <p:nvSpPr>
          <p:cNvPr id="2" name="Rectangle 22">
            <a:extLst>
              <a:ext uri="{FF2B5EF4-FFF2-40B4-BE49-F238E27FC236}">
                <a16:creationId xmlns:a16="http://schemas.microsoft.com/office/drawing/2014/main" id="{FE27CA33-DDA7-1539-9A5E-395C022AED9B}"/>
              </a:ext>
            </a:extLst>
          </p:cNvPr>
          <p:cNvSpPr>
            <a:spLocks noChangeArrowheads="1"/>
          </p:cNvSpPr>
          <p:nvPr/>
        </p:nvSpPr>
        <p:spPr bwMode="gray">
          <a:xfrm>
            <a:off x="1070539" y="2676630"/>
            <a:ext cx="854514" cy="709633"/>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内容</a:t>
            </a:r>
            <a:endParaRPr kumimoji="1" lang="en-US" altLang="ja-JP" sz="1600" b="1">
              <a:solidFill>
                <a:schemeClr val="bg1"/>
              </a:solidFill>
            </a:endParaRPr>
          </a:p>
        </p:txBody>
      </p:sp>
      <p:sp>
        <p:nvSpPr>
          <p:cNvPr id="4" name="Rectangle 22">
            <a:extLst>
              <a:ext uri="{FF2B5EF4-FFF2-40B4-BE49-F238E27FC236}">
                <a16:creationId xmlns:a16="http://schemas.microsoft.com/office/drawing/2014/main" id="{1D67E6D1-DE90-887B-5ECE-EB30D98F66BE}"/>
              </a:ext>
            </a:extLst>
          </p:cNvPr>
          <p:cNvSpPr>
            <a:spLocks noChangeArrowheads="1"/>
          </p:cNvSpPr>
          <p:nvPr/>
        </p:nvSpPr>
        <p:spPr bwMode="gray">
          <a:xfrm>
            <a:off x="1070539" y="3535115"/>
            <a:ext cx="854514" cy="1624333"/>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指標例</a:t>
            </a:r>
            <a:endParaRPr kumimoji="1" lang="en-US" altLang="ja-JP" sz="1600" b="1">
              <a:solidFill>
                <a:schemeClr val="bg1"/>
              </a:solidFill>
            </a:endParaRPr>
          </a:p>
        </p:txBody>
      </p:sp>
      <p:sp>
        <p:nvSpPr>
          <p:cNvPr id="8" name="正方形/長方形 7">
            <a:extLst>
              <a:ext uri="{FF2B5EF4-FFF2-40B4-BE49-F238E27FC236}">
                <a16:creationId xmlns:a16="http://schemas.microsoft.com/office/drawing/2014/main" id="{DC4E9417-ED37-7EA6-F2D1-A4BB399965CF}"/>
              </a:ext>
            </a:extLst>
          </p:cNvPr>
          <p:cNvSpPr/>
          <p:nvPr/>
        </p:nvSpPr>
        <p:spPr>
          <a:xfrm>
            <a:off x="2047799" y="3535115"/>
            <a:ext cx="4447192" cy="1631496"/>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達成した成果の評価</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達成したマイルストーン</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経過期間</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生産単位数</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引渡単位数など</a:t>
            </a:r>
            <a:endParaRPr lang="en-US" altLang="ja-JP" sz="1600">
              <a:solidFill>
                <a:schemeClr val="tx1"/>
              </a:solidFill>
              <a:latin typeface="+mn-ea"/>
              <a:cs typeface="Meiryo UI" panose="020B0604030504040204" pitchFamily="50" charset="-128"/>
            </a:endParaRPr>
          </a:p>
        </p:txBody>
      </p:sp>
      <p:sp>
        <p:nvSpPr>
          <p:cNvPr id="11" name="テキスト ボックス 10">
            <a:extLst>
              <a:ext uri="{FF2B5EF4-FFF2-40B4-BE49-F238E27FC236}">
                <a16:creationId xmlns:a16="http://schemas.microsoft.com/office/drawing/2014/main" id="{95B42F4B-B31E-6A78-E292-B4E9ECF08AD3}"/>
              </a:ext>
            </a:extLst>
          </p:cNvPr>
          <p:cNvSpPr txBox="1"/>
          <p:nvPr/>
        </p:nvSpPr>
        <p:spPr>
          <a:xfrm>
            <a:off x="1070539" y="5627077"/>
            <a:ext cx="10050915" cy="760076"/>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工事契約では見積総原価（コスト）に基づく、原価比例方式を採用しているケースが一般的であり、</a:t>
            </a:r>
            <a:endParaRPr lang="en-US" altLang="ja-JP" sz="1600" b="1">
              <a:solidFill>
                <a:schemeClr val="accent1"/>
              </a:solidFill>
            </a:endParaRPr>
          </a:p>
          <a:p>
            <a:pPr marL="0" indent="0" algn="ctr">
              <a:buNone/>
            </a:pPr>
            <a:r>
              <a:rPr lang="ja-JP" altLang="en-US" sz="1600" b="1">
                <a:solidFill>
                  <a:schemeClr val="accent1"/>
                </a:solidFill>
              </a:rPr>
              <a:t>売上計上にあたっては、大前提となる見積総原価が合理的に見積もられている必要があります。</a:t>
            </a:r>
            <a:endParaRPr lang="en-US" altLang="ja-JP" sz="1600" b="1">
              <a:solidFill>
                <a:schemeClr val="accent1"/>
              </a:solidFill>
            </a:endParaRPr>
          </a:p>
        </p:txBody>
      </p:sp>
      <p:sp>
        <p:nvSpPr>
          <p:cNvPr id="18" name="Rectangle 22">
            <a:extLst>
              <a:ext uri="{FF2B5EF4-FFF2-40B4-BE49-F238E27FC236}">
                <a16:creationId xmlns:a16="http://schemas.microsoft.com/office/drawing/2014/main" id="{5D8F3E4B-29BE-8565-A988-01F8B79FD816}"/>
              </a:ext>
            </a:extLst>
          </p:cNvPr>
          <p:cNvSpPr>
            <a:spLocks noChangeArrowheads="1"/>
          </p:cNvSpPr>
          <p:nvPr/>
        </p:nvSpPr>
        <p:spPr bwMode="gray">
          <a:xfrm>
            <a:off x="2047796" y="2160922"/>
            <a:ext cx="4447195" cy="38662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アウトプット法</a:t>
            </a:r>
            <a:endParaRPr kumimoji="1" lang="en-US" altLang="ja-JP" sz="1600" b="1">
              <a:solidFill>
                <a:schemeClr val="bg1"/>
              </a:solidFill>
            </a:endParaRPr>
          </a:p>
        </p:txBody>
      </p:sp>
      <p:sp>
        <p:nvSpPr>
          <p:cNvPr id="20" name="Rectangle 22">
            <a:extLst>
              <a:ext uri="{FF2B5EF4-FFF2-40B4-BE49-F238E27FC236}">
                <a16:creationId xmlns:a16="http://schemas.microsoft.com/office/drawing/2014/main" id="{7A255098-CBC4-788E-3336-21CF3B653B1F}"/>
              </a:ext>
            </a:extLst>
          </p:cNvPr>
          <p:cNvSpPr>
            <a:spLocks noChangeArrowheads="1"/>
          </p:cNvSpPr>
          <p:nvPr/>
        </p:nvSpPr>
        <p:spPr bwMode="gray">
          <a:xfrm>
            <a:off x="6674266" y="2160921"/>
            <a:ext cx="4447196" cy="38662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インプット法</a:t>
            </a:r>
            <a:endParaRPr kumimoji="1" lang="en-US" altLang="ja-JP" sz="1600" b="1">
              <a:solidFill>
                <a:schemeClr val="bg1"/>
              </a:solidFill>
            </a:endParaRPr>
          </a:p>
        </p:txBody>
      </p:sp>
      <p:sp>
        <p:nvSpPr>
          <p:cNvPr id="21" name="正方形/長方形 20">
            <a:extLst>
              <a:ext uri="{FF2B5EF4-FFF2-40B4-BE49-F238E27FC236}">
                <a16:creationId xmlns:a16="http://schemas.microsoft.com/office/drawing/2014/main" id="{7938B52F-2B15-AE4C-9D98-C62BECD2AAD4}"/>
              </a:ext>
            </a:extLst>
          </p:cNvPr>
          <p:cNvSpPr/>
          <p:nvPr/>
        </p:nvSpPr>
        <p:spPr>
          <a:xfrm>
            <a:off x="6674262" y="2676630"/>
            <a:ext cx="4447197" cy="70963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費やしたインプットが予想される合計に占める割合に基づいて進捗度を測定する方法</a:t>
            </a:r>
          </a:p>
        </p:txBody>
      </p:sp>
      <p:sp>
        <p:nvSpPr>
          <p:cNvPr id="22" name="正方形/長方形 21">
            <a:extLst>
              <a:ext uri="{FF2B5EF4-FFF2-40B4-BE49-F238E27FC236}">
                <a16:creationId xmlns:a16="http://schemas.microsoft.com/office/drawing/2014/main" id="{6E782651-861A-4D6F-24F7-4AF082ED432B}"/>
              </a:ext>
            </a:extLst>
          </p:cNvPr>
          <p:cNvSpPr/>
          <p:nvPr/>
        </p:nvSpPr>
        <p:spPr>
          <a:xfrm>
            <a:off x="6674262" y="3525228"/>
            <a:ext cx="4447192" cy="1628566"/>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消費した資源</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発生した労働時間</a:t>
            </a:r>
            <a:endParaRPr lang="en-US" altLang="ja-JP" sz="1600">
              <a:solidFill>
                <a:schemeClr val="tx1"/>
              </a:solidFill>
              <a:latin typeface="+mn-ea"/>
              <a:cs typeface="Meiryo UI" panose="020B0604030504040204" pitchFamily="50" charset="-128"/>
            </a:endParaRPr>
          </a:p>
          <a:p>
            <a:pPr marL="285750" indent="-285750" eaLnBrk="1" hangingPunct="1">
              <a:buClr>
                <a:schemeClr val="tx1"/>
              </a:buClr>
              <a:buFont typeface="Wingdings" panose="05000000000000000000" pitchFamily="2" charset="2"/>
              <a:buChar char="Ø"/>
            </a:pPr>
            <a:r>
              <a:rPr lang="ja-JP" altLang="en-US" sz="1600" b="1">
                <a:solidFill>
                  <a:srgbClr val="FF0000"/>
                </a:solidFill>
                <a:latin typeface="+mn-ea"/>
                <a:cs typeface="Meiryo UI" panose="020B0604030504040204" pitchFamily="50" charset="-128"/>
              </a:rPr>
              <a:t>発生したコスト</a:t>
            </a:r>
            <a:endParaRPr lang="en-US" altLang="ja-JP" sz="1600" b="1">
              <a:solidFill>
                <a:srgbClr val="FF0000"/>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経過期間</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機械使用時間など</a:t>
            </a:r>
          </a:p>
        </p:txBody>
      </p:sp>
    </p:spTree>
    <p:extLst>
      <p:ext uri="{BB962C8B-B14F-4D97-AF65-F5344CB8AC3E}">
        <p14:creationId xmlns:p14="http://schemas.microsoft.com/office/powerpoint/2010/main" val="439328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70E8-346B-6174-384D-DA7003A07C8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DA67845-4294-1808-E84E-EE52B829D93D}"/>
              </a:ext>
            </a:extLst>
          </p:cNvPr>
          <p:cNvSpPr>
            <a:spLocks noGrp="1"/>
          </p:cNvSpPr>
          <p:nvPr>
            <p:ph type="title"/>
          </p:nvPr>
        </p:nvSpPr>
        <p:spPr>
          <a:xfrm>
            <a:off x="660000" y="365508"/>
            <a:ext cx="7355955" cy="371961"/>
          </a:xfrm>
        </p:spPr>
        <p:txBody>
          <a:bodyPr>
            <a:normAutofit/>
          </a:bodyPr>
          <a:lstStyle/>
          <a:p>
            <a:r>
              <a:rPr lang="en-US" altLang="ja-JP"/>
              <a:t>3-6.</a:t>
            </a:r>
            <a:r>
              <a:rPr lang="ja-JP" altLang="en-US"/>
              <a:t>工事進行基準の適用③（原価の見積もり・集計漏れの影響）</a:t>
            </a:r>
            <a:endParaRPr lang="ja-JP" altLang="en-US">
              <a:cs typeface="Segoe UI"/>
            </a:endParaRPr>
          </a:p>
        </p:txBody>
      </p:sp>
      <p:sp>
        <p:nvSpPr>
          <p:cNvPr id="10" name="テキスト プレースホルダー 3">
            <a:extLst>
              <a:ext uri="{FF2B5EF4-FFF2-40B4-BE49-F238E27FC236}">
                <a16:creationId xmlns:a16="http://schemas.microsoft.com/office/drawing/2014/main" id="{1036D160-3A66-2A41-07A5-829EA4D28255}"/>
              </a:ext>
            </a:extLst>
          </p:cNvPr>
          <p:cNvSpPr txBox="1">
            <a:spLocks/>
          </p:cNvSpPr>
          <p:nvPr/>
        </p:nvSpPr>
        <p:spPr>
          <a:xfrm>
            <a:off x="659999" y="911921"/>
            <a:ext cx="11260151" cy="746658"/>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進捗度を原価比例方式で測定している場合、計算要素に含まれる見積総原価及び発生原価の双方により売上計上額が影響を受けるため、見積総原価の精度及び発生原価の集計が極めて重要です。</a:t>
            </a:r>
          </a:p>
          <a:p>
            <a:endParaRPr lang="en-US" altLang="ja-JP"/>
          </a:p>
        </p:txBody>
      </p:sp>
      <p:sp>
        <p:nvSpPr>
          <p:cNvPr id="2" name="Rectangle 22">
            <a:extLst>
              <a:ext uri="{FF2B5EF4-FFF2-40B4-BE49-F238E27FC236}">
                <a16:creationId xmlns:a16="http://schemas.microsoft.com/office/drawing/2014/main" id="{FE27CA33-DDA7-1539-9A5E-395C022AED9B}"/>
              </a:ext>
            </a:extLst>
          </p:cNvPr>
          <p:cNvSpPr>
            <a:spLocks noChangeArrowheads="1"/>
          </p:cNvSpPr>
          <p:nvPr/>
        </p:nvSpPr>
        <p:spPr bwMode="gray">
          <a:xfrm>
            <a:off x="1070539" y="2348739"/>
            <a:ext cx="1558372" cy="93494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本来</a:t>
            </a:r>
            <a:endParaRPr kumimoji="1" lang="en-US" altLang="ja-JP" sz="1600" b="1">
              <a:solidFill>
                <a:schemeClr val="bg1"/>
              </a:solidFill>
            </a:endParaRPr>
          </a:p>
        </p:txBody>
      </p:sp>
      <p:sp>
        <p:nvSpPr>
          <p:cNvPr id="18" name="Rectangle 22">
            <a:extLst>
              <a:ext uri="{FF2B5EF4-FFF2-40B4-BE49-F238E27FC236}">
                <a16:creationId xmlns:a16="http://schemas.microsoft.com/office/drawing/2014/main" id="{5D8F3E4B-29BE-8565-A988-01F8B79FD816}"/>
              </a:ext>
            </a:extLst>
          </p:cNvPr>
          <p:cNvSpPr>
            <a:spLocks noChangeArrowheads="1"/>
          </p:cNvSpPr>
          <p:nvPr/>
        </p:nvSpPr>
        <p:spPr bwMode="gray">
          <a:xfrm>
            <a:off x="2766509" y="1833031"/>
            <a:ext cx="7822852" cy="386629"/>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計算方法</a:t>
            </a:r>
            <a:endParaRPr kumimoji="1" lang="en-US" altLang="ja-JP" sz="1600" b="1">
              <a:solidFill>
                <a:schemeClr val="bg1"/>
              </a:solidFill>
            </a:endParaRPr>
          </a:p>
        </p:txBody>
      </p:sp>
      <p:grpSp>
        <p:nvGrpSpPr>
          <p:cNvPr id="41" name="グループ化 40">
            <a:extLst>
              <a:ext uri="{FF2B5EF4-FFF2-40B4-BE49-F238E27FC236}">
                <a16:creationId xmlns:a16="http://schemas.microsoft.com/office/drawing/2014/main" id="{74DACA10-F2F3-73D7-EB13-53676FBB85A4}"/>
              </a:ext>
            </a:extLst>
          </p:cNvPr>
          <p:cNvGrpSpPr/>
          <p:nvPr/>
        </p:nvGrpSpPr>
        <p:grpSpPr>
          <a:xfrm>
            <a:off x="2766509" y="2348738"/>
            <a:ext cx="2165280" cy="934943"/>
            <a:chOff x="3372396" y="2676629"/>
            <a:chExt cx="2165280" cy="709633"/>
          </a:xfrm>
        </p:grpSpPr>
        <p:sp>
          <p:nvSpPr>
            <p:cNvPr id="35" name="正方形/長方形 34">
              <a:extLst>
                <a:ext uri="{FF2B5EF4-FFF2-40B4-BE49-F238E27FC236}">
                  <a16:creationId xmlns:a16="http://schemas.microsoft.com/office/drawing/2014/main" id="{1EBFD6E8-BB24-4B68-A87D-3CFB6A49C201}"/>
                </a:ext>
              </a:extLst>
            </p:cNvPr>
            <p:cNvSpPr/>
            <p:nvPr/>
          </p:nvSpPr>
          <p:spPr>
            <a:xfrm>
              <a:off x="3372396" y="2676629"/>
              <a:ext cx="2165280" cy="709633"/>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進捗度</a:t>
              </a:r>
              <a:r>
                <a:rPr lang="en-US" altLang="ja-JP" sz="1600">
                  <a:solidFill>
                    <a:schemeClr val="tx1"/>
                  </a:solidFill>
                  <a:latin typeface="+mn-ea"/>
                  <a:cs typeface="Meiryo UI" panose="020B0604030504040204" pitchFamily="50" charset="-128"/>
                </a:rPr>
                <a:t>】</a:t>
              </a:r>
            </a:p>
            <a:p>
              <a:pPr algn="ctr" eaLnBrk="1" hangingPunct="1"/>
              <a:endParaRPr lang="en-US" altLang="ja-JP" sz="8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発生原価</a:t>
              </a:r>
              <a:endParaRPr lang="en-US" altLang="ja-JP" sz="16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見積総原価</a:t>
              </a:r>
            </a:p>
          </p:txBody>
        </p:sp>
        <p:cxnSp>
          <p:nvCxnSpPr>
            <p:cNvPr id="37" name="直線コネクタ 36">
              <a:extLst>
                <a:ext uri="{FF2B5EF4-FFF2-40B4-BE49-F238E27FC236}">
                  <a16:creationId xmlns:a16="http://schemas.microsoft.com/office/drawing/2014/main" id="{F5AB7DE2-172D-9655-E4ED-0F585E1F5D68}"/>
                </a:ext>
              </a:extLst>
            </p:cNvPr>
            <p:cNvCxnSpPr>
              <a:cxnSpLocks/>
            </p:cNvCxnSpPr>
            <p:nvPr/>
          </p:nvCxnSpPr>
          <p:spPr>
            <a:xfrm>
              <a:off x="3837062" y="3175742"/>
              <a:ext cx="123914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42" name="正方形/長方形 41">
            <a:extLst>
              <a:ext uri="{FF2B5EF4-FFF2-40B4-BE49-F238E27FC236}">
                <a16:creationId xmlns:a16="http://schemas.microsoft.com/office/drawing/2014/main" id="{0E02427C-49F6-784E-3A3B-28C5597D7578}"/>
              </a:ext>
            </a:extLst>
          </p:cNvPr>
          <p:cNvSpPr/>
          <p:nvPr/>
        </p:nvSpPr>
        <p:spPr>
          <a:xfrm>
            <a:off x="5530083" y="2348739"/>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受注総額</a:t>
            </a:r>
          </a:p>
        </p:txBody>
      </p:sp>
      <p:sp>
        <p:nvSpPr>
          <p:cNvPr id="44" name="正方形/長方形 43">
            <a:extLst>
              <a:ext uri="{FF2B5EF4-FFF2-40B4-BE49-F238E27FC236}">
                <a16:creationId xmlns:a16="http://schemas.microsoft.com/office/drawing/2014/main" id="{40388D18-2914-4FD9-3366-D826C2C11E4A}"/>
              </a:ext>
            </a:extLst>
          </p:cNvPr>
          <p:cNvSpPr/>
          <p:nvPr/>
        </p:nvSpPr>
        <p:spPr>
          <a:xfrm>
            <a:off x="8416401" y="2348739"/>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売上計上額</a:t>
            </a:r>
          </a:p>
        </p:txBody>
      </p:sp>
      <p:sp>
        <p:nvSpPr>
          <p:cNvPr id="45" name="乗算記号 44">
            <a:extLst>
              <a:ext uri="{FF2B5EF4-FFF2-40B4-BE49-F238E27FC236}">
                <a16:creationId xmlns:a16="http://schemas.microsoft.com/office/drawing/2014/main" id="{6A9429F5-CDC2-7456-D176-D0769FD39A62}"/>
              </a:ext>
            </a:extLst>
          </p:cNvPr>
          <p:cNvSpPr/>
          <p:nvPr/>
        </p:nvSpPr>
        <p:spPr>
          <a:xfrm>
            <a:off x="5086695" y="2665016"/>
            <a:ext cx="340073" cy="340073"/>
          </a:xfrm>
          <a:prstGeom prst="mathMultiply">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47" name="次の値と等しい 46">
            <a:extLst>
              <a:ext uri="{FF2B5EF4-FFF2-40B4-BE49-F238E27FC236}">
                <a16:creationId xmlns:a16="http://schemas.microsoft.com/office/drawing/2014/main" id="{95A30193-687B-3CB4-5668-57D11205F8FB}"/>
              </a:ext>
            </a:extLst>
          </p:cNvPr>
          <p:cNvSpPr/>
          <p:nvPr/>
        </p:nvSpPr>
        <p:spPr>
          <a:xfrm>
            <a:off x="7885845" y="2665016"/>
            <a:ext cx="340073" cy="340073"/>
          </a:xfrm>
          <a:prstGeom prst="mathEqual">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1" name="テキスト ボックス 70">
            <a:extLst>
              <a:ext uri="{FF2B5EF4-FFF2-40B4-BE49-F238E27FC236}">
                <a16:creationId xmlns:a16="http://schemas.microsoft.com/office/drawing/2014/main" id="{661BED15-1B84-8427-7AE5-01B2FAE52B42}"/>
              </a:ext>
            </a:extLst>
          </p:cNvPr>
          <p:cNvSpPr txBox="1"/>
          <p:nvPr/>
        </p:nvSpPr>
        <p:spPr>
          <a:xfrm>
            <a:off x="1070539" y="5627076"/>
            <a:ext cx="10050920" cy="865415"/>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見積総原価については常に最新の見積もりを反映する必要があります。</a:t>
            </a:r>
            <a:endParaRPr lang="en-US" altLang="ja-JP" sz="1600" b="1">
              <a:solidFill>
                <a:schemeClr val="accent1"/>
              </a:solidFill>
            </a:endParaRPr>
          </a:p>
          <a:p>
            <a:pPr marL="0" indent="0" algn="ctr">
              <a:buNone/>
            </a:pPr>
            <a:r>
              <a:rPr lang="ja-JP" altLang="en-US" sz="1600" b="1">
                <a:solidFill>
                  <a:schemeClr val="accent1"/>
                </a:solidFill>
              </a:rPr>
              <a:t>受注時のみならず、定期的な見直しの要否も含めた継続的なモニタリング、</a:t>
            </a:r>
            <a:endParaRPr lang="en-US" altLang="ja-JP" sz="1600" b="1">
              <a:solidFill>
                <a:schemeClr val="accent1"/>
              </a:solidFill>
            </a:endParaRPr>
          </a:p>
          <a:p>
            <a:pPr marL="0" indent="0" algn="ctr">
              <a:buNone/>
            </a:pPr>
            <a:r>
              <a:rPr lang="ja-JP" altLang="en-US" sz="1600" b="1">
                <a:solidFill>
                  <a:schemeClr val="accent1"/>
                </a:solidFill>
              </a:rPr>
              <a:t>正確な発生原価の集計に係るチェックの徹底をお願いします。</a:t>
            </a:r>
          </a:p>
        </p:txBody>
      </p:sp>
      <p:sp>
        <p:nvSpPr>
          <p:cNvPr id="4" name="Rectangle 22">
            <a:extLst>
              <a:ext uri="{FF2B5EF4-FFF2-40B4-BE49-F238E27FC236}">
                <a16:creationId xmlns:a16="http://schemas.microsoft.com/office/drawing/2014/main" id="{D61ACE81-32E1-0E0C-2AA1-0299DB47B027}"/>
              </a:ext>
            </a:extLst>
          </p:cNvPr>
          <p:cNvSpPr>
            <a:spLocks noChangeArrowheads="1"/>
          </p:cNvSpPr>
          <p:nvPr/>
        </p:nvSpPr>
        <p:spPr bwMode="gray">
          <a:xfrm>
            <a:off x="1070539" y="3412762"/>
            <a:ext cx="1558372" cy="93494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①発生原価</a:t>
            </a:r>
            <a:endParaRPr lang="en-US" altLang="ja-JP" sz="1600" b="1">
              <a:solidFill>
                <a:schemeClr val="bg1"/>
              </a:solidFill>
            </a:endParaRPr>
          </a:p>
          <a:p>
            <a:pPr marL="177795" indent="-177795" algn="ctr">
              <a:spcBef>
                <a:spcPts val="331"/>
              </a:spcBef>
            </a:pPr>
            <a:r>
              <a:rPr lang="ja-JP" altLang="en-US" sz="1600" b="1">
                <a:solidFill>
                  <a:schemeClr val="bg1"/>
                </a:solidFill>
              </a:rPr>
              <a:t>過大</a:t>
            </a:r>
            <a:endParaRPr lang="en-US" altLang="ja-JP" sz="1600" b="1">
              <a:solidFill>
                <a:schemeClr val="bg1"/>
              </a:solidFill>
            </a:endParaRPr>
          </a:p>
        </p:txBody>
      </p:sp>
      <p:grpSp>
        <p:nvGrpSpPr>
          <p:cNvPr id="5" name="グループ化 4">
            <a:extLst>
              <a:ext uri="{FF2B5EF4-FFF2-40B4-BE49-F238E27FC236}">
                <a16:creationId xmlns:a16="http://schemas.microsoft.com/office/drawing/2014/main" id="{CA2EE9E0-3E8B-CE30-D2A3-283CC1298428}"/>
              </a:ext>
            </a:extLst>
          </p:cNvPr>
          <p:cNvGrpSpPr/>
          <p:nvPr/>
        </p:nvGrpSpPr>
        <p:grpSpPr>
          <a:xfrm>
            <a:off x="2766509" y="3412761"/>
            <a:ext cx="2165280" cy="934943"/>
            <a:chOff x="3372396" y="2676629"/>
            <a:chExt cx="2165280" cy="709633"/>
          </a:xfrm>
        </p:grpSpPr>
        <p:sp>
          <p:nvSpPr>
            <p:cNvPr id="6" name="正方形/長方形 5">
              <a:extLst>
                <a:ext uri="{FF2B5EF4-FFF2-40B4-BE49-F238E27FC236}">
                  <a16:creationId xmlns:a16="http://schemas.microsoft.com/office/drawing/2014/main" id="{02C51EC4-868F-0D85-EAEC-75AE69F0E541}"/>
                </a:ext>
              </a:extLst>
            </p:cNvPr>
            <p:cNvSpPr/>
            <p:nvPr/>
          </p:nvSpPr>
          <p:spPr>
            <a:xfrm>
              <a:off x="3372396" y="2676629"/>
              <a:ext cx="2165280" cy="709633"/>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進捗度</a:t>
              </a:r>
              <a:r>
                <a:rPr lang="en-US" altLang="ja-JP" sz="1600">
                  <a:solidFill>
                    <a:schemeClr val="tx1"/>
                  </a:solidFill>
                  <a:latin typeface="+mn-ea"/>
                  <a:cs typeface="Meiryo UI" panose="020B0604030504040204" pitchFamily="50" charset="-128"/>
                </a:rPr>
                <a:t>】</a:t>
              </a:r>
            </a:p>
            <a:p>
              <a:pPr algn="ctr" eaLnBrk="1" hangingPunct="1"/>
              <a:endParaRPr lang="en-US" altLang="ja-JP" sz="8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発生原価</a:t>
              </a:r>
              <a:endParaRPr lang="en-US" altLang="ja-JP" sz="16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見積総原価</a:t>
              </a:r>
            </a:p>
          </p:txBody>
        </p:sp>
        <p:cxnSp>
          <p:nvCxnSpPr>
            <p:cNvPr id="7" name="直線コネクタ 6">
              <a:extLst>
                <a:ext uri="{FF2B5EF4-FFF2-40B4-BE49-F238E27FC236}">
                  <a16:creationId xmlns:a16="http://schemas.microsoft.com/office/drawing/2014/main" id="{037C02DB-A082-2080-4A9D-1AD4E6A2D7DD}"/>
                </a:ext>
              </a:extLst>
            </p:cNvPr>
            <p:cNvCxnSpPr>
              <a:cxnSpLocks/>
            </p:cNvCxnSpPr>
            <p:nvPr/>
          </p:nvCxnSpPr>
          <p:spPr>
            <a:xfrm>
              <a:off x="3837062" y="3175742"/>
              <a:ext cx="123914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8" name="正方形/長方形 7">
            <a:extLst>
              <a:ext uri="{FF2B5EF4-FFF2-40B4-BE49-F238E27FC236}">
                <a16:creationId xmlns:a16="http://schemas.microsoft.com/office/drawing/2014/main" id="{319A5411-228D-BA77-4187-D7B37B284CD0}"/>
              </a:ext>
            </a:extLst>
          </p:cNvPr>
          <p:cNvSpPr/>
          <p:nvPr/>
        </p:nvSpPr>
        <p:spPr>
          <a:xfrm>
            <a:off x="5530083" y="3412762"/>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受注総額</a:t>
            </a:r>
          </a:p>
        </p:txBody>
      </p:sp>
      <p:sp>
        <p:nvSpPr>
          <p:cNvPr id="9" name="正方形/長方形 8">
            <a:extLst>
              <a:ext uri="{FF2B5EF4-FFF2-40B4-BE49-F238E27FC236}">
                <a16:creationId xmlns:a16="http://schemas.microsoft.com/office/drawing/2014/main" id="{0B3676C9-EC72-2EAD-2437-D1DE0DC175D6}"/>
              </a:ext>
            </a:extLst>
          </p:cNvPr>
          <p:cNvSpPr/>
          <p:nvPr/>
        </p:nvSpPr>
        <p:spPr>
          <a:xfrm>
            <a:off x="8416401" y="3412762"/>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売上計上額</a:t>
            </a:r>
          </a:p>
        </p:txBody>
      </p:sp>
      <p:sp>
        <p:nvSpPr>
          <p:cNvPr id="11" name="乗算記号 10">
            <a:extLst>
              <a:ext uri="{FF2B5EF4-FFF2-40B4-BE49-F238E27FC236}">
                <a16:creationId xmlns:a16="http://schemas.microsoft.com/office/drawing/2014/main" id="{F715BC02-17E9-6706-7C8B-57C4756177F1}"/>
              </a:ext>
            </a:extLst>
          </p:cNvPr>
          <p:cNvSpPr/>
          <p:nvPr/>
        </p:nvSpPr>
        <p:spPr>
          <a:xfrm>
            <a:off x="5086695" y="3729039"/>
            <a:ext cx="340073" cy="340073"/>
          </a:xfrm>
          <a:prstGeom prst="mathMultiply">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2" name="次の値と等しい 11">
            <a:extLst>
              <a:ext uri="{FF2B5EF4-FFF2-40B4-BE49-F238E27FC236}">
                <a16:creationId xmlns:a16="http://schemas.microsoft.com/office/drawing/2014/main" id="{22E6A824-C272-66D8-D1B6-684DD9036662}"/>
              </a:ext>
            </a:extLst>
          </p:cNvPr>
          <p:cNvSpPr/>
          <p:nvPr/>
        </p:nvSpPr>
        <p:spPr>
          <a:xfrm>
            <a:off x="7885845" y="3729039"/>
            <a:ext cx="340073" cy="340073"/>
          </a:xfrm>
          <a:prstGeom prst="mathEqual">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3" name="Rectangle 22">
            <a:extLst>
              <a:ext uri="{FF2B5EF4-FFF2-40B4-BE49-F238E27FC236}">
                <a16:creationId xmlns:a16="http://schemas.microsoft.com/office/drawing/2014/main" id="{73784B92-6F6D-1474-EAF4-0864D08B0F10}"/>
              </a:ext>
            </a:extLst>
          </p:cNvPr>
          <p:cNvSpPr>
            <a:spLocks noChangeArrowheads="1"/>
          </p:cNvSpPr>
          <p:nvPr/>
        </p:nvSpPr>
        <p:spPr bwMode="gray">
          <a:xfrm>
            <a:off x="1070539" y="4481092"/>
            <a:ext cx="1558372" cy="93494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②見積総原価</a:t>
            </a:r>
            <a:endParaRPr lang="en-US" altLang="ja-JP" sz="1600" b="1">
              <a:solidFill>
                <a:schemeClr val="bg1"/>
              </a:solidFill>
            </a:endParaRPr>
          </a:p>
          <a:p>
            <a:pPr marL="177795" indent="-177795" algn="ctr">
              <a:spcBef>
                <a:spcPts val="331"/>
              </a:spcBef>
            </a:pPr>
            <a:r>
              <a:rPr lang="ja-JP" altLang="en-US" sz="1600" b="1">
                <a:solidFill>
                  <a:schemeClr val="bg1"/>
                </a:solidFill>
              </a:rPr>
              <a:t>過少</a:t>
            </a:r>
            <a:endParaRPr lang="en-US" altLang="ja-JP" sz="1600" b="1">
              <a:solidFill>
                <a:schemeClr val="bg1"/>
              </a:solidFill>
            </a:endParaRPr>
          </a:p>
        </p:txBody>
      </p:sp>
      <p:grpSp>
        <p:nvGrpSpPr>
          <p:cNvPr id="14" name="グループ化 13">
            <a:extLst>
              <a:ext uri="{FF2B5EF4-FFF2-40B4-BE49-F238E27FC236}">
                <a16:creationId xmlns:a16="http://schemas.microsoft.com/office/drawing/2014/main" id="{F6F78D06-6E82-E6FB-6229-078F63542D19}"/>
              </a:ext>
            </a:extLst>
          </p:cNvPr>
          <p:cNvGrpSpPr/>
          <p:nvPr/>
        </p:nvGrpSpPr>
        <p:grpSpPr>
          <a:xfrm>
            <a:off x="2766509" y="4481091"/>
            <a:ext cx="2165280" cy="934943"/>
            <a:chOff x="3372396" y="2676629"/>
            <a:chExt cx="2165280" cy="709633"/>
          </a:xfrm>
        </p:grpSpPr>
        <p:sp>
          <p:nvSpPr>
            <p:cNvPr id="15" name="正方形/長方形 14">
              <a:extLst>
                <a:ext uri="{FF2B5EF4-FFF2-40B4-BE49-F238E27FC236}">
                  <a16:creationId xmlns:a16="http://schemas.microsoft.com/office/drawing/2014/main" id="{7531F676-12D0-6A41-1E47-F430F17B837F}"/>
                </a:ext>
              </a:extLst>
            </p:cNvPr>
            <p:cNvSpPr/>
            <p:nvPr/>
          </p:nvSpPr>
          <p:spPr>
            <a:xfrm>
              <a:off x="3372396" y="2676629"/>
              <a:ext cx="2165280" cy="709633"/>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進捗度</a:t>
              </a:r>
              <a:r>
                <a:rPr lang="en-US" altLang="ja-JP" sz="1600">
                  <a:solidFill>
                    <a:schemeClr val="tx1"/>
                  </a:solidFill>
                  <a:latin typeface="+mn-ea"/>
                  <a:cs typeface="Meiryo UI" panose="020B0604030504040204" pitchFamily="50" charset="-128"/>
                </a:rPr>
                <a:t>】</a:t>
              </a:r>
            </a:p>
            <a:p>
              <a:pPr algn="ctr" eaLnBrk="1" hangingPunct="1"/>
              <a:endParaRPr lang="en-US" altLang="ja-JP" sz="8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発生原価</a:t>
              </a:r>
              <a:endParaRPr lang="en-US" altLang="ja-JP" sz="1600">
                <a:solidFill>
                  <a:schemeClr val="tx1"/>
                </a:solidFill>
                <a:latin typeface="+mn-ea"/>
                <a:cs typeface="Meiryo UI" panose="020B0604030504040204" pitchFamily="50" charset="-128"/>
              </a:endParaRPr>
            </a:p>
            <a:p>
              <a:pPr algn="ctr" eaLnBrk="1" hangingPunct="1"/>
              <a:r>
                <a:rPr lang="ja-JP" altLang="en-US" sz="1600">
                  <a:solidFill>
                    <a:schemeClr val="tx1"/>
                  </a:solidFill>
                  <a:latin typeface="+mn-ea"/>
                  <a:cs typeface="Meiryo UI" panose="020B0604030504040204" pitchFamily="50" charset="-128"/>
                </a:rPr>
                <a:t>見積総原価</a:t>
              </a:r>
            </a:p>
          </p:txBody>
        </p:sp>
        <p:cxnSp>
          <p:nvCxnSpPr>
            <p:cNvPr id="16" name="直線コネクタ 15">
              <a:extLst>
                <a:ext uri="{FF2B5EF4-FFF2-40B4-BE49-F238E27FC236}">
                  <a16:creationId xmlns:a16="http://schemas.microsoft.com/office/drawing/2014/main" id="{C164FA97-0023-F719-F222-A6ECB0C9B6D8}"/>
                </a:ext>
              </a:extLst>
            </p:cNvPr>
            <p:cNvCxnSpPr>
              <a:cxnSpLocks/>
            </p:cNvCxnSpPr>
            <p:nvPr/>
          </p:nvCxnSpPr>
          <p:spPr>
            <a:xfrm>
              <a:off x="3837062" y="3175742"/>
              <a:ext cx="1239140" cy="0"/>
            </a:xfrm>
            <a:prstGeom prst="line">
              <a:avLst/>
            </a:prstGeom>
            <a:ln w="12700" cap="rnd">
              <a:solidFill>
                <a:schemeClr val="tx1"/>
              </a:solidFill>
              <a:round/>
            </a:ln>
          </p:spPr>
          <p:style>
            <a:lnRef idx="1">
              <a:schemeClr val="accent1"/>
            </a:lnRef>
            <a:fillRef idx="0">
              <a:schemeClr val="accent1"/>
            </a:fillRef>
            <a:effectRef idx="0">
              <a:schemeClr val="accent1"/>
            </a:effectRef>
            <a:fontRef idx="minor">
              <a:schemeClr val="tx1"/>
            </a:fontRef>
          </p:style>
        </p:cxnSp>
      </p:grpSp>
      <p:sp>
        <p:nvSpPr>
          <p:cNvPr id="17" name="正方形/長方形 16">
            <a:extLst>
              <a:ext uri="{FF2B5EF4-FFF2-40B4-BE49-F238E27FC236}">
                <a16:creationId xmlns:a16="http://schemas.microsoft.com/office/drawing/2014/main" id="{EE0EB223-F97A-2037-DD37-DAE84C9086DD}"/>
              </a:ext>
            </a:extLst>
          </p:cNvPr>
          <p:cNvSpPr/>
          <p:nvPr/>
        </p:nvSpPr>
        <p:spPr>
          <a:xfrm>
            <a:off x="5530083" y="4481092"/>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受注総額</a:t>
            </a:r>
          </a:p>
        </p:txBody>
      </p:sp>
      <p:sp>
        <p:nvSpPr>
          <p:cNvPr id="19" name="正方形/長方形 18">
            <a:extLst>
              <a:ext uri="{FF2B5EF4-FFF2-40B4-BE49-F238E27FC236}">
                <a16:creationId xmlns:a16="http://schemas.microsoft.com/office/drawing/2014/main" id="{A204FDB0-A508-4FF3-C6C7-326F2FBBCE56}"/>
              </a:ext>
            </a:extLst>
          </p:cNvPr>
          <p:cNvSpPr/>
          <p:nvPr/>
        </p:nvSpPr>
        <p:spPr>
          <a:xfrm>
            <a:off x="8416401" y="4481092"/>
            <a:ext cx="2165279" cy="9349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売上計上額</a:t>
            </a:r>
          </a:p>
        </p:txBody>
      </p:sp>
      <p:sp>
        <p:nvSpPr>
          <p:cNvPr id="20" name="乗算記号 19">
            <a:extLst>
              <a:ext uri="{FF2B5EF4-FFF2-40B4-BE49-F238E27FC236}">
                <a16:creationId xmlns:a16="http://schemas.microsoft.com/office/drawing/2014/main" id="{47C078C8-3CFE-679D-64FC-4020C295B0EE}"/>
              </a:ext>
            </a:extLst>
          </p:cNvPr>
          <p:cNvSpPr/>
          <p:nvPr/>
        </p:nvSpPr>
        <p:spPr>
          <a:xfrm>
            <a:off x="5086695" y="4797369"/>
            <a:ext cx="340073" cy="340073"/>
          </a:xfrm>
          <a:prstGeom prst="mathMultiply">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1" name="次の値と等しい 20">
            <a:extLst>
              <a:ext uri="{FF2B5EF4-FFF2-40B4-BE49-F238E27FC236}">
                <a16:creationId xmlns:a16="http://schemas.microsoft.com/office/drawing/2014/main" id="{486AC26E-9332-E045-C8C1-AD99D09050FF}"/>
              </a:ext>
            </a:extLst>
          </p:cNvPr>
          <p:cNvSpPr/>
          <p:nvPr/>
        </p:nvSpPr>
        <p:spPr>
          <a:xfrm>
            <a:off x="7885845" y="4797369"/>
            <a:ext cx="340073" cy="340073"/>
          </a:xfrm>
          <a:prstGeom prst="mathEqual">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2" name="矢印: 下 21">
            <a:extLst>
              <a:ext uri="{FF2B5EF4-FFF2-40B4-BE49-F238E27FC236}">
                <a16:creationId xmlns:a16="http://schemas.microsoft.com/office/drawing/2014/main" id="{14818AC0-383F-9E98-6827-118E59A888A2}"/>
              </a:ext>
            </a:extLst>
          </p:cNvPr>
          <p:cNvSpPr/>
          <p:nvPr/>
        </p:nvSpPr>
        <p:spPr>
          <a:xfrm rot="10800000" flipH="1">
            <a:off x="4358354" y="3858209"/>
            <a:ext cx="164957" cy="210903"/>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3" name="矢印: 下 22">
            <a:extLst>
              <a:ext uri="{FF2B5EF4-FFF2-40B4-BE49-F238E27FC236}">
                <a16:creationId xmlns:a16="http://schemas.microsoft.com/office/drawing/2014/main" id="{5F5A5C4F-3136-E4BC-B664-9FCCA5FCB7E5}"/>
              </a:ext>
            </a:extLst>
          </p:cNvPr>
          <p:cNvSpPr/>
          <p:nvPr/>
        </p:nvSpPr>
        <p:spPr>
          <a:xfrm flipH="1">
            <a:off x="4358354" y="5166609"/>
            <a:ext cx="164957" cy="210903"/>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4" name="矢印: 上 23">
            <a:extLst>
              <a:ext uri="{FF2B5EF4-FFF2-40B4-BE49-F238E27FC236}">
                <a16:creationId xmlns:a16="http://schemas.microsoft.com/office/drawing/2014/main" id="{93766C94-D464-5934-96B3-4AEAB8EE2E90}"/>
              </a:ext>
            </a:extLst>
          </p:cNvPr>
          <p:cNvSpPr/>
          <p:nvPr/>
        </p:nvSpPr>
        <p:spPr>
          <a:xfrm>
            <a:off x="10230180" y="3625389"/>
            <a:ext cx="351500" cy="421812"/>
          </a:xfrm>
          <a:prstGeom prst="up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5" name="矢印: 上 24">
            <a:extLst>
              <a:ext uri="{FF2B5EF4-FFF2-40B4-BE49-F238E27FC236}">
                <a16:creationId xmlns:a16="http://schemas.microsoft.com/office/drawing/2014/main" id="{43AD3ECF-920D-6035-8FDA-A013F9D66AB5}"/>
              </a:ext>
            </a:extLst>
          </p:cNvPr>
          <p:cNvSpPr/>
          <p:nvPr/>
        </p:nvSpPr>
        <p:spPr>
          <a:xfrm>
            <a:off x="10230180" y="4737656"/>
            <a:ext cx="351500" cy="421812"/>
          </a:xfrm>
          <a:prstGeom prst="up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6" name="矢印: 上 25">
            <a:extLst>
              <a:ext uri="{FF2B5EF4-FFF2-40B4-BE49-F238E27FC236}">
                <a16:creationId xmlns:a16="http://schemas.microsoft.com/office/drawing/2014/main" id="{20BE3740-421B-2401-5F03-708A4CDC2F54}"/>
              </a:ext>
            </a:extLst>
          </p:cNvPr>
          <p:cNvSpPr/>
          <p:nvPr/>
        </p:nvSpPr>
        <p:spPr>
          <a:xfrm>
            <a:off x="4255038" y="3414983"/>
            <a:ext cx="265553" cy="318673"/>
          </a:xfrm>
          <a:prstGeom prst="up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7" name="矢印: 上 26">
            <a:extLst>
              <a:ext uri="{FF2B5EF4-FFF2-40B4-BE49-F238E27FC236}">
                <a16:creationId xmlns:a16="http://schemas.microsoft.com/office/drawing/2014/main" id="{34F8E344-3089-6B53-875E-C551C116CAA3}"/>
              </a:ext>
            </a:extLst>
          </p:cNvPr>
          <p:cNvSpPr/>
          <p:nvPr/>
        </p:nvSpPr>
        <p:spPr>
          <a:xfrm>
            <a:off x="4255038" y="4491209"/>
            <a:ext cx="265553" cy="318673"/>
          </a:xfrm>
          <a:prstGeom prst="upArrow">
            <a:avLst/>
          </a:prstGeom>
          <a:solidFill>
            <a:srgbClr val="C0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3081824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A8EEC21-C66E-67FC-7447-E0E3CA2135F6}"/>
              </a:ext>
            </a:extLst>
          </p:cNvPr>
          <p:cNvSpPr>
            <a:spLocks noGrp="1"/>
          </p:cNvSpPr>
          <p:nvPr>
            <p:ph type="body" sz="quarter" idx="10"/>
          </p:nvPr>
        </p:nvSpPr>
        <p:spPr>
          <a:xfrm>
            <a:off x="612776" y="837438"/>
            <a:ext cx="11126904" cy="1031962"/>
          </a:xfrm>
        </p:spPr>
        <p:txBody>
          <a:bodyPr vert="horz" lIns="91440" tIns="45720" rIns="91440" bIns="45720" rtlCol="0" anchor="t">
            <a:noAutofit/>
          </a:bodyPr>
          <a:lstStyle/>
          <a:p>
            <a:r>
              <a:rPr lang="ja-JP" altLang="en-US" sz="1800" b="0">
                <a:latin typeface="+mj-ea"/>
                <a:ea typeface="+mj-ea"/>
                <a:cs typeface="+mn-lt"/>
              </a:rPr>
              <a:t>工事契約のうち、以下の3つの要素すべてを満たす工事案件については、工事進行基準(一定期間にわたり収益を認識)を適用することとなります。</a:t>
            </a:r>
            <a:r>
              <a:rPr lang="ja-JP" altLang="en-US" sz="1800" b="0" u="sng">
                <a:latin typeface="+mj-ea"/>
                <a:ea typeface="+mj-ea"/>
                <a:cs typeface="+mn-lt"/>
              </a:rPr>
              <a:t>初期段階で仕様が固まっておらず収益や原価総額が見通せないプロジェクトでは、工事進行基準を適用し収益を認識することはできません。</a:t>
            </a:r>
            <a:endParaRPr lang="en-US" sz="1800" b="0" u="sng">
              <a:latin typeface="+mj-ea"/>
              <a:ea typeface="+mj-ea"/>
            </a:endParaRPr>
          </a:p>
        </p:txBody>
      </p:sp>
      <p:sp>
        <p:nvSpPr>
          <p:cNvPr id="3" name="Title 2">
            <a:extLst>
              <a:ext uri="{FF2B5EF4-FFF2-40B4-BE49-F238E27FC236}">
                <a16:creationId xmlns:a16="http://schemas.microsoft.com/office/drawing/2014/main" id="{615794AD-435B-9057-59D5-D2E6186523DE}"/>
              </a:ext>
            </a:extLst>
          </p:cNvPr>
          <p:cNvSpPr>
            <a:spLocks noGrp="1"/>
          </p:cNvSpPr>
          <p:nvPr>
            <p:ph type="title"/>
          </p:nvPr>
        </p:nvSpPr>
        <p:spPr>
          <a:xfrm>
            <a:off x="658800" y="367200"/>
            <a:ext cx="9265389" cy="383867"/>
          </a:xfrm>
        </p:spPr>
        <p:txBody>
          <a:bodyPr>
            <a:noAutofit/>
          </a:bodyPr>
          <a:lstStyle/>
          <a:p>
            <a:r>
              <a:rPr lang="en-US" altLang="ja-JP">
                <a:latin typeface="Segoe UI"/>
                <a:cs typeface="Segoe UI"/>
              </a:rPr>
              <a:t>3-6.</a:t>
            </a:r>
            <a:r>
              <a:rPr lang="en-US" altLang="ja-JP">
                <a:latin typeface="BIZ UDPゴシック"/>
                <a:cs typeface="Segoe UI"/>
              </a:rPr>
              <a:t>AW</a:t>
            </a:r>
            <a:r>
              <a:rPr lang="ja-JP" altLang="en-US">
                <a:latin typeface="BIZ UDPゴシック"/>
                <a:cs typeface="Segoe UI"/>
              </a:rPr>
              <a:t>グループにおける工事進行基準の適用について</a:t>
            </a:r>
          </a:p>
        </p:txBody>
      </p:sp>
      <p:sp>
        <p:nvSpPr>
          <p:cNvPr id="4" name="Text Placeholder 3">
            <a:extLst>
              <a:ext uri="{FF2B5EF4-FFF2-40B4-BE49-F238E27FC236}">
                <a16:creationId xmlns:a16="http://schemas.microsoft.com/office/drawing/2014/main" id="{9A5A40B4-B5DA-B0CA-0E0D-0D8DC4B92617}"/>
              </a:ext>
            </a:extLst>
          </p:cNvPr>
          <p:cNvSpPr>
            <a:spLocks noGrp="1"/>
          </p:cNvSpPr>
          <p:nvPr>
            <p:ph type="body" sz="quarter" idx="11"/>
          </p:nvPr>
        </p:nvSpPr>
        <p:spPr>
          <a:xfrm rot="16200000">
            <a:off x="1467186" y="2903259"/>
            <a:ext cx="911906" cy="2526281"/>
          </a:xfrm>
        </p:spPr>
        <p:txBody>
          <a:bodyPr/>
          <a:lstStyle/>
          <a:p>
            <a:pPr algn="ctr"/>
            <a:r>
              <a:rPr lang="ja-JP" altLang="en-US" sz="1400" b="1"/>
              <a:t>取引価格の信頼性</a:t>
            </a:r>
            <a:endParaRPr lang="en-US" sz="1400" b="1"/>
          </a:p>
        </p:txBody>
      </p:sp>
      <p:sp>
        <p:nvSpPr>
          <p:cNvPr id="5" name="Text Placeholder 4">
            <a:extLst>
              <a:ext uri="{FF2B5EF4-FFF2-40B4-BE49-F238E27FC236}">
                <a16:creationId xmlns:a16="http://schemas.microsoft.com/office/drawing/2014/main" id="{9573C815-27A9-2CC7-379B-9BF34838EADF}"/>
              </a:ext>
            </a:extLst>
          </p:cNvPr>
          <p:cNvSpPr>
            <a:spLocks noGrp="1"/>
          </p:cNvSpPr>
          <p:nvPr>
            <p:ph type="body" sz="quarter" idx="12"/>
          </p:nvPr>
        </p:nvSpPr>
        <p:spPr>
          <a:xfrm>
            <a:off x="3186280" y="3722352"/>
            <a:ext cx="8621717" cy="900000"/>
          </a:xfrm>
        </p:spPr>
        <p:txBody>
          <a:bodyPr/>
          <a:lstStyle/>
          <a:p>
            <a:r>
              <a:rPr lang="ja-JP" altLang="en-US" sz="1400" b="0" u="sng">
                <a:solidFill>
                  <a:srgbClr val="FF0000"/>
                </a:solidFill>
                <a:cs typeface="Segoe UI"/>
              </a:rPr>
              <a:t>顧客から受領した注文書</a:t>
            </a:r>
            <a:r>
              <a:rPr lang="ja-JP" altLang="en-US" sz="1400" b="0" u="sng">
                <a:cs typeface="Segoe UI"/>
              </a:rPr>
              <a:t>その他の契約合意に係る</a:t>
            </a:r>
            <a:r>
              <a:rPr lang="ja-JP" altLang="en-US" sz="1400" b="0" u="sng">
                <a:solidFill>
                  <a:srgbClr val="FF0000"/>
                </a:solidFill>
                <a:cs typeface="Segoe UI"/>
              </a:rPr>
              <a:t>契約書類記載の金額</a:t>
            </a:r>
            <a:r>
              <a:rPr lang="ja-JP" altLang="en-US" sz="1400" b="0">
                <a:cs typeface="Segoe UI"/>
              </a:rPr>
              <a:t>によって算定すること。</a:t>
            </a:r>
          </a:p>
          <a:p>
            <a:r>
              <a:rPr lang="ja-JP" altLang="en-US" sz="1400" b="0">
                <a:cs typeface="Segoe UI"/>
              </a:rPr>
              <a:t>※仕様変更や追加注文などの契約変更についても、タイムリーに反映する。</a:t>
            </a:r>
          </a:p>
        </p:txBody>
      </p:sp>
      <p:sp>
        <p:nvSpPr>
          <p:cNvPr id="6" name="Text Placeholder 5">
            <a:extLst>
              <a:ext uri="{FF2B5EF4-FFF2-40B4-BE49-F238E27FC236}">
                <a16:creationId xmlns:a16="http://schemas.microsoft.com/office/drawing/2014/main" id="{CCD4A884-121D-DFAF-41F1-50A076687F86}"/>
              </a:ext>
            </a:extLst>
          </p:cNvPr>
          <p:cNvSpPr>
            <a:spLocks noGrp="1"/>
          </p:cNvSpPr>
          <p:nvPr>
            <p:ph type="body" sz="quarter" idx="13"/>
          </p:nvPr>
        </p:nvSpPr>
        <p:spPr>
          <a:xfrm rot="16200000">
            <a:off x="1431467" y="3917761"/>
            <a:ext cx="971437" cy="2514374"/>
          </a:xfrm>
        </p:spPr>
        <p:txBody>
          <a:bodyPr/>
          <a:lstStyle/>
          <a:p>
            <a:pPr algn="ctr"/>
            <a:r>
              <a:rPr lang="ja-JP" altLang="en-US" sz="1400" b="1"/>
              <a:t>見積総原価の信頼性</a:t>
            </a:r>
            <a:endParaRPr lang="en-US" sz="1400" b="1"/>
          </a:p>
        </p:txBody>
      </p:sp>
      <p:sp>
        <p:nvSpPr>
          <p:cNvPr id="7" name="Text Placeholder 6">
            <a:extLst>
              <a:ext uri="{FF2B5EF4-FFF2-40B4-BE49-F238E27FC236}">
                <a16:creationId xmlns:a16="http://schemas.microsoft.com/office/drawing/2014/main" id="{27DC21CA-E3E1-A5D6-9C93-281EA924FB7E}"/>
              </a:ext>
            </a:extLst>
          </p:cNvPr>
          <p:cNvSpPr>
            <a:spLocks noGrp="1"/>
          </p:cNvSpPr>
          <p:nvPr>
            <p:ph type="body" sz="quarter" idx="14"/>
          </p:nvPr>
        </p:nvSpPr>
        <p:spPr>
          <a:xfrm>
            <a:off x="3186280" y="4689225"/>
            <a:ext cx="8621718" cy="971437"/>
          </a:xfrm>
        </p:spPr>
        <p:txBody>
          <a:bodyPr/>
          <a:lstStyle/>
          <a:p>
            <a:r>
              <a:rPr lang="ja-JP" altLang="en-US" sz="1400" b="0" u="sng">
                <a:solidFill>
                  <a:srgbClr val="FF0000"/>
                </a:solidFill>
                <a:cs typeface="Segoe UI"/>
              </a:rPr>
              <a:t>外部証憑</a:t>
            </a:r>
            <a:r>
              <a:rPr lang="ja-JP" altLang="en-US" sz="1400" b="0" u="sng">
                <a:cs typeface="Segoe UI"/>
              </a:rPr>
              <a:t>に基づく仕様・工期・積算根拠が明確</a:t>
            </a:r>
            <a:r>
              <a:rPr lang="ja-JP" altLang="en-US" sz="1400" b="0">
                <a:cs typeface="Segoe UI"/>
              </a:rPr>
              <a:t>であり、合理的な見積総原価の算定が可能であること。</a:t>
            </a:r>
          </a:p>
          <a:p>
            <a:r>
              <a:rPr lang="ja-JP" sz="1400" b="0">
                <a:cs typeface="Segoe UI"/>
              </a:rPr>
              <a:t>※</a:t>
            </a:r>
            <a:r>
              <a:rPr lang="ja-JP" altLang="en-US" sz="1400" b="0">
                <a:cs typeface="Segoe UI"/>
              </a:rPr>
              <a:t>取引価格と同様、</a:t>
            </a:r>
            <a:r>
              <a:rPr lang="ja-JP" sz="1400" b="0">
                <a:cs typeface="Segoe UI"/>
              </a:rPr>
              <a:t>仕様変更や追加注文などの</a:t>
            </a:r>
            <a:r>
              <a:rPr lang="ja-JP" altLang="en-US" sz="1400" b="0">
                <a:cs typeface="Segoe UI"/>
              </a:rPr>
              <a:t>見積総原価の</a:t>
            </a:r>
            <a:r>
              <a:rPr lang="ja-JP" sz="1400" b="0">
                <a:cs typeface="Segoe UI"/>
              </a:rPr>
              <a:t>変更についても、タイムリーに反映する。</a:t>
            </a:r>
            <a:endParaRPr lang="ja-JP" sz="1400" b="0">
              <a:solidFill>
                <a:srgbClr val="000000"/>
              </a:solidFill>
              <a:cs typeface="Segoe UI"/>
            </a:endParaRPr>
          </a:p>
        </p:txBody>
      </p:sp>
      <p:sp>
        <p:nvSpPr>
          <p:cNvPr id="8" name="Text Placeholder 7">
            <a:extLst>
              <a:ext uri="{FF2B5EF4-FFF2-40B4-BE49-F238E27FC236}">
                <a16:creationId xmlns:a16="http://schemas.microsoft.com/office/drawing/2014/main" id="{6CFE6F88-0658-96E3-B6C7-FBCC4A4E2909}"/>
              </a:ext>
            </a:extLst>
          </p:cNvPr>
          <p:cNvSpPr>
            <a:spLocks noGrp="1"/>
          </p:cNvSpPr>
          <p:nvPr>
            <p:ph type="body" sz="quarter" idx="15"/>
          </p:nvPr>
        </p:nvSpPr>
        <p:spPr>
          <a:xfrm rot="16200000">
            <a:off x="1485043" y="4902492"/>
            <a:ext cx="876190" cy="2526275"/>
          </a:xfrm>
        </p:spPr>
        <p:txBody>
          <a:bodyPr/>
          <a:lstStyle/>
          <a:p>
            <a:pPr algn="ctr"/>
            <a:r>
              <a:rPr lang="ja-JP" altLang="en-US" sz="1400" b="1"/>
              <a:t>決算日における</a:t>
            </a:r>
            <a:endParaRPr lang="en-US" altLang="ja-JP" sz="1400" b="1"/>
          </a:p>
          <a:p>
            <a:pPr algn="ctr"/>
            <a:r>
              <a:rPr lang="ja-JP" altLang="en-US" sz="1400" b="1"/>
              <a:t>工事進捗度の信頼性</a:t>
            </a:r>
            <a:endParaRPr lang="ja-JP" sz="1400" b="1"/>
          </a:p>
        </p:txBody>
      </p:sp>
      <p:sp>
        <p:nvSpPr>
          <p:cNvPr id="9" name="Text Placeholder 8">
            <a:extLst>
              <a:ext uri="{FF2B5EF4-FFF2-40B4-BE49-F238E27FC236}">
                <a16:creationId xmlns:a16="http://schemas.microsoft.com/office/drawing/2014/main" id="{C70A423B-E014-EE70-035F-868A39E02087}"/>
              </a:ext>
            </a:extLst>
          </p:cNvPr>
          <p:cNvSpPr>
            <a:spLocks noGrp="1"/>
          </p:cNvSpPr>
          <p:nvPr>
            <p:ph type="body" sz="quarter" idx="16"/>
          </p:nvPr>
        </p:nvSpPr>
        <p:spPr>
          <a:xfrm>
            <a:off x="3198187" y="5727538"/>
            <a:ext cx="8609812" cy="864282"/>
          </a:xfrm>
        </p:spPr>
        <p:txBody>
          <a:bodyPr/>
          <a:lstStyle/>
          <a:p>
            <a:r>
              <a:rPr lang="ja-JP" altLang="en-US" sz="1400" b="0" u="sng">
                <a:latin typeface="BIZ UDPゴシック"/>
                <a:cs typeface="Segoe UI"/>
              </a:rPr>
              <a:t>実際原価について、</a:t>
            </a:r>
            <a:r>
              <a:rPr lang="ja-JP" altLang="en-US" sz="1400" b="0" u="sng">
                <a:solidFill>
                  <a:srgbClr val="FF0000"/>
                </a:solidFill>
                <a:latin typeface="BIZ UDPゴシック"/>
                <a:cs typeface="Segoe UI"/>
              </a:rPr>
              <a:t>外部証憑</a:t>
            </a:r>
            <a:r>
              <a:rPr lang="ja-JP" altLang="en-US" sz="1400" b="0" u="sng">
                <a:latin typeface="BIZ UDPゴシック"/>
                <a:cs typeface="Segoe UI"/>
              </a:rPr>
              <a:t>と原価管理資料を根拠に客観的・合理的に測定可能</a:t>
            </a:r>
            <a:r>
              <a:rPr lang="ja-JP" altLang="en-US" sz="1400" b="0">
                <a:latin typeface="BIZ UDPゴシック"/>
                <a:cs typeface="Segoe UI"/>
              </a:rPr>
              <a:t>であること。</a:t>
            </a:r>
            <a:endParaRPr lang="en-US" altLang="ja-JP" sz="1400" b="0">
              <a:latin typeface="BIZ UDPゴシック"/>
              <a:cs typeface="Segoe UI"/>
            </a:endParaRPr>
          </a:p>
          <a:p>
            <a:r>
              <a:rPr lang="en-US" altLang="ja-JP" sz="1400" b="0">
                <a:latin typeface="BIZ UDPゴシック"/>
                <a:cs typeface="Segoe UI"/>
              </a:rPr>
              <a:t>※</a:t>
            </a:r>
            <a:r>
              <a:rPr lang="ja-JP" sz="1400" b="0">
                <a:latin typeface="BIZ UDPゴシック"/>
                <a:cs typeface="Segoe UI"/>
              </a:rPr>
              <a:t>原則として見積総原価に基づく原価比例法により測定する</a:t>
            </a:r>
            <a:r>
              <a:rPr lang="ja-JP" altLang="en-US" sz="1400" b="0">
                <a:latin typeface="BIZ UDPゴシック"/>
                <a:cs typeface="Segoe UI"/>
              </a:rPr>
              <a:t>。</a:t>
            </a:r>
            <a:endParaRPr lang="ja-JP" sz="1400" b="0">
              <a:latin typeface="BIZ UDPゴシック"/>
              <a:cs typeface="Segoe UI"/>
            </a:endParaRPr>
          </a:p>
        </p:txBody>
      </p:sp>
      <p:sp>
        <p:nvSpPr>
          <p:cNvPr id="11" name="正方形/長方形 1">
            <a:extLst>
              <a:ext uri="{FF2B5EF4-FFF2-40B4-BE49-F238E27FC236}">
                <a16:creationId xmlns:a16="http://schemas.microsoft.com/office/drawing/2014/main" id="{BB7B00F9-ECF3-FB4A-824A-295595B2A6BA}"/>
              </a:ext>
            </a:extLst>
          </p:cNvPr>
          <p:cNvSpPr/>
          <p:nvPr/>
        </p:nvSpPr>
        <p:spPr bwMode="gray">
          <a:xfrm>
            <a:off x="2068126" y="1874175"/>
            <a:ext cx="9720000" cy="1560808"/>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4945" defTabSz="990589">
              <a:spcBef>
                <a:spcPts val="300"/>
              </a:spcBef>
              <a:buClr>
                <a:schemeClr val="tx1"/>
              </a:buClr>
              <a:buSzPct val="100000"/>
              <a:buFont typeface="Wingdings" panose="05000000000000000000" pitchFamily="2" charset="2"/>
              <a:buChar char="Ø"/>
            </a:pPr>
            <a:r>
              <a:rPr lang="ja-JP" altLang="en-US" sz="1400" b="1">
                <a:latin typeface="+mn-ea"/>
              </a:rPr>
              <a:t> </a:t>
            </a:r>
            <a:r>
              <a:rPr lang="ja-JP" altLang="en-US" sz="1600" b="1">
                <a:latin typeface="+mn-ea"/>
              </a:rPr>
              <a:t>工事契約について、</a:t>
            </a:r>
            <a:r>
              <a:rPr lang="ja-JP" sz="1600" b="1">
                <a:solidFill>
                  <a:srgbClr val="262626"/>
                </a:solidFill>
                <a:latin typeface="+mn-ea"/>
              </a:rPr>
              <a:t>以下3つの要素すべてを満たす工事案件については、</a:t>
            </a:r>
            <a:endParaRPr lang="ja-JP" altLang="en-US" sz="1600" b="1">
              <a:solidFill>
                <a:srgbClr val="262626"/>
              </a:solidFill>
              <a:latin typeface="+mn-ea"/>
            </a:endParaRPr>
          </a:p>
          <a:p>
            <a:pPr marL="90805" defTabSz="990589">
              <a:spcBef>
                <a:spcPts val="300"/>
              </a:spcBef>
              <a:buClr>
                <a:schemeClr val="tx1"/>
              </a:buClr>
              <a:buSzPct val="100000"/>
            </a:pPr>
            <a:r>
              <a:rPr lang="ja-JP" altLang="en-US" sz="1600" b="1">
                <a:solidFill>
                  <a:srgbClr val="FF0000"/>
                </a:solidFill>
                <a:latin typeface="+mn-ea"/>
              </a:rPr>
              <a:t>    </a:t>
            </a:r>
            <a:r>
              <a:rPr lang="ja-JP" altLang="en-US" sz="1600" b="1" u="sng">
                <a:solidFill>
                  <a:srgbClr val="FF0000"/>
                </a:solidFill>
                <a:latin typeface="+mn-ea"/>
              </a:rPr>
              <a:t>工事進行基準を適用</a:t>
            </a:r>
            <a:r>
              <a:rPr lang="ja-JP" altLang="en-US" sz="1600">
                <a:latin typeface="+mn-ea"/>
              </a:rPr>
              <a:t>して</a:t>
            </a:r>
            <a:r>
              <a:rPr lang="ja-JP" altLang="en-US" sz="1600" b="1">
                <a:latin typeface="+mn-ea"/>
              </a:rPr>
              <a:t>収益認識する。</a:t>
            </a:r>
            <a:endParaRPr lang="ja-JP">
              <a:cs typeface="Segoe UI"/>
            </a:endParaRPr>
          </a:p>
          <a:p>
            <a:pPr marL="285750" indent="-194945" defTabSz="990589">
              <a:spcBef>
                <a:spcPts val="300"/>
              </a:spcBef>
              <a:buClr>
                <a:schemeClr val="tx1"/>
              </a:buClr>
              <a:buSzPct val="100000"/>
              <a:buFont typeface="Wingdings" panose="05000000000000000000" pitchFamily="2" charset="2"/>
              <a:buChar char="Ø"/>
            </a:pPr>
            <a:endParaRPr lang="ja-JP">
              <a:cs typeface="Segoe UI"/>
            </a:endParaRPr>
          </a:p>
          <a:p>
            <a:pPr marL="90805" defTabSz="990589">
              <a:spcBef>
                <a:spcPts val="300"/>
              </a:spcBef>
            </a:pPr>
            <a:r>
              <a:rPr lang="ja-JP" altLang="en-US" sz="1600" b="1">
                <a:latin typeface="BIZ UDPゴシック"/>
                <a:cs typeface="Segoe UI"/>
              </a:rPr>
              <a:t>　　　　　　　</a:t>
            </a:r>
            <a:endParaRPr lang="ja-JP" altLang="en-US">
              <a:cs typeface="Segoe UI"/>
            </a:endParaRPr>
          </a:p>
        </p:txBody>
      </p:sp>
      <p:sp>
        <p:nvSpPr>
          <p:cNvPr id="13" name="正方形/長方形 10">
            <a:extLst>
              <a:ext uri="{FF2B5EF4-FFF2-40B4-BE49-F238E27FC236}">
                <a16:creationId xmlns:a16="http://schemas.microsoft.com/office/drawing/2014/main" id="{BD4B7B91-E46F-88EC-08DF-B636F5EFFD41}"/>
              </a:ext>
            </a:extLst>
          </p:cNvPr>
          <p:cNvSpPr/>
          <p:nvPr/>
        </p:nvSpPr>
        <p:spPr bwMode="gray">
          <a:xfrm>
            <a:off x="650477" y="1874175"/>
            <a:ext cx="1260000" cy="1560808"/>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BIZ UDPゴシック"/>
                <a:cs typeface="Calibri"/>
              </a:rPr>
              <a:t>収益認識方法</a:t>
            </a:r>
          </a:p>
        </p:txBody>
      </p:sp>
      <p:sp>
        <p:nvSpPr>
          <p:cNvPr id="14" name="TextBox 13">
            <a:extLst>
              <a:ext uri="{FF2B5EF4-FFF2-40B4-BE49-F238E27FC236}">
                <a16:creationId xmlns:a16="http://schemas.microsoft.com/office/drawing/2014/main" id="{BFEEB39C-C179-ED23-4504-30592330A11F}"/>
              </a:ext>
            </a:extLst>
          </p:cNvPr>
          <p:cNvSpPr txBox="1"/>
          <p:nvPr/>
        </p:nvSpPr>
        <p:spPr>
          <a:xfrm>
            <a:off x="652560" y="3469048"/>
            <a:ext cx="3073534" cy="23269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20000"/>
              </a:lnSpc>
            </a:pPr>
            <a:r>
              <a:rPr lang="ja-JP" altLang="en-US" sz="1400" spc="110">
                <a:cs typeface="Segoe UI"/>
              </a:rPr>
              <a:t>＜工事進行基準適用の3つの要素</a:t>
            </a:r>
            <a:r>
              <a:rPr lang="en-US" sz="1400" spc="110">
                <a:cs typeface="Segoe UI"/>
              </a:rPr>
              <a:t>＞</a:t>
            </a:r>
            <a:endParaRPr kumimoji="1" lang="en-US" sz="1400" spc="110" baseline="0"/>
          </a:p>
        </p:txBody>
      </p:sp>
      <p:sp>
        <p:nvSpPr>
          <p:cNvPr id="12" name="正方形/長方形 11">
            <a:extLst>
              <a:ext uri="{FF2B5EF4-FFF2-40B4-BE49-F238E27FC236}">
                <a16:creationId xmlns:a16="http://schemas.microsoft.com/office/drawing/2014/main" id="{5C77957E-6D01-DAD9-72AF-37A7FE31FDDB}"/>
              </a:ext>
            </a:extLst>
          </p:cNvPr>
          <p:cNvSpPr/>
          <p:nvPr/>
        </p:nvSpPr>
        <p:spPr bwMode="gray">
          <a:xfrm>
            <a:off x="3683090" y="2748729"/>
            <a:ext cx="6386253" cy="533453"/>
          </a:xfrm>
          <a:prstGeom prst="rect">
            <a:avLst/>
          </a:prstGeom>
          <a:no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0805" defTabSz="990589">
              <a:spcBef>
                <a:spcPts val="300"/>
              </a:spcBef>
              <a:buSzPct val="100000"/>
            </a:pPr>
            <a:r>
              <a:rPr lang="ja-JP" altLang="en-US" sz="1200" b="1" u="sng">
                <a:solidFill>
                  <a:srgbClr val="3D03FC"/>
                </a:solidFill>
                <a:latin typeface="BIZ UDPゴシック"/>
                <a:cs typeface="Segoe UI"/>
              </a:rPr>
              <a:t>AWグループとしては3か月以上かつ1億円以上は工事進行基準を適用</a:t>
            </a:r>
          </a:p>
          <a:p>
            <a:pPr marL="90805" defTabSz="990589">
              <a:spcBef>
                <a:spcPts val="300"/>
              </a:spcBef>
            </a:pPr>
            <a:r>
              <a:rPr lang="ja-JP" altLang="en-US" sz="1200" b="1" u="sng">
                <a:solidFill>
                  <a:srgbClr val="3D03FC"/>
                </a:solidFill>
                <a:latin typeface="BIZ UDPゴシック"/>
                <a:cs typeface="Segoe UI"/>
              </a:rPr>
              <a:t>※</a:t>
            </a:r>
            <a:r>
              <a:rPr lang="en-US" altLang="ja-JP" sz="1200" b="1" u="sng">
                <a:solidFill>
                  <a:srgbClr val="3D03FC"/>
                </a:solidFill>
                <a:latin typeface="BIZ UDPゴシック"/>
                <a:cs typeface="Segoe UI"/>
              </a:rPr>
              <a:t>3</a:t>
            </a:r>
            <a:r>
              <a:rPr lang="ja-JP" altLang="en-US" sz="1200" b="1" u="sng">
                <a:solidFill>
                  <a:srgbClr val="3D03FC"/>
                </a:solidFill>
                <a:latin typeface="BIZ UDPゴシック"/>
                <a:cs typeface="Segoe UI"/>
              </a:rPr>
              <a:t>ヶ月未満または</a:t>
            </a:r>
            <a:r>
              <a:rPr lang="en-US" altLang="ja-JP" sz="1200" b="1" u="sng">
                <a:solidFill>
                  <a:srgbClr val="3D03FC"/>
                </a:solidFill>
                <a:latin typeface="BIZ UDPゴシック"/>
                <a:cs typeface="Segoe UI"/>
              </a:rPr>
              <a:t>1</a:t>
            </a:r>
            <a:r>
              <a:rPr lang="ja-JP" altLang="en-US" sz="1200" b="1" u="sng">
                <a:solidFill>
                  <a:srgbClr val="3D03FC"/>
                </a:solidFill>
                <a:latin typeface="BIZ UDPゴシック"/>
                <a:cs typeface="Segoe UI"/>
              </a:rPr>
              <a:t>億円未満は工事完成基準も適用可</a:t>
            </a:r>
          </a:p>
        </p:txBody>
      </p:sp>
      <p:sp>
        <p:nvSpPr>
          <p:cNvPr id="16" name="正方形/長方形 12">
            <a:extLst>
              <a:ext uri="{FF2B5EF4-FFF2-40B4-BE49-F238E27FC236}">
                <a16:creationId xmlns:a16="http://schemas.microsoft.com/office/drawing/2014/main" id="{FC204861-851F-8273-724C-00DD24BC0B60}"/>
              </a:ext>
            </a:extLst>
          </p:cNvPr>
          <p:cNvSpPr/>
          <p:nvPr/>
        </p:nvSpPr>
        <p:spPr bwMode="gray">
          <a:xfrm>
            <a:off x="2421969" y="2748729"/>
            <a:ext cx="1260000" cy="533453"/>
          </a:xfrm>
          <a:prstGeom prst="rect">
            <a:avLst/>
          </a:prstGeom>
          <a:solidFill>
            <a:schemeClr val="accent2"/>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100" b="1">
                <a:solidFill>
                  <a:schemeClr val="bg1"/>
                </a:solidFill>
                <a:latin typeface="+mn-ea"/>
              </a:rPr>
              <a:t>重要性の基準</a:t>
            </a:r>
          </a:p>
        </p:txBody>
      </p:sp>
    </p:spTree>
    <p:extLst>
      <p:ext uri="{BB962C8B-B14F-4D97-AF65-F5344CB8AC3E}">
        <p14:creationId xmlns:p14="http://schemas.microsoft.com/office/powerpoint/2010/main" val="2611571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160AB-D91E-0F74-EC26-414C4FB2129D}"/>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42B536DA-AB2B-DD41-5063-9914BF7FCB28}"/>
              </a:ext>
            </a:extLst>
          </p:cNvPr>
          <p:cNvSpPr>
            <a:spLocks noGrp="1"/>
          </p:cNvSpPr>
          <p:nvPr>
            <p:ph type="body" sz="quarter" idx="10"/>
          </p:nvPr>
        </p:nvSpPr>
        <p:spPr>
          <a:xfrm>
            <a:off x="809238" y="900889"/>
            <a:ext cx="10834681" cy="589672"/>
          </a:xfrm>
        </p:spPr>
        <p:txBody>
          <a:bodyPr vert="horz" lIns="91440" tIns="45720" rIns="91440" bIns="45720" rtlCol="0" anchor="t">
            <a:noAutofit/>
          </a:bodyPr>
          <a:lstStyle/>
          <a:p>
            <a:r>
              <a:rPr lang="ja-JP" altLang="en-US" sz="1800" b="0"/>
              <a:t>AWグループにおいて、工事収益に関連して以下の不適切な会計処理が発見されています。</a:t>
            </a:r>
          </a:p>
        </p:txBody>
      </p:sp>
      <p:sp>
        <p:nvSpPr>
          <p:cNvPr id="3" name="タイトル 2">
            <a:extLst>
              <a:ext uri="{FF2B5EF4-FFF2-40B4-BE49-F238E27FC236}">
                <a16:creationId xmlns:a16="http://schemas.microsoft.com/office/drawing/2014/main" id="{6121A782-A453-090E-973C-2CB7ABE9EF30}"/>
              </a:ext>
            </a:extLst>
          </p:cNvPr>
          <p:cNvSpPr>
            <a:spLocks noGrp="1"/>
          </p:cNvSpPr>
          <p:nvPr>
            <p:ph type="title"/>
          </p:nvPr>
        </p:nvSpPr>
        <p:spPr>
          <a:xfrm>
            <a:off x="658800" y="365508"/>
            <a:ext cx="5610171" cy="371961"/>
          </a:xfrm>
        </p:spPr>
        <p:txBody>
          <a:bodyPr>
            <a:normAutofit/>
          </a:bodyPr>
          <a:lstStyle/>
          <a:p>
            <a:r>
              <a:rPr lang="en-US" altLang="ja-JP"/>
              <a:t>3-6.工事案件</a:t>
            </a:r>
            <a:r>
              <a:rPr lang="ja-JP" altLang="en-US"/>
              <a:t>に係る不適切会計事案</a:t>
            </a:r>
          </a:p>
        </p:txBody>
      </p:sp>
      <p:graphicFrame>
        <p:nvGraphicFramePr>
          <p:cNvPr id="2" name="表 1">
            <a:extLst>
              <a:ext uri="{FF2B5EF4-FFF2-40B4-BE49-F238E27FC236}">
                <a16:creationId xmlns:a16="http://schemas.microsoft.com/office/drawing/2014/main" id="{AE047DEB-CC10-0B6E-538B-1802CDE5A364}"/>
              </a:ext>
            </a:extLst>
          </p:cNvPr>
          <p:cNvGraphicFramePr>
            <a:graphicFrameLocks noGrp="1"/>
          </p:cNvGraphicFramePr>
          <p:nvPr>
            <p:extLst>
              <p:ext uri="{D42A27DB-BD31-4B8C-83A1-F6EECF244321}">
                <p14:modId xmlns:p14="http://schemas.microsoft.com/office/powerpoint/2010/main" val="4226143769"/>
              </p:ext>
            </p:extLst>
          </p:nvPr>
        </p:nvGraphicFramePr>
        <p:xfrm>
          <a:off x="649996" y="1360667"/>
          <a:ext cx="10863209" cy="4140605"/>
        </p:xfrm>
        <a:graphic>
          <a:graphicData uri="http://schemas.openxmlformats.org/drawingml/2006/table">
            <a:tbl>
              <a:tblPr firstRow="1" bandRow="1">
                <a:tableStyleId>{5C22544A-7EE6-4342-B048-85BDC9FD1C3A}</a:tableStyleId>
              </a:tblPr>
              <a:tblGrid>
                <a:gridCol w="748488">
                  <a:extLst>
                    <a:ext uri="{9D8B030D-6E8A-4147-A177-3AD203B41FA5}">
                      <a16:colId xmlns:a16="http://schemas.microsoft.com/office/drawing/2014/main" val="2062402288"/>
                    </a:ext>
                  </a:extLst>
                </a:gridCol>
                <a:gridCol w="4693230">
                  <a:extLst>
                    <a:ext uri="{9D8B030D-6E8A-4147-A177-3AD203B41FA5}">
                      <a16:colId xmlns:a16="http://schemas.microsoft.com/office/drawing/2014/main" val="2491377948"/>
                    </a:ext>
                  </a:extLst>
                </a:gridCol>
                <a:gridCol w="5421491">
                  <a:extLst>
                    <a:ext uri="{9D8B030D-6E8A-4147-A177-3AD203B41FA5}">
                      <a16:colId xmlns:a16="http://schemas.microsoft.com/office/drawing/2014/main" val="3878590817"/>
                    </a:ext>
                  </a:extLst>
                </a:gridCol>
              </a:tblGrid>
              <a:tr h="614156">
                <a:tc>
                  <a:txBody>
                    <a:bodyPr/>
                    <a:lstStyle/>
                    <a:p>
                      <a:pPr algn="ctr"/>
                      <a:r>
                        <a:rPr kumimoji="1" lang="en-US" altLang="ja-JP"/>
                        <a:t>No.</a:t>
                      </a:r>
                      <a:endParaRPr kumimoji="1" lang="ja-JP" altLang="en-US"/>
                    </a:p>
                  </a:txBody>
                  <a:tcPr anchor="ctr"/>
                </a:tc>
                <a:tc>
                  <a:txBody>
                    <a:bodyPr/>
                    <a:lstStyle/>
                    <a:p>
                      <a:pPr algn="ctr"/>
                      <a:r>
                        <a:rPr kumimoji="1" lang="ja-JP" altLang="en-US"/>
                        <a:t>事案の内容</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発生原因</a:t>
                      </a:r>
                    </a:p>
                  </a:txBody>
                  <a:tcPr anchor="ctr"/>
                </a:tc>
                <a:extLst>
                  <a:ext uri="{0D108BD9-81ED-4DB2-BD59-A6C34878D82A}">
                    <a16:rowId xmlns:a16="http://schemas.microsoft.com/office/drawing/2014/main" val="2899885730"/>
                  </a:ext>
                </a:extLst>
              </a:tr>
              <a:tr h="792460">
                <a:tc>
                  <a:txBody>
                    <a:bodyPr/>
                    <a:lstStyle/>
                    <a:p>
                      <a:pPr algn="ctr"/>
                      <a:r>
                        <a:rPr kumimoji="1" lang="ja-JP" altLang="en-US"/>
                        <a:t>１</a:t>
                      </a:r>
                    </a:p>
                  </a:txBody>
                  <a:tcPr anchor="ctr"/>
                </a:tc>
                <a:tc>
                  <a:txBody>
                    <a:bodyPr/>
                    <a:lstStyle/>
                    <a:p>
                      <a:r>
                        <a:rPr kumimoji="1" lang="ja-JP" altLang="en-US" sz="1600"/>
                        <a:t>各プロジェクトについて、会計基準に基づいた収益認識基準の判断がなされていなかった。</a:t>
                      </a:r>
                    </a:p>
                  </a:txBody>
                  <a:tcPr anchor="ctr"/>
                </a:tc>
                <a:tc>
                  <a:txBody>
                    <a:bodyPr/>
                    <a:lstStyle/>
                    <a:p>
                      <a:r>
                        <a:rPr kumimoji="1" lang="ja-JP" altLang="en-US" sz="1600"/>
                        <a:t>収益認識基準の求める進行基準適用可否の条件を、十分に検討できていなかった。</a:t>
                      </a:r>
                      <a:endParaRPr kumimoji="1" lang="en-US" altLang="ja-JP" sz="1600"/>
                    </a:p>
                  </a:txBody>
                  <a:tcPr anchor="ctr"/>
                </a:tc>
                <a:extLst>
                  <a:ext uri="{0D108BD9-81ED-4DB2-BD59-A6C34878D82A}">
                    <a16:rowId xmlns:a16="http://schemas.microsoft.com/office/drawing/2014/main" val="985906880"/>
                  </a:ext>
                </a:extLst>
              </a:tr>
              <a:tr h="792460">
                <a:tc>
                  <a:txBody>
                    <a:bodyPr/>
                    <a:lstStyle/>
                    <a:p>
                      <a:pPr algn="ctr"/>
                      <a:r>
                        <a:rPr kumimoji="1" lang="ja-JP" altLang="en-US"/>
                        <a:t>２</a:t>
                      </a:r>
                    </a:p>
                  </a:txBody>
                  <a:tcPr anchor="ctr"/>
                </a:tc>
                <a:tc>
                  <a:txBody>
                    <a:bodyPr/>
                    <a:lstStyle/>
                    <a:p>
                      <a:r>
                        <a:rPr kumimoji="1" lang="ja-JP" altLang="en-US" sz="1600"/>
                        <a:t>正式な受注前に収益を認識し、売上の先行計上が行われた。</a:t>
                      </a:r>
                    </a:p>
                  </a:txBody>
                  <a:tcPr anchor="ctr"/>
                </a:tc>
                <a:tc>
                  <a:txBody>
                    <a:bodyPr/>
                    <a:lstStyle/>
                    <a:p>
                      <a:r>
                        <a:rPr lang="ja-JP" altLang="en-US" sz="1600" u="none"/>
                        <a:t>注文書入手前</a:t>
                      </a:r>
                      <a:r>
                        <a:rPr kumimoji="1" lang="ja-JP" altLang="en-US" sz="1600" u="none"/>
                        <a:t>の工事案件</a:t>
                      </a:r>
                      <a:r>
                        <a:rPr kumimoji="1" lang="ja-JP" altLang="en-US" sz="1600"/>
                        <a:t>について、売上高を計上していた。</a:t>
                      </a:r>
                    </a:p>
                  </a:txBody>
                  <a:tcPr anchor="ctr"/>
                </a:tc>
                <a:extLst>
                  <a:ext uri="{0D108BD9-81ED-4DB2-BD59-A6C34878D82A}">
                    <a16:rowId xmlns:a16="http://schemas.microsoft.com/office/drawing/2014/main" val="885145048"/>
                  </a:ext>
                </a:extLst>
              </a:tr>
              <a:tr h="1168880">
                <a:tc>
                  <a:txBody>
                    <a:bodyPr/>
                    <a:lstStyle/>
                    <a:p>
                      <a:pPr algn="ctr"/>
                      <a:r>
                        <a:rPr kumimoji="1" lang="ja-JP" altLang="en-US"/>
                        <a:t>３</a:t>
                      </a:r>
                    </a:p>
                  </a:txBody>
                  <a:tcPr anchor="ctr"/>
                </a:tc>
                <a:tc>
                  <a:txBody>
                    <a:bodyPr/>
                    <a:lstStyle/>
                    <a:p>
                      <a:r>
                        <a:rPr kumimoji="1" lang="ja-JP" altLang="en-US" sz="1600"/>
                        <a:t>工事の進捗率の操作により、売上の先行計上が行われた。</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仕様が固まらない段階での部材の先行製作、部材の先行出荷、プロジェクトと関係のない部材の原価計上により、架空経費の計上又は必要のない原価を発生させることで進捗率を上げ、工事収益を早期計上した。</a:t>
                      </a:r>
                    </a:p>
                  </a:txBody>
                  <a:tcPr anchor="ctr"/>
                </a:tc>
                <a:extLst>
                  <a:ext uri="{0D108BD9-81ED-4DB2-BD59-A6C34878D82A}">
                    <a16:rowId xmlns:a16="http://schemas.microsoft.com/office/drawing/2014/main" val="958969292"/>
                  </a:ext>
                </a:extLst>
              </a:tr>
              <a:tr h="772649">
                <a:tc>
                  <a:txBody>
                    <a:bodyPr/>
                    <a:lstStyle/>
                    <a:p>
                      <a:pPr algn="ctr"/>
                      <a:r>
                        <a:rPr kumimoji="1" lang="ja-JP" altLang="en-US"/>
                        <a:t>４</a:t>
                      </a:r>
                    </a:p>
                  </a:txBody>
                  <a:tcPr anchor="ctr"/>
                </a:tc>
                <a:tc>
                  <a:txBody>
                    <a:bodyPr/>
                    <a:lstStyle/>
                    <a:p>
                      <a:r>
                        <a:rPr kumimoji="1" lang="ja-JP" altLang="en-US" sz="1600"/>
                        <a:t>未完成工事に係る売上の前倒し計上が行われた。</a:t>
                      </a:r>
                    </a:p>
                  </a:txBody>
                  <a:tcPr anchor="ctr"/>
                </a:tc>
                <a:tc>
                  <a:txBody>
                    <a:bodyPr/>
                    <a:lstStyle/>
                    <a:p>
                      <a:r>
                        <a:rPr kumimoji="1" lang="ja-JP" altLang="en-US" sz="1600"/>
                        <a:t>工事完了報告書を入手しておらず、引渡証明書の偽造が行われたことで、工事の完了時期が誤って認識された。</a:t>
                      </a:r>
                    </a:p>
                  </a:txBody>
                  <a:tcPr anchor="ctr"/>
                </a:tc>
                <a:extLst>
                  <a:ext uri="{0D108BD9-81ED-4DB2-BD59-A6C34878D82A}">
                    <a16:rowId xmlns:a16="http://schemas.microsoft.com/office/drawing/2014/main" val="247751132"/>
                  </a:ext>
                </a:extLst>
              </a:tr>
            </a:tbl>
          </a:graphicData>
        </a:graphic>
      </p:graphicFrame>
      <p:sp>
        <p:nvSpPr>
          <p:cNvPr id="5" name="矢印: 五方向 4">
            <a:extLst>
              <a:ext uri="{FF2B5EF4-FFF2-40B4-BE49-F238E27FC236}">
                <a16:creationId xmlns:a16="http://schemas.microsoft.com/office/drawing/2014/main" id="{989DB51A-A17D-EA88-D685-8799874BF6CB}"/>
              </a:ext>
            </a:extLst>
          </p:cNvPr>
          <p:cNvSpPr/>
          <p:nvPr/>
        </p:nvSpPr>
        <p:spPr>
          <a:xfrm rot="5400000">
            <a:off x="5625971" y="1781175"/>
            <a:ext cx="922307" cy="8663934"/>
          </a:xfrm>
          <a:prstGeom prst="homePlate">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chemeClr val="tx1"/>
                </a:solidFill>
                <a:latin typeface="+mn-ea"/>
              </a:rPr>
              <a:t>上記事案を受けて、工事収益に関連する業務について改善が必要</a:t>
            </a:r>
            <a:endParaRPr lang="en-US" altLang="ja-JP">
              <a:solidFill>
                <a:schemeClr val="tx1"/>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800" b="0" i="0" u="none" strike="noStrike" kern="1200" cap="none" spc="0" normalizeH="0" baseline="0" noProof="0">
                <a:ln>
                  <a:noFill/>
                </a:ln>
                <a:solidFill>
                  <a:schemeClr val="tx1"/>
                </a:solidFill>
                <a:effectLst/>
                <a:uLnTx/>
                <a:uFillTx/>
                <a:latin typeface="+mn-ea"/>
                <a:cs typeface="+mn-cs"/>
              </a:rPr>
              <a:t>（次ページ）</a:t>
            </a:r>
          </a:p>
        </p:txBody>
      </p:sp>
    </p:spTree>
    <p:extLst>
      <p:ext uri="{BB962C8B-B14F-4D97-AF65-F5344CB8AC3E}">
        <p14:creationId xmlns:p14="http://schemas.microsoft.com/office/powerpoint/2010/main" val="10968909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857B1-A623-BFC3-974F-04C42C2B089A}"/>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03C187E8-4198-3528-D6B2-A2B2FBA13560}"/>
              </a:ext>
            </a:extLst>
          </p:cNvPr>
          <p:cNvSpPr>
            <a:spLocks noGrp="1"/>
          </p:cNvSpPr>
          <p:nvPr>
            <p:ph type="body" sz="quarter" idx="10"/>
          </p:nvPr>
        </p:nvSpPr>
        <p:spPr>
          <a:xfrm>
            <a:off x="796323" y="915531"/>
            <a:ext cx="10646260" cy="770485"/>
          </a:xfrm>
        </p:spPr>
        <p:txBody>
          <a:bodyPr vert="horz" lIns="91440" tIns="45720" rIns="91440" bIns="45720" rtlCol="0" anchor="t">
            <a:noAutofit/>
          </a:bodyPr>
          <a:lstStyle/>
          <a:p>
            <a:r>
              <a:rPr lang="ja-JP" altLang="en-US" sz="1800" b="0"/>
              <a:t>AWグループで発生した売上取引に関連する不適切な会計処理の再発防止案は以下の通りです。</a:t>
            </a:r>
          </a:p>
        </p:txBody>
      </p:sp>
      <p:sp>
        <p:nvSpPr>
          <p:cNvPr id="3" name="タイトル 2">
            <a:extLst>
              <a:ext uri="{FF2B5EF4-FFF2-40B4-BE49-F238E27FC236}">
                <a16:creationId xmlns:a16="http://schemas.microsoft.com/office/drawing/2014/main" id="{54D1783D-4A36-C17B-A7B6-4E9185CBF22E}"/>
              </a:ext>
            </a:extLst>
          </p:cNvPr>
          <p:cNvSpPr>
            <a:spLocks noGrp="1"/>
          </p:cNvSpPr>
          <p:nvPr>
            <p:ph type="title"/>
          </p:nvPr>
        </p:nvSpPr>
        <p:spPr/>
        <p:txBody>
          <a:bodyPr>
            <a:normAutofit/>
          </a:bodyPr>
          <a:lstStyle/>
          <a:p>
            <a:r>
              <a:rPr lang="en-US" altLang="ja-JP"/>
              <a:t>3-6.工事案件</a:t>
            </a:r>
            <a:r>
              <a:rPr lang="ja-JP" altLang="en-US"/>
              <a:t>に係る再発防止策</a:t>
            </a:r>
          </a:p>
        </p:txBody>
      </p:sp>
      <p:graphicFrame>
        <p:nvGraphicFramePr>
          <p:cNvPr id="2" name="表 1">
            <a:extLst>
              <a:ext uri="{FF2B5EF4-FFF2-40B4-BE49-F238E27FC236}">
                <a16:creationId xmlns:a16="http://schemas.microsoft.com/office/drawing/2014/main" id="{BF6B9CA0-4002-0767-6B1A-0A7D56024A46}"/>
              </a:ext>
            </a:extLst>
          </p:cNvPr>
          <p:cNvGraphicFramePr>
            <a:graphicFrameLocks noGrp="1"/>
          </p:cNvGraphicFramePr>
          <p:nvPr>
            <p:extLst>
              <p:ext uri="{D42A27DB-BD31-4B8C-83A1-F6EECF244321}">
                <p14:modId xmlns:p14="http://schemas.microsoft.com/office/powerpoint/2010/main" val="98281756"/>
              </p:ext>
            </p:extLst>
          </p:nvPr>
        </p:nvGraphicFramePr>
        <p:xfrm>
          <a:off x="536943" y="1408670"/>
          <a:ext cx="11165019" cy="5329924"/>
        </p:xfrm>
        <a:graphic>
          <a:graphicData uri="http://schemas.openxmlformats.org/drawingml/2006/table">
            <a:tbl>
              <a:tblPr firstRow="1" bandRow="1">
                <a:tableStyleId>{5C22544A-7EE6-4342-B048-85BDC9FD1C3A}</a:tableStyleId>
              </a:tblPr>
              <a:tblGrid>
                <a:gridCol w="655764">
                  <a:extLst>
                    <a:ext uri="{9D8B030D-6E8A-4147-A177-3AD203B41FA5}">
                      <a16:colId xmlns:a16="http://schemas.microsoft.com/office/drawing/2014/main" val="2062402288"/>
                    </a:ext>
                  </a:extLst>
                </a:gridCol>
                <a:gridCol w="2377451">
                  <a:extLst>
                    <a:ext uri="{9D8B030D-6E8A-4147-A177-3AD203B41FA5}">
                      <a16:colId xmlns:a16="http://schemas.microsoft.com/office/drawing/2014/main" val="2491377948"/>
                    </a:ext>
                  </a:extLst>
                </a:gridCol>
                <a:gridCol w="8131804">
                  <a:extLst>
                    <a:ext uri="{9D8B030D-6E8A-4147-A177-3AD203B41FA5}">
                      <a16:colId xmlns:a16="http://schemas.microsoft.com/office/drawing/2014/main" val="3878590817"/>
                    </a:ext>
                  </a:extLst>
                </a:gridCol>
              </a:tblGrid>
              <a:tr h="494527">
                <a:tc>
                  <a:txBody>
                    <a:bodyPr/>
                    <a:lstStyle/>
                    <a:p>
                      <a:pPr algn="ctr"/>
                      <a:r>
                        <a:rPr kumimoji="1" lang="en-US" altLang="ja-JP"/>
                        <a:t>No.</a:t>
                      </a:r>
                      <a:endParaRPr kumimoji="1" lang="ja-JP" altLang="en-US"/>
                    </a:p>
                  </a:txBody>
                  <a:tcPr anchor="ctr"/>
                </a:tc>
                <a:tc>
                  <a:txBody>
                    <a:bodyPr/>
                    <a:lstStyle/>
                    <a:p>
                      <a:pPr algn="ctr"/>
                      <a:r>
                        <a:rPr kumimoji="1" lang="ja-JP" altLang="en-US"/>
                        <a:t>再発防止策</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内容</a:t>
                      </a:r>
                    </a:p>
                  </a:txBody>
                  <a:tcPr anchor="ctr"/>
                </a:tc>
                <a:extLst>
                  <a:ext uri="{0D108BD9-81ED-4DB2-BD59-A6C34878D82A}">
                    <a16:rowId xmlns:a16="http://schemas.microsoft.com/office/drawing/2014/main" val="2899885730"/>
                  </a:ext>
                </a:extLst>
              </a:tr>
              <a:tr h="552224">
                <a:tc>
                  <a:txBody>
                    <a:bodyPr/>
                    <a:lstStyle/>
                    <a:p>
                      <a:pPr algn="ctr"/>
                      <a:r>
                        <a:rPr kumimoji="1" lang="ja-JP" altLang="en-US"/>
                        <a:t>①</a:t>
                      </a:r>
                    </a:p>
                  </a:txBody>
                  <a:tcPr anchor="ctr"/>
                </a:tc>
                <a:tc>
                  <a:txBody>
                    <a:bodyPr/>
                    <a:lstStyle/>
                    <a:p>
                      <a:r>
                        <a:rPr kumimoji="1" lang="ja-JP" altLang="en-US" sz="1600"/>
                        <a:t>適切な外部証憑の入手と保管</a:t>
                      </a:r>
                    </a:p>
                  </a:txBody>
                  <a:tcPr anchor="ctr"/>
                </a:tc>
                <a:tc>
                  <a:txBody>
                    <a:bodyPr/>
                    <a:lstStyle/>
                    <a:p>
                      <a:r>
                        <a:rPr kumimoji="1" lang="ja-JP" altLang="en-US" sz="1600"/>
                        <a:t>・契約書、注文書、覚書、引渡証明書といった</a:t>
                      </a:r>
                      <a:r>
                        <a:rPr kumimoji="1" lang="ja-JP" altLang="en-US" sz="1600" u="sng">
                          <a:solidFill>
                            <a:srgbClr val="FF0000"/>
                          </a:solidFill>
                        </a:rPr>
                        <a:t>取引先から入手</a:t>
                      </a:r>
                      <a:r>
                        <a:rPr lang="ja-JP" altLang="en-US" sz="1600" u="sng">
                          <a:solidFill>
                            <a:srgbClr val="FF0000"/>
                          </a:solidFill>
                        </a:rPr>
                        <a:t>すべき</a:t>
                      </a:r>
                      <a:r>
                        <a:rPr kumimoji="1" lang="ja-JP" altLang="en-US" sz="1600" u="sng">
                          <a:solidFill>
                            <a:srgbClr val="FF0000"/>
                          </a:solidFill>
                        </a:rPr>
                        <a:t>証憑を適切なタイミングで必ず入手</a:t>
                      </a:r>
                      <a:r>
                        <a:rPr kumimoji="1" lang="ja-JP" altLang="en-US" sz="1600"/>
                        <a:t>し、規程で定められた方法で必要な期間保管する。</a:t>
                      </a:r>
                      <a:endParaRPr kumimoji="1" lang="en-US" altLang="ja-JP" sz="1600"/>
                    </a:p>
                  </a:txBody>
                  <a:tcPr anchor="ctr"/>
                </a:tc>
                <a:extLst>
                  <a:ext uri="{0D108BD9-81ED-4DB2-BD59-A6C34878D82A}">
                    <a16:rowId xmlns:a16="http://schemas.microsoft.com/office/drawing/2014/main" val="885145048"/>
                  </a:ext>
                </a:extLst>
              </a:tr>
              <a:tr h="832419">
                <a:tc>
                  <a:txBody>
                    <a:bodyPr/>
                    <a:lstStyle/>
                    <a:p>
                      <a:pPr algn="ctr"/>
                      <a:r>
                        <a:rPr kumimoji="1" lang="ja-JP" altLang="en-US"/>
                        <a:t>②</a:t>
                      </a:r>
                    </a:p>
                  </a:txBody>
                  <a:tcPr anchor="ctr"/>
                </a:tc>
                <a:tc>
                  <a:txBody>
                    <a:bodyPr/>
                    <a:lstStyle/>
                    <a:p>
                      <a:r>
                        <a:rPr kumimoji="1" lang="ja-JP" altLang="en-US" sz="1600"/>
                        <a:t>外部証憑の記載内容に基づいた売上の計上</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a:t>
                      </a:r>
                      <a:r>
                        <a:rPr kumimoji="1" lang="ja-JP" altLang="en-US" sz="1600" u="sng">
                          <a:solidFill>
                            <a:srgbClr val="FF0000"/>
                          </a:solidFill>
                        </a:rPr>
                        <a:t>売上を計上する場合は外部証憑を根拠とする</a:t>
                      </a:r>
                      <a:r>
                        <a:rPr kumimoji="1" lang="ja-JP" altLang="en-US" sz="1600" u="none">
                          <a:solidFill>
                            <a:schemeClr val="tx1"/>
                          </a:solidFill>
                        </a:rPr>
                        <a:t>。</a:t>
                      </a:r>
                      <a:r>
                        <a:rPr kumimoji="1" lang="ja-JP" altLang="en-US" sz="1600"/>
                        <a:t>契約書や注文書の記載内容を根拠に売上高として計上する金額を決定し、完了報告書や引渡証明書の日付を基に工事の完了に伴う処理を行う。</a:t>
                      </a:r>
                    </a:p>
                  </a:txBody>
                  <a:tcPr anchor="ctr"/>
                </a:tc>
                <a:extLst>
                  <a:ext uri="{0D108BD9-81ED-4DB2-BD59-A6C34878D82A}">
                    <a16:rowId xmlns:a16="http://schemas.microsoft.com/office/drawing/2014/main" val="958969292"/>
                  </a:ext>
                </a:extLst>
              </a:tr>
              <a:tr h="1381698">
                <a:tc>
                  <a:txBody>
                    <a:bodyPr/>
                    <a:lstStyle/>
                    <a:p>
                      <a:pPr algn="ctr"/>
                      <a:r>
                        <a:rPr kumimoji="1" lang="ja-JP" altLang="en-US"/>
                        <a:t>③</a:t>
                      </a:r>
                    </a:p>
                  </a:txBody>
                  <a:tcPr anchor="ctr"/>
                </a:tc>
                <a:tc>
                  <a:txBody>
                    <a:bodyPr/>
                    <a:lstStyle/>
                    <a:p>
                      <a:r>
                        <a:rPr kumimoji="1" lang="ja-JP" altLang="en-US" sz="1600"/>
                        <a:t>適切な原価に基づいた進捗率の見積もり</a:t>
                      </a:r>
                    </a:p>
                  </a:txBody>
                  <a:tcPr anchor="ctr"/>
                </a:tc>
                <a:tc>
                  <a:txBody>
                    <a:bodyPr/>
                    <a:lstStyle/>
                    <a:p>
                      <a:r>
                        <a:rPr kumimoji="1" lang="ja-JP" altLang="en-US" sz="1600"/>
                        <a:t>・</a:t>
                      </a:r>
                      <a:r>
                        <a:rPr kumimoji="1" lang="ja-JP" altLang="en-US" sz="1600" u="sng">
                          <a:solidFill>
                            <a:srgbClr val="FF0000"/>
                          </a:solidFill>
                        </a:rPr>
                        <a:t>進捗率の見積もりについて、外部証憑と工事管理資料を根拠とした発生原価に基づいて行う</a:t>
                      </a:r>
                      <a:r>
                        <a:rPr kumimoji="1" lang="ja-JP" altLang="en-US" sz="1600"/>
                        <a:t>。</a:t>
                      </a:r>
                      <a:endParaRPr kumimoji="1" lang="en-US" altLang="ja-JP" sz="1600"/>
                    </a:p>
                    <a:p>
                      <a:r>
                        <a:rPr kumimoji="1" lang="ja-JP" altLang="en-US" sz="1600"/>
                        <a:t>・実行予算、工程管理表</a:t>
                      </a:r>
                      <a:r>
                        <a:rPr kumimoji="1" lang="ja-JP" altLang="en-US" sz="1600" kern="1200">
                          <a:solidFill>
                            <a:schemeClr val="dk1"/>
                          </a:solidFill>
                          <a:latin typeface="+mn-lt"/>
                          <a:ea typeface="+mn-ea"/>
                          <a:cs typeface="+mn-cs"/>
                        </a:rPr>
                        <a:t>、原価管理表といった原価の管理資料について、上長により承認され、適切な方法で見積もりと管理が行われていることを確認する。</a:t>
                      </a:r>
                      <a:endParaRPr kumimoji="1" lang="en-US" altLang="ja-JP" sz="1600" kern="1200">
                        <a:solidFill>
                          <a:schemeClr val="dk1"/>
                        </a:solidFill>
                        <a:latin typeface="+mn-lt"/>
                        <a:ea typeface="+mn-ea"/>
                        <a:cs typeface="+mn-cs"/>
                      </a:endParaRPr>
                    </a:p>
                    <a:p>
                      <a:r>
                        <a:rPr kumimoji="1" lang="ja-JP" altLang="en-US" sz="1600" kern="1200">
                          <a:solidFill>
                            <a:schemeClr val="dk1"/>
                          </a:solidFill>
                          <a:latin typeface="+mn-lt"/>
                          <a:ea typeface="+mn-ea"/>
                          <a:cs typeface="+mn-cs"/>
                        </a:rPr>
                        <a:t>・原価の付け替えを防止するため、</a:t>
                      </a:r>
                      <a:r>
                        <a:rPr kumimoji="1" lang="ja-JP" altLang="en-US" sz="1600"/>
                        <a:t>「未計上原価申請書」「原価振替依頼書」について適切なチェック体制を構築する。</a:t>
                      </a:r>
                      <a:endParaRPr kumimoji="1" lang="en-US" altLang="ja-JP" sz="16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a:solidFill>
                            <a:schemeClr val="dk1"/>
                          </a:solidFill>
                          <a:latin typeface="+mn-lt"/>
                          <a:ea typeface="+mn-ea"/>
                          <a:cs typeface="+mn-cs"/>
                        </a:rPr>
                        <a:t>・人件費の付け替えを防止するため、</a:t>
                      </a:r>
                      <a:r>
                        <a:rPr kumimoji="1" lang="ja-JP" altLang="en-US" sz="1600"/>
                        <a:t>人件費と紐づけられた勤怠管理資料の作成と適切なチェック体制を構築する。</a:t>
                      </a:r>
                    </a:p>
                  </a:txBody>
                  <a:tcPr anchor="ctr"/>
                </a:tc>
                <a:extLst>
                  <a:ext uri="{0D108BD9-81ED-4DB2-BD59-A6C34878D82A}">
                    <a16:rowId xmlns:a16="http://schemas.microsoft.com/office/drawing/2014/main" val="247751132"/>
                  </a:ext>
                </a:extLst>
              </a:tr>
              <a:tr h="1381698">
                <a:tc>
                  <a:txBody>
                    <a:bodyPr/>
                    <a:lstStyle/>
                    <a:p>
                      <a:pPr algn="ctr"/>
                      <a:r>
                        <a:rPr kumimoji="1" lang="ja-JP" altLang="en-US"/>
                        <a:t>④</a:t>
                      </a:r>
                    </a:p>
                  </a:txBody>
                  <a:tcPr anchor="ctr"/>
                </a:tc>
                <a:tc>
                  <a:txBody>
                    <a:bodyPr/>
                    <a:lstStyle/>
                    <a:p>
                      <a:r>
                        <a:rPr kumimoji="1" lang="ja-JP" altLang="en-US" sz="1600"/>
                        <a:t>会計基準に基づく収益認識判断</a:t>
                      </a:r>
                    </a:p>
                  </a:txBody>
                  <a:tcPr anchor="ctr"/>
                </a:tc>
                <a:tc>
                  <a:txBody>
                    <a:bodyPr/>
                    <a:lstStyle/>
                    <a:p>
                      <a:r>
                        <a:rPr kumimoji="1" lang="ja-JP" altLang="en-US" sz="1600"/>
                        <a:t>・「履行義務」毎に収益認識基準を個別に判定し、適用する（規程やチェックリストの整備と運用を含む）。</a:t>
                      </a:r>
                      <a:endParaRPr kumimoji="1" lang="en-US" altLang="ja-JP" sz="1600"/>
                    </a:p>
                    <a:p>
                      <a:r>
                        <a:rPr kumimoji="1" lang="ja-JP" altLang="en-US" sz="1600"/>
                        <a:t>・従来のプロジェクト単位ではなく、「履行義務」が会計処理の単位となるため、プロジェクトの範囲の検討に際して留意する。</a:t>
                      </a:r>
                      <a:endParaRPr kumimoji="1" lang="en-US" altLang="ja-JP" sz="1600"/>
                    </a:p>
                  </a:txBody>
                  <a:tcPr anchor="ctr"/>
                </a:tc>
                <a:extLst>
                  <a:ext uri="{0D108BD9-81ED-4DB2-BD59-A6C34878D82A}">
                    <a16:rowId xmlns:a16="http://schemas.microsoft.com/office/drawing/2014/main" val="2168827133"/>
                  </a:ext>
                </a:extLst>
              </a:tr>
            </a:tbl>
          </a:graphicData>
        </a:graphic>
      </p:graphicFrame>
    </p:spTree>
    <p:extLst>
      <p:ext uri="{BB962C8B-B14F-4D97-AF65-F5344CB8AC3E}">
        <p14:creationId xmlns:p14="http://schemas.microsoft.com/office/powerpoint/2010/main" val="839063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72A6-64D4-903B-2ADA-80415EC1EB14}"/>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8A4D3FB-D6F6-6E03-C442-9A7365B99B17}"/>
              </a:ext>
            </a:extLst>
          </p:cNvPr>
          <p:cNvGraphicFramePr>
            <a:graphicFrameLocks noChangeAspect="1"/>
          </p:cNvGraphicFramePr>
          <p:nvPr>
            <p:custDataLst>
              <p:tags r:id="rId1"/>
            </p:custDataLst>
            <p:extLst>
              <p:ext uri="{D42A27DB-BD31-4B8C-83A1-F6EECF244321}">
                <p14:modId xmlns:p14="http://schemas.microsoft.com/office/powerpoint/2010/main" val="1237103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512" imgH="511" progId="TCLayout.ActiveDocument.1">
                  <p:embed/>
                </p:oleObj>
              </mc:Choice>
              <mc:Fallback>
                <p:oleObj name="think-cellスライド" r:id="rId4" imgW="512" imgH="511" progId="TCLayout.ActiveDocument.1">
                  <p:embed/>
                  <p:pic>
                    <p:nvPicPr>
                      <p:cNvPr id="4" name="think-cell data - do not delete" hidden="1">
                        <a:extLst>
                          <a:ext uri="{FF2B5EF4-FFF2-40B4-BE49-F238E27FC236}">
                            <a16:creationId xmlns:a16="http://schemas.microsoft.com/office/drawing/2014/main" id="{88A4D3FB-D6F6-6E03-C442-9A7365B99B1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C603523C-3256-13F5-CDA1-577155C8B703}"/>
              </a:ext>
            </a:extLst>
          </p:cNvPr>
          <p:cNvSpPr>
            <a:spLocks noGrp="1"/>
          </p:cNvSpPr>
          <p:nvPr>
            <p:ph type="title"/>
          </p:nvPr>
        </p:nvSpPr>
        <p:spPr>
          <a:xfrm>
            <a:off x="659999" y="365508"/>
            <a:ext cx="6869385" cy="371961"/>
          </a:xfrm>
        </p:spPr>
        <p:txBody>
          <a:bodyPr vert="horz">
            <a:normAutofit/>
          </a:bodyPr>
          <a:lstStyle/>
          <a:p>
            <a:r>
              <a:rPr lang="en-US" altLang="ja-JP"/>
              <a:t>3-6.</a:t>
            </a:r>
            <a:r>
              <a:rPr lang="ja-JP" altLang="en-US"/>
              <a:t>赤字案件、部門間や工事案件等の原価付替</a:t>
            </a:r>
          </a:p>
        </p:txBody>
      </p:sp>
      <p:sp>
        <p:nvSpPr>
          <p:cNvPr id="2" name="正方形/長方形 1">
            <a:extLst>
              <a:ext uri="{FF2B5EF4-FFF2-40B4-BE49-F238E27FC236}">
                <a16:creationId xmlns:a16="http://schemas.microsoft.com/office/drawing/2014/main" id="{995C2D80-F233-BAAF-3DF6-150510DA832A}"/>
              </a:ext>
            </a:extLst>
          </p:cNvPr>
          <p:cNvSpPr/>
          <p:nvPr/>
        </p:nvSpPr>
        <p:spPr bwMode="gray">
          <a:xfrm>
            <a:off x="2127658" y="1621485"/>
            <a:ext cx="9720000" cy="79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防災において、各工事案件の実行予算と実績原価の乖離を回避するために、多数の部署にわたって、設計費や外注費を異なる工事のオーダー番号に紐づける原価付替による利益操作が行われていた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また、実際の作業実態を確認するための証憑類が十分に保存されていなかった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6F1638DB-E6B6-1DB0-E30F-6E7FE6EB47B4}"/>
              </a:ext>
            </a:extLst>
          </p:cNvPr>
          <p:cNvSpPr/>
          <p:nvPr/>
        </p:nvSpPr>
        <p:spPr bwMode="gray">
          <a:xfrm>
            <a:off x="507602" y="1621485"/>
            <a:ext cx="1260000" cy="79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C2E1DB8F-0FD7-F0DA-C16E-ED502BFD99E4}"/>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利益率の悪い案件の原価を利益率の良い案件の原価へ付け替える処理は、進捗度の恣意的な操作につながり、売上や利益にも影響を及ぼすため、原価・人件費付替を防止するチェック体制の構築が必要です</a:t>
            </a:r>
          </a:p>
        </p:txBody>
      </p:sp>
      <p:sp>
        <p:nvSpPr>
          <p:cNvPr id="5" name="正方形/長方形 4">
            <a:extLst>
              <a:ext uri="{FF2B5EF4-FFF2-40B4-BE49-F238E27FC236}">
                <a16:creationId xmlns:a16="http://schemas.microsoft.com/office/drawing/2014/main" id="{94AA6332-07F6-2DE6-4E12-F0C9CF64E1D5}"/>
              </a:ext>
            </a:extLst>
          </p:cNvPr>
          <p:cNvSpPr/>
          <p:nvPr/>
        </p:nvSpPr>
        <p:spPr bwMode="gray">
          <a:xfrm>
            <a:off x="940067" y="2868918"/>
            <a:ext cx="700960" cy="1955212"/>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総収益</a:t>
            </a:r>
            <a:endParaRPr lang="en-US" altLang="ja-JP" sz="1200">
              <a:solidFill>
                <a:prstClr val="black"/>
              </a:solidFill>
            </a:endParaRPr>
          </a:p>
          <a:p>
            <a:pPr algn="ctr" defTabSz="990564">
              <a:buSzPct val="100000"/>
            </a:pPr>
            <a:r>
              <a:rPr lang="en-US" altLang="ja-JP" sz="1200">
                <a:solidFill>
                  <a:prstClr val="black"/>
                </a:solidFill>
              </a:rPr>
              <a:t>100</a:t>
            </a:r>
            <a:endParaRPr lang="ja-JP" altLang="en-US" sz="1200">
              <a:solidFill>
                <a:prstClr val="black"/>
              </a:solidFill>
            </a:endParaRPr>
          </a:p>
        </p:txBody>
      </p:sp>
      <p:sp>
        <p:nvSpPr>
          <p:cNvPr id="6" name="正方形/長方形 5">
            <a:extLst>
              <a:ext uri="{FF2B5EF4-FFF2-40B4-BE49-F238E27FC236}">
                <a16:creationId xmlns:a16="http://schemas.microsoft.com/office/drawing/2014/main" id="{864F1C8F-DC1A-267D-0ADD-73758F166657}"/>
              </a:ext>
            </a:extLst>
          </p:cNvPr>
          <p:cNvSpPr/>
          <p:nvPr/>
        </p:nvSpPr>
        <p:spPr bwMode="gray">
          <a:xfrm>
            <a:off x="3750493" y="2864506"/>
            <a:ext cx="717120" cy="1659789"/>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総収益</a:t>
            </a:r>
            <a:endParaRPr lang="en-US" altLang="ja-JP" sz="1200">
              <a:solidFill>
                <a:prstClr val="black"/>
              </a:solidFill>
            </a:endParaRPr>
          </a:p>
          <a:p>
            <a:pPr algn="ctr" defTabSz="990564">
              <a:buSzPct val="100000"/>
            </a:pPr>
            <a:r>
              <a:rPr lang="en-US" altLang="ja-JP" sz="1200">
                <a:solidFill>
                  <a:prstClr val="black"/>
                </a:solidFill>
              </a:rPr>
              <a:t>80</a:t>
            </a:r>
            <a:endParaRPr lang="ja-JP" altLang="en-US" sz="1200">
              <a:solidFill>
                <a:prstClr val="black"/>
              </a:solidFill>
            </a:endParaRPr>
          </a:p>
        </p:txBody>
      </p:sp>
      <p:sp>
        <p:nvSpPr>
          <p:cNvPr id="7" name="正方形/長方形 6">
            <a:extLst>
              <a:ext uri="{FF2B5EF4-FFF2-40B4-BE49-F238E27FC236}">
                <a16:creationId xmlns:a16="http://schemas.microsoft.com/office/drawing/2014/main" id="{563706A1-8649-9C46-64DD-42D6257B270C}"/>
              </a:ext>
            </a:extLst>
          </p:cNvPr>
          <p:cNvSpPr/>
          <p:nvPr/>
        </p:nvSpPr>
        <p:spPr bwMode="gray">
          <a:xfrm>
            <a:off x="4467613" y="2862405"/>
            <a:ext cx="717120" cy="1962754"/>
          </a:xfrm>
          <a:prstGeom prst="rect">
            <a:avLst/>
          </a:prstGeom>
          <a:solidFill>
            <a:srgbClr val="FFC000"/>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実際発生原価</a:t>
            </a:r>
            <a:endParaRPr lang="en-US" altLang="ja-JP" sz="1200">
              <a:solidFill>
                <a:prstClr val="black"/>
              </a:solidFill>
            </a:endParaRPr>
          </a:p>
          <a:p>
            <a:pPr algn="ctr" defTabSz="990564">
              <a:buSzPct val="100000"/>
            </a:pPr>
            <a:r>
              <a:rPr lang="en-US" altLang="ja-JP" sz="1200">
                <a:solidFill>
                  <a:prstClr val="black"/>
                </a:solidFill>
              </a:rPr>
              <a:t>100</a:t>
            </a:r>
            <a:endParaRPr lang="ja-JP" altLang="en-US" sz="1200">
              <a:solidFill>
                <a:prstClr val="black"/>
              </a:solidFill>
            </a:endParaRPr>
          </a:p>
        </p:txBody>
      </p:sp>
      <p:sp>
        <p:nvSpPr>
          <p:cNvPr id="9" name="テキスト ボックス 8">
            <a:extLst>
              <a:ext uri="{FF2B5EF4-FFF2-40B4-BE49-F238E27FC236}">
                <a16:creationId xmlns:a16="http://schemas.microsoft.com/office/drawing/2014/main" id="{E871B166-9C7B-EDBF-645A-0E306D6B464F}"/>
              </a:ext>
            </a:extLst>
          </p:cNvPr>
          <p:cNvSpPr txBox="1"/>
          <p:nvPr/>
        </p:nvSpPr>
        <p:spPr bwMode="gray">
          <a:xfrm>
            <a:off x="348777" y="5036533"/>
            <a:ext cx="1980000" cy="1584000"/>
          </a:xfrm>
          <a:prstGeom prst="rect">
            <a:avLst/>
          </a:prstGeom>
          <a:noFill/>
        </p:spPr>
        <p:txBody>
          <a:bodyPr wrap="square" lIns="0" tIns="0" rIns="0" bIns="0" rtlCol="0">
            <a:spAutoFit/>
          </a:bodyPr>
          <a:lstStyle/>
          <a:p>
            <a:pPr defTabSz="990564">
              <a:buSzPct val="100000"/>
            </a:pPr>
            <a:r>
              <a:rPr lang="en-US" altLang="ja-JP" sz="1400">
                <a:solidFill>
                  <a:prstClr val="black"/>
                </a:solidFill>
              </a:rPr>
              <a:t>PJ</a:t>
            </a:r>
            <a:r>
              <a:rPr lang="ja-JP" altLang="en-US" sz="1400">
                <a:solidFill>
                  <a:prstClr val="black"/>
                </a:solidFill>
              </a:rPr>
              <a:t>総収益</a:t>
            </a:r>
            <a:r>
              <a:rPr lang="en-US" altLang="ja-JP" sz="1400">
                <a:solidFill>
                  <a:prstClr val="black"/>
                </a:solidFill>
              </a:rPr>
              <a:t>100</a:t>
            </a:r>
          </a:p>
          <a:p>
            <a:pPr defTabSz="990564">
              <a:buSzPct val="100000"/>
            </a:pPr>
            <a:r>
              <a:rPr lang="en-US" altLang="ja-JP" sz="1400">
                <a:solidFill>
                  <a:prstClr val="black"/>
                </a:solidFill>
              </a:rPr>
              <a:t>PJ</a:t>
            </a:r>
            <a:r>
              <a:rPr lang="ja-JP" altLang="en-US" sz="1400">
                <a:solidFill>
                  <a:prstClr val="black"/>
                </a:solidFill>
              </a:rPr>
              <a:t>総原価  </a:t>
            </a:r>
            <a:r>
              <a:rPr lang="en-US" altLang="ja-JP" sz="1400">
                <a:solidFill>
                  <a:prstClr val="black"/>
                </a:solidFill>
              </a:rPr>
              <a:t>50</a:t>
            </a:r>
          </a:p>
          <a:p>
            <a:pPr defTabSz="990564">
              <a:buSzPct val="100000"/>
            </a:pPr>
            <a:r>
              <a:rPr lang="ja-JP" altLang="en-US" sz="1400">
                <a:solidFill>
                  <a:prstClr val="black"/>
                </a:solidFill>
              </a:rPr>
              <a:t>とする。</a:t>
            </a:r>
            <a:endParaRPr lang="en-US" altLang="ja-JP" sz="1400">
              <a:solidFill>
                <a:prstClr val="black"/>
              </a:solidFill>
            </a:endParaRPr>
          </a:p>
          <a:p>
            <a:pPr defTabSz="990564">
              <a:buSzPct val="100000"/>
            </a:pPr>
            <a:r>
              <a:rPr lang="ja-JP" altLang="en-US" sz="1400">
                <a:solidFill>
                  <a:prstClr val="black"/>
                </a:solidFill>
              </a:rPr>
              <a:t>今年度実際の原価が</a:t>
            </a:r>
            <a:r>
              <a:rPr lang="en-US" altLang="ja-JP" sz="1400">
                <a:solidFill>
                  <a:prstClr val="black"/>
                </a:solidFill>
              </a:rPr>
              <a:t>30</a:t>
            </a:r>
            <a:br>
              <a:rPr lang="en-US" altLang="ja-JP" sz="1400">
                <a:solidFill>
                  <a:prstClr val="black"/>
                </a:solidFill>
              </a:rPr>
            </a:br>
            <a:r>
              <a:rPr lang="ja-JP" altLang="en-US" sz="1400">
                <a:solidFill>
                  <a:prstClr val="black"/>
                </a:solidFill>
              </a:rPr>
              <a:t>発生したとすると、</a:t>
            </a:r>
            <a:endParaRPr lang="en-US" altLang="ja-JP" sz="1400">
              <a:solidFill>
                <a:prstClr val="black"/>
              </a:solidFill>
            </a:endParaRPr>
          </a:p>
          <a:p>
            <a:pPr defTabSz="990564">
              <a:buSzPct val="100000"/>
            </a:pPr>
            <a:r>
              <a:rPr lang="ja-JP" altLang="en-US" sz="1400" b="1" u="sng">
                <a:solidFill>
                  <a:prstClr val="black"/>
                </a:solidFill>
              </a:rPr>
              <a:t>進捗度は</a:t>
            </a:r>
            <a:r>
              <a:rPr lang="en-US" altLang="ja-JP" sz="1400" b="1" u="sng">
                <a:solidFill>
                  <a:prstClr val="black"/>
                </a:solidFill>
              </a:rPr>
              <a:t>30/50=</a:t>
            </a:r>
            <a:r>
              <a:rPr lang="en-US" altLang="ja-JP" sz="1400" b="1" u="sng">
                <a:solidFill>
                  <a:prstClr val="black"/>
                </a:solidFill>
                <a:highlight>
                  <a:srgbClr val="00FFFF"/>
                </a:highlight>
              </a:rPr>
              <a:t>60%</a:t>
            </a:r>
          </a:p>
          <a:p>
            <a:pPr defTabSz="990564">
              <a:buSzPct val="100000"/>
            </a:pPr>
            <a:r>
              <a:rPr lang="ja-JP" altLang="en-US" sz="1400" b="1" u="sng">
                <a:solidFill>
                  <a:prstClr val="black"/>
                </a:solidFill>
              </a:rPr>
              <a:t>⇒売上も</a:t>
            </a:r>
            <a:r>
              <a:rPr lang="en-US" altLang="ja-JP" sz="1400" b="1" u="sng">
                <a:solidFill>
                  <a:prstClr val="black"/>
                </a:solidFill>
              </a:rPr>
              <a:t>100*60%=</a:t>
            </a:r>
            <a:r>
              <a:rPr lang="en-US" altLang="ja-JP" sz="1400" b="1" u="sng">
                <a:solidFill>
                  <a:prstClr val="black"/>
                </a:solidFill>
                <a:highlight>
                  <a:srgbClr val="00FFFF"/>
                </a:highlight>
              </a:rPr>
              <a:t>60</a:t>
            </a:r>
          </a:p>
        </p:txBody>
      </p:sp>
      <p:sp>
        <p:nvSpPr>
          <p:cNvPr id="10" name="正方形/長方形 9">
            <a:extLst>
              <a:ext uri="{FF2B5EF4-FFF2-40B4-BE49-F238E27FC236}">
                <a16:creationId xmlns:a16="http://schemas.microsoft.com/office/drawing/2014/main" id="{5B7381C7-EA62-82A3-0E33-3CA54CF250B1}"/>
              </a:ext>
            </a:extLst>
          </p:cNvPr>
          <p:cNvSpPr/>
          <p:nvPr/>
        </p:nvSpPr>
        <p:spPr bwMode="gray">
          <a:xfrm>
            <a:off x="6548907" y="2868918"/>
            <a:ext cx="717120" cy="1965033"/>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総収益</a:t>
            </a:r>
            <a:endParaRPr lang="en-US" altLang="ja-JP" sz="1200">
              <a:solidFill>
                <a:prstClr val="black"/>
              </a:solidFill>
            </a:endParaRPr>
          </a:p>
          <a:p>
            <a:pPr algn="ctr" defTabSz="990564">
              <a:buSzPct val="100000"/>
            </a:pPr>
            <a:r>
              <a:rPr lang="en-US" altLang="ja-JP" sz="1200">
                <a:solidFill>
                  <a:prstClr val="black"/>
                </a:solidFill>
              </a:rPr>
              <a:t>100</a:t>
            </a:r>
            <a:endParaRPr lang="ja-JP" altLang="en-US" sz="1200">
              <a:solidFill>
                <a:prstClr val="black"/>
              </a:solidFill>
            </a:endParaRPr>
          </a:p>
        </p:txBody>
      </p:sp>
      <p:sp>
        <p:nvSpPr>
          <p:cNvPr id="12" name="正方形/長方形 11">
            <a:extLst>
              <a:ext uri="{FF2B5EF4-FFF2-40B4-BE49-F238E27FC236}">
                <a16:creationId xmlns:a16="http://schemas.microsoft.com/office/drawing/2014/main" id="{E7255C9E-375C-9938-4137-BDCBB7F8F8F8}"/>
              </a:ext>
            </a:extLst>
          </p:cNvPr>
          <p:cNvSpPr/>
          <p:nvPr/>
        </p:nvSpPr>
        <p:spPr bwMode="gray">
          <a:xfrm>
            <a:off x="9361477" y="2860126"/>
            <a:ext cx="717120" cy="1652570"/>
          </a:xfrm>
          <a:prstGeom prst="rect">
            <a:avLst/>
          </a:prstGeom>
          <a:solidFill>
            <a:srgbClr val="9DD4C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総収益</a:t>
            </a:r>
            <a:endParaRPr lang="en-US" altLang="ja-JP" sz="1200">
              <a:solidFill>
                <a:prstClr val="black"/>
              </a:solidFill>
            </a:endParaRPr>
          </a:p>
          <a:p>
            <a:pPr algn="ctr" defTabSz="990564">
              <a:buSzPct val="100000"/>
            </a:pPr>
            <a:r>
              <a:rPr lang="en-US" altLang="ja-JP" sz="1200">
                <a:solidFill>
                  <a:prstClr val="black"/>
                </a:solidFill>
              </a:rPr>
              <a:t>80</a:t>
            </a:r>
            <a:endParaRPr lang="ja-JP" altLang="en-US" sz="1200">
              <a:solidFill>
                <a:prstClr val="black"/>
              </a:solidFill>
            </a:endParaRPr>
          </a:p>
        </p:txBody>
      </p:sp>
      <p:sp>
        <p:nvSpPr>
          <p:cNvPr id="14" name="正方形/長方形 13">
            <a:extLst>
              <a:ext uri="{FF2B5EF4-FFF2-40B4-BE49-F238E27FC236}">
                <a16:creationId xmlns:a16="http://schemas.microsoft.com/office/drawing/2014/main" id="{0522EED1-7264-1BB3-9E1E-44A44B5CC2DE}"/>
              </a:ext>
            </a:extLst>
          </p:cNvPr>
          <p:cNvSpPr/>
          <p:nvPr/>
        </p:nvSpPr>
        <p:spPr bwMode="gray">
          <a:xfrm>
            <a:off x="10078597" y="2860126"/>
            <a:ext cx="714342" cy="1654184"/>
          </a:xfrm>
          <a:prstGeom prst="rect">
            <a:avLst/>
          </a:prstGeom>
          <a:solidFill>
            <a:srgbClr val="E3E48D"/>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総原価</a:t>
            </a:r>
            <a:endParaRPr lang="en-US" altLang="ja-JP" sz="1200">
              <a:solidFill>
                <a:prstClr val="black"/>
              </a:solidFill>
            </a:endParaRPr>
          </a:p>
          <a:p>
            <a:pPr algn="ctr" defTabSz="990564">
              <a:buSzPct val="100000"/>
            </a:pPr>
            <a:r>
              <a:rPr lang="en-US" altLang="ja-JP" sz="1200">
                <a:solidFill>
                  <a:prstClr val="black"/>
                </a:solidFill>
              </a:rPr>
              <a:t>100</a:t>
            </a:r>
            <a:endParaRPr lang="ja-JP" altLang="en-US" sz="1200">
              <a:solidFill>
                <a:prstClr val="black"/>
              </a:solidFill>
            </a:endParaRPr>
          </a:p>
        </p:txBody>
      </p:sp>
      <p:sp>
        <p:nvSpPr>
          <p:cNvPr id="15" name="正方形/長方形 14">
            <a:extLst>
              <a:ext uri="{FF2B5EF4-FFF2-40B4-BE49-F238E27FC236}">
                <a16:creationId xmlns:a16="http://schemas.microsoft.com/office/drawing/2014/main" id="{BC864383-DA0A-6D02-AF76-F4392E516AC8}"/>
              </a:ext>
            </a:extLst>
          </p:cNvPr>
          <p:cNvSpPr/>
          <p:nvPr/>
        </p:nvSpPr>
        <p:spPr bwMode="gray">
          <a:xfrm>
            <a:off x="10078597" y="4512696"/>
            <a:ext cx="717120" cy="312463"/>
          </a:xfrm>
          <a:prstGeom prst="rect">
            <a:avLst/>
          </a:prstGeom>
          <a:solidFill>
            <a:schemeClr val="bg1">
              <a:lumMod val="6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20</a:t>
            </a:r>
            <a:endParaRPr lang="ja-JP" altLang="en-US" sz="1200">
              <a:solidFill>
                <a:prstClr val="black"/>
              </a:solidFill>
            </a:endParaRPr>
          </a:p>
        </p:txBody>
      </p:sp>
      <p:sp>
        <p:nvSpPr>
          <p:cNvPr id="16" name="正方形/長方形 15">
            <a:extLst>
              <a:ext uri="{FF2B5EF4-FFF2-40B4-BE49-F238E27FC236}">
                <a16:creationId xmlns:a16="http://schemas.microsoft.com/office/drawing/2014/main" id="{60244DDE-5BB2-1132-0181-DBC5C672B0B9}"/>
              </a:ext>
            </a:extLst>
          </p:cNvPr>
          <p:cNvSpPr/>
          <p:nvPr/>
        </p:nvSpPr>
        <p:spPr bwMode="gray">
          <a:xfrm>
            <a:off x="7274977" y="3512164"/>
            <a:ext cx="709200" cy="385200"/>
          </a:xfrm>
          <a:prstGeom prst="rect">
            <a:avLst/>
          </a:prstGeom>
          <a:solidFill>
            <a:schemeClr val="bg1">
              <a:lumMod val="65000"/>
            </a:schemeClr>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20</a:t>
            </a:r>
            <a:endParaRPr lang="ja-JP" altLang="en-US" sz="1200">
              <a:solidFill>
                <a:prstClr val="black"/>
              </a:solidFill>
            </a:endParaRPr>
          </a:p>
        </p:txBody>
      </p:sp>
      <p:sp>
        <p:nvSpPr>
          <p:cNvPr id="17" name="正方形/長方形 16">
            <a:extLst>
              <a:ext uri="{FF2B5EF4-FFF2-40B4-BE49-F238E27FC236}">
                <a16:creationId xmlns:a16="http://schemas.microsoft.com/office/drawing/2014/main" id="{E29C50F7-22B6-CA71-A0D1-96F7C2A39D64}"/>
              </a:ext>
            </a:extLst>
          </p:cNvPr>
          <p:cNvSpPr/>
          <p:nvPr/>
        </p:nvSpPr>
        <p:spPr bwMode="gray">
          <a:xfrm>
            <a:off x="1645887" y="2870111"/>
            <a:ext cx="700960" cy="642053"/>
          </a:xfrm>
          <a:prstGeom prst="rect">
            <a:avLst/>
          </a:prstGeom>
          <a:solidFill>
            <a:srgbClr val="FFCD00"/>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実際発生原価</a:t>
            </a:r>
            <a:endParaRPr lang="en-US" altLang="ja-JP" sz="1200">
              <a:solidFill>
                <a:prstClr val="black"/>
              </a:solidFill>
            </a:endParaRPr>
          </a:p>
          <a:p>
            <a:pPr algn="ctr" defTabSz="990564">
              <a:buSzPct val="100000"/>
            </a:pPr>
            <a:r>
              <a:rPr lang="en-US" altLang="ja-JP" sz="1200">
                <a:solidFill>
                  <a:prstClr val="black"/>
                </a:solidFill>
              </a:rPr>
              <a:t>30</a:t>
            </a:r>
          </a:p>
        </p:txBody>
      </p:sp>
      <p:sp>
        <p:nvSpPr>
          <p:cNvPr id="18" name="正方形/長方形 17">
            <a:extLst>
              <a:ext uri="{FF2B5EF4-FFF2-40B4-BE49-F238E27FC236}">
                <a16:creationId xmlns:a16="http://schemas.microsoft.com/office/drawing/2014/main" id="{2D67D222-FABD-D154-4D76-594B8ED25D4F}"/>
              </a:ext>
            </a:extLst>
          </p:cNvPr>
          <p:cNvSpPr/>
          <p:nvPr/>
        </p:nvSpPr>
        <p:spPr bwMode="gray">
          <a:xfrm>
            <a:off x="7272037" y="2863687"/>
            <a:ext cx="702000" cy="640800"/>
          </a:xfrm>
          <a:prstGeom prst="rect">
            <a:avLst/>
          </a:prstGeom>
          <a:solidFill>
            <a:srgbClr val="FFCD00"/>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実際発生原価</a:t>
            </a:r>
            <a:endParaRPr lang="en-US" altLang="ja-JP" sz="1200">
              <a:solidFill>
                <a:prstClr val="black"/>
              </a:solidFill>
            </a:endParaRPr>
          </a:p>
          <a:p>
            <a:pPr algn="ctr" defTabSz="990564">
              <a:buSzPct val="100000"/>
            </a:pPr>
            <a:r>
              <a:rPr lang="en-US" altLang="ja-JP" sz="1200">
                <a:solidFill>
                  <a:prstClr val="black"/>
                </a:solidFill>
              </a:rPr>
              <a:t>30</a:t>
            </a:r>
          </a:p>
        </p:txBody>
      </p:sp>
      <p:sp>
        <p:nvSpPr>
          <p:cNvPr id="19" name="矢印: 折線 18">
            <a:extLst>
              <a:ext uri="{FF2B5EF4-FFF2-40B4-BE49-F238E27FC236}">
                <a16:creationId xmlns:a16="http://schemas.microsoft.com/office/drawing/2014/main" id="{1BACF3A4-BE28-407D-E41F-F1B543496863}"/>
              </a:ext>
            </a:extLst>
          </p:cNvPr>
          <p:cNvSpPr/>
          <p:nvPr/>
        </p:nvSpPr>
        <p:spPr bwMode="gray">
          <a:xfrm rot="16200000">
            <a:off x="8284532" y="3096123"/>
            <a:ext cx="830920" cy="2540978"/>
          </a:xfrm>
          <a:prstGeom prst="bentArrow">
            <a:avLst/>
          </a:prstGeom>
          <a:solidFill>
            <a:srgbClr val="BBBCBC"/>
          </a:solidFill>
          <a:ln w="12700" algn="ctr">
            <a:solidFill>
              <a:srgbClr val="BBBCBC"/>
            </a:solidFill>
            <a:miter lim="800000"/>
            <a:headEnd/>
            <a:tailEnd/>
          </a:ln>
        </p:spPr>
        <p:txBody>
          <a:bodyPr rot="0" spcFirstLastPara="0" vertOverflow="overflow" horzOverflow="overflow" vert="eaVert"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grpSp>
        <p:nvGrpSpPr>
          <p:cNvPr id="73" name="グループ化 72">
            <a:extLst>
              <a:ext uri="{FF2B5EF4-FFF2-40B4-BE49-F238E27FC236}">
                <a16:creationId xmlns:a16="http://schemas.microsoft.com/office/drawing/2014/main" id="{E891A906-20C8-0D88-C1AF-A000182C887E}"/>
              </a:ext>
            </a:extLst>
          </p:cNvPr>
          <p:cNvGrpSpPr/>
          <p:nvPr/>
        </p:nvGrpSpPr>
        <p:grpSpPr>
          <a:xfrm>
            <a:off x="796323" y="2472736"/>
            <a:ext cx="2281572" cy="2440200"/>
            <a:chOff x="796323" y="2663561"/>
            <a:chExt cx="2281572" cy="2440200"/>
          </a:xfrm>
        </p:grpSpPr>
        <p:sp>
          <p:nvSpPr>
            <p:cNvPr id="8" name="正方形/長方形 7">
              <a:extLst>
                <a:ext uri="{FF2B5EF4-FFF2-40B4-BE49-F238E27FC236}">
                  <a16:creationId xmlns:a16="http://schemas.microsoft.com/office/drawing/2014/main" id="{9201D7E2-6487-F2BE-D897-022B04913F6D}"/>
                </a:ext>
              </a:extLst>
            </p:cNvPr>
            <p:cNvSpPr/>
            <p:nvPr/>
          </p:nvSpPr>
          <p:spPr bwMode="gray">
            <a:xfrm>
              <a:off x="796323" y="2943761"/>
              <a:ext cx="2281572" cy="2160000"/>
            </a:xfrm>
            <a:prstGeom prst="rect">
              <a:avLst/>
            </a:prstGeom>
            <a:noFill/>
            <a:ln w="38100" algn="ctr">
              <a:solidFill>
                <a:schemeClr val="accent6"/>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sp>
          <p:nvSpPr>
            <p:cNvPr id="20" name="正方形/長方形 19">
              <a:extLst>
                <a:ext uri="{FF2B5EF4-FFF2-40B4-BE49-F238E27FC236}">
                  <a16:creationId xmlns:a16="http://schemas.microsoft.com/office/drawing/2014/main" id="{94611B14-E57E-CBE0-2E0B-B2411F4A0A23}"/>
                </a:ext>
              </a:extLst>
            </p:cNvPr>
            <p:cNvSpPr/>
            <p:nvPr/>
          </p:nvSpPr>
          <p:spPr bwMode="gray">
            <a:xfrm>
              <a:off x="1167453" y="2663561"/>
              <a:ext cx="1657827" cy="25223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A</a:t>
              </a:r>
              <a:r>
                <a:rPr lang="ja-JP" altLang="en-US" sz="1200">
                  <a:solidFill>
                    <a:prstClr val="black"/>
                  </a:solidFill>
                </a:rPr>
                <a:t>　 （黒字案件）</a:t>
              </a:r>
            </a:p>
          </p:txBody>
        </p:sp>
      </p:grpSp>
      <p:sp>
        <p:nvSpPr>
          <p:cNvPr id="28" name="右中かっこ 27">
            <a:extLst>
              <a:ext uri="{FF2B5EF4-FFF2-40B4-BE49-F238E27FC236}">
                <a16:creationId xmlns:a16="http://schemas.microsoft.com/office/drawing/2014/main" id="{5DF8E446-C0BE-60E2-2E27-E7F51B24B3D2}"/>
              </a:ext>
            </a:extLst>
          </p:cNvPr>
          <p:cNvSpPr/>
          <p:nvPr/>
        </p:nvSpPr>
        <p:spPr>
          <a:xfrm>
            <a:off x="2341734" y="2876870"/>
            <a:ext cx="223638" cy="1008000"/>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テキスト ボックス 28">
            <a:extLst>
              <a:ext uri="{FF2B5EF4-FFF2-40B4-BE49-F238E27FC236}">
                <a16:creationId xmlns:a16="http://schemas.microsoft.com/office/drawing/2014/main" id="{3B470AC4-19C0-2480-C556-7B388B012FF5}"/>
              </a:ext>
            </a:extLst>
          </p:cNvPr>
          <p:cNvSpPr txBox="1"/>
          <p:nvPr/>
        </p:nvSpPr>
        <p:spPr bwMode="gray">
          <a:xfrm>
            <a:off x="2564475" y="3152332"/>
            <a:ext cx="446794" cy="468590"/>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総原価（見積）</a:t>
            </a:r>
            <a:r>
              <a:rPr lang="en-US" altLang="ja-JP" sz="1100">
                <a:solidFill>
                  <a:schemeClr val="tx1"/>
                </a:solidFill>
              </a:rPr>
              <a:t>50</a:t>
            </a:r>
            <a:endParaRPr kumimoji="1" lang="ja-JP" altLang="en-US" sz="1100">
              <a:solidFill>
                <a:schemeClr val="tx1"/>
              </a:solidFill>
            </a:endParaRPr>
          </a:p>
        </p:txBody>
      </p:sp>
      <p:sp>
        <p:nvSpPr>
          <p:cNvPr id="30" name="正方形/長方形 29">
            <a:extLst>
              <a:ext uri="{FF2B5EF4-FFF2-40B4-BE49-F238E27FC236}">
                <a16:creationId xmlns:a16="http://schemas.microsoft.com/office/drawing/2014/main" id="{FBA140F7-C2E1-5F41-1080-20D12DD25CB5}"/>
              </a:ext>
            </a:extLst>
          </p:cNvPr>
          <p:cNvSpPr/>
          <p:nvPr/>
        </p:nvSpPr>
        <p:spPr bwMode="gray">
          <a:xfrm>
            <a:off x="1641027" y="3512165"/>
            <a:ext cx="709200" cy="383644"/>
          </a:xfrm>
          <a:prstGeom prst="rect">
            <a:avLst/>
          </a:prstGeom>
          <a:noFill/>
          <a:ln w="12700" algn="ctr">
            <a:solidFill>
              <a:srgbClr val="262626"/>
            </a:solidFill>
            <a:prstDash val="sysDash"/>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cxnSp>
        <p:nvCxnSpPr>
          <p:cNvPr id="31" name="直線コネクタ 30">
            <a:extLst>
              <a:ext uri="{FF2B5EF4-FFF2-40B4-BE49-F238E27FC236}">
                <a16:creationId xmlns:a16="http://schemas.microsoft.com/office/drawing/2014/main" id="{AC99E0F4-05E6-75CD-425B-4DD640359D2D}"/>
              </a:ext>
            </a:extLst>
          </p:cNvPr>
          <p:cNvCxnSpPr>
            <a:cxnSpLocks/>
          </p:cNvCxnSpPr>
          <p:nvPr/>
        </p:nvCxnSpPr>
        <p:spPr>
          <a:xfrm>
            <a:off x="5973023" y="2472736"/>
            <a:ext cx="0" cy="4193395"/>
          </a:xfrm>
          <a:prstGeom prst="line">
            <a:avLst/>
          </a:prstGeom>
          <a:ln w="12700" cap="rnd">
            <a:solidFill>
              <a:schemeClr val="accent1"/>
            </a:solidFill>
            <a:prstDash val="lgDash"/>
            <a:round/>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1CAA5164-18C5-B4CA-98E4-E498DC481C08}"/>
              </a:ext>
            </a:extLst>
          </p:cNvPr>
          <p:cNvSpPr txBox="1"/>
          <p:nvPr/>
        </p:nvSpPr>
        <p:spPr bwMode="gray">
          <a:xfrm>
            <a:off x="8203033" y="3205085"/>
            <a:ext cx="446794" cy="324704"/>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総原価</a:t>
            </a:r>
            <a:r>
              <a:rPr lang="en-US" altLang="ja-JP" sz="1100">
                <a:solidFill>
                  <a:schemeClr val="tx1"/>
                </a:solidFill>
              </a:rPr>
              <a:t>50</a:t>
            </a:r>
            <a:endParaRPr kumimoji="1" lang="ja-JP" altLang="en-US" sz="1100">
              <a:solidFill>
                <a:schemeClr val="tx1"/>
              </a:solidFill>
            </a:endParaRPr>
          </a:p>
        </p:txBody>
      </p:sp>
      <p:sp>
        <p:nvSpPr>
          <p:cNvPr id="34" name="矢印: 右 33">
            <a:extLst>
              <a:ext uri="{FF2B5EF4-FFF2-40B4-BE49-F238E27FC236}">
                <a16:creationId xmlns:a16="http://schemas.microsoft.com/office/drawing/2014/main" id="{3219C28E-5C32-6C86-BB81-CB0DC2783E29}"/>
              </a:ext>
            </a:extLst>
          </p:cNvPr>
          <p:cNvSpPr/>
          <p:nvPr/>
        </p:nvSpPr>
        <p:spPr bwMode="gray">
          <a:xfrm>
            <a:off x="5685177" y="3503153"/>
            <a:ext cx="701438" cy="770486"/>
          </a:xfrm>
          <a:prstGeom prst="rightArrow">
            <a:avLst/>
          </a:prstGeom>
          <a:solidFill>
            <a:srgbClr val="C9F1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付替後</a:t>
            </a:r>
          </a:p>
        </p:txBody>
      </p:sp>
      <p:sp>
        <p:nvSpPr>
          <p:cNvPr id="35" name="テキスト ボックス 34">
            <a:extLst>
              <a:ext uri="{FF2B5EF4-FFF2-40B4-BE49-F238E27FC236}">
                <a16:creationId xmlns:a16="http://schemas.microsoft.com/office/drawing/2014/main" id="{9BB27044-B349-DE6E-FA99-E4B61103B847}"/>
              </a:ext>
            </a:extLst>
          </p:cNvPr>
          <p:cNvSpPr txBox="1"/>
          <p:nvPr/>
        </p:nvSpPr>
        <p:spPr bwMode="gray">
          <a:xfrm>
            <a:off x="6288049" y="5036533"/>
            <a:ext cx="1980000" cy="1584000"/>
          </a:xfrm>
          <a:prstGeom prst="rect">
            <a:avLst/>
          </a:prstGeom>
          <a:noFill/>
        </p:spPr>
        <p:txBody>
          <a:bodyPr wrap="square" lIns="0" tIns="0" rIns="0" bIns="0" rtlCol="0">
            <a:spAutoFit/>
          </a:bodyPr>
          <a:lstStyle/>
          <a:p>
            <a:pPr defTabSz="990564">
              <a:buSzPct val="100000"/>
            </a:pPr>
            <a:r>
              <a:rPr lang="en-US" altLang="ja-JP" sz="1400">
                <a:solidFill>
                  <a:prstClr val="black"/>
                </a:solidFill>
              </a:rPr>
              <a:t>PJ</a:t>
            </a:r>
            <a:r>
              <a:rPr lang="ja-JP" altLang="en-US" sz="1400">
                <a:solidFill>
                  <a:prstClr val="black"/>
                </a:solidFill>
              </a:rPr>
              <a:t>総収益</a:t>
            </a:r>
            <a:r>
              <a:rPr lang="en-US" altLang="ja-JP" sz="1400">
                <a:solidFill>
                  <a:prstClr val="black"/>
                </a:solidFill>
              </a:rPr>
              <a:t>100</a:t>
            </a:r>
          </a:p>
          <a:p>
            <a:pPr defTabSz="990564">
              <a:buSzPct val="100000"/>
            </a:pPr>
            <a:r>
              <a:rPr lang="en-US" altLang="ja-JP" sz="1400">
                <a:solidFill>
                  <a:prstClr val="black"/>
                </a:solidFill>
              </a:rPr>
              <a:t>PJ</a:t>
            </a:r>
            <a:r>
              <a:rPr lang="ja-JP" altLang="en-US" sz="1400">
                <a:solidFill>
                  <a:prstClr val="black"/>
                </a:solidFill>
              </a:rPr>
              <a:t>総原価  </a:t>
            </a:r>
            <a:r>
              <a:rPr lang="en-US" altLang="ja-JP" sz="1400">
                <a:solidFill>
                  <a:prstClr val="black"/>
                </a:solidFill>
              </a:rPr>
              <a:t>50</a:t>
            </a:r>
          </a:p>
          <a:p>
            <a:pPr defTabSz="990564">
              <a:buSzPct val="100000"/>
            </a:pPr>
            <a:r>
              <a:rPr lang="ja-JP" altLang="en-US" sz="1400">
                <a:solidFill>
                  <a:prstClr val="black"/>
                </a:solidFill>
              </a:rPr>
              <a:t>とする。</a:t>
            </a:r>
            <a:endParaRPr lang="en-US" altLang="ja-JP" sz="1400">
              <a:solidFill>
                <a:prstClr val="black"/>
              </a:solidFill>
            </a:endParaRPr>
          </a:p>
          <a:p>
            <a:pPr defTabSz="990564">
              <a:buSzPct val="100000"/>
            </a:pPr>
            <a:r>
              <a:rPr lang="ja-JP" altLang="en-US" sz="1400">
                <a:solidFill>
                  <a:prstClr val="black"/>
                </a:solidFill>
              </a:rPr>
              <a:t>今年度実際の原価が</a:t>
            </a:r>
            <a:r>
              <a:rPr lang="en-US" altLang="ja-JP" sz="1400">
                <a:solidFill>
                  <a:prstClr val="black"/>
                </a:solidFill>
              </a:rPr>
              <a:t>30</a:t>
            </a:r>
            <a:r>
              <a:rPr lang="ja-JP" altLang="en-US" sz="1400">
                <a:solidFill>
                  <a:prstClr val="black"/>
                </a:solidFill>
              </a:rPr>
              <a:t>だが、</a:t>
            </a:r>
            <a:r>
              <a:rPr lang="en-US" altLang="ja-JP" sz="1400">
                <a:solidFill>
                  <a:prstClr val="black"/>
                </a:solidFill>
              </a:rPr>
              <a:t>20</a:t>
            </a:r>
            <a:r>
              <a:rPr lang="ja-JP" altLang="en-US" sz="1400">
                <a:solidFill>
                  <a:prstClr val="black"/>
                </a:solidFill>
              </a:rPr>
              <a:t>の付替えの結果、</a:t>
            </a:r>
            <a:endParaRPr lang="en-US" altLang="ja-JP" sz="1400">
              <a:solidFill>
                <a:prstClr val="black"/>
              </a:solidFill>
            </a:endParaRPr>
          </a:p>
          <a:p>
            <a:pPr defTabSz="990564">
              <a:buSzPct val="100000"/>
            </a:pPr>
            <a:r>
              <a:rPr lang="ja-JP" altLang="en-US" sz="1400" b="1" u="sng">
                <a:solidFill>
                  <a:prstClr val="black"/>
                </a:solidFill>
              </a:rPr>
              <a:t>進捗度は</a:t>
            </a:r>
            <a:r>
              <a:rPr lang="en-US" altLang="ja-JP" sz="1400" b="1" u="sng">
                <a:solidFill>
                  <a:prstClr val="black"/>
                </a:solidFill>
              </a:rPr>
              <a:t>50/50=</a:t>
            </a:r>
            <a:r>
              <a:rPr lang="en-US" altLang="ja-JP" sz="1400" b="1" u="sng">
                <a:solidFill>
                  <a:prstClr val="black"/>
                </a:solidFill>
                <a:highlight>
                  <a:srgbClr val="00FFFF"/>
                </a:highlight>
              </a:rPr>
              <a:t>100%</a:t>
            </a:r>
          </a:p>
          <a:p>
            <a:pPr defTabSz="990564">
              <a:buSzPct val="100000"/>
            </a:pPr>
            <a:r>
              <a:rPr lang="ja-JP" altLang="en-US" sz="1400" b="1" u="sng">
                <a:solidFill>
                  <a:prstClr val="black"/>
                </a:solidFill>
              </a:rPr>
              <a:t>⇒売上も</a:t>
            </a:r>
            <a:r>
              <a:rPr lang="en-US" altLang="ja-JP" sz="1400" b="1" u="sng">
                <a:solidFill>
                  <a:prstClr val="black"/>
                </a:solidFill>
              </a:rPr>
              <a:t>100*100%=</a:t>
            </a:r>
            <a:r>
              <a:rPr lang="en-US" altLang="ja-JP" sz="1400" b="1" u="sng">
                <a:solidFill>
                  <a:prstClr val="black"/>
                </a:solidFill>
                <a:highlight>
                  <a:srgbClr val="00FFFF"/>
                </a:highlight>
              </a:rPr>
              <a:t>100</a:t>
            </a:r>
          </a:p>
        </p:txBody>
      </p:sp>
      <p:grpSp>
        <p:nvGrpSpPr>
          <p:cNvPr id="74" name="グループ化 73">
            <a:extLst>
              <a:ext uri="{FF2B5EF4-FFF2-40B4-BE49-F238E27FC236}">
                <a16:creationId xmlns:a16="http://schemas.microsoft.com/office/drawing/2014/main" id="{299BD4AF-3162-841D-76E6-C39859C0A196}"/>
              </a:ext>
            </a:extLst>
          </p:cNvPr>
          <p:cNvGrpSpPr/>
          <p:nvPr/>
        </p:nvGrpSpPr>
        <p:grpSpPr>
          <a:xfrm>
            <a:off x="3356683" y="2472736"/>
            <a:ext cx="2281572" cy="2440199"/>
            <a:chOff x="796323" y="2663561"/>
            <a:chExt cx="2281572" cy="2440199"/>
          </a:xfrm>
        </p:grpSpPr>
        <p:sp>
          <p:nvSpPr>
            <p:cNvPr id="75" name="正方形/長方形 74">
              <a:extLst>
                <a:ext uri="{FF2B5EF4-FFF2-40B4-BE49-F238E27FC236}">
                  <a16:creationId xmlns:a16="http://schemas.microsoft.com/office/drawing/2014/main" id="{4B6F0810-BCF9-09CF-B716-2E56A9E43AB7}"/>
                </a:ext>
              </a:extLst>
            </p:cNvPr>
            <p:cNvSpPr/>
            <p:nvPr/>
          </p:nvSpPr>
          <p:spPr bwMode="gray">
            <a:xfrm>
              <a:off x="796323" y="2943760"/>
              <a:ext cx="2281572" cy="2160000"/>
            </a:xfrm>
            <a:prstGeom prst="rect">
              <a:avLst/>
            </a:prstGeom>
            <a:noFill/>
            <a:ln w="38100" algn="ctr">
              <a:solidFill>
                <a:schemeClr val="accent6"/>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sp>
          <p:nvSpPr>
            <p:cNvPr id="76" name="正方形/長方形 75">
              <a:extLst>
                <a:ext uri="{FF2B5EF4-FFF2-40B4-BE49-F238E27FC236}">
                  <a16:creationId xmlns:a16="http://schemas.microsoft.com/office/drawing/2014/main" id="{CF535E22-0BEF-13FE-0B9E-7A665F1DF233}"/>
                </a:ext>
              </a:extLst>
            </p:cNvPr>
            <p:cNvSpPr/>
            <p:nvPr/>
          </p:nvSpPr>
          <p:spPr bwMode="gray">
            <a:xfrm>
              <a:off x="1167453" y="2663561"/>
              <a:ext cx="1657827" cy="25223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B</a:t>
              </a:r>
              <a:r>
                <a:rPr lang="ja-JP" altLang="en-US" sz="1200">
                  <a:solidFill>
                    <a:prstClr val="black"/>
                  </a:solidFill>
                </a:rPr>
                <a:t>　 （赤字案件）</a:t>
              </a:r>
            </a:p>
          </p:txBody>
        </p:sp>
      </p:grpSp>
      <p:grpSp>
        <p:nvGrpSpPr>
          <p:cNvPr id="77" name="グループ化 76">
            <a:extLst>
              <a:ext uri="{FF2B5EF4-FFF2-40B4-BE49-F238E27FC236}">
                <a16:creationId xmlns:a16="http://schemas.microsoft.com/office/drawing/2014/main" id="{3D4FB6C1-1730-484E-4364-8CEE5D8B39FE}"/>
              </a:ext>
            </a:extLst>
          </p:cNvPr>
          <p:cNvGrpSpPr/>
          <p:nvPr/>
        </p:nvGrpSpPr>
        <p:grpSpPr>
          <a:xfrm>
            <a:off x="6415710" y="2472736"/>
            <a:ext cx="2281572" cy="2440199"/>
            <a:chOff x="796323" y="2663561"/>
            <a:chExt cx="2281572" cy="2623799"/>
          </a:xfrm>
        </p:grpSpPr>
        <p:sp>
          <p:nvSpPr>
            <p:cNvPr id="78" name="正方形/長方形 77">
              <a:extLst>
                <a:ext uri="{FF2B5EF4-FFF2-40B4-BE49-F238E27FC236}">
                  <a16:creationId xmlns:a16="http://schemas.microsoft.com/office/drawing/2014/main" id="{D419F35D-CAE2-10E9-C1BF-B553B896C380}"/>
                </a:ext>
              </a:extLst>
            </p:cNvPr>
            <p:cNvSpPr/>
            <p:nvPr/>
          </p:nvSpPr>
          <p:spPr bwMode="gray">
            <a:xfrm>
              <a:off x="796323" y="2943760"/>
              <a:ext cx="2281572" cy="2343600"/>
            </a:xfrm>
            <a:prstGeom prst="rect">
              <a:avLst/>
            </a:prstGeom>
            <a:noFill/>
            <a:ln w="38100" algn="ctr">
              <a:solidFill>
                <a:schemeClr val="accent6"/>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sp>
          <p:nvSpPr>
            <p:cNvPr id="79" name="正方形/長方形 78">
              <a:extLst>
                <a:ext uri="{FF2B5EF4-FFF2-40B4-BE49-F238E27FC236}">
                  <a16:creationId xmlns:a16="http://schemas.microsoft.com/office/drawing/2014/main" id="{6CF143AB-96A8-8004-8C35-1FC6C40D18DD}"/>
                </a:ext>
              </a:extLst>
            </p:cNvPr>
            <p:cNvSpPr/>
            <p:nvPr/>
          </p:nvSpPr>
          <p:spPr bwMode="gray">
            <a:xfrm>
              <a:off x="1167453" y="2663561"/>
              <a:ext cx="1657827" cy="25223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A</a:t>
              </a:r>
              <a:r>
                <a:rPr lang="ja-JP" altLang="en-US" sz="1200">
                  <a:solidFill>
                    <a:prstClr val="black"/>
                  </a:solidFill>
                </a:rPr>
                <a:t>　 （黒字案件）</a:t>
              </a:r>
            </a:p>
          </p:txBody>
        </p:sp>
      </p:grpSp>
      <p:grpSp>
        <p:nvGrpSpPr>
          <p:cNvPr id="80" name="グループ化 79">
            <a:extLst>
              <a:ext uri="{FF2B5EF4-FFF2-40B4-BE49-F238E27FC236}">
                <a16:creationId xmlns:a16="http://schemas.microsoft.com/office/drawing/2014/main" id="{292D8D4C-4359-D735-64EE-911F07293870}"/>
              </a:ext>
            </a:extLst>
          </p:cNvPr>
          <p:cNvGrpSpPr/>
          <p:nvPr/>
        </p:nvGrpSpPr>
        <p:grpSpPr>
          <a:xfrm>
            <a:off x="8970361" y="2472736"/>
            <a:ext cx="2281572" cy="2437183"/>
            <a:chOff x="796323" y="2663561"/>
            <a:chExt cx="2281572" cy="2623799"/>
          </a:xfrm>
        </p:grpSpPr>
        <p:sp>
          <p:nvSpPr>
            <p:cNvPr id="81" name="正方形/長方形 80">
              <a:extLst>
                <a:ext uri="{FF2B5EF4-FFF2-40B4-BE49-F238E27FC236}">
                  <a16:creationId xmlns:a16="http://schemas.microsoft.com/office/drawing/2014/main" id="{B726C1C1-8F87-CDB7-71C4-E323C10BCFD5}"/>
                </a:ext>
              </a:extLst>
            </p:cNvPr>
            <p:cNvSpPr/>
            <p:nvPr/>
          </p:nvSpPr>
          <p:spPr bwMode="gray">
            <a:xfrm>
              <a:off x="796323" y="2943760"/>
              <a:ext cx="2281572" cy="2343600"/>
            </a:xfrm>
            <a:prstGeom prst="rect">
              <a:avLst/>
            </a:prstGeom>
            <a:noFill/>
            <a:ln w="38100" algn="ctr">
              <a:solidFill>
                <a:schemeClr val="accent6"/>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endParaRPr lang="ja-JP" altLang="en-US" sz="1200">
                <a:solidFill>
                  <a:prstClr val="black"/>
                </a:solidFill>
              </a:endParaRPr>
            </a:p>
          </p:txBody>
        </p:sp>
        <p:sp>
          <p:nvSpPr>
            <p:cNvPr id="82" name="正方形/長方形 81">
              <a:extLst>
                <a:ext uri="{FF2B5EF4-FFF2-40B4-BE49-F238E27FC236}">
                  <a16:creationId xmlns:a16="http://schemas.microsoft.com/office/drawing/2014/main" id="{71533003-6BDB-68FE-7CFA-07B348C6905D}"/>
                </a:ext>
              </a:extLst>
            </p:cNvPr>
            <p:cNvSpPr/>
            <p:nvPr/>
          </p:nvSpPr>
          <p:spPr bwMode="gray">
            <a:xfrm>
              <a:off x="1167453" y="2663561"/>
              <a:ext cx="1657827" cy="25223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B</a:t>
              </a:r>
              <a:r>
                <a:rPr lang="ja-JP" altLang="en-US" sz="1200">
                  <a:solidFill>
                    <a:prstClr val="black"/>
                  </a:solidFill>
                </a:rPr>
                <a:t>　 （赤字案件）</a:t>
              </a:r>
            </a:p>
          </p:txBody>
        </p:sp>
      </p:grpSp>
      <p:sp>
        <p:nvSpPr>
          <p:cNvPr id="85" name="右中かっこ 84">
            <a:extLst>
              <a:ext uri="{FF2B5EF4-FFF2-40B4-BE49-F238E27FC236}">
                <a16:creationId xmlns:a16="http://schemas.microsoft.com/office/drawing/2014/main" id="{55EF348D-AC9D-3B21-B037-87EE58EFBBDC}"/>
              </a:ext>
            </a:extLst>
          </p:cNvPr>
          <p:cNvSpPr/>
          <p:nvPr/>
        </p:nvSpPr>
        <p:spPr>
          <a:xfrm>
            <a:off x="7974236" y="2876870"/>
            <a:ext cx="223638" cy="1008000"/>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88" name="グループ化 87">
            <a:extLst>
              <a:ext uri="{FF2B5EF4-FFF2-40B4-BE49-F238E27FC236}">
                <a16:creationId xmlns:a16="http://schemas.microsoft.com/office/drawing/2014/main" id="{8AB040E0-643C-9954-9955-4E8BE0AB29EC}"/>
              </a:ext>
            </a:extLst>
          </p:cNvPr>
          <p:cNvGrpSpPr/>
          <p:nvPr/>
        </p:nvGrpSpPr>
        <p:grpSpPr>
          <a:xfrm>
            <a:off x="2356389" y="5009601"/>
            <a:ext cx="3541605" cy="1656530"/>
            <a:chOff x="2356389" y="5120916"/>
            <a:chExt cx="3541605" cy="1656530"/>
          </a:xfrm>
        </p:grpSpPr>
        <p:sp>
          <p:nvSpPr>
            <p:cNvPr id="37" name="矢印: 右 36">
              <a:extLst>
                <a:ext uri="{FF2B5EF4-FFF2-40B4-BE49-F238E27FC236}">
                  <a16:creationId xmlns:a16="http://schemas.microsoft.com/office/drawing/2014/main" id="{D3E98A79-2850-A637-A5C8-2D45CD1F4125}"/>
                </a:ext>
              </a:extLst>
            </p:cNvPr>
            <p:cNvSpPr/>
            <p:nvPr/>
          </p:nvSpPr>
          <p:spPr bwMode="gray">
            <a:xfrm>
              <a:off x="3084088" y="6056674"/>
              <a:ext cx="1494073" cy="366581"/>
            </a:xfrm>
            <a:prstGeom prst="rightArrow">
              <a:avLst/>
            </a:prstGeom>
            <a:solidFill>
              <a:srgbClr val="C9F1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実際原価</a:t>
              </a:r>
              <a:r>
                <a:rPr lang="en-US" altLang="ja-JP" sz="1200">
                  <a:solidFill>
                    <a:prstClr val="black"/>
                  </a:solidFill>
                </a:rPr>
                <a:t>30</a:t>
              </a:r>
              <a:endParaRPr lang="ja-JP" altLang="en-US" sz="1200">
                <a:solidFill>
                  <a:prstClr val="black"/>
                </a:solidFill>
              </a:endParaRPr>
            </a:p>
          </p:txBody>
        </p:sp>
        <p:sp>
          <p:nvSpPr>
            <p:cNvPr id="38" name="テキスト ボックス 37">
              <a:extLst>
                <a:ext uri="{FF2B5EF4-FFF2-40B4-BE49-F238E27FC236}">
                  <a16:creationId xmlns:a16="http://schemas.microsoft.com/office/drawing/2014/main" id="{9C5D836F-A958-8C77-640F-EBFAB9600309}"/>
                </a:ext>
              </a:extLst>
            </p:cNvPr>
            <p:cNvSpPr txBox="1"/>
            <p:nvPr/>
          </p:nvSpPr>
          <p:spPr bwMode="gray">
            <a:xfrm>
              <a:off x="4367440" y="5711419"/>
              <a:ext cx="446794"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en-US" altLang="ja-JP" sz="1100">
                  <a:solidFill>
                    <a:schemeClr val="tx1"/>
                  </a:solidFill>
                </a:rPr>
                <a:t>60%</a:t>
              </a:r>
              <a:endParaRPr kumimoji="1" lang="ja-JP" altLang="en-US" sz="1100">
                <a:solidFill>
                  <a:schemeClr val="tx1"/>
                </a:solidFill>
              </a:endParaRPr>
            </a:p>
          </p:txBody>
        </p:sp>
        <p:cxnSp>
          <p:nvCxnSpPr>
            <p:cNvPr id="40" name="直線コネクタ 39">
              <a:extLst>
                <a:ext uri="{FF2B5EF4-FFF2-40B4-BE49-F238E27FC236}">
                  <a16:creationId xmlns:a16="http://schemas.microsoft.com/office/drawing/2014/main" id="{C00DA0BC-E79F-1B3B-236A-8D50599561A3}"/>
                </a:ext>
              </a:extLst>
            </p:cNvPr>
            <p:cNvCxnSpPr/>
            <p:nvPr/>
          </p:nvCxnSpPr>
          <p:spPr>
            <a:xfrm>
              <a:off x="3104068" y="6001913"/>
              <a:ext cx="2556000"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65C306D6-1451-7D7F-0600-1DD00BE779AE}"/>
                </a:ext>
              </a:extLst>
            </p:cNvPr>
            <p:cNvCxnSpPr/>
            <p:nvPr/>
          </p:nvCxnSpPr>
          <p:spPr>
            <a:xfrm>
              <a:off x="5680336" y="5899634"/>
              <a:ext cx="0" cy="223613"/>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42" name="円弧 41">
              <a:extLst>
                <a:ext uri="{FF2B5EF4-FFF2-40B4-BE49-F238E27FC236}">
                  <a16:creationId xmlns:a16="http://schemas.microsoft.com/office/drawing/2014/main" id="{A52FE61F-31CC-AD37-583D-0CC780E5FFC6}"/>
                </a:ext>
              </a:extLst>
            </p:cNvPr>
            <p:cNvSpPr/>
            <p:nvPr/>
          </p:nvSpPr>
          <p:spPr>
            <a:xfrm flipH="1">
              <a:off x="3100827" y="5914357"/>
              <a:ext cx="1477335" cy="138847"/>
            </a:xfrm>
            <a:prstGeom prst="arc">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BD39C37B-82E8-7D59-305F-C4153FE86C40}"/>
                </a:ext>
              </a:extLst>
            </p:cNvPr>
            <p:cNvSpPr txBox="1"/>
            <p:nvPr/>
          </p:nvSpPr>
          <p:spPr bwMode="gray">
            <a:xfrm>
              <a:off x="2510959" y="5928070"/>
              <a:ext cx="446794"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進捗度</a:t>
              </a:r>
              <a:endParaRPr kumimoji="1" lang="ja-JP" altLang="en-US" sz="1100">
                <a:solidFill>
                  <a:schemeClr val="tx1"/>
                </a:solidFill>
              </a:endParaRPr>
            </a:p>
          </p:txBody>
        </p:sp>
        <p:sp>
          <p:nvSpPr>
            <p:cNvPr id="44" name="右中かっこ 43">
              <a:extLst>
                <a:ext uri="{FF2B5EF4-FFF2-40B4-BE49-F238E27FC236}">
                  <a16:creationId xmlns:a16="http://schemas.microsoft.com/office/drawing/2014/main" id="{275A440E-4892-FE0C-F4E1-ECA6DC7F38F0}"/>
                </a:ext>
              </a:extLst>
            </p:cNvPr>
            <p:cNvSpPr/>
            <p:nvPr/>
          </p:nvSpPr>
          <p:spPr>
            <a:xfrm rot="16200000">
              <a:off x="4303169" y="4256836"/>
              <a:ext cx="174827" cy="2579507"/>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5" name="テキスト ボックス 44">
              <a:extLst>
                <a:ext uri="{FF2B5EF4-FFF2-40B4-BE49-F238E27FC236}">
                  <a16:creationId xmlns:a16="http://schemas.microsoft.com/office/drawing/2014/main" id="{0ECBAA08-2B09-CD86-9250-3FA78273CDE4}"/>
                </a:ext>
              </a:extLst>
            </p:cNvPr>
            <p:cNvSpPr txBox="1"/>
            <p:nvPr/>
          </p:nvSpPr>
          <p:spPr bwMode="gray">
            <a:xfrm>
              <a:off x="3721877" y="5216153"/>
              <a:ext cx="1320442" cy="18081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総収益　</a:t>
              </a:r>
              <a:r>
                <a:rPr lang="en-US" altLang="ja-JP" sz="1100">
                  <a:solidFill>
                    <a:schemeClr val="tx1"/>
                  </a:solidFill>
                </a:rPr>
                <a:t>100</a:t>
              </a:r>
              <a:endParaRPr kumimoji="1" lang="ja-JP" altLang="en-US" sz="1100">
                <a:solidFill>
                  <a:schemeClr val="tx1"/>
                </a:solidFill>
              </a:endParaRPr>
            </a:p>
          </p:txBody>
        </p:sp>
        <p:sp>
          <p:nvSpPr>
            <p:cNvPr id="46" name="右中かっこ 45">
              <a:extLst>
                <a:ext uri="{FF2B5EF4-FFF2-40B4-BE49-F238E27FC236}">
                  <a16:creationId xmlns:a16="http://schemas.microsoft.com/office/drawing/2014/main" id="{0B048DE6-C0CE-4A7D-0DF1-9537217AAC44}"/>
                </a:ext>
              </a:extLst>
            </p:cNvPr>
            <p:cNvSpPr/>
            <p:nvPr/>
          </p:nvSpPr>
          <p:spPr>
            <a:xfrm rot="5400000">
              <a:off x="4306760" y="5196913"/>
              <a:ext cx="160866" cy="2572732"/>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7" name="テキスト ボックス 46">
              <a:extLst>
                <a:ext uri="{FF2B5EF4-FFF2-40B4-BE49-F238E27FC236}">
                  <a16:creationId xmlns:a16="http://schemas.microsoft.com/office/drawing/2014/main" id="{93A232FA-358D-EA84-ECFA-7CFB44BFB021}"/>
                </a:ext>
              </a:extLst>
            </p:cNvPr>
            <p:cNvSpPr txBox="1"/>
            <p:nvPr/>
          </p:nvSpPr>
          <p:spPr bwMode="gray">
            <a:xfrm>
              <a:off x="3784791" y="6596627"/>
              <a:ext cx="1206512" cy="18081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総原価（見積）　</a:t>
              </a:r>
              <a:r>
                <a:rPr lang="en-US" altLang="ja-JP" sz="1100">
                  <a:solidFill>
                    <a:schemeClr val="tx1"/>
                  </a:solidFill>
                </a:rPr>
                <a:t>50</a:t>
              </a:r>
              <a:endParaRPr kumimoji="1" lang="ja-JP" altLang="en-US" sz="1100">
                <a:solidFill>
                  <a:schemeClr val="tx1"/>
                </a:solidFill>
              </a:endParaRPr>
            </a:p>
          </p:txBody>
        </p:sp>
        <p:sp>
          <p:nvSpPr>
            <p:cNvPr id="49" name="円弧 48">
              <a:extLst>
                <a:ext uri="{FF2B5EF4-FFF2-40B4-BE49-F238E27FC236}">
                  <a16:creationId xmlns:a16="http://schemas.microsoft.com/office/drawing/2014/main" id="{A6D73085-E5F3-691E-09EE-0DA47FE7EE35}"/>
                </a:ext>
              </a:extLst>
            </p:cNvPr>
            <p:cNvSpPr/>
            <p:nvPr/>
          </p:nvSpPr>
          <p:spPr>
            <a:xfrm>
              <a:off x="3077895" y="5914357"/>
              <a:ext cx="1512043" cy="147368"/>
            </a:xfrm>
            <a:prstGeom prst="arc">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EDBC5DD5-8487-37F5-3F8E-B969E586F75F}"/>
                </a:ext>
              </a:extLst>
            </p:cNvPr>
            <p:cNvSpPr txBox="1"/>
            <p:nvPr/>
          </p:nvSpPr>
          <p:spPr bwMode="gray">
            <a:xfrm>
              <a:off x="2356390" y="5434818"/>
              <a:ext cx="774301"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＜収益＞</a:t>
              </a:r>
              <a:endParaRPr lang="en-US" altLang="ja-JP" sz="1100">
                <a:solidFill>
                  <a:schemeClr val="tx1"/>
                </a:solidFill>
              </a:endParaRPr>
            </a:p>
          </p:txBody>
        </p:sp>
        <p:sp>
          <p:nvSpPr>
            <p:cNvPr id="51" name="テキスト ボックス 50">
              <a:extLst>
                <a:ext uri="{FF2B5EF4-FFF2-40B4-BE49-F238E27FC236}">
                  <a16:creationId xmlns:a16="http://schemas.microsoft.com/office/drawing/2014/main" id="{1F49427A-5436-91B5-136A-2E17F537F3E4}"/>
                </a:ext>
              </a:extLst>
            </p:cNvPr>
            <p:cNvSpPr txBox="1"/>
            <p:nvPr/>
          </p:nvSpPr>
          <p:spPr bwMode="gray">
            <a:xfrm>
              <a:off x="2356389" y="6492492"/>
              <a:ext cx="774301"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＜原価＞</a:t>
              </a:r>
              <a:endParaRPr lang="en-US" altLang="ja-JP" sz="1100">
                <a:solidFill>
                  <a:schemeClr val="tx1"/>
                </a:solidFill>
              </a:endParaRPr>
            </a:p>
          </p:txBody>
        </p:sp>
        <p:sp>
          <p:nvSpPr>
            <p:cNvPr id="52" name="テキスト ボックス 51">
              <a:extLst>
                <a:ext uri="{FF2B5EF4-FFF2-40B4-BE49-F238E27FC236}">
                  <a16:creationId xmlns:a16="http://schemas.microsoft.com/office/drawing/2014/main" id="{DE6AF3F8-CE77-D7E2-E8C9-1DA2F81D5059}"/>
                </a:ext>
              </a:extLst>
            </p:cNvPr>
            <p:cNvSpPr txBox="1"/>
            <p:nvPr/>
          </p:nvSpPr>
          <p:spPr bwMode="gray">
            <a:xfrm>
              <a:off x="3462549" y="5654251"/>
              <a:ext cx="741786" cy="188339"/>
            </a:xfrm>
            <a:prstGeom prst="rect">
              <a:avLst/>
            </a:prstGeom>
            <a:noFill/>
            <a:ln>
              <a:solidFill>
                <a:srgbClr val="262626"/>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売上</a:t>
              </a:r>
              <a:r>
                <a:rPr lang="en-US" altLang="ja-JP" sz="1100">
                  <a:solidFill>
                    <a:schemeClr val="tx1"/>
                  </a:solidFill>
                </a:rPr>
                <a:t>60</a:t>
              </a:r>
              <a:endParaRPr kumimoji="1" lang="ja-JP" altLang="en-US" sz="1100">
                <a:solidFill>
                  <a:schemeClr val="tx1"/>
                </a:solidFill>
              </a:endParaRPr>
            </a:p>
          </p:txBody>
        </p:sp>
        <p:sp>
          <p:nvSpPr>
            <p:cNvPr id="53" name="テキスト ボックス 52">
              <a:extLst>
                <a:ext uri="{FF2B5EF4-FFF2-40B4-BE49-F238E27FC236}">
                  <a16:creationId xmlns:a16="http://schemas.microsoft.com/office/drawing/2014/main" id="{41797ED2-E2A1-2DE1-8519-0ECE827FA900}"/>
                </a:ext>
              </a:extLst>
            </p:cNvPr>
            <p:cNvSpPr txBox="1"/>
            <p:nvPr/>
          </p:nvSpPr>
          <p:spPr bwMode="gray">
            <a:xfrm>
              <a:off x="5451200" y="5711419"/>
              <a:ext cx="446794"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en-US" altLang="ja-JP" sz="1100">
                  <a:solidFill>
                    <a:schemeClr val="tx1"/>
                  </a:solidFill>
                </a:rPr>
                <a:t>100%</a:t>
              </a:r>
              <a:endParaRPr kumimoji="1" lang="ja-JP" altLang="en-US" sz="1100">
                <a:solidFill>
                  <a:schemeClr val="tx1"/>
                </a:solidFill>
              </a:endParaRPr>
            </a:p>
          </p:txBody>
        </p:sp>
        <p:sp>
          <p:nvSpPr>
            <p:cNvPr id="54" name="正方形/長方形 53">
              <a:extLst>
                <a:ext uri="{FF2B5EF4-FFF2-40B4-BE49-F238E27FC236}">
                  <a16:creationId xmlns:a16="http://schemas.microsoft.com/office/drawing/2014/main" id="{4CA72F2C-6097-4E78-DBB8-1CE23D2FB63A}"/>
                </a:ext>
              </a:extLst>
            </p:cNvPr>
            <p:cNvSpPr/>
            <p:nvPr/>
          </p:nvSpPr>
          <p:spPr bwMode="gray">
            <a:xfrm>
              <a:off x="2419707" y="5120916"/>
              <a:ext cx="639914" cy="26272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A</a:t>
              </a:r>
              <a:r>
                <a:rPr lang="ja-JP" altLang="en-US" sz="1200">
                  <a:solidFill>
                    <a:prstClr val="black"/>
                  </a:solidFill>
                </a:rPr>
                <a:t>　 </a:t>
              </a:r>
            </a:p>
          </p:txBody>
        </p:sp>
        <p:cxnSp>
          <p:nvCxnSpPr>
            <p:cNvPr id="84" name="直線コネクタ 83">
              <a:extLst>
                <a:ext uri="{FF2B5EF4-FFF2-40B4-BE49-F238E27FC236}">
                  <a16:creationId xmlns:a16="http://schemas.microsoft.com/office/drawing/2014/main" id="{6FEC7D12-C6F3-57A3-A23B-63B8B5826F95}"/>
                </a:ext>
              </a:extLst>
            </p:cNvPr>
            <p:cNvCxnSpPr/>
            <p:nvPr/>
          </p:nvCxnSpPr>
          <p:spPr>
            <a:xfrm>
              <a:off x="3091269" y="5899634"/>
              <a:ext cx="0" cy="223613"/>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92314DEB-9406-2444-90CB-BF40BBBF7FAF}"/>
                </a:ext>
              </a:extLst>
            </p:cNvPr>
            <p:cNvCxnSpPr>
              <a:cxnSpLocks/>
            </p:cNvCxnSpPr>
            <p:nvPr/>
          </p:nvCxnSpPr>
          <p:spPr>
            <a:xfrm flipH="1">
              <a:off x="4578161" y="5899634"/>
              <a:ext cx="2" cy="485774"/>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grpSp>
      <p:grpSp>
        <p:nvGrpSpPr>
          <p:cNvPr id="89" name="グループ化 88">
            <a:extLst>
              <a:ext uri="{FF2B5EF4-FFF2-40B4-BE49-F238E27FC236}">
                <a16:creationId xmlns:a16="http://schemas.microsoft.com/office/drawing/2014/main" id="{3142B7E3-ECD8-34EA-DC10-486243B76467}"/>
              </a:ext>
            </a:extLst>
          </p:cNvPr>
          <p:cNvGrpSpPr/>
          <p:nvPr/>
        </p:nvGrpSpPr>
        <p:grpSpPr>
          <a:xfrm>
            <a:off x="8399601" y="5009601"/>
            <a:ext cx="3541605" cy="1656530"/>
            <a:chOff x="2356389" y="5120916"/>
            <a:chExt cx="3541605" cy="1656530"/>
          </a:xfrm>
        </p:grpSpPr>
        <p:sp>
          <p:nvSpPr>
            <p:cNvPr id="90" name="矢印: 右 89">
              <a:extLst>
                <a:ext uri="{FF2B5EF4-FFF2-40B4-BE49-F238E27FC236}">
                  <a16:creationId xmlns:a16="http://schemas.microsoft.com/office/drawing/2014/main" id="{423F3B30-1973-5FF8-47FB-9E79017AB785}"/>
                </a:ext>
              </a:extLst>
            </p:cNvPr>
            <p:cNvSpPr/>
            <p:nvPr/>
          </p:nvSpPr>
          <p:spPr bwMode="gray">
            <a:xfrm>
              <a:off x="3084087" y="6056674"/>
              <a:ext cx="2592000" cy="366581"/>
            </a:xfrm>
            <a:prstGeom prst="rightArrow">
              <a:avLst/>
            </a:prstGeom>
            <a:solidFill>
              <a:schemeClr val="accent2"/>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ja-JP" altLang="en-US" sz="1200">
                  <a:solidFill>
                    <a:prstClr val="black"/>
                  </a:solidFill>
                </a:rPr>
                <a:t>原価付替後実際原価</a:t>
              </a:r>
              <a:r>
                <a:rPr lang="en-US" altLang="ja-JP" sz="1200">
                  <a:solidFill>
                    <a:prstClr val="black"/>
                  </a:solidFill>
                </a:rPr>
                <a:t>50</a:t>
              </a:r>
              <a:endParaRPr lang="ja-JP" altLang="en-US" sz="1200">
                <a:solidFill>
                  <a:prstClr val="black"/>
                </a:solidFill>
              </a:endParaRPr>
            </a:p>
          </p:txBody>
        </p:sp>
        <p:cxnSp>
          <p:nvCxnSpPr>
            <p:cNvPr id="92" name="直線コネクタ 91">
              <a:extLst>
                <a:ext uri="{FF2B5EF4-FFF2-40B4-BE49-F238E27FC236}">
                  <a16:creationId xmlns:a16="http://schemas.microsoft.com/office/drawing/2014/main" id="{2324A648-40C2-F1AA-2A40-D45A7B426329}"/>
                </a:ext>
              </a:extLst>
            </p:cNvPr>
            <p:cNvCxnSpPr/>
            <p:nvPr/>
          </p:nvCxnSpPr>
          <p:spPr>
            <a:xfrm>
              <a:off x="3104068" y="6001913"/>
              <a:ext cx="2556000" cy="0"/>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1E46C413-6822-3EC6-B563-E55AD4E3A772}"/>
                </a:ext>
              </a:extLst>
            </p:cNvPr>
            <p:cNvCxnSpPr/>
            <p:nvPr/>
          </p:nvCxnSpPr>
          <p:spPr>
            <a:xfrm>
              <a:off x="5680336" y="5899634"/>
              <a:ext cx="0" cy="223613"/>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95" name="テキスト ボックス 94">
              <a:extLst>
                <a:ext uri="{FF2B5EF4-FFF2-40B4-BE49-F238E27FC236}">
                  <a16:creationId xmlns:a16="http://schemas.microsoft.com/office/drawing/2014/main" id="{DC43DE29-EA57-7092-F349-51007773CF9F}"/>
                </a:ext>
              </a:extLst>
            </p:cNvPr>
            <p:cNvSpPr txBox="1"/>
            <p:nvPr/>
          </p:nvSpPr>
          <p:spPr bwMode="gray">
            <a:xfrm>
              <a:off x="2510959" y="5928070"/>
              <a:ext cx="446794"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進捗度</a:t>
              </a:r>
              <a:endParaRPr kumimoji="1" lang="ja-JP" altLang="en-US" sz="1100">
                <a:solidFill>
                  <a:schemeClr val="tx1"/>
                </a:solidFill>
              </a:endParaRPr>
            </a:p>
          </p:txBody>
        </p:sp>
        <p:sp>
          <p:nvSpPr>
            <p:cNvPr id="96" name="右中かっこ 95">
              <a:extLst>
                <a:ext uri="{FF2B5EF4-FFF2-40B4-BE49-F238E27FC236}">
                  <a16:creationId xmlns:a16="http://schemas.microsoft.com/office/drawing/2014/main" id="{36BF1578-BF07-344D-5EE1-A69DF9435DB6}"/>
                </a:ext>
              </a:extLst>
            </p:cNvPr>
            <p:cNvSpPr/>
            <p:nvPr/>
          </p:nvSpPr>
          <p:spPr>
            <a:xfrm rot="16200000">
              <a:off x="4303169" y="4256836"/>
              <a:ext cx="174827" cy="2579507"/>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7" name="テキスト ボックス 96">
              <a:extLst>
                <a:ext uri="{FF2B5EF4-FFF2-40B4-BE49-F238E27FC236}">
                  <a16:creationId xmlns:a16="http://schemas.microsoft.com/office/drawing/2014/main" id="{1A2006E2-991A-2E55-3107-BBA253D4F333}"/>
                </a:ext>
              </a:extLst>
            </p:cNvPr>
            <p:cNvSpPr txBox="1"/>
            <p:nvPr/>
          </p:nvSpPr>
          <p:spPr bwMode="gray">
            <a:xfrm>
              <a:off x="3721877" y="5216153"/>
              <a:ext cx="1320442" cy="18081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総収益　</a:t>
              </a:r>
              <a:r>
                <a:rPr lang="en-US" altLang="ja-JP" sz="1100">
                  <a:solidFill>
                    <a:schemeClr val="tx1"/>
                  </a:solidFill>
                </a:rPr>
                <a:t>100</a:t>
              </a:r>
              <a:endParaRPr kumimoji="1" lang="ja-JP" altLang="en-US" sz="1100">
                <a:solidFill>
                  <a:schemeClr val="tx1"/>
                </a:solidFill>
              </a:endParaRPr>
            </a:p>
          </p:txBody>
        </p:sp>
        <p:sp>
          <p:nvSpPr>
            <p:cNvPr id="98" name="右中かっこ 97">
              <a:extLst>
                <a:ext uri="{FF2B5EF4-FFF2-40B4-BE49-F238E27FC236}">
                  <a16:creationId xmlns:a16="http://schemas.microsoft.com/office/drawing/2014/main" id="{FE648EFC-6823-E12B-532E-84BB398EC2A3}"/>
                </a:ext>
              </a:extLst>
            </p:cNvPr>
            <p:cNvSpPr/>
            <p:nvPr/>
          </p:nvSpPr>
          <p:spPr>
            <a:xfrm rot="5400000">
              <a:off x="4306760" y="5196913"/>
              <a:ext cx="160866" cy="2572732"/>
            </a:xfrm>
            <a:prstGeom prst="rightBrac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9" name="テキスト ボックス 98">
              <a:extLst>
                <a:ext uri="{FF2B5EF4-FFF2-40B4-BE49-F238E27FC236}">
                  <a16:creationId xmlns:a16="http://schemas.microsoft.com/office/drawing/2014/main" id="{CDDB87E6-6B03-CD3A-CFCA-B3282488457B}"/>
                </a:ext>
              </a:extLst>
            </p:cNvPr>
            <p:cNvSpPr txBox="1"/>
            <p:nvPr/>
          </p:nvSpPr>
          <p:spPr bwMode="gray">
            <a:xfrm>
              <a:off x="3732037" y="6596627"/>
              <a:ext cx="1311852" cy="18081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総原価（見積）　</a:t>
              </a:r>
              <a:r>
                <a:rPr lang="en-US" altLang="ja-JP" sz="1100">
                  <a:solidFill>
                    <a:schemeClr val="tx1"/>
                  </a:solidFill>
                </a:rPr>
                <a:t>50</a:t>
              </a:r>
              <a:endParaRPr kumimoji="1" lang="ja-JP" altLang="en-US" sz="1100">
                <a:solidFill>
                  <a:schemeClr val="tx1"/>
                </a:solidFill>
              </a:endParaRPr>
            </a:p>
          </p:txBody>
        </p:sp>
        <p:sp>
          <p:nvSpPr>
            <p:cNvPr id="100" name="円弧 99">
              <a:extLst>
                <a:ext uri="{FF2B5EF4-FFF2-40B4-BE49-F238E27FC236}">
                  <a16:creationId xmlns:a16="http://schemas.microsoft.com/office/drawing/2014/main" id="{0F917219-666D-6AE6-055E-5F48C4B604B8}"/>
                </a:ext>
              </a:extLst>
            </p:cNvPr>
            <p:cNvSpPr/>
            <p:nvPr/>
          </p:nvSpPr>
          <p:spPr>
            <a:xfrm>
              <a:off x="3098451" y="5897351"/>
              <a:ext cx="2585665" cy="207726"/>
            </a:xfrm>
            <a:prstGeom prst="arc">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01" name="テキスト ボックス 100">
              <a:extLst>
                <a:ext uri="{FF2B5EF4-FFF2-40B4-BE49-F238E27FC236}">
                  <a16:creationId xmlns:a16="http://schemas.microsoft.com/office/drawing/2014/main" id="{4874DD34-8E9C-CFB9-F119-B82B3770528B}"/>
                </a:ext>
              </a:extLst>
            </p:cNvPr>
            <p:cNvSpPr txBox="1"/>
            <p:nvPr/>
          </p:nvSpPr>
          <p:spPr bwMode="gray">
            <a:xfrm>
              <a:off x="2356390" y="5434818"/>
              <a:ext cx="774301"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＜収益＞</a:t>
              </a:r>
              <a:endParaRPr lang="en-US" altLang="ja-JP" sz="1100">
                <a:solidFill>
                  <a:schemeClr val="tx1"/>
                </a:solidFill>
              </a:endParaRPr>
            </a:p>
          </p:txBody>
        </p:sp>
        <p:sp>
          <p:nvSpPr>
            <p:cNvPr id="102" name="テキスト ボックス 101">
              <a:extLst>
                <a:ext uri="{FF2B5EF4-FFF2-40B4-BE49-F238E27FC236}">
                  <a16:creationId xmlns:a16="http://schemas.microsoft.com/office/drawing/2014/main" id="{0BBF484F-4E24-D3A7-2C0F-F9EBC46681EE}"/>
                </a:ext>
              </a:extLst>
            </p:cNvPr>
            <p:cNvSpPr txBox="1"/>
            <p:nvPr/>
          </p:nvSpPr>
          <p:spPr bwMode="gray">
            <a:xfrm>
              <a:off x="2356389" y="6492492"/>
              <a:ext cx="774301"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＜原価＞</a:t>
              </a:r>
              <a:endParaRPr lang="en-US" altLang="ja-JP" sz="1100">
                <a:solidFill>
                  <a:schemeClr val="tx1"/>
                </a:solidFill>
              </a:endParaRPr>
            </a:p>
          </p:txBody>
        </p:sp>
        <p:sp>
          <p:nvSpPr>
            <p:cNvPr id="103" name="テキスト ボックス 102">
              <a:extLst>
                <a:ext uri="{FF2B5EF4-FFF2-40B4-BE49-F238E27FC236}">
                  <a16:creationId xmlns:a16="http://schemas.microsoft.com/office/drawing/2014/main" id="{77323392-C358-52A5-36A9-7053C62E7930}"/>
                </a:ext>
              </a:extLst>
            </p:cNvPr>
            <p:cNvSpPr txBox="1"/>
            <p:nvPr/>
          </p:nvSpPr>
          <p:spPr bwMode="gray">
            <a:xfrm>
              <a:off x="4027093" y="5654251"/>
              <a:ext cx="741786" cy="180819"/>
            </a:xfrm>
            <a:prstGeom prst="rect">
              <a:avLst/>
            </a:prstGeom>
            <a:noFill/>
            <a:ln>
              <a:solidFill>
                <a:srgbClr val="262626"/>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ja-JP" altLang="en-US" sz="1100">
                  <a:solidFill>
                    <a:schemeClr val="tx1"/>
                  </a:solidFill>
                </a:rPr>
                <a:t>売上</a:t>
              </a:r>
              <a:r>
                <a:rPr lang="en-US" altLang="ja-JP" sz="1100">
                  <a:solidFill>
                    <a:schemeClr val="tx1"/>
                  </a:solidFill>
                </a:rPr>
                <a:t>100</a:t>
              </a:r>
              <a:endParaRPr kumimoji="1" lang="ja-JP" altLang="en-US" sz="1100">
                <a:solidFill>
                  <a:schemeClr val="tx1"/>
                </a:solidFill>
              </a:endParaRPr>
            </a:p>
          </p:txBody>
        </p:sp>
        <p:sp>
          <p:nvSpPr>
            <p:cNvPr id="104" name="テキスト ボックス 103">
              <a:extLst>
                <a:ext uri="{FF2B5EF4-FFF2-40B4-BE49-F238E27FC236}">
                  <a16:creationId xmlns:a16="http://schemas.microsoft.com/office/drawing/2014/main" id="{58D600F7-FD9B-77B9-DF18-A8CF436FD714}"/>
                </a:ext>
              </a:extLst>
            </p:cNvPr>
            <p:cNvSpPr txBox="1"/>
            <p:nvPr/>
          </p:nvSpPr>
          <p:spPr bwMode="gray">
            <a:xfrm>
              <a:off x="5451200" y="5711419"/>
              <a:ext cx="446794" cy="188339"/>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en-US" altLang="ja-JP" sz="1100">
                  <a:solidFill>
                    <a:schemeClr val="tx1"/>
                  </a:solidFill>
                </a:rPr>
                <a:t>100%</a:t>
              </a:r>
              <a:endParaRPr kumimoji="1" lang="ja-JP" altLang="en-US" sz="1100">
                <a:solidFill>
                  <a:schemeClr val="tx1"/>
                </a:solidFill>
              </a:endParaRPr>
            </a:p>
          </p:txBody>
        </p:sp>
        <p:sp>
          <p:nvSpPr>
            <p:cNvPr id="105" name="正方形/長方形 104">
              <a:extLst>
                <a:ext uri="{FF2B5EF4-FFF2-40B4-BE49-F238E27FC236}">
                  <a16:creationId xmlns:a16="http://schemas.microsoft.com/office/drawing/2014/main" id="{30B6FE37-C7B1-1C54-5158-B1C9FABE7649}"/>
                </a:ext>
              </a:extLst>
            </p:cNvPr>
            <p:cNvSpPr/>
            <p:nvPr/>
          </p:nvSpPr>
          <p:spPr bwMode="gray">
            <a:xfrm>
              <a:off x="2419707" y="5120916"/>
              <a:ext cx="639914" cy="262721"/>
            </a:xfrm>
            <a:prstGeom prst="rect">
              <a:avLst/>
            </a:prstGeom>
            <a:solidFill>
              <a:schemeClr val="bg2"/>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64">
                <a:buSzPct val="100000"/>
              </a:pPr>
              <a:r>
                <a:rPr lang="en-US" altLang="ja-JP" sz="1200">
                  <a:solidFill>
                    <a:prstClr val="black"/>
                  </a:solidFill>
                </a:rPr>
                <a:t>PJ A</a:t>
              </a:r>
              <a:r>
                <a:rPr lang="ja-JP" altLang="en-US" sz="1200">
                  <a:solidFill>
                    <a:prstClr val="black"/>
                  </a:solidFill>
                </a:rPr>
                <a:t>　 </a:t>
              </a:r>
            </a:p>
          </p:txBody>
        </p:sp>
        <p:cxnSp>
          <p:nvCxnSpPr>
            <p:cNvPr id="106" name="直線コネクタ 105">
              <a:extLst>
                <a:ext uri="{FF2B5EF4-FFF2-40B4-BE49-F238E27FC236}">
                  <a16:creationId xmlns:a16="http://schemas.microsoft.com/office/drawing/2014/main" id="{346DA8C9-D05A-D2A8-D14F-A091473BFD77}"/>
                </a:ext>
              </a:extLst>
            </p:cNvPr>
            <p:cNvCxnSpPr/>
            <p:nvPr/>
          </p:nvCxnSpPr>
          <p:spPr>
            <a:xfrm>
              <a:off x="3091269" y="5899634"/>
              <a:ext cx="0" cy="223613"/>
            </a:xfrm>
            <a:prstGeom prst="line">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110" name="円弧 109">
              <a:extLst>
                <a:ext uri="{FF2B5EF4-FFF2-40B4-BE49-F238E27FC236}">
                  <a16:creationId xmlns:a16="http://schemas.microsoft.com/office/drawing/2014/main" id="{AB48068A-7F65-6F28-13CE-709BA6AAB12C}"/>
                </a:ext>
              </a:extLst>
            </p:cNvPr>
            <p:cNvSpPr/>
            <p:nvPr/>
          </p:nvSpPr>
          <p:spPr>
            <a:xfrm flipH="1">
              <a:off x="3095397" y="5897351"/>
              <a:ext cx="2585665" cy="207726"/>
            </a:xfrm>
            <a:prstGeom prst="arc">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21" name="正方形/長方形 20">
            <a:extLst>
              <a:ext uri="{FF2B5EF4-FFF2-40B4-BE49-F238E27FC236}">
                <a16:creationId xmlns:a16="http://schemas.microsoft.com/office/drawing/2014/main" id="{0483595C-5431-AAA3-3D84-F429606B53C6}"/>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29591298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B2E4-C3E7-7304-60E2-C908BFE5BD20}"/>
            </a:ext>
          </a:extLst>
        </p:cNvPr>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A1243751-F13D-C52A-A291-BFAD4203EF5C}"/>
              </a:ext>
            </a:extLst>
          </p:cNvPr>
          <p:cNvSpPr>
            <a:spLocks noGrp="1"/>
          </p:cNvSpPr>
          <p:nvPr>
            <p:ph type="body" sz="quarter" idx="10"/>
          </p:nvPr>
        </p:nvSpPr>
        <p:spPr>
          <a:xfrm>
            <a:off x="796323" y="1017126"/>
            <a:ext cx="10847596" cy="770485"/>
          </a:xfrm>
        </p:spPr>
        <p:txBody>
          <a:bodyPr/>
          <a:lstStyle/>
          <a:p>
            <a:r>
              <a:rPr lang="ja-JP" altLang="en-US" sz="1800" b="0"/>
              <a:t>利益の増加や損失の回避を目的として、以下の３つの方法で原価の付替えが行われていました。</a:t>
            </a:r>
          </a:p>
        </p:txBody>
      </p:sp>
      <p:sp>
        <p:nvSpPr>
          <p:cNvPr id="3" name="タイトル 2">
            <a:extLst>
              <a:ext uri="{FF2B5EF4-FFF2-40B4-BE49-F238E27FC236}">
                <a16:creationId xmlns:a16="http://schemas.microsoft.com/office/drawing/2014/main" id="{AD32AF55-6B20-8411-B09C-0B2D614FAE45}"/>
              </a:ext>
            </a:extLst>
          </p:cNvPr>
          <p:cNvSpPr>
            <a:spLocks noGrp="1"/>
          </p:cNvSpPr>
          <p:nvPr>
            <p:ph type="title"/>
          </p:nvPr>
        </p:nvSpPr>
        <p:spPr>
          <a:xfrm>
            <a:off x="660000" y="365508"/>
            <a:ext cx="8640519" cy="371961"/>
          </a:xfrm>
        </p:spPr>
        <p:txBody>
          <a:bodyPr>
            <a:normAutofit/>
          </a:bodyPr>
          <a:lstStyle/>
          <a:p>
            <a:r>
              <a:rPr lang="en-US" altLang="ja-JP"/>
              <a:t>3-6.</a:t>
            </a:r>
            <a:r>
              <a:rPr lang="ja-JP" altLang="en-US"/>
              <a:t>原価の付替手法</a:t>
            </a:r>
          </a:p>
        </p:txBody>
      </p:sp>
      <p:graphicFrame>
        <p:nvGraphicFramePr>
          <p:cNvPr id="2" name="表 1">
            <a:extLst>
              <a:ext uri="{FF2B5EF4-FFF2-40B4-BE49-F238E27FC236}">
                <a16:creationId xmlns:a16="http://schemas.microsoft.com/office/drawing/2014/main" id="{3EE263BE-57B7-F517-C67A-146833935236}"/>
              </a:ext>
            </a:extLst>
          </p:cNvPr>
          <p:cNvGraphicFramePr>
            <a:graphicFrameLocks noGrp="1"/>
          </p:cNvGraphicFramePr>
          <p:nvPr/>
        </p:nvGraphicFramePr>
        <p:xfrm>
          <a:off x="414083" y="1664906"/>
          <a:ext cx="11363833" cy="4785360"/>
        </p:xfrm>
        <a:graphic>
          <a:graphicData uri="http://schemas.openxmlformats.org/drawingml/2006/table">
            <a:tbl>
              <a:tblPr firstRow="1" bandRow="1">
                <a:tableStyleId>{5C22544A-7EE6-4342-B048-85BDC9FD1C3A}</a:tableStyleId>
              </a:tblPr>
              <a:tblGrid>
                <a:gridCol w="572265">
                  <a:extLst>
                    <a:ext uri="{9D8B030D-6E8A-4147-A177-3AD203B41FA5}">
                      <a16:colId xmlns:a16="http://schemas.microsoft.com/office/drawing/2014/main" val="2062402288"/>
                    </a:ext>
                  </a:extLst>
                </a:gridCol>
                <a:gridCol w="3453847">
                  <a:extLst>
                    <a:ext uri="{9D8B030D-6E8A-4147-A177-3AD203B41FA5}">
                      <a16:colId xmlns:a16="http://schemas.microsoft.com/office/drawing/2014/main" val="2491377948"/>
                    </a:ext>
                  </a:extLst>
                </a:gridCol>
                <a:gridCol w="4366054">
                  <a:extLst>
                    <a:ext uri="{9D8B030D-6E8A-4147-A177-3AD203B41FA5}">
                      <a16:colId xmlns:a16="http://schemas.microsoft.com/office/drawing/2014/main" val="3878590817"/>
                    </a:ext>
                  </a:extLst>
                </a:gridCol>
                <a:gridCol w="2971667">
                  <a:extLst>
                    <a:ext uri="{9D8B030D-6E8A-4147-A177-3AD203B41FA5}">
                      <a16:colId xmlns:a16="http://schemas.microsoft.com/office/drawing/2014/main" val="4191514691"/>
                    </a:ext>
                  </a:extLst>
                </a:gridCol>
              </a:tblGrid>
              <a:tr h="0">
                <a:tc>
                  <a:txBody>
                    <a:bodyPr/>
                    <a:lstStyle/>
                    <a:p>
                      <a:pPr algn="ctr"/>
                      <a:r>
                        <a:rPr kumimoji="1" lang="en-US" altLang="ja-JP"/>
                        <a:t>No.</a:t>
                      </a:r>
                      <a:endParaRPr kumimoji="1" lang="ja-JP" altLang="en-US"/>
                    </a:p>
                  </a:txBody>
                  <a:tcPr anchor="ctr"/>
                </a:tc>
                <a:tc>
                  <a:txBody>
                    <a:bodyPr/>
                    <a:lstStyle/>
                    <a:p>
                      <a:pPr algn="ctr"/>
                      <a:r>
                        <a:rPr kumimoji="1" lang="ja-JP" altLang="en-US"/>
                        <a:t>事案の内容</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発生原因</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対策</a:t>
                      </a:r>
                    </a:p>
                  </a:txBody>
                  <a:tcPr anchor="ctr"/>
                </a:tc>
                <a:extLst>
                  <a:ext uri="{0D108BD9-81ED-4DB2-BD59-A6C34878D82A}">
                    <a16:rowId xmlns:a16="http://schemas.microsoft.com/office/drawing/2014/main" val="2899885730"/>
                  </a:ext>
                </a:extLst>
              </a:tr>
              <a:tr h="754008">
                <a:tc>
                  <a:txBody>
                    <a:bodyPr/>
                    <a:lstStyle/>
                    <a:p>
                      <a:pPr algn="ctr"/>
                      <a:r>
                        <a:rPr kumimoji="1" lang="ja-JP" altLang="en-US"/>
                        <a:t>１</a:t>
                      </a:r>
                    </a:p>
                  </a:txBody>
                  <a:tcPr anchor="ctr"/>
                </a:tc>
                <a:tc>
                  <a:txBody>
                    <a:bodyPr/>
                    <a:lstStyle/>
                    <a:p>
                      <a:r>
                        <a:rPr kumimoji="1" lang="ja-JP" altLang="en-US" sz="1600"/>
                        <a:t>実際原価が実行予算に満たない</a:t>
                      </a:r>
                      <a:r>
                        <a:rPr kumimoji="1" lang="en-US" altLang="ja-JP" sz="1600"/>
                        <a:t>PJ</a:t>
                      </a:r>
                      <a:r>
                        <a:rPr kumimoji="1" lang="ja-JP" altLang="en-US" sz="1600"/>
                        <a:t>について実態のない費用を「未計上原価」としてプールしておき、そこに付け替えることで</a:t>
                      </a:r>
                      <a:r>
                        <a:rPr kumimoji="1" lang="en-US" altLang="ja-JP" sz="1600"/>
                        <a:t>PJ</a:t>
                      </a:r>
                      <a:r>
                        <a:rPr kumimoji="1" lang="ja-JP" altLang="en-US" sz="1600"/>
                        <a:t>の利益率を調整する処理を行っていた。</a:t>
                      </a:r>
                    </a:p>
                  </a:txBody>
                  <a:tcPr anchor="ctr"/>
                </a:tc>
                <a:tc>
                  <a:txBody>
                    <a:bodyPr/>
                    <a:lstStyle/>
                    <a:p>
                      <a:r>
                        <a:rPr kumimoji="1" lang="ja-JP" altLang="en-US" sz="1600"/>
                        <a:t>・未計上原価申請書ではどの</a:t>
                      </a:r>
                      <a:r>
                        <a:rPr kumimoji="1" lang="en-US" altLang="ja-JP" sz="1600"/>
                        <a:t>PJ</a:t>
                      </a:r>
                      <a:r>
                        <a:rPr kumimoji="1" lang="ja-JP" altLang="en-US" sz="1600"/>
                        <a:t>に使用したかは記載する必要がなく、他</a:t>
                      </a:r>
                      <a:r>
                        <a:rPr kumimoji="1" lang="en-US" altLang="ja-JP" sz="1600"/>
                        <a:t>PJ</a:t>
                      </a:r>
                      <a:r>
                        <a:rPr kumimoji="1" lang="ja-JP" altLang="en-US" sz="1600"/>
                        <a:t>のために使用されていても気づくことができなかった。</a:t>
                      </a:r>
                      <a:endParaRPr kumimoji="1" lang="en-US" altLang="ja-JP" sz="1600"/>
                    </a:p>
                  </a:txBody>
                  <a:tcPr anchor="ctr"/>
                </a:tc>
                <a:tc>
                  <a:txBody>
                    <a:bodyPr/>
                    <a:lstStyle/>
                    <a:p>
                      <a:r>
                        <a:rPr kumimoji="1" lang="ja-JP" altLang="en-US" sz="1600"/>
                        <a:t>「未計上原価申請書」の適切なチェック体制の構築</a:t>
                      </a:r>
                    </a:p>
                  </a:txBody>
                  <a:tcPr anchor="ctr"/>
                </a:tc>
                <a:extLst>
                  <a:ext uri="{0D108BD9-81ED-4DB2-BD59-A6C34878D82A}">
                    <a16:rowId xmlns:a16="http://schemas.microsoft.com/office/drawing/2014/main" val="985906880"/>
                  </a:ext>
                </a:extLst>
              </a:tr>
              <a:tr h="754008">
                <a:tc>
                  <a:txBody>
                    <a:bodyPr/>
                    <a:lstStyle/>
                    <a:p>
                      <a:pPr algn="ctr"/>
                      <a:r>
                        <a:rPr kumimoji="1" lang="ja-JP" altLang="en-US"/>
                        <a:t>２</a:t>
                      </a:r>
                    </a:p>
                  </a:txBody>
                  <a:tcPr anchor="ctr"/>
                </a:tc>
                <a:tc>
                  <a:txBody>
                    <a:bodyPr/>
                    <a:lstStyle/>
                    <a:p>
                      <a:r>
                        <a:rPr kumimoji="1" lang="ja-JP" altLang="en-US" sz="1600"/>
                        <a:t>プロジェクトに紐づける工数（人件費）を調整することにより、各プロジェクトの原価を操作していた。</a:t>
                      </a:r>
                    </a:p>
                  </a:txBody>
                  <a:tcPr anchor="ctr"/>
                </a:tc>
                <a:tc>
                  <a:txBody>
                    <a:bodyPr/>
                    <a:lstStyle/>
                    <a:p>
                      <a:r>
                        <a:rPr kumimoji="1" lang="ja-JP" altLang="en-US" sz="1600"/>
                        <a:t>・現行の勤怠管理システムでは工数管理ができない（出勤退勤、時間管理のみ）ため、</a:t>
                      </a:r>
                      <a:r>
                        <a:rPr kumimoji="1" lang="en-US" altLang="ja-JP" sz="1600"/>
                        <a:t>Excel</a:t>
                      </a:r>
                      <a:r>
                        <a:rPr kumimoji="1" lang="ja-JP" altLang="en-US" sz="1600"/>
                        <a:t>ベースの報告書で管理を実施していた。そのため</a:t>
                      </a:r>
                      <a:r>
                        <a:rPr kumimoji="1" lang="en-US" altLang="ja-JP" sz="1600"/>
                        <a:t>Excel</a:t>
                      </a:r>
                      <a:r>
                        <a:rPr kumimoji="1" lang="ja-JP" altLang="en-US" sz="1600"/>
                        <a:t>を操作することで容易に</a:t>
                      </a:r>
                      <a:r>
                        <a:rPr kumimoji="1" lang="en-US" altLang="ja-JP" sz="1600"/>
                        <a:t>PJ</a:t>
                      </a:r>
                      <a:r>
                        <a:rPr kumimoji="1" lang="ja-JP" altLang="en-US" sz="1600"/>
                        <a:t>に紐づける人件費を調整することができた。</a:t>
                      </a:r>
                      <a:endParaRPr kumimoji="1" lang="en-US" altLang="ja-JP" sz="1600"/>
                    </a:p>
                  </a:txBody>
                  <a:tcPr anchor="ctr"/>
                </a:tc>
                <a:tc>
                  <a:txBody>
                    <a:bodyPr/>
                    <a:lstStyle/>
                    <a:p>
                      <a:r>
                        <a:rPr kumimoji="1" lang="ja-JP" altLang="en-US" sz="1600"/>
                        <a:t>人件費と紐づけられた勤怠管理資料の作成と適切なチェック体制の構築</a:t>
                      </a:r>
                    </a:p>
                  </a:txBody>
                  <a:tcPr anchor="ctr"/>
                </a:tc>
                <a:extLst>
                  <a:ext uri="{0D108BD9-81ED-4DB2-BD59-A6C34878D82A}">
                    <a16:rowId xmlns:a16="http://schemas.microsoft.com/office/drawing/2014/main" val="885145048"/>
                  </a:ext>
                </a:extLst>
              </a:tr>
              <a:tr h="1097925">
                <a:tc>
                  <a:txBody>
                    <a:bodyPr/>
                    <a:lstStyle/>
                    <a:p>
                      <a:pPr algn="ctr"/>
                      <a:r>
                        <a:rPr kumimoji="1" lang="ja-JP" altLang="en-US"/>
                        <a:t>３</a:t>
                      </a:r>
                    </a:p>
                  </a:txBody>
                  <a:tcPr anchor="ctr"/>
                </a:tc>
                <a:tc>
                  <a:txBody>
                    <a:bodyPr/>
                    <a:lstStyle/>
                    <a:p>
                      <a:r>
                        <a:rPr kumimoji="1" lang="ja-JP" altLang="en-US" sz="1600"/>
                        <a:t>売上時に赤字になりそうな</a:t>
                      </a:r>
                      <a:r>
                        <a:rPr kumimoji="1" lang="en-US" altLang="ja-JP" sz="1600"/>
                        <a:t>PJ</a:t>
                      </a:r>
                      <a:r>
                        <a:rPr kumimoji="1" lang="ja-JP" altLang="en-US" sz="1600"/>
                        <a:t>について、「原価振替依頼書」を使用して原価を他の</a:t>
                      </a:r>
                      <a:r>
                        <a:rPr kumimoji="1" lang="en-US" altLang="ja-JP" sz="1600"/>
                        <a:t>PJ</a:t>
                      </a:r>
                      <a:r>
                        <a:rPr kumimoji="1" lang="ja-JP" altLang="en-US" sz="1600"/>
                        <a:t>に付け替えることで赤字を回避していた。</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・「原価振替依頼書」は、部門の部長</a:t>
                      </a:r>
                      <a:r>
                        <a:rPr kumimoji="1" lang="en-US" altLang="ja-JP" sz="1600"/>
                        <a:t>/</a:t>
                      </a:r>
                      <a:r>
                        <a:rPr kumimoji="1" lang="ja-JP" altLang="en-US" sz="1600"/>
                        <a:t>グループ長が承認のうえ経営管理部の承認にまわるが、関連証憑の添付は求められておらず、案件の内容や状況を把握していない中で経営管理部が恣意的な付替えに気付くのは難しく、有効なチェックとなっていなかったと考えられる。</a:t>
                      </a:r>
                    </a:p>
                  </a:txBody>
                  <a:tcPr anchor="ctr"/>
                </a:tc>
                <a:tc>
                  <a:txBody>
                    <a:bodyPr/>
                    <a:lstStyle/>
                    <a:p>
                      <a:r>
                        <a:rPr kumimoji="1" lang="zh-TW" altLang="en-US" sz="1600"/>
                        <a:t>「原価振替依頼書」</a:t>
                      </a:r>
                      <a:r>
                        <a:rPr kumimoji="1" lang="ja-JP" altLang="en-US" sz="1600"/>
                        <a:t>の適切なチェック体制の構築</a:t>
                      </a:r>
                    </a:p>
                  </a:txBody>
                  <a:tcPr anchor="ctr"/>
                </a:tc>
                <a:extLst>
                  <a:ext uri="{0D108BD9-81ED-4DB2-BD59-A6C34878D82A}">
                    <a16:rowId xmlns:a16="http://schemas.microsoft.com/office/drawing/2014/main" val="958969292"/>
                  </a:ext>
                </a:extLst>
              </a:tr>
            </a:tbl>
          </a:graphicData>
        </a:graphic>
      </p:graphicFrame>
    </p:spTree>
    <p:extLst>
      <p:ext uri="{BB962C8B-B14F-4D97-AF65-F5344CB8AC3E}">
        <p14:creationId xmlns:p14="http://schemas.microsoft.com/office/powerpoint/2010/main" val="1444890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2828F-38FB-E270-FB00-EBC58B034FA0}"/>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D37D1D3C-C385-C85C-3A73-D7D2D21A5AB5}"/>
              </a:ext>
            </a:extLst>
          </p:cNvPr>
          <p:cNvGraphicFramePr>
            <a:graphicFrameLocks noChangeAspect="1"/>
          </p:cNvGraphicFramePr>
          <p:nvPr>
            <p:custDataLst>
              <p:tags r:id="rId1"/>
            </p:custDataLst>
            <p:extLst>
              <p:ext uri="{D42A27DB-BD31-4B8C-83A1-F6EECF244321}">
                <p14:modId xmlns:p14="http://schemas.microsoft.com/office/powerpoint/2010/main" val="3335829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639" imgH="642" progId="TCLayout.ActiveDocument.1">
                  <p:embed/>
                </p:oleObj>
              </mc:Choice>
              <mc:Fallback>
                <p:oleObj name="think-cellスライド" r:id="rId3" imgW="639" imgH="642" progId="TCLayout.ActiveDocument.1">
                  <p:embed/>
                  <p:pic>
                    <p:nvPicPr>
                      <p:cNvPr id="37" name="think-cell data - do not delete" hidden="1">
                        <a:extLst>
                          <a:ext uri="{FF2B5EF4-FFF2-40B4-BE49-F238E27FC236}">
                            <a16:creationId xmlns:a16="http://schemas.microsoft.com/office/drawing/2014/main" id="{D37D1D3C-C385-C85C-3A73-D7D2D21A5A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B8DC3033-A99D-C40A-89F8-FCA768C268E2}"/>
              </a:ext>
            </a:extLst>
          </p:cNvPr>
          <p:cNvSpPr>
            <a:spLocks noGrp="1"/>
          </p:cNvSpPr>
          <p:nvPr>
            <p:ph type="title"/>
          </p:nvPr>
        </p:nvSpPr>
        <p:spPr>
          <a:xfrm>
            <a:off x="659999" y="365508"/>
            <a:ext cx="6869385" cy="371961"/>
          </a:xfrm>
        </p:spPr>
        <p:txBody>
          <a:bodyPr vert="horz">
            <a:normAutofit/>
          </a:bodyPr>
          <a:lstStyle/>
          <a:p>
            <a:r>
              <a:rPr lang="en-US" altLang="ja-JP"/>
              <a:t>3-7.</a:t>
            </a:r>
            <a:r>
              <a:rPr lang="ja-JP" altLang="en-US"/>
              <a:t>部門等の費用付替</a:t>
            </a:r>
          </a:p>
        </p:txBody>
      </p:sp>
      <p:sp>
        <p:nvSpPr>
          <p:cNvPr id="2" name="正方形/長方形 1">
            <a:extLst>
              <a:ext uri="{FF2B5EF4-FFF2-40B4-BE49-F238E27FC236}">
                <a16:creationId xmlns:a16="http://schemas.microsoft.com/office/drawing/2014/main" id="{6F301EB7-0FFB-4457-23C7-3CACE744AFF5}"/>
              </a:ext>
            </a:extLst>
          </p:cNvPr>
          <p:cNvSpPr/>
          <p:nvPr/>
        </p:nvSpPr>
        <p:spPr bwMode="gray">
          <a:xfrm>
            <a:off x="2127658" y="1790557"/>
            <a:ext cx="9720000" cy="864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九州</a:t>
            </a:r>
            <a:r>
              <a:rPr lang="en-US" altLang="ja-JP" sz="1400">
                <a:solidFill>
                  <a:prstClr val="black"/>
                </a:solidFill>
                <a:latin typeface="+mn-ea"/>
              </a:rPr>
              <a:t>AW</a:t>
            </a:r>
            <a:r>
              <a:rPr lang="ja-JP" altLang="en-US" sz="1400">
                <a:solidFill>
                  <a:prstClr val="black"/>
                </a:solidFill>
                <a:latin typeface="+mn-ea"/>
              </a:rPr>
              <a:t>（当時）において、部門の利益目標達成を目的として、本来計上すべき部門とは異なる部門に販管費を付け替える処理が行われていた結果、</a:t>
            </a:r>
            <a:r>
              <a:rPr lang="en-US" altLang="ja-JP" sz="1400">
                <a:solidFill>
                  <a:prstClr val="black"/>
                </a:solidFill>
                <a:latin typeface="+mn-ea"/>
              </a:rPr>
              <a:t>AW</a:t>
            </a:r>
            <a:r>
              <a:rPr lang="ja-JP" altLang="en-US" sz="1400">
                <a:solidFill>
                  <a:prstClr val="black"/>
                </a:solidFill>
                <a:latin typeface="+mn-ea"/>
              </a:rPr>
              <a:t>グループ全体の利益額は変わらない一方で、連結決算上のセグメント情報の正確性が損なわれていた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A45248B5-D7FF-CB00-BE60-4B74462EF648}"/>
              </a:ext>
            </a:extLst>
          </p:cNvPr>
          <p:cNvSpPr/>
          <p:nvPr/>
        </p:nvSpPr>
        <p:spPr bwMode="gray">
          <a:xfrm>
            <a:off x="507602" y="1790557"/>
            <a:ext cx="1260000" cy="864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7BEC59FB-F980-6A19-F307-D3265D39C51B}"/>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sz="1800" b="0"/>
          </a:p>
        </p:txBody>
      </p:sp>
      <p:sp>
        <p:nvSpPr>
          <p:cNvPr id="4" name="正方形/長方形 3">
            <a:extLst>
              <a:ext uri="{FF2B5EF4-FFF2-40B4-BE49-F238E27FC236}">
                <a16:creationId xmlns:a16="http://schemas.microsoft.com/office/drawing/2014/main" id="{D34A0091-A2A5-4B21-95F8-A42F6805E782}"/>
              </a:ext>
            </a:extLst>
          </p:cNvPr>
          <p:cNvSpPr/>
          <p:nvPr/>
        </p:nvSpPr>
        <p:spPr>
          <a:xfrm>
            <a:off x="544547" y="2953080"/>
            <a:ext cx="1512000" cy="576000"/>
          </a:xfrm>
          <a:prstGeom prst="rect">
            <a:avLst/>
          </a:prstGeom>
          <a:solidFill>
            <a:srgbClr val="00B0F0"/>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600" b="0" i="0" u="none" strike="noStrike" kern="1200" cap="none" spc="0" normalizeH="0" baseline="0" noProof="0">
                <a:ln>
                  <a:noFill/>
                </a:ln>
                <a:solidFill>
                  <a:srgbClr val="FFFFFF"/>
                </a:solidFill>
                <a:effectLst/>
                <a:uLnTx/>
                <a:uFillTx/>
                <a:latin typeface="+mn-ea"/>
                <a:cs typeface="+mn-cs"/>
              </a:rPr>
              <a:t>産業事業部</a:t>
            </a:r>
          </a:p>
        </p:txBody>
      </p:sp>
      <p:sp>
        <p:nvSpPr>
          <p:cNvPr id="6" name="テキスト ボックス 5">
            <a:extLst>
              <a:ext uri="{FF2B5EF4-FFF2-40B4-BE49-F238E27FC236}">
                <a16:creationId xmlns:a16="http://schemas.microsoft.com/office/drawing/2014/main" id="{29211D6E-7872-6C09-21F5-34000E9647D5}"/>
              </a:ext>
            </a:extLst>
          </p:cNvPr>
          <p:cNvSpPr txBox="1"/>
          <p:nvPr/>
        </p:nvSpPr>
        <p:spPr>
          <a:xfrm>
            <a:off x="544547" y="3546151"/>
            <a:ext cx="1512000" cy="576000"/>
          </a:xfrm>
          <a:prstGeom prst="rect">
            <a:avLst/>
          </a:prstGeom>
          <a:noFill/>
          <a:ln>
            <a:solidFill>
              <a:schemeClr val="tx1"/>
            </a:solidFill>
          </a:ln>
        </p:spPr>
        <p:txBody>
          <a:bodyPr wrap="square" lIns="0" tIns="0" rIns="0" bIns="0" rtlCol="0">
            <a:spAutoFit/>
          </a:bodyPr>
          <a:lstStyle/>
          <a:p>
            <a:pPr algn="ctr">
              <a:lnSpc>
                <a:spcPct val="120000"/>
              </a:lnSpc>
            </a:pPr>
            <a:r>
              <a:rPr lang="ja-JP" altLang="en-US" sz="1600" spc="110"/>
              <a:t>費用</a:t>
            </a:r>
            <a:endParaRPr lang="en-US" altLang="ja-JP" sz="1600" spc="110"/>
          </a:p>
          <a:p>
            <a:pPr algn="ctr">
              <a:lnSpc>
                <a:spcPct val="120000"/>
              </a:lnSpc>
            </a:pPr>
            <a:r>
              <a:rPr lang="ja-JP" altLang="en-US" sz="1600" spc="110"/>
              <a:t>▲</a:t>
            </a:r>
            <a:r>
              <a:rPr lang="en-US" altLang="ja-JP" sz="1600" spc="110"/>
              <a:t>4,800</a:t>
            </a:r>
            <a:r>
              <a:rPr lang="ja-JP" altLang="en-US" sz="1600" spc="110"/>
              <a:t>千円</a:t>
            </a:r>
            <a:endParaRPr kumimoji="1" lang="ja-JP" altLang="en-US" sz="1600" spc="110" baseline="0"/>
          </a:p>
        </p:txBody>
      </p:sp>
      <p:cxnSp>
        <p:nvCxnSpPr>
          <p:cNvPr id="8" name="直線矢印コネクタ 7">
            <a:extLst>
              <a:ext uri="{FF2B5EF4-FFF2-40B4-BE49-F238E27FC236}">
                <a16:creationId xmlns:a16="http://schemas.microsoft.com/office/drawing/2014/main" id="{F5F5F3C1-894E-A837-D067-F620C191F71B}"/>
              </a:ext>
            </a:extLst>
          </p:cNvPr>
          <p:cNvCxnSpPr>
            <a:cxnSpLocks/>
            <a:stCxn id="6" idx="3"/>
            <a:endCxn id="12" idx="1"/>
          </p:cNvCxnSpPr>
          <p:nvPr/>
        </p:nvCxnSpPr>
        <p:spPr>
          <a:xfrm>
            <a:off x="2056547" y="3834151"/>
            <a:ext cx="4281527" cy="0"/>
          </a:xfrm>
          <a:prstGeom prst="straightConnector1">
            <a:avLst/>
          </a:prstGeom>
          <a:ln w="381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9" name="テキスト ボックス 8">
            <a:extLst>
              <a:ext uri="{FF2B5EF4-FFF2-40B4-BE49-F238E27FC236}">
                <a16:creationId xmlns:a16="http://schemas.microsoft.com/office/drawing/2014/main" id="{8199DCD0-05DA-27B5-E396-D27D650A13B2}"/>
              </a:ext>
            </a:extLst>
          </p:cNvPr>
          <p:cNvSpPr txBox="1"/>
          <p:nvPr/>
        </p:nvSpPr>
        <p:spPr>
          <a:xfrm>
            <a:off x="2141465" y="3114572"/>
            <a:ext cx="4032000" cy="560538"/>
          </a:xfrm>
          <a:prstGeom prst="rect">
            <a:avLst/>
          </a:prstGeom>
          <a:noFill/>
          <a:ln>
            <a:noFill/>
          </a:ln>
        </p:spPr>
        <p:txBody>
          <a:bodyPr wrap="square" lIns="0" tIns="0" rIns="0" bIns="0" rtlCol="0">
            <a:spAutoFit/>
          </a:bodyPr>
          <a:lstStyle/>
          <a:p>
            <a:pPr algn="ctr">
              <a:lnSpc>
                <a:spcPct val="120000"/>
              </a:lnSpc>
            </a:pPr>
            <a:r>
              <a:rPr kumimoji="1" lang="ja-JP" altLang="en-US" sz="1600" spc="110" baseline="0"/>
              <a:t>借方：他勘定振替（販管費）</a:t>
            </a:r>
            <a:r>
              <a:rPr kumimoji="1" lang="en-US" altLang="ja-JP" sz="1600" spc="110" baseline="0"/>
              <a:t>(</a:t>
            </a:r>
            <a:r>
              <a:rPr lang="ja-JP" altLang="en-US" sz="1600" spc="110"/>
              <a:t>エネルギー部</a:t>
            </a:r>
            <a:r>
              <a:rPr lang="en-US" altLang="ja-JP" sz="1600" spc="110"/>
              <a:t>)/</a:t>
            </a:r>
            <a:r>
              <a:rPr lang="ja-JP" altLang="en-US" sz="1600" spc="110"/>
              <a:t>貸方：他勘定振替（販管費）</a:t>
            </a:r>
            <a:r>
              <a:rPr lang="en-US" altLang="ja-JP" sz="1600" spc="110"/>
              <a:t>(</a:t>
            </a:r>
            <a:r>
              <a:rPr lang="ja-JP" altLang="en-US" sz="1600" spc="110"/>
              <a:t>産業事業部</a:t>
            </a:r>
            <a:r>
              <a:rPr lang="en-US" altLang="ja-JP" sz="1600" spc="110"/>
              <a:t>)</a:t>
            </a:r>
            <a:endParaRPr kumimoji="1" lang="ja-JP" altLang="en-US" sz="1600" spc="110" baseline="0"/>
          </a:p>
        </p:txBody>
      </p:sp>
      <p:sp>
        <p:nvSpPr>
          <p:cNvPr id="10" name="正方形/長方形 9">
            <a:extLst>
              <a:ext uri="{FF2B5EF4-FFF2-40B4-BE49-F238E27FC236}">
                <a16:creationId xmlns:a16="http://schemas.microsoft.com/office/drawing/2014/main" id="{01A28B5E-0552-FB10-A5AB-244142FE30C2}"/>
              </a:ext>
            </a:extLst>
          </p:cNvPr>
          <p:cNvSpPr/>
          <p:nvPr/>
        </p:nvSpPr>
        <p:spPr>
          <a:xfrm>
            <a:off x="6338074" y="2953080"/>
            <a:ext cx="1512000" cy="576000"/>
          </a:xfrm>
          <a:prstGeom prst="rect">
            <a:avLst/>
          </a:prstGeom>
          <a:solidFill>
            <a:srgbClr val="00B0F0"/>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rgbClr val="FFFFFF"/>
                </a:solidFill>
                <a:latin typeface="+mn-ea"/>
              </a:rPr>
              <a:t>エネルギー</a:t>
            </a:r>
            <a:r>
              <a:rPr kumimoji="1" lang="ja-JP" altLang="en-US" sz="1600" b="0" i="0" u="none" strike="noStrike" kern="1200" cap="none" spc="0" normalizeH="0" baseline="0" noProof="0">
                <a:ln>
                  <a:noFill/>
                </a:ln>
                <a:solidFill>
                  <a:srgbClr val="FFFFFF"/>
                </a:solidFill>
                <a:effectLst/>
                <a:uLnTx/>
                <a:uFillTx/>
                <a:latin typeface="+mn-ea"/>
                <a:cs typeface="+mn-cs"/>
              </a:rPr>
              <a:t>部</a:t>
            </a:r>
          </a:p>
        </p:txBody>
      </p:sp>
      <p:sp>
        <p:nvSpPr>
          <p:cNvPr id="12" name="テキスト ボックス 11">
            <a:extLst>
              <a:ext uri="{FF2B5EF4-FFF2-40B4-BE49-F238E27FC236}">
                <a16:creationId xmlns:a16="http://schemas.microsoft.com/office/drawing/2014/main" id="{1B3842EA-5E70-182E-2969-B35418A245AE}"/>
              </a:ext>
            </a:extLst>
          </p:cNvPr>
          <p:cNvSpPr txBox="1"/>
          <p:nvPr/>
        </p:nvSpPr>
        <p:spPr>
          <a:xfrm>
            <a:off x="6338074" y="3546151"/>
            <a:ext cx="1512000" cy="576000"/>
          </a:xfrm>
          <a:prstGeom prst="rect">
            <a:avLst/>
          </a:prstGeom>
          <a:noFill/>
          <a:ln>
            <a:solidFill>
              <a:schemeClr val="tx1"/>
            </a:solidFill>
          </a:ln>
        </p:spPr>
        <p:txBody>
          <a:bodyPr wrap="square" lIns="0" tIns="0" rIns="0" bIns="0" rtlCol="0">
            <a:spAutoFit/>
          </a:bodyPr>
          <a:lstStyle/>
          <a:p>
            <a:pPr algn="ctr">
              <a:lnSpc>
                <a:spcPct val="120000"/>
              </a:lnSpc>
            </a:pPr>
            <a:r>
              <a:rPr lang="ja-JP" altLang="en-US" sz="1600" spc="110"/>
              <a:t>費用</a:t>
            </a:r>
            <a:endParaRPr lang="en-US" altLang="ja-JP" sz="1600" spc="110"/>
          </a:p>
          <a:p>
            <a:pPr algn="ctr">
              <a:lnSpc>
                <a:spcPct val="120000"/>
              </a:lnSpc>
            </a:pPr>
            <a:r>
              <a:rPr lang="ja-JP" altLang="en-US" sz="1600" spc="110"/>
              <a:t>＋</a:t>
            </a:r>
            <a:r>
              <a:rPr lang="en-US" altLang="ja-JP" sz="1600" spc="110"/>
              <a:t>4,800</a:t>
            </a:r>
            <a:r>
              <a:rPr lang="ja-JP" altLang="en-US" sz="1600" spc="110"/>
              <a:t>千円</a:t>
            </a:r>
            <a:endParaRPr kumimoji="1" lang="ja-JP" altLang="en-US" sz="1400" spc="110" baseline="0"/>
          </a:p>
        </p:txBody>
      </p:sp>
      <p:sp>
        <p:nvSpPr>
          <p:cNvPr id="16" name="テキスト ボックス 15">
            <a:extLst>
              <a:ext uri="{FF2B5EF4-FFF2-40B4-BE49-F238E27FC236}">
                <a16:creationId xmlns:a16="http://schemas.microsoft.com/office/drawing/2014/main" id="{BD823217-B8E4-2A23-E20D-085EA67E7962}"/>
              </a:ext>
            </a:extLst>
          </p:cNvPr>
          <p:cNvSpPr txBox="1"/>
          <p:nvPr/>
        </p:nvSpPr>
        <p:spPr>
          <a:xfrm>
            <a:off x="2662215" y="3896560"/>
            <a:ext cx="3456000" cy="560538"/>
          </a:xfrm>
          <a:prstGeom prst="rect">
            <a:avLst/>
          </a:prstGeom>
          <a:noFill/>
        </p:spPr>
        <p:txBody>
          <a:bodyPr wrap="square" lIns="0" tIns="0" rIns="0" bIns="0" rtlCol="0" anchor="ctr">
            <a:spAutoFit/>
          </a:bodyPr>
          <a:lstStyle/>
          <a:p>
            <a:pPr>
              <a:lnSpc>
                <a:spcPct val="120000"/>
              </a:lnSpc>
            </a:pPr>
            <a:r>
              <a:rPr lang="ja-JP" altLang="en-US" sz="1600">
                <a:solidFill>
                  <a:srgbClr val="FF0000"/>
                </a:solidFill>
              </a:rPr>
              <a:t>振替を正当化する業務委託や費用負担等の取引実態の裏付けなし</a:t>
            </a:r>
            <a:endParaRPr kumimoji="1" lang="ja-JP" altLang="en-US" sz="1600" spc="110" baseline="0">
              <a:solidFill>
                <a:srgbClr val="FF0000"/>
              </a:solidFill>
            </a:endParaRPr>
          </a:p>
        </p:txBody>
      </p:sp>
      <p:sp>
        <p:nvSpPr>
          <p:cNvPr id="18" name="テキスト ボックス 17">
            <a:extLst>
              <a:ext uri="{FF2B5EF4-FFF2-40B4-BE49-F238E27FC236}">
                <a16:creationId xmlns:a16="http://schemas.microsoft.com/office/drawing/2014/main" id="{EE934C57-E47C-7150-01B7-930322833E48}"/>
              </a:ext>
            </a:extLst>
          </p:cNvPr>
          <p:cNvSpPr txBox="1"/>
          <p:nvPr/>
        </p:nvSpPr>
        <p:spPr>
          <a:xfrm>
            <a:off x="560200" y="5341805"/>
            <a:ext cx="1512000" cy="576000"/>
          </a:xfrm>
          <a:prstGeom prst="rect">
            <a:avLst/>
          </a:prstGeom>
          <a:noFill/>
          <a:ln>
            <a:solidFill>
              <a:schemeClr val="tx1"/>
            </a:solidFill>
          </a:ln>
        </p:spPr>
        <p:txBody>
          <a:bodyPr wrap="square" lIns="0" tIns="0" rIns="0" bIns="0" rtlCol="0">
            <a:spAutoFit/>
          </a:bodyPr>
          <a:lstStyle/>
          <a:p>
            <a:pPr algn="ctr">
              <a:lnSpc>
                <a:spcPct val="120000"/>
              </a:lnSpc>
            </a:pPr>
            <a:r>
              <a:rPr lang="ja-JP" altLang="en-US" sz="1600" spc="110"/>
              <a:t>費用</a:t>
            </a:r>
            <a:endParaRPr lang="en-US" altLang="ja-JP" sz="1600" spc="110"/>
          </a:p>
          <a:p>
            <a:pPr algn="ctr">
              <a:lnSpc>
                <a:spcPct val="120000"/>
              </a:lnSpc>
            </a:pPr>
            <a:r>
              <a:rPr lang="en-US" altLang="ja-JP" sz="1600" spc="110"/>
              <a:t>+5,186</a:t>
            </a:r>
            <a:r>
              <a:rPr lang="ja-JP" altLang="en-US" sz="1600" spc="110"/>
              <a:t>千円</a:t>
            </a:r>
            <a:endParaRPr kumimoji="1" lang="ja-JP" altLang="en-US" sz="1600" spc="110" baseline="0"/>
          </a:p>
        </p:txBody>
      </p:sp>
      <p:cxnSp>
        <p:nvCxnSpPr>
          <p:cNvPr id="19" name="直線矢印コネクタ 18">
            <a:extLst>
              <a:ext uri="{FF2B5EF4-FFF2-40B4-BE49-F238E27FC236}">
                <a16:creationId xmlns:a16="http://schemas.microsoft.com/office/drawing/2014/main" id="{9794D87A-5A55-D4A0-7B5C-62A45729DD8B}"/>
              </a:ext>
            </a:extLst>
          </p:cNvPr>
          <p:cNvCxnSpPr>
            <a:cxnSpLocks/>
            <a:stCxn id="18" idx="3"/>
            <a:endCxn id="22" idx="1"/>
          </p:cNvCxnSpPr>
          <p:nvPr/>
        </p:nvCxnSpPr>
        <p:spPr>
          <a:xfrm>
            <a:off x="2072200" y="5629805"/>
            <a:ext cx="4265874" cy="0"/>
          </a:xfrm>
          <a:prstGeom prst="straightConnector1">
            <a:avLst/>
          </a:prstGeom>
          <a:ln w="381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E4AFB2D6-4DCB-495F-34FD-77537D1C9E5F}"/>
              </a:ext>
            </a:extLst>
          </p:cNvPr>
          <p:cNvSpPr txBox="1"/>
          <p:nvPr/>
        </p:nvSpPr>
        <p:spPr>
          <a:xfrm>
            <a:off x="2141465" y="4978585"/>
            <a:ext cx="4032000" cy="560538"/>
          </a:xfrm>
          <a:prstGeom prst="rect">
            <a:avLst/>
          </a:prstGeom>
          <a:noFill/>
          <a:ln>
            <a:noFill/>
          </a:ln>
        </p:spPr>
        <p:txBody>
          <a:bodyPr wrap="square" lIns="0" tIns="0" rIns="0" bIns="0" rtlCol="0">
            <a:spAutoFit/>
          </a:bodyPr>
          <a:lstStyle/>
          <a:p>
            <a:pPr algn="ctr">
              <a:lnSpc>
                <a:spcPct val="120000"/>
              </a:lnSpc>
            </a:pPr>
            <a:r>
              <a:rPr lang="ja-JP" altLang="en-US" sz="1600" spc="110"/>
              <a:t>借方</a:t>
            </a:r>
            <a:r>
              <a:rPr lang="en-US" altLang="ja-JP" sz="1600" spc="110"/>
              <a:t>:</a:t>
            </a:r>
            <a:r>
              <a:rPr lang="ja-JP" altLang="en-US" sz="1600" spc="110"/>
              <a:t>賞与</a:t>
            </a:r>
            <a:r>
              <a:rPr lang="en-US" altLang="ja-JP" sz="1600" spc="110"/>
              <a:t>(</a:t>
            </a:r>
            <a:r>
              <a:rPr lang="ja-JP" altLang="en-US" sz="1600" spc="110"/>
              <a:t>管理部門</a:t>
            </a:r>
            <a:r>
              <a:rPr lang="en-US" altLang="ja-JP" sz="1600" spc="110"/>
              <a:t>)/</a:t>
            </a:r>
            <a:r>
              <a:rPr lang="ja-JP" altLang="en-US" sz="1600" spc="110"/>
              <a:t>貸方</a:t>
            </a:r>
            <a:r>
              <a:rPr lang="en-US" altLang="ja-JP" sz="1600" spc="110"/>
              <a:t>:</a:t>
            </a:r>
            <a:r>
              <a:rPr lang="ja-JP" altLang="en-US" sz="1600" spc="110"/>
              <a:t>費用振替</a:t>
            </a:r>
            <a:r>
              <a:rPr lang="en-US" altLang="ja-JP" sz="1600" spc="110"/>
              <a:t>(</a:t>
            </a:r>
            <a:r>
              <a:rPr lang="ja-JP" altLang="en-US" sz="1600" spc="110"/>
              <a:t>医療関連部門</a:t>
            </a:r>
            <a:r>
              <a:rPr lang="en-US" altLang="ja-JP" sz="1600" spc="110"/>
              <a:t>)</a:t>
            </a:r>
            <a:endParaRPr kumimoji="1" lang="ja-JP" altLang="en-US" sz="1600" spc="110" baseline="0"/>
          </a:p>
        </p:txBody>
      </p:sp>
      <p:sp>
        <p:nvSpPr>
          <p:cNvPr id="21" name="正方形/長方形 20">
            <a:extLst>
              <a:ext uri="{FF2B5EF4-FFF2-40B4-BE49-F238E27FC236}">
                <a16:creationId xmlns:a16="http://schemas.microsoft.com/office/drawing/2014/main" id="{EB8EF756-92ED-2002-195B-17598F48E91F}"/>
              </a:ext>
            </a:extLst>
          </p:cNvPr>
          <p:cNvSpPr/>
          <p:nvPr/>
        </p:nvSpPr>
        <p:spPr>
          <a:xfrm>
            <a:off x="6338074" y="4758359"/>
            <a:ext cx="1512000" cy="576000"/>
          </a:xfrm>
          <a:prstGeom prst="rect">
            <a:avLst/>
          </a:prstGeom>
          <a:solidFill>
            <a:srgbClr val="00B0F0"/>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rgbClr val="FFFFFF"/>
                </a:solidFill>
                <a:latin typeface="+mn-ea"/>
              </a:rPr>
              <a:t>医療関連部門</a:t>
            </a:r>
            <a:endParaRPr kumimoji="1" lang="ja-JP" altLang="en-US" sz="1600" b="0" i="0" u="none" strike="noStrike" kern="1200" cap="none" spc="0" normalizeH="0" baseline="0" noProof="0">
              <a:ln>
                <a:noFill/>
              </a:ln>
              <a:solidFill>
                <a:srgbClr val="FFFFFF"/>
              </a:solidFill>
              <a:effectLst/>
              <a:uLnTx/>
              <a:uFillTx/>
              <a:latin typeface="+mn-ea"/>
              <a:cs typeface="+mn-cs"/>
            </a:endParaRPr>
          </a:p>
        </p:txBody>
      </p:sp>
      <p:sp>
        <p:nvSpPr>
          <p:cNvPr id="22" name="テキスト ボックス 21">
            <a:extLst>
              <a:ext uri="{FF2B5EF4-FFF2-40B4-BE49-F238E27FC236}">
                <a16:creationId xmlns:a16="http://schemas.microsoft.com/office/drawing/2014/main" id="{97CF7011-5662-8247-788E-33788270E33C}"/>
              </a:ext>
            </a:extLst>
          </p:cNvPr>
          <p:cNvSpPr txBox="1"/>
          <p:nvPr/>
        </p:nvSpPr>
        <p:spPr>
          <a:xfrm>
            <a:off x="6338074" y="5341805"/>
            <a:ext cx="1512000" cy="576000"/>
          </a:xfrm>
          <a:prstGeom prst="rect">
            <a:avLst/>
          </a:prstGeom>
          <a:noFill/>
          <a:ln>
            <a:solidFill>
              <a:schemeClr val="tx1"/>
            </a:solidFill>
          </a:ln>
        </p:spPr>
        <p:txBody>
          <a:bodyPr wrap="square" lIns="0" tIns="0" rIns="0" bIns="0" rtlCol="0">
            <a:spAutoFit/>
          </a:bodyPr>
          <a:lstStyle/>
          <a:p>
            <a:pPr algn="ctr">
              <a:lnSpc>
                <a:spcPct val="120000"/>
              </a:lnSpc>
            </a:pPr>
            <a:r>
              <a:rPr lang="ja-JP" altLang="en-US" sz="1600" spc="110"/>
              <a:t>費用</a:t>
            </a:r>
            <a:endParaRPr lang="en-US" altLang="ja-JP" sz="1600" spc="110"/>
          </a:p>
          <a:p>
            <a:pPr algn="ctr">
              <a:lnSpc>
                <a:spcPct val="120000"/>
              </a:lnSpc>
            </a:pPr>
            <a:r>
              <a:rPr lang="ja-JP" altLang="en-US" sz="1600" spc="110"/>
              <a:t>▲</a:t>
            </a:r>
            <a:r>
              <a:rPr lang="en-US" altLang="ja-JP" sz="1600" spc="110"/>
              <a:t>5,186</a:t>
            </a:r>
            <a:r>
              <a:rPr lang="ja-JP" altLang="en-US" sz="1600" spc="110"/>
              <a:t>千円</a:t>
            </a:r>
            <a:endParaRPr kumimoji="1" lang="ja-JP" altLang="en-US" sz="1600" spc="110" baseline="0"/>
          </a:p>
        </p:txBody>
      </p:sp>
      <p:sp>
        <p:nvSpPr>
          <p:cNvPr id="23" name="テキスト ボックス 22">
            <a:extLst>
              <a:ext uri="{FF2B5EF4-FFF2-40B4-BE49-F238E27FC236}">
                <a16:creationId xmlns:a16="http://schemas.microsoft.com/office/drawing/2014/main" id="{E805A7C1-2572-5D26-9D60-09D1F20F6A22}"/>
              </a:ext>
            </a:extLst>
          </p:cNvPr>
          <p:cNvSpPr txBox="1"/>
          <p:nvPr/>
        </p:nvSpPr>
        <p:spPr>
          <a:xfrm>
            <a:off x="2662215" y="5829305"/>
            <a:ext cx="3492000" cy="265073"/>
          </a:xfrm>
          <a:prstGeom prst="rect">
            <a:avLst/>
          </a:prstGeom>
          <a:noFill/>
        </p:spPr>
        <p:txBody>
          <a:bodyPr wrap="square" lIns="0" tIns="0" rIns="0" bIns="0" rtlCol="0">
            <a:spAutoFit/>
          </a:bodyPr>
          <a:lstStyle/>
          <a:p>
            <a:pPr algn="ctr">
              <a:lnSpc>
                <a:spcPct val="120000"/>
              </a:lnSpc>
            </a:pPr>
            <a:r>
              <a:rPr kumimoji="1" lang="ja-JP" altLang="en-US" sz="1600" spc="110" baseline="0">
                <a:solidFill>
                  <a:srgbClr val="FF0000"/>
                </a:solidFill>
              </a:rPr>
              <a:t>本来の発生源とは無関係に仕訳投入</a:t>
            </a:r>
          </a:p>
        </p:txBody>
      </p:sp>
      <p:sp>
        <p:nvSpPr>
          <p:cNvPr id="24" name="テキスト プレースホルダー 3">
            <a:extLst>
              <a:ext uri="{FF2B5EF4-FFF2-40B4-BE49-F238E27FC236}">
                <a16:creationId xmlns:a16="http://schemas.microsoft.com/office/drawing/2014/main" id="{75594C5F-D524-26BE-8B6F-7530DE9D878A}"/>
              </a:ext>
            </a:extLst>
          </p:cNvPr>
          <p:cNvSpPr txBox="1">
            <a:spLocks/>
          </p:cNvSpPr>
          <p:nvPr/>
        </p:nvSpPr>
        <p:spPr>
          <a:xfrm>
            <a:off x="660000" y="883046"/>
            <a:ext cx="11160088" cy="756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費用配分において実態に即さない恣意的な操作は、セグメント情報として開示される利益が実際の経済活動や取引実態を忠実に表現しなくなる恐れがあるため、認められません</a:t>
            </a:r>
          </a:p>
        </p:txBody>
      </p:sp>
      <p:sp>
        <p:nvSpPr>
          <p:cNvPr id="29" name="正方形/長方形 28">
            <a:extLst>
              <a:ext uri="{FF2B5EF4-FFF2-40B4-BE49-F238E27FC236}">
                <a16:creationId xmlns:a16="http://schemas.microsoft.com/office/drawing/2014/main" id="{86EE97D8-9DAA-30AA-D196-B291A459B6F4}"/>
              </a:ext>
            </a:extLst>
          </p:cNvPr>
          <p:cNvSpPr/>
          <p:nvPr/>
        </p:nvSpPr>
        <p:spPr>
          <a:xfrm>
            <a:off x="560200" y="4762556"/>
            <a:ext cx="1512000" cy="576000"/>
          </a:xfrm>
          <a:prstGeom prst="rect">
            <a:avLst/>
          </a:prstGeom>
          <a:solidFill>
            <a:srgbClr val="00B0F0"/>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600">
                <a:solidFill>
                  <a:srgbClr val="FFFFFF"/>
                </a:solidFill>
                <a:latin typeface="+mn-ea"/>
              </a:rPr>
              <a:t>管理部門</a:t>
            </a:r>
            <a:endParaRPr kumimoji="1" lang="ja-JP" altLang="en-US" sz="1600" b="0" i="0" u="none" strike="noStrike" kern="1200" cap="none" spc="0" normalizeH="0" baseline="0" noProof="0">
              <a:ln>
                <a:noFill/>
              </a:ln>
              <a:solidFill>
                <a:srgbClr val="FFFFFF"/>
              </a:solidFill>
              <a:effectLst/>
              <a:uLnTx/>
              <a:uFillTx/>
              <a:latin typeface="+mn-ea"/>
              <a:cs typeface="+mn-cs"/>
            </a:endParaRPr>
          </a:p>
        </p:txBody>
      </p:sp>
      <p:sp>
        <p:nvSpPr>
          <p:cNvPr id="34" name="テキスト ボックス 33">
            <a:extLst>
              <a:ext uri="{FF2B5EF4-FFF2-40B4-BE49-F238E27FC236}">
                <a16:creationId xmlns:a16="http://schemas.microsoft.com/office/drawing/2014/main" id="{059B30AE-C588-0763-EF53-436574D3C1F8}"/>
              </a:ext>
            </a:extLst>
          </p:cNvPr>
          <p:cNvSpPr txBox="1"/>
          <p:nvPr/>
        </p:nvSpPr>
        <p:spPr>
          <a:xfrm>
            <a:off x="8412113" y="3647311"/>
            <a:ext cx="3636000" cy="1742400"/>
          </a:xfrm>
          <a:prstGeom prst="rect">
            <a:avLst/>
          </a:prstGeom>
          <a:noFill/>
        </p:spPr>
        <p:txBody>
          <a:bodyPr wrap="square" lIns="0" tIns="0" rIns="0" bIns="0" rtlCol="0" anchor="ctr">
            <a:spAutoFit/>
          </a:bodyPr>
          <a:lstStyle/>
          <a:p>
            <a:pPr marL="285750" indent="-285750" algn="l">
              <a:lnSpc>
                <a:spcPct val="120000"/>
              </a:lnSpc>
              <a:buFont typeface="Wingdings" panose="05000000000000000000" pitchFamily="2" charset="2"/>
              <a:buChar char="Ø"/>
            </a:pPr>
            <a:r>
              <a:rPr kumimoji="1" lang="ja-JP" altLang="en-US" sz="1600" spc="110" baseline="0"/>
              <a:t>セグメント情報として開示する売上高や利益</a:t>
            </a:r>
            <a:r>
              <a:rPr lang="ja-JP" altLang="en-US" sz="1600" spc="110"/>
              <a:t>は、</a:t>
            </a:r>
            <a:r>
              <a:rPr kumimoji="1" lang="ja-JP" altLang="en-US" sz="1600" spc="110" baseline="0"/>
              <a:t>実際の経済活動や取引実態を</a:t>
            </a:r>
            <a:r>
              <a:rPr lang="ja-JP" altLang="en-US" sz="1600" spc="110"/>
              <a:t>忠実に表現する必要あり</a:t>
            </a:r>
            <a:endParaRPr lang="en-US" altLang="ja-JP" sz="1600" spc="110"/>
          </a:p>
          <a:p>
            <a:pPr marL="285750" indent="-285750" algn="l">
              <a:lnSpc>
                <a:spcPct val="120000"/>
              </a:lnSpc>
              <a:buFont typeface="Wingdings" panose="05000000000000000000" pitchFamily="2" charset="2"/>
              <a:buChar char="Ø"/>
            </a:pPr>
            <a:r>
              <a:rPr kumimoji="1" lang="ja-JP" altLang="en-US" sz="1600" spc="110" baseline="0"/>
              <a:t>また、費用配分においては、発生源との関連性や合理的な配賦基準に基づくことが求められる</a:t>
            </a:r>
          </a:p>
        </p:txBody>
      </p:sp>
      <p:sp>
        <p:nvSpPr>
          <p:cNvPr id="35" name="二等辺三角形 34">
            <a:extLst>
              <a:ext uri="{FF2B5EF4-FFF2-40B4-BE49-F238E27FC236}">
                <a16:creationId xmlns:a16="http://schemas.microsoft.com/office/drawing/2014/main" id="{1FE61C50-4360-959C-C3C8-14202017C850}"/>
              </a:ext>
            </a:extLst>
          </p:cNvPr>
          <p:cNvSpPr/>
          <p:nvPr/>
        </p:nvSpPr>
        <p:spPr>
          <a:xfrm rot="5400000">
            <a:off x="7207598" y="4340330"/>
            <a:ext cx="1944000" cy="360000"/>
          </a:xfrm>
          <a:prstGeom prst="triangle">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 name="乗算記号 6">
            <a:extLst>
              <a:ext uri="{FF2B5EF4-FFF2-40B4-BE49-F238E27FC236}">
                <a16:creationId xmlns:a16="http://schemas.microsoft.com/office/drawing/2014/main" id="{91314EBE-D04C-C166-EB14-AEF12480919A}"/>
              </a:ext>
            </a:extLst>
          </p:cNvPr>
          <p:cNvSpPr/>
          <p:nvPr/>
        </p:nvSpPr>
        <p:spPr>
          <a:xfrm>
            <a:off x="2072200" y="3896210"/>
            <a:ext cx="617225" cy="551292"/>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5" name="乗算記号 24">
            <a:extLst>
              <a:ext uri="{FF2B5EF4-FFF2-40B4-BE49-F238E27FC236}">
                <a16:creationId xmlns:a16="http://schemas.microsoft.com/office/drawing/2014/main" id="{09A9EFCB-8066-DAD0-1FC6-17EB357F4ACE}"/>
              </a:ext>
            </a:extLst>
          </p:cNvPr>
          <p:cNvSpPr/>
          <p:nvPr/>
        </p:nvSpPr>
        <p:spPr>
          <a:xfrm>
            <a:off x="2072200" y="5686196"/>
            <a:ext cx="617225" cy="551292"/>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6" name="円: 塗りつぶしなし 25">
            <a:extLst>
              <a:ext uri="{FF2B5EF4-FFF2-40B4-BE49-F238E27FC236}">
                <a16:creationId xmlns:a16="http://schemas.microsoft.com/office/drawing/2014/main" id="{1BA72A53-FE4E-C9E5-4C84-B0B521AF2F50}"/>
              </a:ext>
            </a:extLst>
          </p:cNvPr>
          <p:cNvSpPr/>
          <p:nvPr/>
        </p:nvSpPr>
        <p:spPr>
          <a:xfrm>
            <a:off x="9801799" y="2940820"/>
            <a:ext cx="596247" cy="5969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5" name="正方形/長方形 4">
            <a:extLst>
              <a:ext uri="{FF2B5EF4-FFF2-40B4-BE49-F238E27FC236}">
                <a16:creationId xmlns:a16="http://schemas.microsoft.com/office/drawing/2014/main" id="{9584D859-A02B-A32D-DE56-C0FD0326DC3C}"/>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692984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60408-9D91-6174-C3C5-D8A2E2533E19}"/>
            </a:ext>
          </a:extLst>
        </p:cNvPr>
        <p:cNvGrpSpPr/>
        <p:nvPr/>
      </p:nvGrpSpPr>
      <p:grpSpPr>
        <a:xfrm>
          <a:off x="0" y="0"/>
          <a:ext cx="0" cy="0"/>
          <a:chOff x="0" y="0"/>
          <a:chExt cx="0" cy="0"/>
        </a:xfrm>
      </p:grpSpPr>
      <p:graphicFrame>
        <p:nvGraphicFramePr>
          <p:cNvPr id="37" name="think-cell data - do not delete" hidden="1">
            <a:extLst>
              <a:ext uri="{FF2B5EF4-FFF2-40B4-BE49-F238E27FC236}">
                <a16:creationId xmlns:a16="http://schemas.microsoft.com/office/drawing/2014/main" id="{7A101B55-4ACE-982C-7581-B01DD37E3B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37" name="think-cell data - do not delete" hidden="1">
                        <a:extLst>
                          <a:ext uri="{FF2B5EF4-FFF2-40B4-BE49-F238E27FC236}">
                            <a16:creationId xmlns:a16="http://schemas.microsoft.com/office/drawing/2014/main" id="{7A101B55-4ACE-982C-7581-B01DD37E3B1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C685A358-CAA9-B6AD-595C-2E120BC973B9}"/>
              </a:ext>
            </a:extLst>
          </p:cNvPr>
          <p:cNvSpPr>
            <a:spLocks noGrp="1"/>
          </p:cNvSpPr>
          <p:nvPr>
            <p:ph type="title"/>
          </p:nvPr>
        </p:nvSpPr>
        <p:spPr>
          <a:xfrm>
            <a:off x="659999" y="365508"/>
            <a:ext cx="6869385" cy="371961"/>
          </a:xfrm>
        </p:spPr>
        <p:txBody>
          <a:bodyPr vert="horz">
            <a:normAutofit/>
          </a:bodyPr>
          <a:lstStyle/>
          <a:p>
            <a:r>
              <a:rPr lang="en-US" altLang="ja-JP"/>
              <a:t>3-7.</a:t>
            </a:r>
            <a:r>
              <a:rPr lang="ja-JP" altLang="en-US"/>
              <a:t>部門等の費用付替</a:t>
            </a:r>
          </a:p>
        </p:txBody>
      </p:sp>
      <p:sp>
        <p:nvSpPr>
          <p:cNvPr id="27" name="テキスト プレースホルダー 3">
            <a:extLst>
              <a:ext uri="{FF2B5EF4-FFF2-40B4-BE49-F238E27FC236}">
                <a16:creationId xmlns:a16="http://schemas.microsoft.com/office/drawing/2014/main" id="{816E74F9-281A-9AB1-558A-F23E9A068E17}"/>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sz="1800" b="0"/>
          </a:p>
        </p:txBody>
      </p:sp>
      <p:sp>
        <p:nvSpPr>
          <p:cNvPr id="24" name="テキスト プレースホルダー 3">
            <a:extLst>
              <a:ext uri="{FF2B5EF4-FFF2-40B4-BE49-F238E27FC236}">
                <a16:creationId xmlns:a16="http://schemas.microsoft.com/office/drawing/2014/main" id="{A8019A0B-7624-3D50-9039-0239C2E9D8BB}"/>
              </a:ext>
            </a:extLst>
          </p:cNvPr>
          <p:cNvSpPr txBox="1">
            <a:spLocks/>
          </p:cNvSpPr>
          <p:nvPr/>
        </p:nvSpPr>
        <p:spPr>
          <a:xfrm>
            <a:off x="660000" y="883046"/>
            <a:ext cx="11160088" cy="756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費用配分において実態に即さない恣意的な操作は、セグメント情報として開示される利益が実際の経済活動や取引実態を忠実に表現しなくなる恐れがあるため、認められません</a:t>
            </a:r>
          </a:p>
        </p:txBody>
      </p:sp>
      <p:pic>
        <p:nvPicPr>
          <p:cNvPr id="15" name="図 14">
            <a:extLst>
              <a:ext uri="{FF2B5EF4-FFF2-40B4-BE49-F238E27FC236}">
                <a16:creationId xmlns:a16="http://schemas.microsoft.com/office/drawing/2014/main" id="{547FA2B3-C8D5-45A1-AA92-CA9E193DAF69}"/>
              </a:ext>
            </a:extLst>
          </p:cNvPr>
          <p:cNvPicPr>
            <a:picLocks noChangeAspect="1"/>
          </p:cNvPicPr>
          <p:nvPr/>
        </p:nvPicPr>
        <p:blipFill>
          <a:blip r:embed="rId6"/>
          <a:stretch>
            <a:fillRect/>
          </a:stretch>
        </p:blipFill>
        <p:spPr>
          <a:xfrm>
            <a:off x="1636296" y="2153894"/>
            <a:ext cx="8532666" cy="4322258"/>
          </a:xfrm>
          <a:prstGeom prst="rect">
            <a:avLst/>
          </a:prstGeom>
        </p:spPr>
      </p:pic>
      <p:sp>
        <p:nvSpPr>
          <p:cNvPr id="17" name="正方形/長方形 16">
            <a:extLst>
              <a:ext uri="{FF2B5EF4-FFF2-40B4-BE49-F238E27FC236}">
                <a16:creationId xmlns:a16="http://schemas.microsoft.com/office/drawing/2014/main" id="{5681013B-1007-EABA-C1DF-4AB64AD03342}"/>
              </a:ext>
            </a:extLst>
          </p:cNvPr>
          <p:cNvSpPr/>
          <p:nvPr/>
        </p:nvSpPr>
        <p:spPr>
          <a:xfrm>
            <a:off x="657583" y="1590293"/>
            <a:ext cx="6418720" cy="4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buFont typeface="Wingdings" panose="05000000000000000000" pitchFamily="2" charset="2"/>
              <a:buChar char="n"/>
            </a:pPr>
            <a:r>
              <a:rPr lang="en-US" altLang="ja-JP" sz="1600">
                <a:solidFill>
                  <a:schemeClr val="tx1"/>
                </a:solidFill>
                <a:latin typeface="+mn-ea"/>
              </a:rPr>
              <a:t>2026</a:t>
            </a:r>
            <a:r>
              <a:rPr lang="ja-JP" altLang="en-US" sz="1600">
                <a:solidFill>
                  <a:schemeClr val="tx1"/>
                </a:solidFill>
                <a:latin typeface="+mn-ea"/>
              </a:rPr>
              <a:t>年</a:t>
            </a:r>
            <a:r>
              <a:rPr lang="en-US" altLang="ja-JP" sz="1600">
                <a:solidFill>
                  <a:schemeClr val="tx1"/>
                </a:solidFill>
                <a:latin typeface="+mn-ea"/>
              </a:rPr>
              <a:t>3</a:t>
            </a:r>
            <a:r>
              <a:rPr lang="ja-JP" altLang="en-US" sz="1600">
                <a:solidFill>
                  <a:schemeClr val="tx1"/>
                </a:solidFill>
                <a:latin typeface="+mn-ea"/>
              </a:rPr>
              <a:t>月期半期報告書－</a:t>
            </a:r>
            <a:r>
              <a:rPr lang="en-US" altLang="ja-JP" sz="1600">
                <a:solidFill>
                  <a:schemeClr val="tx1"/>
                </a:solidFill>
                <a:latin typeface="+mn-ea"/>
              </a:rPr>
              <a:t>5.</a:t>
            </a:r>
            <a:r>
              <a:rPr lang="ja-JP" altLang="en-US" sz="1600">
                <a:solidFill>
                  <a:schemeClr val="tx1"/>
                </a:solidFill>
                <a:latin typeface="+mn-ea"/>
              </a:rPr>
              <a:t>事業セグメント 抜粋</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2" name="正方形/長方形 1">
            <a:extLst>
              <a:ext uri="{FF2B5EF4-FFF2-40B4-BE49-F238E27FC236}">
                <a16:creationId xmlns:a16="http://schemas.microsoft.com/office/drawing/2014/main" id="{DE0531FE-4E85-0E40-1741-BFEFB542E69E}"/>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7685964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4A3C7-32DF-1E7B-1D03-90859B98219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769B5FE-1EF4-0221-A3A9-717C8A379413}"/>
              </a:ext>
            </a:extLst>
          </p:cNvPr>
          <p:cNvGraphicFramePr>
            <a:graphicFrameLocks noChangeAspect="1"/>
          </p:cNvGraphicFramePr>
          <p:nvPr>
            <p:custDataLst>
              <p:tags r:id="rId1"/>
            </p:custDataLst>
            <p:extLst>
              <p:ext uri="{D42A27DB-BD31-4B8C-83A1-F6EECF244321}">
                <p14:modId xmlns:p14="http://schemas.microsoft.com/office/powerpoint/2010/main" val="1277478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5" imgW="347" imgH="348" progId="TCLayout.ActiveDocument.1">
                  <p:embed/>
                </p:oleObj>
              </mc:Choice>
              <mc:Fallback>
                <p:oleObj name="think-cellスライド" r:id="rId15" imgW="347" imgH="348" progId="TCLayout.ActiveDocument.1">
                  <p:embed/>
                  <p:pic>
                    <p:nvPicPr>
                      <p:cNvPr id="6" name="think-cell data - do not delete" hidden="1">
                        <a:extLst>
                          <a:ext uri="{FF2B5EF4-FFF2-40B4-BE49-F238E27FC236}">
                            <a16:creationId xmlns:a16="http://schemas.microsoft.com/office/drawing/2014/main" id="{A769B5FE-1EF4-0221-A3A9-717C8A37941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7B924A24-501D-48B0-DF08-15DF89C6E136}"/>
              </a:ext>
            </a:extLst>
          </p:cNvPr>
          <p:cNvSpPr>
            <a:spLocks noGrp="1"/>
          </p:cNvSpPr>
          <p:nvPr>
            <p:ph type="title"/>
          </p:nvPr>
        </p:nvSpPr>
        <p:spPr>
          <a:xfrm>
            <a:off x="659999" y="365508"/>
            <a:ext cx="6869385" cy="371961"/>
          </a:xfrm>
        </p:spPr>
        <p:txBody>
          <a:bodyPr vert="horz">
            <a:normAutofit/>
          </a:bodyPr>
          <a:lstStyle/>
          <a:p>
            <a:r>
              <a:rPr lang="en-US" altLang="ja-JP"/>
              <a:t>3-8.</a:t>
            </a:r>
            <a:r>
              <a:rPr lang="ja-JP" altLang="en-US"/>
              <a:t>費用の前倒し・後倒し</a:t>
            </a:r>
          </a:p>
        </p:txBody>
      </p:sp>
      <p:sp>
        <p:nvSpPr>
          <p:cNvPr id="2" name="正方形/長方形 1">
            <a:extLst>
              <a:ext uri="{FF2B5EF4-FFF2-40B4-BE49-F238E27FC236}">
                <a16:creationId xmlns:a16="http://schemas.microsoft.com/office/drawing/2014/main" id="{F6CA3A8D-2EF9-9120-12EC-A87015428111}"/>
              </a:ext>
            </a:extLst>
          </p:cNvPr>
          <p:cNvSpPr/>
          <p:nvPr/>
        </p:nvSpPr>
        <p:spPr bwMode="gray">
          <a:xfrm>
            <a:off x="2127658" y="1742425"/>
            <a:ext cx="9720000" cy="864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3600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プレシアにおいて、</a:t>
            </a:r>
            <a:r>
              <a:rPr lang="en-US" altLang="ja-JP" sz="1400">
                <a:solidFill>
                  <a:prstClr val="black"/>
                </a:solidFill>
                <a:latin typeface="+mn-ea"/>
              </a:rPr>
              <a:t>2024</a:t>
            </a:r>
            <a:r>
              <a:rPr lang="ja-JP" altLang="en-US" sz="1400">
                <a:solidFill>
                  <a:prstClr val="black"/>
                </a:solidFill>
                <a:latin typeface="+mn-ea"/>
              </a:rPr>
              <a:t>年</a:t>
            </a:r>
            <a:r>
              <a:rPr lang="en-US" altLang="ja-JP" sz="1400">
                <a:solidFill>
                  <a:prstClr val="black"/>
                </a:solidFill>
                <a:latin typeface="+mn-ea"/>
              </a:rPr>
              <a:t>10</a:t>
            </a:r>
            <a:r>
              <a:rPr lang="ja-JP" altLang="en-US" sz="1400">
                <a:solidFill>
                  <a:prstClr val="black"/>
                </a:solidFill>
                <a:latin typeface="+mn-ea"/>
              </a:rPr>
              <a:t>月から</a:t>
            </a:r>
            <a:r>
              <a:rPr lang="en-US" altLang="ja-JP" sz="1400">
                <a:solidFill>
                  <a:prstClr val="black"/>
                </a:solidFill>
                <a:latin typeface="+mn-ea"/>
              </a:rPr>
              <a:t>2025</a:t>
            </a:r>
            <a:r>
              <a:rPr lang="ja-JP" altLang="en-US" sz="1400">
                <a:solidFill>
                  <a:prstClr val="black"/>
                </a:solidFill>
                <a:latin typeface="+mn-ea"/>
              </a:rPr>
              <a:t>年</a:t>
            </a:r>
            <a:r>
              <a:rPr lang="en-US" altLang="ja-JP" sz="1400">
                <a:solidFill>
                  <a:prstClr val="black"/>
                </a:solidFill>
                <a:latin typeface="+mn-ea"/>
              </a:rPr>
              <a:t>3</a:t>
            </a:r>
            <a:r>
              <a:rPr lang="ja-JP" altLang="en-US" sz="1400">
                <a:solidFill>
                  <a:prstClr val="black"/>
                </a:solidFill>
                <a:latin typeface="+mn-ea"/>
              </a:rPr>
              <a:t>月までに発生した特定機能外国人に係る関連費用（特定技能外国人の紹介、支援事業者への報酬、等）について、本来は各費用の発生時に一括して費用処理すべきところ、利益改善の目的で、前払費用や長期前払費用に計上のうえ、</a:t>
            </a:r>
            <a:r>
              <a:rPr lang="en-US" altLang="ja-JP" sz="1400">
                <a:solidFill>
                  <a:prstClr val="black"/>
                </a:solidFill>
                <a:latin typeface="+mn-ea"/>
              </a:rPr>
              <a:t>2</a:t>
            </a:r>
            <a:r>
              <a:rPr lang="ja-JP" altLang="en-US" sz="1400">
                <a:solidFill>
                  <a:prstClr val="black"/>
                </a:solidFill>
                <a:latin typeface="+mn-ea"/>
              </a:rPr>
              <a:t>年間</a:t>
            </a:r>
            <a:r>
              <a:rPr lang="en-US" altLang="ja-JP" sz="1400" baseline="30000">
                <a:solidFill>
                  <a:prstClr val="black"/>
                </a:solidFill>
                <a:latin typeface="+mn-ea"/>
              </a:rPr>
              <a:t>*1</a:t>
            </a:r>
            <a:r>
              <a:rPr lang="ja-JP" altLang="en-US" sz="1400">
                <a:solidFill>
                  <a:prstClr val="black"/>
                </a:solidFill>
                <a:latin typeface="+mn-ea"/>
              </a:rPr>
              <a:t>に分割して費用計上する会計処理が行われていた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6C3FFC34-4949-1575-FF07-EECE3BC9F835}"/>
              </a:ext>
            </a:extLst>
          </p:cNvPr>
          <p:cNvSpPr/>
          <p:nvPr/>
        </p:nvSpPr>
        <p:spPr bwMode="gray">
          <a:xfrm>
            <a:off x="507602" y="1742425"/>
            <a:ext cx="1260000" cy="864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8CE62D09-6B89-3F0D-934B-D805B6F80CCF}"/>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u="sng">
                <a:solidFill>
                  <a:srgbClr val="FF0000"/>
                </a:solidFill>
              </a:rPr>
              <a:t>利益調整を目的とした計上方法・時期の変更は認められておらず</a:t>
            </a:r>
            <a:r>
              <a:rPr lang="ja-JP" altLang="en-US" sz="1800" b="0"/>
              <a:t>、費用はその内容や性質に応じて適切に計上する必要があります</a:t>
            </a:r>
          </a:p>
        </p:txBody>
      </p:sp>
      <p:sp>
        <p:nvSpPr>
          <p:cNvPr id="4" name="テキスト プレースホルダー 3">
            <a:extLst>
              <a:ext uri="{FF2B5EF4-FFF2-40B4-BE49-F238E27FC236}">
                <a16:creationId xmlns:a16="http://schemas.microsoft.com/office/drawing/2014/main" id="{A085917B-F282-B4DC-257E-995FBFACC967}"/>
              </a:ext>
            </a:extLst>
          </p:cNvPr>
          <p:cNvSpPr txBox="1">
            <a:spLocks/>
          </p:cNvSpPr>
          <p:nvPr/>
        </p:nvSpPr>
        <p:spPr>
          <a:xfrm>
            <a:off x="1335414" y="6212462"/>
            <a:ext cx="8640000" cy="43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400" b="0">
                <a:solidFill>
                  <a:schemeClr val="tx1"/>
                </a:solidFill>
              </a:rPr>
              <a:t>*1</a:t>
            </a:r>
            <a:r>
              <a:rPr lang="ja-JP" altLang="en-US" sz="1400" b="0">
                <a:solidFill>
                  <a:schemeClr val="tx1"/>
                </a:solidFill>
              </a:rPr>
              <a:t>：特定技能外国人は少なくとも</a:t>
            </a:r>
            <a:r>
              <a:rPr lang="en-US" altLang="ja-JP" sz="1400" b="0">
                <a:solidFill>
                  <a:schemeClr val="tx1"/>
                </a:solidFill>
              </a:rPr>
              <a:t>2</a:t>
            </a:r>
            <a:r>
              <a:rPr lang="ja-JP" altLang="en-US" sz="1400" b="0">
                <a:solidFill>
                  <a:schemeClr val="tx1"/>
                </a:solidFill>
              </a:rPr>
              <a:t>年間就労するであろう、との予測により設定</a:t>
            </a:r>
          </a:p>
        </p:txBody>
      </p:sp>
      <p:sp>
        <p:nvSpPr>
          <p:cNvPr id="7" name="Rectangle 22">
            <a:extLst>
              <a:ext uri="{FF2B5EF4-FFF2-40B4-BE49-F238E27FC236}">
                <a16:creationId xmlns:a16="http://schemas.microsoft.com/office/drawing/2014/main" id="{1889E9ED-2DA2-FFA4-E069-2D20C9E0F049}"/>
              </a:ext>
            </a:extLst>
          </p:cNvPr>
          <p:cNvSpPr>
            <a:spLocks noChangeArrowheads="1"/>
          </p:cNvSpPr>
          <p:nvPr/>
        </p:nvSpPr>
        <p:spPr bwMode="gray">
          <a:xfrm>
            <a:off x="2167684" y="3449192"/>
            <a:ext cx="1641049" cy="692150"/>
          </a:xfrm>
          <a:prstGeom prst="rect">
            <a:avLst/>
          </a:prstGeom>
          <a:solidFill>
            <a:schemeClr val="tx1">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a:solidFill>
                  <a:schemeClr val="bg1"/>
                </a:solidFill>
              </a:rPr>
              <a:t>本事案の</a:t>
            </a:r>
            <a:endParaRPr lang="en-US" altLang="ja-JP" sz="1600">
              <a:solidFill>
                <a:schemeClr val="bg1"/>
              </a:solidFill>
            </a:endParaRPr>
          </a:p>
          <a:p>
            <a:pPr marL="177795" indent="-177795" algn="ctr">
              <a:spcBef>
                <a:spcPts val="331"/>
              </a:spcBef>
            </a:pPr>
            <a:r>
              <a:rPr kumimoji="1" lang="ja-JP" altLang="en-US" sz="1600">
                <a:solidFill>
                  <a:schemeClr val="bg1"/>
                </a:solidFill>
              </a:rPr>
              <a:t>会計処理</a:t>
            </a:r>
            <a:endParaRPr kumimoji="1" lang="en-US" altLang="ja-JP" sz="1600">
              <a:solidFill>
                <a:schemeClr val="bg1"/>
              </a:solidFill>
            </a:endParaRPr>
          </a:p>
        </p:txBody>
      </p:sp>
      <p:sp>
        <p:nvSpPr>
          <p:cNvPr id="8" name="乗算記号 7">
            <a:extLst>
              <a:ext uri="{FF2B5EF4-FFF2-40B4-BE49-F238E27FC236}">
                <a16:creationId xmlns:a16="http://schemas.microsoft.com/office/drawing/2014/main" id="{80624A35-5359-AAA2-ACBC-9C3AAFB2BC58}"/>
              </a:ext>
            </a:extLst>
          </p:cNvPr>
          <p:cNvSpPr/>
          <p:nvPr/>
        </p:nvSpPr>
        <p:spPr>
          <a:xfrm>
            <a:off x="1414762" y="3435698"/>
            <a:ext cx="720000" cy="719138"/>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83" name="テキスト ボックス 82">
            <a:extLst>
              <a:ext uri="{FF2B5EF4-FFF2-40B4-BE49-F238E27FC236}">
                <a16:creationId xmlns:a16="http://schemas.microsoft.com/office/drawing/2014/main" id="{81D3C6A1-11AD-FE2C-2FE2-38D20E76B03A}"/>
              </a:ext>
            </a:extLst>
          </p:cNvPr>
          <p:cNvSpPr txBox="1"/>
          <p:nvPr/>
        </p:nvSpPr>
        <p:spPr>
          <a:xfrm>
            <a:off x="1343007" y="2804459"/>
            <a:ext cx="3825760" cy="265073"/>
          </a:xfrm>
          <a:prstGeom prst="rect">
            <a:avLst/>
          </a:prstGeom>
          <a:solidFill>
            <a:schemeClr val="bg1"/>
          </a:solidFill>
          <a:ln w="19050">
            <a:noFill/>
          </a:ln>
          <a:effectLst/>
        </p:spPr>
        <p:txBody>
          <a:bodyPr wrap="square" lIns="0" tIns="0" rIns="0" bIns="0" rtlCol="0" anchor="b" anchorCtr="1">
            <a:spAutoFit/>
          </a:bodyPr>
          <a:lstStyle/>
          <a:p>
            <a:pPr marL="285750" indent="-285750">
              <a:lnSpc>
                <a:spcPct val="120000"/>
              </a:lnSpc>
              <a:buFont typeface="Wingdings" panose="05000000000000000000" pitchFamily="2" charset="2"/>
              <a:buChar char="n"/>
            </a:pPr>
            <a:r>
              <a:rPr kumimoji="1" lang="en-US" altLang="ja-JP" sz="1600" spc="110" baseline="0"/>
              <a:t>2024</a:t>
            </a:r>
            <a:r>
              <a:rPr kumimoji="1" lang="ja-JP" altLang="en-US" sz="1600" spc="110" baseline="0"/>
              <a:t>年</a:t>
            </a:r>
            <a:r>
              <a:rPr kumimoji="1" lang="en-US" altLang="ja-JP" sz="1600" spc="110" baseline="0"/>
              <a:t>10</a:t>
            </a:r>
            <a:r>
              <a:rPr kumimoji="1" lang="ja-JP" altLang="en-US" sz="1600" spc="110" baseline="0"/>
              <a:t>月発生費用の計上イメージ</a:t>
            </a:r>
          </a:p>
        </p:txBody>
      </p:sp>
      <p:cxnSp>
        <p:nvCxnSpPr>
          <p:cNvPr id="22" name="直線コネクタ 21">
            <a:extLst>
              <a:ext uri="{FF2B5EF4-FFF2-40B4-BE49-F238E27FC236}">
                <a16:creationId xmlns:a16="http://schemas.microsoft.com/office/drawing/2014/main" id="{5DB7CA1D-72D9-8900-2419-9CE7D273ED67}"/>
              </a:ext>
            </a:extLst>
          </p:cNvPr>
          <p:cNvCxnSpPr>
            <a:cxnSpLocks/>
          </p:cNvCxnSpPr>
          <p:nvPr/>
        </p:nvCxnSpPr>
        <p:spPr>
          <a:xfrm>
            <a:off x="4138864" y="3232133"/>
            <a:ext cx="0" cy="115200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25" name="正方形/長方形 24">
            <a:extLst>
              <a:ext uri="{FF2B5EF4-FFF2-40B4-BE49-F238E27FC236}">
                <a16:creationId xmlns:a16="http://schemas.microsoft.com/office/drawing/2014/main" id="{2C7D4ADC-13C4-E3D6-2FBA-337754E864DF}"/>
              </a:ext>
            </a:extLst>
          </p:cNvPr>
          <p:cNvSpPr/>
          <p:nvPr/>
        </p:nvSpPr>
        <p:spPr>
          <a:xfrm>
            <a:off x="4451875" y="4177758"/>
            <a:ext cx="466638" cy="216000"/>
          </a:xfrm>
          <a:prstGeom prst="rect">
            <a:avLst/>
          </a:prstGeom>
          <a:solidFill>
            <a:schemeClr val="tx1">
              <a:lumMod val="50000"/>
              <a:lumOff val="5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400">
                <a:solidFill>
                  <a:schemeClr val="bg1"/>
                </a:solidFill>
                <a:latin typeface="+mn-ea"/>
                <a:cs typeface="Meiryo UI" panose="020B0604030504040204" pitchFamily="50" charset="-128"/>
              </a:rPr>
              <a:t>1</a:t>
            </a:r>
            <a:endParaRPr kumimoji="1" lang="ja-JP" altLang="en-US" sz="1400">
              <a:solidFill>
                <a:schemeClr val="bg1"/>
              </a:solidFill>
              <a:latin typeface="+mn-ea"/>
              <a:cs typeface="Meiryo UI" panose="020B0604030504040204" pitchFamily="50" charset="-128"/>
            </a:endParaRPr>
          </a:p>
        </p:txBody>
      </p:sp>
      <p:sp>
        <p:nvSpPr>
          <p:cNvPr id="26" name="正方形/長方形 25">
            <a:extLst>
              <a:ext uri="{FF2B5EF4-FFF2-40B4-BE49-F238E27FC236}">
                <a16:creationId xmlns:a16="http://schemas.microsoft.com/office/drawing/2014/main" id="{BFE0D6F3-DE81-FEFF-29C3-4B576336CEE4}"/>
              </a:ext>
            </a:extLst>
          </p:cNvPr>
          <p:cNvSpPr/>
          <p:nvPr/>
        </p:nvSpPr>
        <p:spPr>
          <a:xfrm>
            <a:off x="5423099" y="4177758"/>
            <a:ext cx="466638" cy="216000"/>
          </a:xfrm>
          <a:prstGeom prst="rect">
            <a:avLst/>
          </a:prstGeom>
          <a:solidFill>
            <a:schemeClr val="tx1">
              <a:lumMod val="50000"/>
              <a:lumOff val="5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400">
                <a:solidFill>
                  <a:schemeClr val="bg1"/>
                </a:solidFill>
                <a:latin typeface="+mn-ea"/>
                <a:cs typeface="Meiryo UI" panose="020B0604030504040204" pitchFamily="50" charset="-128"/>
              </a:rPr>
              <a:t>1</a:t>
            </a:r>
            <a:endParaRPr kumimoji="1" lang="ja-JP" altLang="en-US" sz="1400">
              <a:solidFill>
                <a:schemeClr val="bg1"/>
              </a:solidFill>
              <a:latin typeface="+mn-ea"/>
              <a:cs typeface="Meiryo UI" panose="020B0604030504040204" pitchFamily="50" charset="-128"/>
            </a:endParaRPr>
          </a:p>
        </p:txBody>
      </p:sp>
      <p:sp>
        <p:nvSpPr>
          <p:cNvPr id="28" name="正方形/長方形 27">
            <a:extLst>
              <a:ext uri="{FF2B5EF4-FFF2-40B4-BE49-F238E27FC236}">
                <a16:creationId xmlns:a16="http://schemas.microsoft.com/office/drawing/2014/main" id="{A5AB03CF-05C2-3AF2-8111-1D6B38E032B3}"/>
              </a:ext>
            </a:extLst>
          </p:cNvPr>
          <p:cNvSpPr/>
          <p:nvPr/>
        </p:nvSpPr>
        <p:spPr>
          <a:xfrm>
            <a:off x="6412122" y="4177758"/>
            <a:ext cx="466638" cy="216000"/>
          </a:xfrm>
          <a:prstGeom prst="rect">
            <a:avLst/>
          </a:prstGeom>
          <a:solidFill>
            <a:schemeClr val="tx1">
              <a:lumMod val="50000"/>
              <a:lumOff val="5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400">
                <a:solidFill>
                  <a:schemeClr val="bg1"/>
                </a:solidFill>
                <a:latin typeface="+mn-ea"/>
                <a:cs typeface="Meiryo UI" panose="020B0604030504040204" pitchFamily="50" charset="-128"/>
              </a:rPr>
              <a:t>1</a:t>
            </a:r>
            <a:endParaRPr kumimoji="1" lang="ja-JP" altLang="en-US" sz="1400">
              <a:solidFill>
                <a:schemeClr val="bg1"/>
              </a:solidFill>
              <a:latin typeface="+mn-ea"/>
              <a:cs typeface="Meiryo UI" panose="020B0604030504040204" pitchFamily="50" charset="-128"/>
            </a:endParaRPr>
          </a:p>
        </p:txBody>
      </p:sp>
      <p:sp>
        <p:nvSpPr>
          <p:cNvPr id="29" name="正方形/長方形 28">
            <a:extLst>
              <a:ext uri="{FF2B5EF4-FFF2-40B4-BE49-F238E27FC236}">
                <a16:creationId xmlns:a16="http://schemas.microsoft.com/office/drawing/2014/main" id="{F0A4678C-8701-A986-9474-B25450A87ED3}"/>
              </a:ext>
            </a:extLst>
          </p:cNvPr>
          <p:cNvSpPr/>
          <p:nvPr/>
        </p:nvSpPr>
        <p:spPr>
          <a:xfrm>
            <a:off x="8296707" y="4177758"/>
            <a:ext cx="466638" cy="216000"/>
          </a:xfrm>
          <a:prstGeom prst="rect">
            <a:avLst/>
          </a:prstGeom>
          <a:solidFill>
            <a:schemeClr val="tx1">
              <a:lumMod val="50000"/>
              <a:lumOff val="5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400">
                <a:solidFill>
                  <a:schemeClr val="bg1"/>
                </a:solidFill>
                <a:latin typeface="+mn-ea"/>
                <a:cs typeface="Meiryo UI" panose="020B0604030504040204" pitchFamily="50" charset="-128"/>
              </a:rPr>
              <a:t>1</a:t>
            </a:r>
            <a:endParaRPr kumimoji="1" lang="ja-JP" altLang="en-US" sz="1400">
              <a:solidFill>
                <a:schemeClr val="bg1"/>
              </a:solidFill>
              <a:latin typeface="+mn-ea"/>
              <a:cs typeface="Meiryo UI" panose="020B0604030504040204" pitchFamily="50" charset="-128"/>
            </a:endParaRPr>
          </a:p>
        </p:txBody>
      </p:sp>
      <p:cxnSp>
        <p:nvCxnSpPr>
          <p:cNvPr id="35" name="直線コネクタ 34">
            <a:extLst>
              <a:ext uri="{FF2B5EF4-FFF2-40B4-BE49-F238E27FC236}">
                <a16:creationId xmlns:a16="http://schemas.microsoft.com/office/drawing/2014/main" id="{BB8974DE-5940-2FB8-AA03-04F75B9E15A2}"/>
              </a:ext>
            </a:extLst>
          </p:cNvPr>
          <p:cNvCxnSpPr>
            <a:cxnSpLocks/>
          </p:cNvCxnSpPr>
          <p:nvPr/>
        </p:nvCxnSpPr>
        <p:spPr>
          <a:xfrm flipV="1">
            <a:off x="4138871" y="4398821"/>
            <a:ext cx="360000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58F6C62D-7F2B-7C46-61FE-8630929F1DFB}"/>
              </a:ext>
            </a:extLst>
          </p:cNvPr>
          <p:cNvCxnSpPr>
            <a:cxnSpLocks/>
          </p:cNvCxnSpPr>
          <p:nvPr/>
        </p:nvCxnSpPr>
        <p:spPr>
          <a:xfrm flipV="1">
            <a:off x="7958494" y="4398821"/>
            <a:ext cx="104400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37" name="グループ化 36">
            <a:extLst>
              <a:ext uri="{FF2B5EF4-FFF2-40B4-BE49-F238E27FC236}">
                <a16:creationId xmlns:a16="http://schemas.microsoft.com/office/drawing/2014/main" id="{9BF5C6B2-BE16-4CF8-77AA-E5BE1EB4D5A8}"/>
              </a:ext>
            </a:extLst>
          </p:cNvPr>
          <p:cNvGrpSpPr/>
          <p:nvPr/>
        </p:nvGrpSpPr>
        <p:grpSpPr>
          <a:xfrm>
            <a:off x="7783278" y="4313289"/>
            <a:ext cx="118633" cy="216000"/>
            <a:chOff x="7581143" y="4504724"/>
            <a:chExt cx="118633" cy="216000"/>
          </a:xfrm>
        </p:grpSpPr>
        <p:sp>
          <p:nvSpPr>
            <p:cNvPr id="38" name="フリーフォーム: 図形 37">
              <a:extLst>
                <a:ext uri="{FF2B5EF4-FFF2-40B4-BE49-F238E27FC236}">
                  <a16:creationId xmlns:a16="http://schemas.microsoft.com/office/drawing/2014/main" id="{80839779-1224-737F-FBDE-102F2AFB6F5C}"/>
                </a:ext>
              </a:extLst>
            </p:cNvPr>
            <p:cNvSpPr/>
            <p:nvPr>
              <p:custDataLst>
                <p:tags r:id="rId12"/>
              </p:custDataLst>
            </p:nvPr>
          </p:nvSpPr>
          <p:spPr bwMode="auto">
            <a:xfrm>
              <a:off x="7660088" y="4504724"/>
              <a:ext cx="39688" cy="216000"/>
            </a:xfrm>
            <a:custGeom>
              <a:avLst/>
              <a:gdLst/>
              <a:ahLst/>
              <a:cxnLst/>
              <a:rect l="0" t="0" r="0" b="0"/>
              <a:pathLst>
                <a:path w="39688" h="146051">
                  <a:moveTo>
                    <a:pt x="39687" y="0"/>
                  </a:moveTo>
                  <a:lnTo>
                    <a:pt x="0" y="146050"/>
                  </a:lnTo>
                </a:path>
              </a:pathLst>
            </a:custGeom>
            <a:ln w="25400" cap="rnd"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フリーフォーム: 図形 38">
              <a:extLst>
                <a:ext uri="{FF2B5EF4-FFF2-40B4-BE49-F238E27FC236}">
                  <a16:creationId xmlns:a16="http://schemas.microsoft.com/office/drawing/2014/main" id="{84010000-4CA3-28F1-80A9-6EF6CD84B6BC}"/>
                </a:ext>
              </a:extLst>
            </p:cNvPr>
            <p:cNvSpPr/>
            <p:nvPr>
              <p:custDataLst>
                <p:tags r:id="rId13"/>
              </p:custDataLst>
            </p:nvPr>
          </p:nvSpPr>
          <p:spPr bwMode="auto">
            <a:xfrm>
              <a:off x="7581143" y="4504724"/>
              <a:ext cx="39688" cy="216000"/>
            </a:xfrm>
            <a:custGeom>
              <a:avLst/>
              <a:gdLst/>
              <a:ahLst/>
              <a:cxnLst/>
              <a:rect l="0" t="0" r="0" b="0"/>
              <a:pathLst>
                <a:path w="39688" h="146051">
                  <a:moveTo>
                    <a:pt x="39687" y="0"/>
                  </a:moveTo>
                  <a:lnTo>
                    <a:pt x="0" y="146050"/>
                  </a:lnTo>
                </a:path>
              </a:pathLst>
            </a:custGeom>
            <a:ln w="25400" cap="rnd"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cxnSp>
        <p:nvCxnSpPr>
          <p:cNvPr id="47" name="直線コネクタ 46">
            <a:extLst>
              <a:ext uri="{FF2B5EF4-FFF2-40B4-BE49-F238E27FC236}">
                <a16:creationId xmlns:a16="http://schemas.microsoft.com/office/drawing/2014/main" id="{F07157B9-5927-5F1A-EED9-9571E5403060}"/>
              </a:ext>
            </a:extLst>
          </p:cNvPr>
          <p:cNvCxnSpPr>
            <a:cxnSpLocks/>
          </p:cNvCxnSpPr>
          <p:nvPr/>
        </p:nvCxnSpPr>
        <p:spPr>
          <a:xfrm>
            <a:off x="5119036" y="4418619"/>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7BFCEE03-3D3F-834D-D46B-4F6B3F916395}"/>
              </a:ext>
            </a:extLst>
          </p:cNvPr>
          <p:cNvCxnSpPr>
            <a:cxnSpLocks/>
          </p:cNvCxnSpPr>
          <p:nvPr/>
        </p:nvCxnSpPr>
        <p:spPr>
          <a:xfrm>
            <a:off x="6070332" y="4418619"/>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F9BFAD49-D052-CB4A-4AF6-A6E18BFF4A0B}"/>
              </a:ext>
            </a:extLst>
          </p:cNvPr>
          <p:cNvCxnSpPr>
            <a:cxnSpLocks/>
          </p:cNvCxnSpPr>
          <p:nvPr/>
        </p:nvCxnSpPr>
        <p:spPr>
          <a:xfrm>
            <a:off x="7061740" y="4418619"/>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1979C0F1-6E92-285D-A28B-9419847F53E6}"/>
              </a:ext>
            </a:extLst>
          </p:cNvPr>
          <p:cNvCxnSpPr>
            <a:cxnSpLocks/>
          </p:cNvCxnSpPr>
          <p:nvPr/>
        </p:nvCxnSpPr>
        <p:spPr>
          <a:xfrm>
            <a:off x="8091678" y="4418619"/>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F5FD7D8F-F054-AFF4-3402-BBD6E149A22B}"/>
              </a:ext>
            </a:extLst>
          </p:cNvPr>
          <p:cNvCxnSpPr>
            <a:cxnSpLocks/>
          </p:cNvCxnSpPr>
          <p:nvPr/>
        </p:nvCxnSpPr>
        <p:spPr>
          <a:xfrm>
            <a:off x="9004475" y="4418619"/>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55" name="テキスト プレースホルダー 2">
            <a:extLst>
              <a:ext uri="{FF2B5EF4-FFF2-40B4-BE49-F238E27FC236}">
                <a16:creationId xmlns:a16="http://schemas.microsoft.com/office/drawing/2014/main" id="{68DD1071-9797-8073-1994-EF85BA88C68D}"/>
              </a:ext>
            </a:extLst>
          </p:cNvPr>
          <p:cNvSpPr>
            <a:spLocks noGrp="1"/>
          </p:cNvSpPr>
          <p:nvPr>
            <p:custDataLst>
              <p:tags r:id="rId2"/>
            </p:custDataLst>
          </p:nvPr>
        </p:nvSpPr>
        <p:spPr bwMode="auto">
          <a:xfrm>
            <a:off x="4431434" y="4456808"/>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fld id="{6D00F9AB-21A4-4E46-923B-48F852960002}" type="datetime'2''''''''''''''4/''''''''''''''''''''10'''''">
              <a:rPr lang="ja-JP" altLang="en-US" sz="1400" b="0" smtClean="0">
                <a:solidFill>
                  <a:schemeClr val="tx1"/>
                </a:solidFill>
              </a:rPr>
              <a:pPr lvl="0" algn="ctr">
                <a:spcBef>
                  <a:spcPct val="0"/>
                </a:spcBef>
                <a:spcAft>
                  <a:spcPct val="0"/>
                </a:spcAft>
              </a:pPr>
              <a:t>24/10</a:t>
            </a:fld>
            <a:endParaRPr kumimoji="1" lang="ja-JP" altLang="en-US" sz="1400" b="0">
              <a:solidFill>
                <a:schemeClr val="tx1"/>
              </a:solidFill>
            </a:endParaRPr>
          </a:p>
        </p:txBody>
      </p:sp>
      <p:sp>
        <p:nvSpPr>
          <p:cNvPr id="56" name="テキスト プレースホルダー 2">
            <a:extLst>
              <a:ext uri="{FF2B5EF4-FFF2-40B4-BE49-F238E27FC236}">
                <a16:creationId xmlns:a16="http://schemas.microsoft.com/office/drawing/2014/main" id="{0DC19EB8-0CAF-5CEF-3EDD-68BE9F8188F2}"/>
              </a:ext>
            </a:extLst>
          </p:cNvPr>
          <p:cNvSpPr>
            <a:spLocks noGrp="1"/>
          </p:cNvSpPr>
          <p:nvPr>
            <p:custDataLst>
              <p:tags r:id="rId3"/>
            </p:custDataLst>
          </p:nvPr>
        </p:nvSpPr>
        <p:spPr bwMode="auto">
          <a:xfrm>
            <a:off x="5430943" y="4456808"/>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24/11</a:t>
            </a:r>
            <a:endParaRPr kumimoji="1" lang="ja-JP" altLang="en-US" sz="1400" b="0">
              <a:solidFill>
                <a:schemeClr val="tx1"/>
              </a:solidFill>
            </a:endParaRPr>
          </a:p>
        </p:txBody>
      </p:sp>
      <p:sp>
        <p:nvSpPr>
          <p:cNvPr id="57" name="テキスト プレースホルダー 2">
            <a:extLst>
              <a:ext uri="{FF2B5EF4-FFF2-40B4-BE49-F238E27FC236}">
                <a16:creationId xmlns:a16="http://schemas.microsoft.com/office/drawing/2014/main" id="{1275CC97-DD89-6309-BD63-94B9414A0E0B}"/>
              </a:ext>
            </a:extLst>
          </p:cNvPr>
          <p:cNvSpPr>
            <a:spLocks noGrp="1"/>
          </p:cNvSpPr>
          <p:nvPr>
            <p:custDataLst>
              <p:tags r:id="rId4"/>
            </p:custDataLst>
          </p:nvPr>
        </p:nvSpPr>
        <p:spPr bwMode="auto">
          <a:xfrm>
            <a:off x="6374138" y="4456808"/>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24/12</a:t>
            </a:r>
            <a:endParaRPr kumimoji="1" lang="ja-JP" altLang="en-US" sz="1400" b="0">
              <a:solidFill>
                <a:schemeClr val="tx1"/>
              </a:solidFill>
            </a:endParaRPr>
          </a:p>
        </p:txBody>
      </p:sp>
      <p:sp>
        <p:nvSpPr>
          <p:cNvPr id="58" name="テキスト プレースホルダー 2">
            <a:extLst>
              <a:ext uri="{FF2B5EF4-FFF2-40B4-BE49-F238E27FC236}">
                <a16:creationId xmlns:a16="http://schemas.microsoft.com/office/drawing/2014/main" id="{6C1928A5-B739-6C72-C0FC-92AD65098EFA}"/>
              </a:ext>
            </a:extLst>
          </p:cNvPr>
          <p:cNvSpPr>
            <a:spLocks noGrp="1"/>
          </p:cNvSpPr>
          <p:nvPr>
            <p:custDataLst>
              <p:tags r:id="rId5"/>
            </p:custDataLst>
          </p:nvPr>
        </p:nvSpPr>
        <p:spPr bwMode="auto">
          <a:xfrm>
            <a:off x="8306332" y="4456808"/>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26/9</a:t>
            </a:r>
            <a:endParaRPr kumimoji="1" lang="ja-JP" altLang="en-US" sz="1400" b="0">
              <a:solidFill>
                <a:schemeClr val="tx1"/>
              </a:solidFill>
            </a:endParaRPr>
          </a:p>
        </p:txBody>
      </p:sp>
      <p:sp>
        <p:nvSpPr>
          <p:cNvPr id="63" name="四角形: 角を丸くする 62">
            <a:extLst>
              <a:ext uri="{FF2B5EF4-FFF2-40B4-BE49-F238E27FC236}">
                <a16:creationId xmlns:a16="http://schemas.microsoft.com/office/drawing/2014/main" id="{803B524C-7821-1D54-8242-805DD9339E33}"/>
              </a:ext>
            </a:extLst>
          </p:cNvPr>
          <p:cNvSpPr/>
          <p:nvPr/>
        </p:nvSpPr>
        <p:spPr>
          <a:xfrm>
            <a:off x="4449080" y="3465512"/>
            <a:ext cx="4553414" cy="48211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en-US" altLang="ja-JP" sz="1600" b="0" i="0" u="none" strike="noStrike" kern="1200" cap="none" spc="0" normalizeH="0" baseline="0" noProof="0">
                <a:ln>
                  <a:noFill/>
                </a:ln>
                <a:solidFill>
                  <a:srgbClr val="FF0000"/>
                </a:solidFill>
                <a:effectLst/>
                <a:uLnTx/>
                <a:uFillTx/>
                <a:latin typeface="+mn-ea"/>
                <a:cs typeface="+mn-cs"/>
              </a:rPr>
              <a:t>2</a:t>
            </a:r>
            <a:r>
              <a:rPr kumimoji="1" lang="ja-JP" altLang="en-US" sz="1600" b="0" i="0" u="none" strike="noStrike" kern="1200" cap="none" spc="0" normalizeH="0" baseline="0" noProof="0">
                <a:ln>
                  <a:noFill/>
                </a:ln>
                <a:solidFill>
                  <a:srgbClr val="FF0000"/>
                </a:solidFill>
                <a:effectLst/>
                <a:uLnTx/>
                <a:uFillTx/>
                <a:latin typeface="+mn-ea"/>
                <a:cs typeface="+mn-cs"/>
              </a:rPr>
              <a:t>年間に分割して費用計上</a:t>
            </a:r>
          </a:p>
        </p:txBody>
      </p:sp>
      <p:sp>
        <p:nvSpPr>
          <p:cNvPr id="65" name="Rectangle 22">
            <a:extLst>
              <a:ext uri="{FF2B5EF4-FFF2-40B4-BE49-F238E27FC236}">
                <a16:creationId xmlns:a16="http://schemas.microsoft.com/office/drawing/2014/main" id="{BE948FF4-6750-7AA9-B93F-8F4EF3414C26}"/>
              </a:ext>
            </a:extLst>
          </p:cNvPr>
          <p:cNvSpPr>
            <a:spLocks noChangeArrowheads="1"/>
          </p:cNvSpPr>
          <p:nvPr/>
        </p:nvSpPr>
        <p:spPr bwMode="gray">
          <a:xfrm>
            <a:off x="2167683" y="4909000"/>
            <a:ext cx="1641049" cy="69215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a:solidFill>
                  <a:schemeClr val="bg1"/>
                </a:solidFill>
              </a:rPr>
              <a:t>適切な会計処理</a:t>
            </a:r>
            <a:endParaRPr kumimoji="1" lang="en-US" altLang="ja-JP" sz="1600">
              <a:solidFill>
                <a:schemeClr val="bg1"/>
              </a:solidFill>
            </a:endParaRPr>
          </a:p>
        </p:txBody>
      </p:sp>
      <p:sp>
        <p:nvSpPr>
          <p:cNvPr id="66" name="円: 塗りつぶしなし 65">
            <a:extLst>
              <a:ext uri="{FF2B5EF4-FFF2-40B4-BE49-F238E27FC236}">
                <a16:creationId xmlns:a16="http://schemas.microsoft.com/office/drawing/2014/main" id="{58F1D4B9-3C6F-60CC-F211-71E7645ED993}"/>
              </a:ext>
            </a:extLst>
          </p:cNvPr>
          <p:cNvSpPr/>
          <p:nvPr/>
        </p:nvSpPr>
        <p:spPr>
          <a:xfrm>
            <a:off x="1472889" y="4956625"/>
            <a:ext cx="596247" cy="5969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cxnSp>
        <p:nvCxnSpPr>
          <p:cNvPr id="67" name="直線コネクタ 66">
            <a:extLst>
              <a:ext uri="{FF2B5EF4-FFF2-40B4-BE49-F238E27FC236}">
                <a16:creationId xmlns:a16="http://schemas.microsoft.com/office/drawing/2014/main" id="{9D46928B-1433-003D-1763-09E55C90C494}"/>
              </a:ext>
            </a:extLst>
          </p:cNvPr>
          <p:cNvCxnSpPr>
            <a:cxnSpLocks/>
          </p:cNvCxnSpPr>
          <p:nvPr/>
        </p:nvCxnSpPr>
        <p:spPr>
          <a:xfrm>
            <a:off x="4138864" y="4766911"/>
            <a:ext cx="0" cy="115200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44C803E0-6F61-6FFB-3509-BECC5479FA65}"/>
              </a:ext>
            </a:extLst>
          </p:cNvPr>
          <p:cNvCxnSpPr>
            <a:cxnSpLocks/>
          </p:cNvCxnSpPr>
          <p:nvPr/>
        </p:nvCxnSpPr>
        <p:spPr>
          <a:xfrm flipV="1">
            <a:off x="4158121" y="5908917"/>
            <a:ext cx="360000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A05F22F7-D5F3-9BFF-F800-388841C2E0E2}"/>
              </a:ext>
            </a:extLst>
          </p:cNvPr>
          <p:cNvSpPr/>
          <p:nvPr/>
        </p:nvSpPr>
        <p:spPr>
          <a:xfrm>
            <a:off x="4451875" y="4903029"/>
            <a:ext cx="466638" cy="1008000"/>
          </a:xfrm>
          <a:prstGeom prst="rect">
            <a:avLst/>
          </a:prstGeom>
          <a:solidFill>
            <a:schemeClr val="accent2"/>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400">
                <a:solidFill>
                  <a:schemeClr val="bg1"/>
                </a:solidFill>
                <a:latin typeface="+mn-ea"/>
                <a:cs typeface="Meiryo UI" panose="020B0604030504040204" pitchFamily="50" charset="-128"/>
              </a:rPr>
              <a:t>24</a:t>
            </a:r>
            <a:endParaRPr kumimoji="1" lang="ja-JP" altLang="en-US" sz="1400">
              <a:solidFill>
                <a:schemeClr val="bg1"/>
              </a:solidFill>
              <a:latin typeface="+mn-ea"/>
              <a:cs typeface="Meiryo UI" panose="020B0604030504040204" pitchFamily="50" charset="-128"/>
            </a:endParaRPr>
          </a:p>
        </p:txBody>
      </p:sp>
      <p:cxnSp>
        <p:nvCxnSpPr>
          <p:cNvPr id="70" name="直線コネクタ 69">
            <a:extLst>
              <a:ext uri="{FF2B5EF4-FFF2-40B4-BE49-F238E27FC236}">
                <a16:creationId xmlns:a16="http://schemas.microsoft.com/office/drawing/2014/main" id="{6D6F2EB5-3974-F903-6FBF-D35E3BD2D1CE}"/>
              </a:ext>
            </a:extLst>
          </p:cNvPr>
          <p:cNvCxnSpPr>
            <a:cxnSpLocks/>
          </p:cNvCxnSpPr>
          <p:nvPr/>
        </p:nvCxnSpPr>
        <p:spPr>
          <a:xfrm flipV="1">
            <a:off x="7977744" y="5908917"/>
            <a:ext cx="1044000" cy="0"/>
          </a:xfrm>
          <a:prstGeom prst="line">
            <a:avLst/>
          </a:prstGeom>
          <a:ln w="25400" cap="rnd">
            <a:solidFill>
              <a:schemeClr val="tx1"/>
            </a:solidFill>
            <a:round/>
          </a:ln>
        </p:spPr>
        <p:style>
          <a:lnRef idx="1">
            <a:schemeClr val="accent1"/>
          </a:lnRef>
          <a:fillRef idx="0">
            <a:schemeClr val="accent1"/>
          </a:fillRef>
          <a:effectRef idx="0">
            <a:schemeClr val="accent1"/>
          </a:effectRef>
          <a:fontRef idx="minor">
            <a:schemeClr val="tx1"/>
          </a:fontRef>
        </p:style>
      </p:cxnSp>
      <p:grpSp>
        <p:nvGrpSpPr>
          <p:cNvPr id="71" name="グループ化 70">
            <a:extLst>
              <a:ext uri="{FF2B5EF4-FFF2-40B4-BE49-F238E27FC236}">
                <a16:creationId xmlns:a16="http://schemas.microsoft.com/office/drawing/2014/main" id="{D1A49EC1-56FD-E080-5E98-2FB91BECC515}"/>
              </a:ext>
            </a:extLst>
          </p:cNvPr>
          <p:cNvGrpSpPr/>
          <p:nvPr/>
        </p:nvGrpSpPr>
        <p:grpSpPr>
          <a:xfrm>
            <a:off x="7802528" y="5823385"/>
            <a:ext cx="118633" cy="216000"/>
            <a:chOff x="7581143" y="4504724"/>
            <a:chExt cx="118633" cy="216000"/>
          </a:xfrm>
        </p:grpSpPr>
        <p:sp>
          <p:nvSpPr>
            <p:cNvPr id="72" name="フリーフォーム: 図形 71">
              <a:extLst>
                <a:ext uri="{FF2B5EF4-FFF2-40B4-BE49-F238E27FC236}">
                  <a16:creationId xmlns:a16="http://schemas.microsoft.com/office/drawing/2014/main" id="{3A4F7153-EDAA-F9CB-607D-1A2BB9A298C3}"/>
                </a:ext>
              </a:extLst>
            </p:cNvPr>
            <p:cNvSpPr/>
            <p:nvPr>
              <p:custDataLst>
                <p:tags r:id="rId10"/>
              </p:custDataLst>
            </p:nvPr>
          </p:nvSpPr>
          <p:spPr bwMode="auto">
            <a:xfrm>
              <a:off x="7660088" y="4504724"/>
              <a:ext cx="39688" cy="216000"/>
            </a:xfrm>
            <a:custGeom>
              <a:avLst/>
              <a:gdLst/>
              <a:ahLst/>
              <a:cxnLst/>
              <a:rect l="0" t="0" r="0" b="0"/>
              <a:pathLst>
                <a:path w="39688" h="146051">
                  <a:moveTo>
                    <a:pt x="39687" y="0"/>
                  </a:moveTo>
                  <a:lnTo>
                    <a:pt x="0" y="146050"/>
                  </a:lnTo>
                </a:path>
              </a:pathLst>
            </a:custGeom>
            <a:ln w="25400" cap="rnd"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フリーフォーム: 図形 72">
              <a:extLst>
                <a:ext uri="{FF2B5EF4-FFF2-40B4-BE49-F238E27FC236}">
                  <a16:creationId xmlns:a16="http://schemas.microsoft.com/office/drawing/2014/main" id="{14F2B9EB-DC5C-0E9B-C093-F0F779844F67}"/>
                </a:ext>
              </a:extLst>
            </p:cNvPr>
            <p:cNvSpPr/>
            <p:nvPr>
              <p:custDataLst>
                <p:tags r:id="rId11"/>
              </p:custDataLst>
            </p:nvPr>
          </p:nvSpPr>
          <p:spPr bwMode="auto">
            <a:xfrm>
              <a:off x="7581143" y="4504724"/>
              <a:ext cx="39688" cy="216000"/>
            </a:xfrm>
            <a:custGeom>
              <a:avLst/>
              <a:gdLst/>
              <a:ahLst/>
              <a:cxnLst/>
              <a:rect l="0" t="0" r="0" b="0"/>
              <a:pathLst>
                <a:path w="39688" h="146051">
                  <a:moveTo>
                    <a:pt x="39687" y="0"/>
                  </a:moveTo>
                  <a:lnTo>
                    <a:pt x="0" y="146050"/>
                  </a:lnTo>
                </a:path>
              </a:pathLst>
            </a:custGeom>
            <a:ln w="25400" cap="rnd" cmpd="sng" algn="ctr">
              <a:solidFill>
                <a:schemeClr val="tx1"/>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cxnSp>
        <p:nvCxnSpPr>
          <p:cNvPr id="74" name="直線コネクタ 73">
            <a:extLst>
              <a:ext uri="{FF2B5EF4-FFF2-40B4-BE49-F238E27FC236}">
                <a16:creationId xmlns:a16="http://schemas.microsoft.com/office/drawing/2014/main" id="{7DCF7BE3-CA9E-41E1-4B71-5B0BC83F728D}"/>
              </a:ext>
            </a:extLst>
          </p:cNvPr>
          <p:cNvCxnSpPr>
            <a:cxnSpLocks/>
          </p:cNvCxnSpPr>
          <p:nvPr/>
        </p:nvCxnSpPr>
        <p:spPr>
          <a:xfrm>
            <a:off x="5149517" y="5931385"/>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DD60AF9D-0244-10F5-D7CB-D959F00C985B}"/>
              </a:ext>
            </a:extLst>
          </p:cNvPr>
          <p:cNvCxnSpPr>
            <a:cxnSpLocks/>
          </p:cNvCxnSpPr>
          <p:nvPr/>
        </p:nvCxnSpPr>
        <p:spPr>
          <a:xfrm>
            <a:off x="6100813" y="5931385"/>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398CD593-49FD-D6DB-A927-A8DF101BB097}"/>
              </a:ext>
            </a:extLst>
          </p:cNvPr>
          <p:cNvCxnSpPr>
            <a:cxnSpLocks/>
          </p:cNvCxnSpPr>
          <p:nvPr/>
        </p:nvCxnSpPr>
        <p:spPr>
          <a:xfrm>
            <a:off x="7092221" y="5931385"/>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0B67CB83-FBB3-47A4-7D2E-5DA2218B98CA}"/>
              </a:ext>
            </a:extLst>
          </p:cNvPr>
          <p:cNvCxnSpPr>
            <a:cxnSpLocks/>
          </p:cNvCxnSpPr>
          <p:nvPr/>
        </p:nvCxnSpPr>
        <p:spPr>
          <a:xfrm>
            <a:off x="8122159" y="5931385"/>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C9599ACB-2EEB-61A0-D414-62BAF4AB5745}"/>
              </a:ext>
            </a:extLst>
          </p:cNvPr>
          <p:cNvCxnSpPr>
            <a:cxnSpLocks/>
          </p:cNvCxnSpPr>
          <p:nvPr/>
        </p:nvCxnSpPr>
        <p:spPr>
          <a:xfrm>
            <a:off x="9034956" y="5931385"/>
            <a:ext cx="0" cy="144000"/>
          </a:xfrm>
          <a:prstGeom prst="line">
            <a:avLst/>
          </a:prstGeom>
          <a:ln w="1905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79" name="テキスト プレースホルダー 2">
            <a:extLst>
              <a:ext uri="{FF2B5EF4-FFF2-40B4-BE49-F238E27FC236}">
                <a16:creationId xmlns:a16="http://schemas.microsoft.com/office/drawing/2014/main" id="{94BF615A-E607-5168-543F-D6EADAA128AD}"/>
              </a:ext>
            </a:extLst>
          </p:cNvPr>
          <p:cNvSpPr>
            <a:spLocks noGrp="1"/>
          </p:cNvSpPr>
          <p:nvPr>
            <p:custDataLst>
              <p:tags r:id="rId6"/>
            </p:custDataLst>
          </p:nvPr>
        </p:nvSpPr>
        <p:spPr bwMode="auto">
          <a:xfrm>
            <a:off x="4449080" y="5985620"/>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fld id="{6D00F9AB-21A4-4E46-923B-48F852960002}" type="datetime'2''''''''''''''4/''''''''''''''''''''10'''''">
              <a:rPr lang="ja-JP" altLang="en-US" sz="1400" b="0" smtClean="0">
                <a:solidFill>
                  <a:schemeClr val="tx1"/>
                </a:solidFill>
              </a:rPr>
              <a:pPr lvl="0" algn="ctr">
                <a:spcBef>
                  <a:spcPct val="0"/>
                </a:spcBef>
                <a:spcAft>
                  <a:spcPct val="0"/>
                </a:spcAft>
              </a:pPr>
              <a:t>24/10</a:t>
            </a:fld>
            <a:endParaRPr kumimoji="1" lang="ja-JP" altLang="en-US" sz="1400" b="0">
              <a:solidFill>
                <a:schemeClr val="tx1"/>
              </a:solidFill>
            </a:endParaRPr>
          </a:p>
        </p:txBody>
      </p:sp>
      <p:sp>
        <p:nvSpPr>
          <p:cNvPr id="80" name="テキスト プレースホルダー 2">
            <a:extLst>
              <a:ext uri="{FF2B5EF4-FFF2-40B4-BE49-F238E27FC236}">
                <a16:creationId xmlns:a16="http://schemas.microsoft.com/office/drawing/2014/main" id="{503ED4C9-2301-0AAA-73C2-02207F75BBCD}"/>
              </a:ext>
            </a:extLst>
          </p:cNvPr>
          <p:cNvSpPr>
            <a:spLocks noGrp="1"/>
          </p:cNvSpPr>
          <p:nvPr>
            <p:custDataLst>
              <p:tags r:id="rId7"/>
            </p:custDataLst>
          </p:nvPr>
        </p:nvSpPr>
        <p:spPr bwMode="auto">
          <a:xfrm>
            <a:off x="5448589" y="5985620"/>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24/11</a:t>
            </a:r>
            <a:endParaRPr kumimoji="1" lang="ja-JP" altLang="en-US" sz="1400" b="0">
              <a:solidFill>
                <a:schemeClr val="tx1"/>
              </a:solidFill>
            </a:endParaRPr>
          </a:p>
        </p:txBody>
      </p:sp>
      <p:sp>
        <p:nvSpPr>
          <p:cNvPr id="81" name="テキスト プレースホルダー 2">
            <a:extLst>
              <a:ext uri="{FF2B5EF4-FFF2-40B4-BE49-F238E27FC236}">
                <a16:creationId xmlns:a16="http://schemas.microsoft.com/office/drawing/2014/main" id="{011AAE28-38D2-F6B5-F63E-8331CFBBB060}"/>
              </a:ext>
            </a:extLst>
          </p:cNvPr>
          <p:cNvSpPr>
            <a:spLocks noGrp="1"/>
          </p:cNvSpPr>
          <p:nvPr>
            <p:custDataLst>
              <p:tags r:id="rId8"/>
            </p:custDataLst>
          </p:nvPr>
        </p:nvSpPr>
        <p:spPr bwMode="auto">
          <a:xfrm>
            <a:off x="6391784" y="5985620"/>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24/12</a:t>
            </a:r>
            <a:endParaRPr kumimoji="1" lang="ja-JP" altLang="en-US" sz="1400" b="0">
              <a:solidFill>
                <a:schemeClr val="tx1"/>
              </a:solidFill>
            </a:endParaRPr>
          </a:p>
        </p:txBody>
      </p:sp>
      <p:sp>
        <p:nvSpPr>
          <p:cNvPr id="82" name="テキスト プレースホルダー 2">
            <a:extLst>
              <a:ext uri="{FF2B5EF4-FFF2-40B4-BE49-F238E27FC236}">
                <a16:creationId xmlns:a16="http://schemas.microsoft.com/office/drawing/2014/main" id="{D4FBE61D-CCC7-CBF3-A01B-3AA223258C39}"/>
              </a:ext>
            </a:extLst>
          </p:cNvPr>
          <p:cNvSpPr>
            <a:spLocks noGrp="1"/>
          </p:cNvSpPr>
          <p:nvPr>
            <p:custDataLst>
              <p:tags r:id="rId9"/>
            </p:custDataLst>
          </p:nvPr>
        </p:nvSpPr>
        <p:spPr bwMode="auto">
          <a:xfrm>
            <a:off x="8323978" y="5985620"/>
            <a:ext cx="471488" cy="2190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lgn="ctr">
              <a:spcBef>
                <a:spcPct val="0"/>
              </a:spcBef>
              <a:spcAft>
                <a:spcPct val="0"/>
              </a:spcAft>
            </a:pPr>
            <a:r>
              <a:rPr lang="en-US" altLang="ja-JP" sz="1400" b="0">
                <a:solidFill>
                  <a:schemeClr val="tx1"/>
                </a:solidFill>
              </a:rPr>
              <a:t>26/9</a:t>
            </a:r>
            <a:endParaRPr kumimoji="1" lang="ja-JP" altLang="en-US" sz="1400" b="0">
              <a:solidFill>
                <a:schemeClr val="tx1"/>
              </a:solidFill>
            </a:endParaRPr>
          </a:p>
        </p:txBody>
      </p:sp>
      <p:sp>
        <p:nvSpPr>
          <p:cNvPr id="84" name="四角形: 角を丸くする 83">
            <a:extLst>
              <a:ext uri="{FF2B5EF4-FFF2-40B4-BE49-F238E27FC236}">
                <a16:creationId xmlns:a16="http://schemas.microsoft.com/office/drawing/2014/main" id="{08A0E49B-127B-3EE8-DA19-A37CE2BA7763}"/>
              </a:ext>
            </a:extLst>
          </p:cNvPr>
          <p:cNvSpPr/>
          <p:nvPr/>
        </p:nvSpPr>
        <p:spPr>
          <a:xfrm>
            <a:off x="5088966" y="4995478"/>
            <a:ext cx="3913527" cy="482119"/>
          </a:xfrm>
          <a:prstGeom prst="roundRect">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kumimoji="1" lang="ja-JP" altLang="en-US" sz="1600" b="0" i="0" u="none" strike="noStrike" kern="1200" cap="none" spc="0" normalizeH="0" baseline="0" noProof="0">
                <a:ln>
                  <a:noFill/>
                </a:ln>
                <a:solidFill>
                  <a:schemeClr val="tx1"/>
                </a:solidFill>
                <a:effectLst/>
                <a:uLnTx/>
                <a:uFillTx/>
                <a:latin typeface="+mn-ea"/>
                <a:cs typeface="+mn-cs"/>
              </a:rPr>
              <a:t>費用発生時期に一括計上</a:t>
            </a:r>
          </a:p>
        </p:txBody>
      </p:sp>
      <p:sp>
        <p:nvSpPr>
          <p:cNvPr id="5" name="正方形/長方形 4">
            <a:extLst>
              <a:ext uri="{FF2B5EF4-FFF2-40B4-BE49-F238E27FC236}">
                <a16:creationId xmlns:a16="http://schemas.microsoft.com/office/drawing/2014/main" id="{184547AE-2938-421D-05F6-A6090C5E2459}"/>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1498875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FBA5-CCF0-6083-D3D1-75C92DE7958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EDCF34F-4248-BDBD-055B-F68CD92991F1}"/>
              </a:ext>
            </a:extLst>
          </p:cNvPr>
          <p:cNvSpPr>
            <a:spLocks noGrp="1"/>
          </p:cNvSpPr>
          <p:nvPr>
            <p:ph type="title"/>
          </p:nvPr>
        </p:nvSpPr>
        <p:spPr>
          <a:xfrm>
            <a:off x="660001" y="367200"/>
            <a:ext cx="8004582" cy="370800"/>
          </a:xfrm>
        </p:spPr>
        <p:txBody>
          <a:bodyPr vert="horz" lIns="0" tIns="36000" rIns="0" bIns="0" rtlCol="0" anchor="ctr">
            <a:noAutofit/>
          </a:bodyPr>
          <a:lstStyle/>
          <a:p>
            <a:r>
              <a:rPr lang="en-US" altLang="ja-JP"/>
              <a:t>3-9.</a:t>
            </a:r>
            <a:r>
              <a:rPr lang="ja-JP" altLang="en-US"/>
              <a:t>在庫過大計上・過少計上、在庫評価損の計上漏れ・先送り</a:t>
            </a:r>
            <a:endParaRPr lang="ja-JP" altLang="en-US">
              <a:cs typeface="Segoe UI"/>
            </a:endParaRPr>
          </a:p>
        </p:txBody>
      </p:sp>
      <p:sp>
        <p:nvSpPr>
          <p:cNvPr id="2" name="正方形/長方形 1">
            <a:extLst>
              <a:ext uri="{FF2B5EF4-FFF2-40B4-BE49-F238E27FC236}">
                <a16:creationId xmlns:a16="http://schemas.microsoft.com/office/drawing/2014/main" id="{28A9EA2E-8BD9-E680-656B-9E0A8C94E839}"/>
              </a:ext>
            </a:extLst>
          </p:cNvPr>
          <p:cNvSpPr/>
          <p:nvPr/>
        </p:nvSpPr>
        <p:spPr bwMode="gray">
          <a:xfrm>
            <a:off x="2127658" y="1636150"/>
            <a:ext cx="9720000" cy="648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エコロッカにおいて、実地棚卸未実施、在庫単価調整、滞留在庫等の評価減処理の未実施等により、在庫差異が積みあがった結果、過去数年にわたって棚卸資産が過大に計上される一方で、売上原価が過少に計上され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ED5AE473-1F10-53EB-DA49-A89D6214380D}"/>
              </a:ext>
            </a:extLst>
          </p:cNvPr>
          <p:cNvSpPr/>
          <p:nvPr/>
        </p:nvSpPr>
        <p:spPr bwMode="gray">
          <a:xfrm>
            <a:off x="507602" y="1636150"/>
            <a:ext cx="1260000" cy="648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12" name="正方形/長方形 11">
            <a:extLst>
              <a:ext uri="{FF2B5EF4-FFF2-40B4-BE49-F238E27FC236}">
                <a16:creationId xmlns:a16="http://schemas.microsoft.com/office/drawing/2014/main" id="{4A78DF44-72DC-3DB4-7480-C5DC20E8A3F6}"/>
              </a:ext>
            </a:extLst>
          </p:cNvPr>
          <p:cNvSpPr/>
          <p:nvPr/>
        </p:nvSpPr>
        <p:spPr>
          <a:xfrm>
            <a:off x="548404" y="2947995"/>
            <a:ext cx="1332000" cy="2622994"/>
          </a:xfrm>
          <a:prstGeom prst="rect">
            <a:avLst/>
          </a:prstGeom>
          <a:solidFill>
            <a:schemeClr val="accent6">
              <a:lumMod val="20000"/>
              <a:lumOff val="8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600">
                <a:solidFill>
                  <a:schemeClr val="tx1"/>
                </a:solidFill>
                <a:latin typeface="+mn-ea"/>
                <a:cs typeface="Meiryo UI" panose="020B0604030504040204" pitchFamily="50" charset="-128"/>
              </a:rPr>
              <a:t>帳簿上の在庫金額</a:t>
            </a:r>
          </a:p>
        </p:txBody>
      </p:sp>
      <p:sp>
        <p:nvSpPr>
          <p:cNvPr id="27" name="テキスト プレースホルダー 3">
            <a:extLst>
              <a:ext uri="{FF2B5EF4-FFF2-40B4-BE49-F238E27FC236}">
                <a16:creationId xmlns:a16="http://schemas.microsoft.com/office/drawing/2014/main" id="{D37B3332-8FDE-7060-A0F3-FF0C05A02AE4}"/>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適切な在庫管理には、実地棚卸の確実な実施とその結果の帳簿への反映、単価・払出処理の適正な反映、ルールに基づく評価減の実施が不可欠です</a:t>
            </a:r>
          </a:p>
        </p:txBody>
      </p:sp>
      <p:sp>
        <p:nvSpPr>
          <p:cNvPr id="6" name="テキスト プレースホルダー 3">
            <a:extLst>
              <a:ext uri="{FF2B5EF4-FFF2-40B4-BE49-F238E27FC236}">
                <a16:creationId xmlns:a16="http://schemas.microsoft.com/office/drawing/2014/main" id="{89CBE56B-96CC-12E5-8BB9-692920CD6351}"/>
              </a:ext>
            </a:extLst>
          </p:cNvPr>
          <p:cNvSpPr txBox="1">
            <a:spLocks/>
          </p:cNvSpPr>
          <p:nvPr/>
        </p:nvSpPr>
        <p:spPr>
          <a:xfrm>
            <a:off x="5807954" y="2427641"/>
            <a:ext cx="6120000" cy="79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r>
              <a:rPr lang="ja-JP" altLang="en-US" sz="1400" b="0">
                <a:solidFill>
                  <a:schemeClr val="tx1"/>
                </a:solidFill>
              </a:rPr>
              <a:t>①実地棚卸未実施や在庫数量の調整を原因とした、「帳簿在庫数</a:t>
            </a:r>
            <a:r>
              <a:rPr lang="en-US" altLang="ja-JP" sz="1400" b="0">
                <a:solidFill>
                  <a:schemeClr val="tx1"/>
                </a:solidFill>
              </a:rPr>
              <a:t>&gt;</a:t>
            </a:r>
            <a:r>
              <a:rPr lang="ja-JP" altLang="en-US" sz="1400" b="0">
                <a:solidFill>
                  <a:schemeClr val="tx1"/>
                </a:solidFill>
              </a:rPr>
              <a:t>実在庫数」の発生</a:t>
            </a:r>
            <a:r>
              <a:rPr lang="en-US" altLang="ja-JP" sz="1400" b="0">
                <a:solidFill>
                  <a:schemeClr val="tx1"/>
                </a:solidFill>
              </a:rPr>
              <a:t>(=</a:t>
            </a:r>
            <a:r>
              <a:rPr lang="ja-JP" altLang="en-US" sz="1400" b="0">
                <a:solidFill>
                  <a:schemeClr val="tx1"/>
                </a:solidFill>
              </a:rPr>
              <a:t>「実在性」に問題あり</a:t>
            </a:r>
            <a:r>
              <a:rPr lang="en-US" altLang="ja-JP" sz="1400" b="0">
                <a:solidFill>
                  <a:schemeClr val="tx1"/>
                </a:solidFill>
              </a:rPr>
              <a:t>)</a:t>
            </a:r>
            <a:br>
              <a:rPr lang="en-US" altLang="ja-JP" sz="1400" b="0">
                <a:solidFill>
                  <a:schemeClr val="tx1"/>
                </a:solidFill>
              </a:rPr>
            </a:br>
            <a:r>
              <a:rPr lang="en-US" altLang="ja-JP" sz="1300" b="0">
                <a:solidFill>
                  <a:schemeClr val="tx1"/>
                </a:solidFill>
              </a:rPr>
              <a:t>※</a:t>
            </a:r>
            <a:r>
              <a:rPr lang="ja-JP" altLang="en-US" sz="1300" b="0">
                <a:solidFill>
                  <a:schemeClr val="tx1"/>
                </a:solidFill>
              </a:rPr>
              <a:t>類似案件は日本ヘリウム、プリンテック、プレシアでも発生</a:t>
            </a:r>
            <a:endParaRPr lang="en-US" altLang="ja-JP" sz="1300" b="0">
              <a:solidFill>
                <a:schemeClr val="tx1"/>
              </a:solidFill>
            </a:endParaRPr>
          </a:p>
        </p:txBody>
      </p:sp>
      <p:cxnSp>
        <p:nvCxnSpPr>
          <p:cNvPr id="8" name="直線コネクタ 7">
            <a:extLst>
              <a:ext uri="{FF2B5EF4-FFF2-40B4-BE49-F238E27FC236}">
                <a16:creationId xmlns:a16="http://schemas.microsoft.com/office/drawing/2014/main" id="{8A6AE409-39B9-70BB-FB26-AA66D6D4AF0A}"/>
              </a:ext>
            </a:extLst>
          </p:cNvPr>
          <p:cNvCxnSpPr>
            <a:cxnSpLocks/>
          </p:cNvCxnSpPr>
          <p:nvPr/>
        </p:nvCxnSpPr>
        <p:spPr>
          <a:xfrm flipV="1">
            <a:off x="428625" y="5562838"/>
            <a:ext cx="3504985" cy="8150"/>
          </a:xfrm>
          <a:prstGeom prst="line">
            <a:avLst/>
          </a:prstGeom>
          <a:ln w="19050" cap="rnd">
            <a:solidFill>
              <a:schemeClr val="tx1"/>
            </a:solidFill>
            <a:round/>
          </a:ln>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2B4B6D9E-FC70-0BC7-E659-68F556C8D743}"/>
              </a:ext>
            </a:extLst>
          </p:cNvPr>
          <p:cNvSpPr/>
          <p:nvPr/>
        </p:nvSpPr>
        <p:spPr>
          <a:xfrm>
            <a:off x="2389245" y="4206752"/>
            <a:ext cx="1332000" cy="1350734"/>
          </a:xfrm>
          <a:prstGeom prst="rect">
            <a:avLst/>
          </a:prstGeom>
          <a:solidFill>
            <a:schemeClr val="accent2">
              <a:lumMod val="20000"/>
              <a:lumOff val="80000"/>
            </a:schemeClr>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a:solidFill>
                  <a:schemeClr val="tx1"/>
                </a:solidFill>
              </a:rPr>
              <a:t>実際の在庫金額</a:t>
            </a:r>
          </a:p>
        </p:txBody>
      </p:sp>
      <p:sp>
        <p:nvSpPr>
          <p:cNvPr id="16" name="正方形/長方形 15">
            <a:extLst>
              <a:ext uri="{FF2B5EF4-FFF2-40B4-BE49-F238E27FC236}">
                <a16:creationId xmlns:a16="http://schemas.microsoft.com/office/drawing/2014/main" id="{B8171E41-9D19-2FFB-7963-8C539C8E3FC2}"/>
              </a:ext>
            </a:extLst>
          </p:cNvPr>
          <p:cNvSpPr/>
          <p:nvPr/>
        </p:nvSpPr>
        <p:spPr>
          <a:xfrm>
            <a:off x="2389245" y="2947995"/>
            <a:ext cx="1332000" cy="1260000"/>
          </a:xfrm>
          <a:prstGeom prst="rect">
            <a:avLst/>
          </a:prstGeom>
          <a:solidFill>
            <a:srgbClr val="FFCCFF"/>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ja-JP" altLang="en-US" sz="1600">
                <a:solidFill>
                  <a:schemeClr val="tx1"/>
                </a:solidFill>
                <a:latin typeface="+mn-ea"/>
                <a:cs typeface="Meiryo UI" panose="020B0604030504040204" pitchFamily="50" charset="-128"/>
              </a:rPr>
              <a:t>在庫差異</a:t>
            </a:r>
            <a:endParaRPr kumimoji="1" lang="en-US" altLang="ja-JP" sz="1600">
              <a:solidFill>
                <a:schemeClr val="tx1"/>
              </a:solidFill>
              <a:latin typeface="+mn-ea"/>
              <a:cs typeface="Meiryo UI" panose="020B0604030504040204" pitchFamily="50" charset="-128"/>
            </a:endParaRPr>
          </a:p>
          <a:p>
            <a:pPr algn="ctr" eaLnBrk="1" hangingPunct="1"/>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在庫過大計上</a:t>
            </a:r>
            <a:r>
              <a:rPr kumimoji="1" lang="en-US" altLang="ja-JP" sz="1600">
                <a:solidFill>
                  <a:schemeClr val="tx1"/>
                </a:solidFill>
                <a:latin typeface="+mn-ea"/>
                <a:cs typeface="Meiryo UI" panose="020B0604030504040204" pitchFamily="50" charset="-128"/>
              </a:rPr>
              <a:t>/</a:t>
            </a:r>
            <a:r>
              <a:rPr kumimoji="1" lang="ja-JP" altLang="en-US" sz="1600">
                <a:solidFill>
                  <a:schemeClr val="tx1"/>
                </a:solidFill>
                <a:latin typeface="+mn-ea"/>
                <a:cs typeface="Meiryo UI" panose="020B0604030504040204" pitchFamily="50" charset="-128"/>
              </a:rPr>
              <a:t>売上原価過少計上</a:t>
            </a:r>
            <a:r>
              <a:rPr kumimoji="1" lang="en-US" altLang="ja-JP" sz="1600">
                <a:solidFill>
                  <a:schemeClr val="tx1"/>
                </a:solidFill>
                <a:latin typeface="+mn-ea"/>
                <a:cs typeface="Meiryo UI" panose="020B0604030504040204" pitchFamily="50" charset="-128"/>
              </a:rPr>
              <a:t>)</a:t>
            </a:r>
            <a:endParaRPr kumimoji="1" lang="ja-JP" altLang="en-US" sz="1600">
              <a:solidFill>
                <a:schemeClr val="tx1"/>
              </a:solidFill>
              <a:latin typeface="+mn-ea"/>
              <a:cs typeface="Meiryo UI" panose="020B0604030504040204" pitchFamily="50" charset="-128"/>
            </a:endParaRPr>
          </a:p>
        </p:txBody>
      </p:sp>
      <p:cxnSp>
        <p:nvCxnSpPr>
          <p:cNvPr id="20" name="直線コネクタ 19">
            <a:extLst>
              <a:ext uri="{FF2B5EF4-FFF2-40B4-BE49-F238E27FC236}">
                <a16:creationId xmlns:a16="http://schemas.microsoft.com/office/drawing/2014/main" id="{0E81AF15-455D-219C-CB4D-A70F2264597C}"/>
              </a:ext>
            </a:extLst>
          </p:cNvPr>
          <p:cNvCxnSpPr>
            <a:cxnSpLocks/>
          </p:cNvCxnSpPr>
          <p:nvPr/>
        </p:nvCxnSpPr>
        <p:spPr>
          <a:xfrm>
            <a:off x="1880404" y="2947995"/>
            <a:ext cx="508841" cy="1253405"/>
          </a:xfrm>
          <a:prstGeom prst="line">
            <a:avLst/>
          </a:prstGeom>
          <a:ln w="1905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7D93DC6-546B-E5B7-3C8A-F02C4CC3BDCF}"/>
              </a:ext>
            </a:extLst>
          </p:cNvPr>
          <p:cNvCxnSpPr>
            <a:cxnSpLocks/>
          </p:cNvCxnSpPr>
          <p:nvPr/>
        </p:nvCxnSpPr>
        <p:spPr>
          <a:xfrm>
            <a:off x="1880404" y="2947995"/>
            <a:ext cx="508841" cy="0"/>
          </a:xfrm>
          <a:prstGeom prst="line">
            <a:avLst/>
          </a:prstGeom>
          <a:ln w="1905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255D2F2C-CA49-566A-9C99-FAEBC7095126}"/>
              </a:ext>
            </a:extLst>
          </p:cNvPr>
          <p:cNvCxnSpPr>
            <a:cxnSpLocks/>
          </p:cNvCxnSpPr>
          <p:nvPr/>
        </p:nvCxnSpPr>
        <p:spPr>
          <a:xfrm flipV="1">
            <a:off x="3721245" y="2434906"/>
            <a:ext cx="793550" cy="513089"/>
          </a:xfrm>
          <a:prstGeom prst="line">
            <a:avLst/>
          </a:prstGeom>
          <a:ln w="1905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34" name="正方形/長方形 33">
            <a:extLst>
              <a:ext uri="{FF2B5EF4-FFF2-40B4-BE49-F238E27FC236}">
                <a16:creationId xmlns:a16="http://schemas.microsoft.com/office/drawing/2014/main" id="{ACA826CE-2016-7C09-68C8-4F99E7519614}"/>
              </a:ext>
            </a:extLst>
          </p:cNvPr>
          <p:cNvSpPr/>
          <p:nvPr/>
        </p:nvSpPr>
        <p:spPr>
          <a:xfrm>
            <a:off x="4514795" y="2394006"/>
            <a:ext cx="1332000" cy="864000"/>
          </a:xfrm>
          <a:prstGeom prst="rect">
            <a:avLst/>
          </a:prstGeom>
          <a:solidFill>
            <a:srgbClr val="FFCCCC"/>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①数量差異</a:t>
            </a:r>
            <a:endParaRPr kumimoji="1" lang="ja-JP" altLang="en-US" sz="1600">
              <a:solidFill>
                <a:schemeClr val="tx1"/>
              </a:solidFill>
              <a:latin typeface="+mn-ea"/>
              <a:cs typeface="Meiryo UI" panose="020B0604030504040204" pitchFamily="50" charset="-128"/>
            </a:endParaRPr>
          </a:p>
        </p:txBody>
      </p:sp>
      <p:sp>
        <p:nvSpPr>
          <p:cNvPr id="35" name="正方形/長方形 34">
            <a:extLst>
              <a:ext uri="{FF2B5EF4-FFF2-40B4-BE49-F238E27FC236}">
                <a16:creationId xmlns:a16="http://schemas.microsoft.com/office/drawing/2014/main" id="{B2A9B1B9-5BA0-6F20-3BA3-665D9C59D705}"/>
              </a:ext>
            </a:extLst>
          </p:cNvPr>
          <p:cNvSpPr/>
          <p:nvPr/>
        </p:nvSpPr>
        <p:spPr>
          <a:xfrm>
            <a:off x="4514795" y="3253965"/>
            <a:ext cx="1332000" cy="864000"/>
          </a:xfrm>
          <a:prstGeom prst="rect">
            <a:avLst/>
          </a:prstGeom>
          <a:solidFill>
            <a:srgbClr val="FFCC99"/>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②単価差異</a:t>
            </a:r>
            <a:endParaRPr kumimoji="1" lang="ja-JP" altLang="en-US" sz="1600">
              <a:solidFill>
                <a:schemeClr val="tx1"/>
              </a:solidFill>
              <a:latin typeface="+mn-ea"/>
              <a:cs typeface="Meiryo UI" panose="020B0604030504040204" pitchFamily="50" charset="-128"/>
            </a:endParaRPr>
          </a:p>
        </p:txBody>
      </p:sp>
      <p:sp>
        <p:nvSpPr>
          <p:cNvPr id="36" name="テキスト プレースホルダー 3">
            <a:extLst>
              <a:ext uri="{FF2B5EF4-FFF2-40B4-BE49-F238E27FC236}">
                <a16:creationId xmlns:a16="http://schemas.microsoft.com/office/drawing/2014/main" id="{76BFAC8A-A4A5-9DBC-E6AC-9EDDE4AC2B2F}"/>
              </a:ext>
            </a:extLst>
          </p:cNvPr>
          <p:cNvSpPr txBox="1">
            <a:spLocks/>
          </p:cNvSpPr>
          <p:nvPr/>
        </p:nvSpPr>
        <p:spPr>
          <a:xfrm>
            <a:off x="5807954" y="3276991"/>
            <a:ext cx="6120000" cy="79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r>
              <a:rPr lang="ja-JP" altLang="en-US" sz="1400" b="0">
                <a:solidFill>
                  <a:schemeClr val="tx1"/>
                </a:solidFill>
              </a:rPr>
              <a:t>②在庫単価調整を原因とした、「帳簿上の在庫金額</a:t>
            </a:r>
            <a:r>
              <a:rPr lang="en-US" altLang="ja-JP" sz="1400" b="0">
                <a:solidFill>
                  <a:schemeClr val="tx1"/>
                </a:solidFill>
              </a:rPr>
              <a:t>&gt;</a:t>
            </a:r>
            <a:r>
              <a:rPr lang="ja-JP" altLang="en-US" sz="1400" b="0">
                <a:solidFill>
                  <a:schemeClr val="tx1"/>
                </a:solidFill>
              </a:rPr>
              <a:t>実際の在庫金額」の発生</a:t>
            </a:r>
            <a:r>
              <a:rPr lang="en-US" altLang="ja-JP" sz="1400" b="0">
                <a:solidFill>
                  <a:schemeClr val="tx1"/>
                </a:solidFill>
              </a:rPr>
              <a:t> (=</a:t>
            </a:r>
            <a:r>
              <a:rPr lang="ja-JP" altLang="en-US" sz="1400" b="0">
                <a:solidFill>
                  <a:schemeClr val="tx1"/>
                </a:solidFill>
              </a:rPr>
              <a:t>「正確性」に問題あり</a:t>
            </a:r>
            <a:r>
              <a:rPr lang="en-US" altLang="ja-JP" sz="1400" b="0">
                <a:solidFill>
                  <a:schemeClr val="tx1"/>
                </a:solidFill>
              </a:rPr>
              <a:t>)</a:t>
            </a:r>
            <a:br>
              <a:rPr lang="en-US" altLang="ja-JP" sz="1400" b="0">
                <a:solidFill>
                  <a:schemeClr val="tx1"/>
                </a:solidFill>
              </a:rPr>
            </a:br>
            <a:r>
              <a:rPr lang="en-US" altLang="ja-JP" sz="1300" b="0">
                <a:solidFill>
                  <a:schemeClr val="tx1"/>
                </a:solidFill>
              </a:rPr>
              <a:t>※</a:t>
            </a:r>
            <a:r>
              <a:rPr lang="ja-JP" altLang="en-US" sz="1300" b="0">
                <a:solidFill>
                  <a:schemeClr val="tx1"/>
                </a:solidFill>
              </a:rPr>
              <a:t>類似案件は北海道</a:t>
            </a:r>
            <a:r>
              <a:rPr lang="en-US" altLang="ja-JP" sz="1300" b="0">
                <a:solidFill>
                  <a:schemeClr val="tx1"/>
                </a:solidFill>
              </a:rPr>
              <a:t>AW</a:t>
            </a:r>
            <a:r>
              <a:rPr lang="ja-JP" altLang="en-US" sz="1300" b="0">
                <a:solidFill>
                  <a:schemeClr val="tx1"/>
                </a:solidFill>
              </a:rPr>
              <a:t>アグリでも発生</a:t>
            </a:r>
          </a:p>
        </p:txBody>
      </p:sp>
      <p:sp>
        <p:nvSpPr>
          <p:cNvPr id="37" name="正方形/長方形 36">
            <a:extLst>
              <a:ext uri="{FF2B5EF4-FFF2-40B4-BE49-F238E27FC236}">
                <a16:creationId xmlns:a16="http://schemas.microsoft.com/office/drawing/2014/main" id="{5AF0DD29-6429-6651-3052-8CE195EA04EC}"/>
              </a:ext>
            </a:extLst>
          </p:cNvPr>
          <p:cNvSpPr/>
          <p:nvPr/>
        </p:nvSpPr>
        <p:spPr>
          <a:xfrm>
            <a:off x="4514795" y="4111837"/>
            <a:ext cx="1332000" cy="864000"/>
          </a:xfrm>
          <a:prstGeom prst="rect">
            <a:avLst/>
          </a:prstGeom>
          <a:solidFill>
            <a:srgbClr val="FFCC66"/>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solidFill>
                  <a:schemeClr val="tx1"/>
                </a:solidFill>
                <a:latin typeface="+mn-ea"/>
                <a:cs typeface="Meiryo UI" panose="020B0604030504040204" pitchFamily="50" charset="-128"/>
              </a:rPr>
              <a:t>③受入・払出</a:t>
            </a:r>
            <a:endParaRPr lang="en-US" altLang="ja-JP">
              <a:solidFill>
                <a:schemeClr val="tx1"/>
              </a:solidFill>
            </a:endParaRPr>
          </a:p>
          <a:p>
            <a:pPr algn="ctr"/>
            <a:r>
              <a:rPr lang="ja-JP" altLang="en-US" sz="1600">
                <a:solidFill>
                  <a:schemeClr val="tx1"/>
                </a:solidFill>
                <a:latin typeface="+mn-ea"/>
                <a:cs typeface="Meiryo UI" panose="020B0604030504040204" pitchFamily="50" charset="-128"/>
              </a:rPr>
              <a:t>処理の不備</a:t>
            </a:r>
            <a:endParaRPr lang="ja-JP">
              <a:solidFill>
                <a:schemeClr val="tx1"/>
              </a:solidFill>
            </a:endParaRPr>
          </a:p>
        </p:txBody>
      </p:sp>
      <p:sp>
        <p:nvSpPr>
          <p:cNvPr id="38" name="テキスト プレースホルダー 3">
            <a:extLst>
              <a:ext uri="{FF2B5EF4-FFF2-40B4-BE49-F238E27FC236}">
                <a16:creationId xmlns:a16="http://schemas.microsoft.com/office/drawing/2014/main" id="{527EFED2-ED46-C9CA-CC20-C32A5F75AF4B}"/>
              </a:ext>
            </a:extLst>
          </p:cNvPr>
          <p:cNvSpPr txBox="1">
            <a:spLocks/>
          </p:cNvSpPr>
          <p:nvPr/>
        </p:nvSpPr>
        <p:spPr>
          <a:xfrm>
            <a:off x="5807954" y="4140383"/>
            <a:ext cx="6120000" cy="79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r>
              <a:rPr lang="ja-JP" altLang="en-US" sz="1400" b="0">
                <a:solidFill>
                  <a:schemeClr val="tx1"/>
                </a:solidFill>
              </a:rPr>
              <a:t>③在庫受入・払出し処理の不備を原因とした、「帳簿上の在庫金額≠実際の在庫金額」の発生</a:t>
            </a:r>
            <a:r>
              <a:rPr lang="en-US" altLang="ja-JP" sz="1400" b="0">
                <a:solidFill>
                  <a:schemeClr val="tx1"/>
                </a:solidFill>
              </a:rPr>
              <a:t> (=</a:t>
            </a:r>
            <a:r>
              <a:rPr lang="ja-JP" altLang="en-US" sz="1400" b="0">
                <a:solidFill>
                  <a:schemeClr val="tx1"/>
                </a:solidFill>
              </a:rPr>
              <a:t>「網羅性」に問題あり</a:t>
            </a:r>
            <a:r>
              <a:rPr lang="en-US" altLang="ja-JP" sz="1400" b="0">
                <a:solidFill>
                  <a:schemeClr val="tx1"/>
                </a:solidFill>
              </a:rPr>
              <a:t>)</a:t>
            </a:r>
            <a:endParaRPr lang="ja-JP" altLang="en-US" sz="1400" b="0">
              <a:solidFill>
                <a:schemeClr val="tx1"/>
              </a:solidFill>
            </a:endParaRPr>
          </a:p>
        </p:txBody>
      </p:sp>
      <p:sp>
        <p:nvSpPr>
          <p:cNvPr id="40" name="正方形/長方形 39">
            <a:extLst>
              <a:ext uri="{FF2B5EF4-FFF2-40B4-BE49-F238E27FC236}">
                <a16:creationId xmlns:a16="http://schemas.microsoft.com/office/drawing/2014/main" id="{0EAF1E8E-C569-9A5D-83F4-B07EDCFE79C0}"/>
              </a:ext>
            </a:extLst>
          </p:cNvPr>
          <p:cNvSpPr/>
          <p:nvPr/>
        </p:nvSpPr>
        <p:spPr>
          <a:xfrm>
            <a:off x="4514795" y="4979234"/>
            <a:ext cx="1332000" cy="864000"/>
          </a:xfrm>
          <a:prstGeom prst="rect">
            <a:avLst/>
          </a:prstGeom>
          <a:solidFill>
            <a:srgbClr val="FF99FF"/>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④不適切な原価マイナス処理</a:t>
            </a:r>
            <a:endParaRPr kumimoji="1" lang="ja-JP" altLang="en-US" sz="1600">
              <a:solidFill>
                <a:schemeClr val="tx1"/>
              </a:solidFill>
              <a:latin typeface="+mn-ea"/>
              <a:cs typeface="Meiryo UI" panose="020B0604030504040204" pitchFamily="50" charset="-128"/>
            </a:endParaRPr>
          </a:p>
        </p:txBody>
      </p:sp>
      <p:sp>
        <p:nvSpPr>
          <p:cNvPr id="41" name="テキスト プレースホルダー 3">
            <a:extLst>
              <a:ext uri="{FF2B5EF4-FFF2-40B4-BE49-F238E27FC236}">
                <a16:creationId xmlns:a16="http://schemas.microsoft.com/office/drawing/2014/main" id="{CD744E89-3475-536F-9FA9-8A3E6B8B48DE}"/>
              </a:ext>
            </a:extLst>
          </p:cNvPr>
          <p:cNvSpPr txBox="1">
            <a:spLocks/>
          </p:cNvSpPr>
          <p:nvPr/>
        </p:nvSpPr>
        <p:spPr>
          <a:xfrm>
            <a:off x="5807954" y="5016654"/>
            <a:ext cx="6120000" cy="79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r>
              <a:rPr lang="ja-JP" altLang="en-US" sz="1400" b="0">
                <a:solidFill>
                  <a:schemeClr val="tx1"/>
                </a:solidFill>
              </a:rPr>
              <a:t>④不適切な原価マイナス処理を原因とした、「帳簿上の在庫金額</a:t>
            </a:r>
            <a:r>
              <a:rPr lang="en-US" altLang="ja-JP" sz="1400" b="0">
                <a:solidFill>
                  <a:schemeClr val="tx1"/>
                </a:solidFill>
              </a:rPr>
              <a:t>&gt;</a:t>
            </a:r>
            <a:r>
              <a:rPr lang="ja-JP" altLang="en-US" sz="1400" b="0">
                <a:solidFill>
                  <a:schemeClr val="tx1"/>
                </a:solidFill>
              </a:rPr>
              <a:t>実際の在庫金額」の発生</a:t>
            </a:r>
            <a:r>
              <a:rPr lang="en-US" altLang="ja-JP" sz="1400" b="0">
                <a:solidFill>
                  <a:schemeClr val="tx1"/>
                </a:solidFill>
              </a:rPr>
              <a:t> (=</a:t>
            </a:r>
            <a:r>
              <a:rPr lang="ja-JP" altLang="en-US" sz="1400" b="0">
                <a:solidFill>
                  <a:schemeClr val="tx1"/>
                </a:solidFill>
              </a:rPr>
              <a:t>「正確性」に問題あり</a:t>
            </a:r>
            <a:r>
              <a:rPr lang="en-US" altLang="ja-JP" sz="1400" b="0">
                <a:solidFill>
                  <a:schemeClr val="tx1"/>
                </a:solidFill>
              </a:rPr>
              <a:t>)</a:t>
            </a:r>
            <a:r>
              <a:rPr lang="ja-JP" altLang="en-US" sz="1400" b="0">
                <a:solidFill>
                  <a:schemeClr val="tx1"/>
                </a:solidFill>
              </a:rPr>
              <a:t> </a:t>
            </a:r>
            <a:br>
              <a:rPr lang="en-US" altLang="ja-JP" sz="1400" b="0">
                <a:solidFill>
                  <a:schemeClr val="tx1"/>
                </a:solidFill>
              </a:rPr>
            </a:br>
            <a:r>
              <a:rPr lang="en-US" altLang="ja-JP" sz="1300" b="0">
                <a:solidFill>
                  <a:schemeClr val="tx1"/>
                </a:solidFill>
              </a:rPr>
              <a:t>※</a:t>
            </a:r>
            <a:r>
              <a:rPr lang="ja-JP" altLang="en-US" sz="1300" b="0">
                <a:solidFill>
                  <a:schemeClr val="tx1"/>
                </a:solidFill>
              </a:rPr>
              <a:t>類似案件は</a:t>
            </a:r>
            <a:r>
              <a:rPr lang="en-US" altLang="ja-JP" sz="1300" b="0">
                <a:solidFill>
                  <a:schemeClr val="tx1"/>
                </a:solidFill>
              </a:rPr>
              <a:t>AW</a:t>
            </a:r>
            <a:r>
              <a:rPr lang="ja-JP" altLang="en-US" sz="1300" b="0">
                <a:solidFill>
                  <a:schemeClr val="tx1"/>
                </a:solidFill>
              </a:rPr>
              <a:t>防災、プリンテック、プレシアでも発生</a:t>
            </a:r>
          </a:p>
        </p:txBody>
      </p:sp>
      <p:sp>
        <p:nvSpPr>
          <p:cNvPr id="43" name="正方形/長方形 42">
            <a:extLst>
              <a:ext uri="{FF2B5EF4-FFF2-40B4-BE49-F238E27FC236}">
                <a16:creationId xmlns:a16="http://schemas.microsoft.com/office/drawing/2014/main" id="{78D5F0C0-D9AF-1750-F51C-53F2B65ED59C}"/>
              </a:ext>
            </a:extLst>
          </p:cNvPr>
          <p:cNvSpPr/>
          <p:nvPr/>
        </p:nvSpPr>
        <p:spPr>
          <a:xfrm>
            <a:off x="4514795" y="5841795"/>
            <a:ext cx="1332000" cy="864000"/>
          </a:xfrm>
          <a:prstGeom prst="rect">
            <a:avLst/>
          </a:prstGeom>
          <a:solidFill>
            <a:srgbClr val="FF99CC"/>
          </a:solidFill>
          <a:ln w="22225">
            <a:solidFill>
              <a:schemeClr val="tx1"/>
            </a:solid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600">
                <a:solidFill>
                  <a:schemeClr val="tx1"/>
                </a:solidFill>
                <a:latin typeface="+mn-ea"/>
                <a:cs typeface="Meiryo UI" panose="020B0604030504040204" pitchFamily="50" charset="-128"/>
              </a:rPr>
              <a:t>⑤評価減・</a:t>
            </a:r>
            <a:endParaRPr lang="en-US" altLang="ja-JP">
              <a:solidFill>
                <a:schemeClr val="tx1"/>
              </a:solidFill>
            </a:endParaRPr>
          </a:p>
          <a:p>
            <a:pPr algn="ctr"/>
            <a:r>
              <a:rPr lang="ja-JP" altLang="en-US" sz="1600">
                <a:solidFill>
                  <a:schemeClr val="tx1"/>
                </a:solidFill>
                <a:latin typeface="+mn-ea"/>
                <a:cs typeface="Meiryo UI" panose="020B0604030504040204" pitchFamily="50" charset="-128"/>
              </a:rPr>
              <a:t>損失処理の未実施</a:t>
            </a:r>
            <a:endParaRPr lang="ja-JP">
              <a:solidFill>
                <a:schemeClr val="tx1"/>
              </a:solidFill>
            </a:endParaRPr>
          </a:p>
        </p:txBody>
      </p:sp>
      <p:sp>
        <p:nvSpPr>
          <p:cNvPr id="44" name="テキスト プレースホルダー 3">
            <a:extLst>
              <a:ext uri="{FF2B5EF4-FFF2-40B4-BE49-F238E27FC236}">
                <a16:creationId xmlns:a16="http://schemas.microsoft.com/office/drawing/2014/main" id="{F16D2D25-FA23-F4F7-5E78-810DEE65E2AF}"/>
              </a:ext>
            </a:extLst>
          </p:cNvPr>
          <p:cNvSpPr txBox="1">
            <a:spLocks/>
          </p:cNvSpPr>
          <p:nvPr/>
        </p:nvSpPr>
        <p:spPr>
          <a:xfrm>
            <a:off x="5807954" y="5894578"/>
            <a:ext cx="6120000" cy="792000"/>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80975" indent="-180975"/>
            <a:r>
              <a:rPr lang="ja-JP" altLang="en-US" sz="1400" b="0">
                <a:solidFill>
                  <a:schemeClr val="tx1"/>
                </a:solidFill>
              </a:rPr>
              <a:t>⑤滞留在庫等の評価減・損失処理の未実施を原因とした、 「帳簿上の在庫金額</a:t>
            </a:r>
            <a:r>
              <a:rPr lang="en-US" altLang="ja-JP" sz="1400" b="0">
                <a:solidFill>
                  <a:schemeClr val="tx1"/>
                </a:solidFill>
              </a:rPr>
              <a:t>&gt;</a:t>
            </a:r>
            <a:r>
              <a:rPr lang="ja-JP" altLang="en-US" sz="1400" b="0">
                <a:solidFill>
                  <a:schemeClr val="tx1"/>
                </a:solidFill>
              </a:rPr>
              <a:t>実際の在庫金額」の発生</a:t>
            </a:r>
            <a:r>
              <a:rPr lang="en-US" altLang="ja-JP" sz="1400" b="0">
                <a:solidFill>
                  <a:schemeClr val="tx1"/>
                </a:solidFill>
              </a:rPr>
              <a:t> (=</a:t>
            </a:r>
            <a:r>
              <a:rPr lang="ja-JP" altLang="en-US" sz="1400" b="0">
                <a:solidFill>
                  <a:schemeClr val="tx1"/>
                </a:solidFill>
              </a:rPr>
              <a:t>「評価と期間配分」に問題あり</a:t>
            </a:r>
            <a:r>
              <a:rPr lang="en-US" altLang="ja-JP" sz="1400" b="0">
                <a:solidFill>
                  <a:schemeClr val="tx1"/>
                </a:solidFill>
              </a:rPr>
              <a:t>)</a:t>
            </a:r>
            <a:br>
              <a:rPr lang="en-US" altLang="ja-JP" sz="1400" b="0">
                <a:solidFill>
                  <a:schemeClr val="tx1"/>
                </a:solidFill>
              </a:rPr>
            </a:br>
            <a:r>
              <a:rPr lang="en-US" altLang="ja-JP" sz="1300" b="0">
                <a:solidFill>
                  <a:schemeClr val="tx1"/>
                </a:solidFill>
              </a:rPr>
              <a:t>※</a:t>
            </a:r>
            <a:r>
              <a:rPr lang="ja-JP" altLang="en-US" sz="1300" b="0">
                <a:solidFill>
                  <a:schemeClr val="tx1"/>
                </a:solidFill>
              </a:rPr>
              <a:t>類似案件は</a:t>
            </a:r>
            <a:r>
              <a:rPr lang="en-US" altLang="ja-JP" sz="1300" b="0">
                <a:solidFill>
                  <a:schemeClr val="tx1"/>
                </a:solidFill>
              </a:rPr>
              <a:t>AWMX</a:t>
            </a:r>
            <a:r>
              <a:rPr lang="ja-JP" altLang="en-US" sz="1300" b="0">
                <a:solidFill>
                  <a:schemeClr val="tx1"/>
                </a:solidFill>
              </a:rPr>
              <a:t>、プラントガス部、</a:t>
            </a:r>
            <a:r>
              <a:rPr lang="en-US" altLang="ja-JP" sz="1300" b="0">
                <a:solidFill>
                  <a:schemeClr val="tx1"/>
                </a:solidFill>
              </a:rPr>
              <a:t>AW</a:t>
            </a:r>
            <a:r>
              <a:rPr lang="ja-JP" altLang="en-US" sz="1300" b="0">
                <a:solidFill>
                  <a:schemeClr val="tx1"/>
                </a:solidFill>
              </a:rPr>
              <a:t>東日本、他数社でも発生</a:t>
            </a:r>
            <a:endParaRPr lang="en-US" altLang="ja-JP" sz="1300" b="0">
              <a:solidFill>
                <a:schemeClr val="tx1"/>
              </a:solidFill>
            </a:endParaRPr>
          </a:p>
        </p:txBody>
      </p:sp>
      <p:cxnSp>
        <p:nvCxnSpPr>
          <p:cNvPr id="58" name="直線コネクタ 57">
            <a:extLst>
              <a:ext uri="{FF2B5EF4-FFF2-40B4-BE49-F238E27FC236}">
                <a16:creationId xmlns:a16="http://schemas.microsoft.com/office/drawing/2014/main" id="{ECD0A72C-21AA-72BC-51C5-171D273F8688}"/>
              </a:ext>
            </a:extLst>
          </p:cNvPr>
          <p:cNvCxnSpPr>
            <a:cxnSpLocks/>
          </p:cNvCxnSpPr>
          <p:nvPr/>
        </p:nvCxnSpPr>
        <p:spPr>
          <a:xfrm>
            <a:off x="3721245" y="4207995"/>
            <a:ext cx="793550" cy="2497800"/>
          </a:xfrm>
          <a:prstGeom prst="line">
            <a:avLst/>
          </a:prstGeom>
          <a:ln w="19050" cap="rnd">
            <a:solidFill>
              <a:schemeClr val="tx1"/>
            </a:solidFill>
            <a:prstDash val="dash"/>
            <a:round/>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8C6EBC51-2774-8F59-9E8C-5BD713B5374D}"/>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12032368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484A5-1F3B-F306-FC15-2517366E8D4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D6B8515-1871-EA09-5967-5214C3494B34}"/>
              </a:ext>
            </a:extLst>
          </p:cNvPr>
          <p:cNvSpPr>
            <a:spLocks noGrp="1"/>
          </p:cNvSpPr>
          <p:nvPr>
            <p:ph type="title"/>
          </p:nvPr>
        </p:nvSpPr>
        <p:spPr>
          <a:xfrm>
            <a:off x="659999" y="365508"/>
            <a:ext cx="6869385" cy="371961"/>
          </a:xfrm>
        </p:spPr>
        <p:txBody>
          <a:bodyPr>
            <a:normAutofit/>
          </a:bodyPr>
          <a:lstStyle/>
          <a:p>
            <a:r>
              <a:rPr lang="en-US" altLang="ja-JP"/>
              <a:t>3-10.</a:t>
            </a:r>
            <a:r>
              <a:rPr lang="ja-JP" altLang="en-US"/>
              <a:t>減損損失の先送り・計上漏れ</a:t>
            </a:r>
          </a:p>
        </p:txBody>
      </p:sp>
      <p:sp>
        <p:nvSpPr>
          <p:cNvPr id="2" name="正方形/長方形 1">
            <a:extLst>
              <a:ext uri="{FF2B5EF4-FFF2-40B4-BE49-F238E27FC236}">
                <a16:creationId xmlns:a16="http://schemas.microsoft.com/office/drawing/2014/main" id="{0C2B8C5A-29C6-8857-CA4E-485B7B6A7B69}"/>
              </a:ext>
            </a:extLst>
          </p:cNvPr>
          <p:cNvSpPr/>
          <p:nvPr/>
        </p:nvSpPr>
        <p:spPr bwMode="gray">
          <a:xfrm>
            <a:off x="2127658" y="1723175"/>
            <a:ext cx="9720000" cy="864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人事部で管理していた社員寮や社宅、関連土地について、全入寮者が退寮済みであり、遊休資産となっていたにもかかわらず、遊休資産となった会計期間中に減損損失が計上されず、損失計上が先送りされ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溶接センターの設備が遊休資産にもかかわらず、減損損失が先送りされている事案も発見されている</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4766754C-1095-2549-A72A-D64A4F68A4D2}"/>
              </a:ext>
            </a:extLst>
          </p:cNvPr>
          <p:cNvSpPr/>
          <p:nvPr/>
        </p:nvSpPr>
        <p:spPr bwMode="gray">
          <a:xfrm>
            <a:off x="507602" y="1723175"/>
            <a:ext cx="1260000" cy="864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3AE240C0-D4C2-9514-1AB0-09D3B4E53856}"/>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遊休資産は、該当する会計期間中に減損損失を計上する必要があるため、当該資産の情報を網羅的に把握、収集する仕組みを整備・運用することが必要です</a:t>
            </a:r>
          </a:p>
        </p:txBody>
      </p:sp>
      <p:sp>
        <p:nvSpPr>
          <p:cNvPr id="6" name="テキスト ボックス 5">
            <a:extLst>
              <a:ext uri="{FF2B5EF4-FFF2-40B4-BE49-F238E27FC236}">
                <a16:creationId xmlns:a16="http://schemas.microsoft.com/office/drawing/2014/main" id="{E2CFAF21-4679-A747-E527-05FB62D365EB}"/>
              </a:ext>
            </a:extLst>
          </p:cNvPr>
          <p:cNvSpPr txBox="1"/>
          <p:nvPr/>
        </p:nvSpPr>
        <p:spPr>
          <a:xfrm>
            <a:off x="276597" y="3621717"/>
            <a:ext cx="5220000" cy="648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r>
              <a:rPr lang="ja-JP" altLang="en-US" sz="1600"/>
              <a:t>企業活動にほとんど使用されていない状態であって、過去の利用実態や将来の用途の定めには関係がない資産</a:t>
            </a:r>
            <a:endParaRPr lang="en-US" altLang="ja-JP" sz="1600" b="1" u="sng"/>
          </a:p>
        </p:txBody>
      </p:sp>
      <p:sp>
        <p:nvSpPr>
          <p:cNvPr id="10" name="テキスト ボックス 9">
            <a:extLst>
              <a:ext uri="{FF2B5EF4-FFF2-40B4-BE49-F238E27FC236}">
                <a16:creationId xmlns:a16="http://schemas.microsoft.com/office/drawing/2014/main" id="{5BB7A7DB-8EDA-7308-44B6-135051E558A0}"/>
              </a:ext>
            </a:extLst>
          </p:cNvPr>
          <p:cNvSpPr txBox="1"/>
          <p:nvPr/>
        </p:nvSpPr>
        <p:spPr>
          <a:xfrm>
            <a:off x="6056629" y="5559469"/>
            <a:ext cx="5976000" cy="738894"/>
          </a:xfrm>
          <a:prstGeom prst="rect">
            <a:avLst/>
          </a:prstGeom>
          <a:noFill/>
        </p:spPr>
        <p:txBody>
          <a:bodyPr wrap="square" anchor="ctr">
            <a:noAutofit/>
          </a:bodyPr>
          <a:lstStyle/>
          <a:p>
            <a:pPr marL="285750" indent="-285750">
              <a:buFont typeface="Wingdings" panose="05000000000000000000" pitchFamily="2" charset="2"/>
              <a:buChar char="Ø"/>
            </a:pPr>
            <a:r>
              <a:rPr lang="ja-JP" altLang="en-US" sz="1600" spc="110">
                <a:latin typeface="+mn-ea"/>
              </a:rPr>
              <a:t>遊休資産に該当することとなった会計期間中に減損損失を計上</a:t>
            </a:r>
            <a:endParaRPr lang="en-US" altLang="ja-JP" sz="1600" spc="110">
              <a:latin typeface="+mn-ea"/>
            </a:endParaRPr>
          </a:p>
        </p:txBody>
      </p:sp>
      <p:grpSp>
        <p:nvGrpSpPr>
          <p:cNvPr id="26" name="グループ化 25">
            <a:extLst>
              <a:ext uri="{FF2B5EF4-FFF2-40B4-BE49-F238E27FC236}">
                <a16:creationId xmlns:a16="http://schemas.microsoft.com/office/drawing/2014/main" id="{411A8F4E-A7C4-311E-F635-3C652222DE9A}"/>
              </a:ext>
            </a:extLst>
          </p:cNvPr>
          <p:cNvGrpSpPr/>
          <p:nvPr/>
        </p:nvGrpSpPr>
        <p:grpSpPr>
          <a:xfrm>
            <a:off x="3017435" y="4426797"/>
            <a:ext cx="1190385" cy="1290120"/>
            <a:chOff x="2470083" y="3276218"/>
            <a:chExt cx="1190385" cy="1290120"/>
          </a:xfrm>
        </p:grpSpPr>
        <p:pic>
          <p:nvPicPr>
            <p:cNvPr id="7" name="グラフィックス 6" descr="工場 枠線">
              <a:extLst>
                <a:ext uri="{FF2B5EF4-FFF2-40B4-BE49-F238E27FC236}">
                  <a16:creationId xmlns:a16="http://schemas.microsoft.com/office/drawing/2014/main" id="{D780FD94-0EC5-113B-63E0-489EC8084B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15275" y="3276218"/>
              <a:ext cx="900000" cy="900000"/>
            </a:xfrm>
            <a:prstGeom prst="rect">
              <a:avLst/>
            </a:prstGeom>
          </p:spPr>
        </p:pic>
        <p:sp>
          <p:nvSpPr>
            <p:cNvPr id="15" name="テキスト ボックス 14">
              <a:extLst>
                <a:ext uri="{FF2B5EF4-FFF2-40B4-BE49-F238E27FC236}">
                  <a16:creationId xmlns:a16="http://schemas.microsoft.com/office/drawing/2014/main" id="{6BAC5A24-1410-5690-17D9-7F8776D297C1}"/>
                </a:ext>
              </a:extLst>
            </p:cNvPr>
            <p:cNvSpPr txBox="1"/>
            <p:nvPr/>
          </p:nvSpPr>
          <p:spPr>
            <a:xfrm>
              <a:off x="2470083" y="3994764"/>
              <a:ext cx="1190385" cy="57157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lgn="ctr">
                <a:buNone/>
              </a:pPr>
              <a:r>
                <a:rPr lang="ja-JP" altLang="en-US" sz="1600"/>
                <a:t>工場・倉庫</a:t>
              </a:r>
              <a:endParaRPr lang="en-US" altLang="ja-JP" sz="1600"/>
            </a:p>
          </p:txBody>
        </p:sp>
      </p:grpSp>
      <p:grpSp>
        <p:nvGrpSpPr>
          <p:cNvPr id="25" name="グループ化 24">
            <a:extLst>
              <a:ext uri="{FF2B5EF4-FFF2-40B4-BE49-F238E27FC236}">
                <a16:creationId xmlns:a16="http://schemas.microsoft.com/office/drawing/2014/main" id="{2FC9F0EB-C614-E3E2-F72B-5067C73A9D79}"/>
              </a:ext>
            </a:extLst>
          </p:cNvPr>
          <p:cNvGrpSpPr/>
          <p:nvPr/>
        </p:nvGrpSpPr>
        <p:grpSpPr>
          <a:xfrm>
            <a:off x="4167371" y="4426797"/>
            <a:ext cx="1190385" cy="1290120"/>
            <a:chOff x="3836033" y="3276218"/>
            <a:chExt cx="1190385" cy="1290120"/>
          </a:xfrm>
        </p:grpSpPr>
        <p:pic>
          <p:nvPicPr>
            <p:cNvPr id="8" name="グラフィックス 7" descr="ロボット ハンド 枠線">
              <a:extLst>
                <a:ext uri="{FF2B5EF4-FFF2-40B4-BE49-F238E27FC236}">
                  <a16:creationId xmlns:a16="http://schemas.microsoft.com/office/drawing/2014/main" id="{E30D9BD9-12F8-884A-387E-CCF6519C9B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81225" y="3276218"/>
              <a:ext cx="900000" cy="900000"/>
            </a:xfrm>
            <a:prstGeom prst="rect">
              <a:avLst/>
            </a:prstGeom>
          </p:spPr>
        </p:pic>
        <p:sp>
          <p:nvSpPr>
            <p:cNvPr id="17" name="テキスト ボックス 16">
              <a:extLst>
                <a:ext uri="{FF2B5EF4-FFF2-40B4-BE49-F238E27FC236}">
                  <a16:creationId xmlns:a16="http://schemas.microsoft.com/office/drawing/2014/main" id="{EAB9D3F4-6E0A-BA8F-C524-CDA704EE3DFF}"/>
                </a:ext>
              </a:extLst>
            </p:cNvPr>
            <p:cNvSpPr txBox="1"/>
            <p:nvPr/>
          </p:nvSpPr>
          <p:spPr>
            <a:xfrm>
              <a:off x="3836033" y="3994764"/>
              <a:ext cx="1190385" cy="57157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lgn="ctr">
                <a:buNone/>
              </a:pPr>
              <a:r>
                <a:rPr lang="ja-JP" altLang="en-US" sz="1600"/>
                <a:t>機械設備</a:t>
              </a:r>
              <a:endParaRPr lang="en-US" altLang="ja-JP" sz="1600"/>
            </a:p>
          </p:txBody>
        </p:sp>
      </p:grpSp>
      <p:grpSp>
        <p:nvGrpSpPr>
          <p:cNvPr id="37" name="グループ化 36">
            <a:extLst>
              <a:ext uri="{FF2B5EF4-FFF2-40B4-BE49-F238E27FC236}">
                <a16:creationId xmlns:a16="http://schemas.microsoft.com/office/drawing/2014/main" id="{EC99D2D1-E53E-5EF6-9F59-732852978ED4}"/>
              </a:ext>
            </a:extLst>
          </p:cNvPr>
          <p:cNvGrpSpPr/>
          <p:nvPr/>
        </p:nvGrpSpPr>
        <p:grpSpPr>
          <a:xfrm>
            <a:off x="1091825" y="4426797"/>
            <a:ext cx="1003253" cy="1290120"/>
            <a:chOff x="7328187" y="3836705"/>
            <a:chExt cx="1003253" cy="1290120"/>
          </a:xfrm>
        </p:grpSpPr>
        <p:sp>
          <p:nvSpPr>
            <p:cNvPr id="16" name="テキスト ボックス 15">
              <a:extLst>
                <a:ext uri="{FF2B5EF4-FFF2-40B4-BE49-F238E27FC236}">
                  <a16:creationId xmlns:a16="http://schemas.microsoft.com/office/drawing/2014/main" id="{AC2D7132-6A3E-ABD3-4692-77E92A7F18A8}"/>
                </a:ext>
              </a:extLst>
            </p:cNvPr>
            <p:cNvSpPr txBox="1"/>
            <p:nvPr/>
          </p:nvSpPr>
          <p:spPr>
            <a:xfrm>
              <a:off x="7328187" y="4555251"/>
              <a:ext cx="1003253" cy="57157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lgn="ctr">
                <a:buNone/>
              </a:pPr>
              <a:r>
                <a:rPr lang="ja-JP" altLang="en-US" sz="1600"/>
                <a:t>社宅・寮</a:t>
              </a:r>
              <a:endParaRPr lang="en-US" altLang="ja-JP" sz="1600"/>
            </a:p>
          </p:txBody>
        </p:sp>
        <p:pic>
          <p:nvPicPr>
            <p:cNvPr id="4" name="グラフィックス 3" descr="ホーム 枠線">
              <a:extLst>
                <a:ext uri="{FF2B5EF4-FFF2-40B4-BE49-F238E27FC236}">
                  <a16:creationId xmlns:a16="http://schemas.microsoft.com/office/drawing/2014/main" id="{EAD60E71-1C77-D10B-2F4B-D2F2982016A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79813" y="3836705"/>
              <a:ext cx="900000" cy="900000"/>
            </a:xfrm>
            <a:prstGeom prst="rect">
              <a:avLst/>
            </a:prstGeom>
          </p:spPr>
        </p:pic>
      </p:grpSp>
      <p:grpSp>
        <p:nvGrpSpPr>
          <p:cNvPr id="38" name="グループ化 37">
            <a:extLst>
              <a:ext uri="{FF2B5EF4-FFF2-40B4-BE49-F238E27FC236}">
                <a16:creationId xmlns:a16="http://schemas.microsoft.com/office/drawing/2014/main" id="{4AB364B1-64FB-7561-C532-880ED45ECC40}"/>
              </a:ext>
            </a:extLst>
          </p:cNvPr>
          <p:cNvGrpSpPr/>
          <p:nvPr/>
        </p:nvGrpSpPr>
        <p:grpSpPr>
          <a:xfrm>
            <a:off x="2054630" y="4579579"/>
            <a:ext cx="1003253" cy="1137338"/>
            <a:chOff x="8220177" y="3989487"/>
            <a:chExt cx="1003253" cy="1137338"/>
          </a:xfrm>
        </p:grpSpPr>
        <p:pic>
          <p:nvPicPr>
            <p:cNvPr id="23" name="グラフィックス 22" descr="落葉樹 枠線">
              <a:extLst>
                <a:ext uri="{FF2B5EF4-FFF2-40B4-BE49-F238E27FC236}">
                  <a16:creationId xmlns:a16="http://schemas.microsoft.com/office/drawing/2014/main" id="{B22D33C0-61CE-81E9-4F37-E8DD8B5458E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66794" y="3989487"/>
              <a:ext cx="710018" cy="710018"/>
            </a:xfrm>
            <a:prstGeom prst="rect">
              <a:avLst/>
            </a:prstGeom>
          </p:spPr>
        </p:pic>
        <p:sp>
          <p:nvSpPr>
            <p:cNvPr id="36" name="テキスト ボックス 35">
              <a:extLst>
                <a:ext uri="{FF2B5EF4-FFF2-40B4-BE49-F238E27FC236}">
                  <a16:creationId xmlns:a16="http://schemas.microsoft.com/office/drawing/2014/main" id="{BC23E3C1-34CE-1A4E-49D0-9A2C88A3B827}"/>
                </a:ext>
              </a:extLst>
            </p:cNvPr>
            <p:cNvSpPr txBox="1"/>
            <p:nvPr/>
          </p:nvSpPr>
          <p:spPr>
            <a:xfrm>
              <a:off x="8220177" y="4555251"/>
              <a:ext cx="1003253" cy="57157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lgn="ctr">
                <a:buNone/>
              </a:pPr>
              <a:r>
                <a:rPr lang="ja-JP" altLang="en-US" sz="1600"/>
                <a:t>土地</a:t>
              </a:r>
              <a:endParaRPr lang="en-US" altLang="ja-JP" sz="1600"/>
            </a:p>
          </p:txBody>
        </p:sp>
      </p:grpSp>
      <p:sp>
        <p:nvSpPr>
          <p:cNvPr id="29" name="Rectangle 22">
            <a:extLst>
              <a:ext uri="{FF2B5EF4-FFF2-40B4-BE49-F238E27FC236}">
                <a16:creationId xmlns:a16="http://schemas.microsoft.com/office/drawing/2014/main" id="{B5884617-EAF7-17A1-0320-171EC64F2255}"/>
              </a:ext>
            </a:extLst>
          </p:cNvPr>
          <p:cNvSpPr>
            <a:spLocks noChangeArrowheads="1"/>
          </p:cNvSpPr>
          <p:nvPr/>
        </p:nvSpPr>
        <p:spPr bwMode="gray">
          <a:xfrm>
            <a:off x="276596" y="3242983"/>
            <a:ext cx="2880000" cy="360000"/>
          </a:xfrm>
          <a:prstGeom prst="rect">
            <a:avLst/>
          </a:prstGeom>
          <a:solidFill>
            <a:schemeClr val="accent1">
              <a:lumMod val="60000"/>
              <a:lumOff val="40000"/>
            </a:schemeClr>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a:solidFill>
                  <a:schemeClr val="bg1"/>
                </a:solidFill>
                <a:latin typeface="+mn-ea"/>
              </a:rPr>
              <a:t>遊休資産とは</a:t>
            </a:r>
            <a:endParaRPr lang="en-US" altLang="ja-JP" sz="1600" b="1">
              <a:solidFill>
                <a:schemeClr val="bg1"/>
              </a:solidFill>
              <a:latin typeface="+mn-ea"/>
            </a:endParaRPr>
          </a:p>
        </p:txBody>
      </p:sp>
      <p:sp>
        <p:nvSpPr>
          <p:cNvPr id="39" name="テキスト ボックス 38">
            <a:extLst>
              <a:ext uri="{FF2B5EF4-FFF2-40B4-BE49-F238E27FC236}">
                <a16:creationId xmlns:a16="http://schemas.microsoft.com/office/drawing/2014/main" id="{6CFB139E-4F5F-D114-9E8E-0B01CF754D1A}"/>
              </a:ext>
            </a:extLst>
          </p:cNvPr>
          <p:cNvSpPr txBox="1"/>
          <p:nvPr/>
        </p:nvSpPr>
        <p:spPr>
          <a:xfrm>
            <a:off x="508952" y="4728710"/>
            <a:ext cx="528329" cy="285787"/>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sz="1600"/>
              <a:t>（例）</a:t>
            </a:r>
            <a:endParaRPr lang="en-US" altLang="ja-JP" sz="1600"/>
          </a:p>
        </p:txBody>
      </p:sp>
      <p:sp>
        <p:nvSpPr>
          <p:cNvPr id="41" name="Rectangle 22">
            <a:extLst>
              <a:ext uri="{FF2B5EF4-FFF2-40B4-BE49-F238E27FC236}">
                <a16:creationId xmlns:a16="http://schemas.microsoft.com/office/drawing/2014/main" id="{241DDC9D-22E1-843B-3A95-6D6868BE9832}"/>
              </a:ext>
            </a:extLst>
          </p:cNvPr>
          <p:cNvSpPr>
            <a:spLocks noChangeArrowheads="1"/>
          </p:cNvSpPr>
          <p:nvPr/>
        </p:nvSpPr>
        <p:spPr bwMode="gray">
          <a:xfrm>
            <a:off x="6394952" y="5077702"/>
            <a:ext cx="2880000" cy="360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適切な会計処理</a:t>
            </a:r>
            <a:endParaRPr kumimoji="1" lang="en-US" altLang="ja-JP" sz="1600" b="1">
              <a:solidFill>
                <a:schemeClr val="bg1"/>
              </a:solidFill>
            </a:endParaRPr>
          </a:p>
        </p:txBody>
      </p:sp>
      <p:sp>
        <p:nvSpPr>
          <p:cNvPr id="42" name="Rectangle 22">
            <a:extLst>
              <a:ext uri="{FF2B5EF4-FFF2-40B4-BE49-F238E27FC236}">
                <a16:creationId xmlns:a16="http://schemas.microsoft.com/office/drawing/2014/main" id="{876C9165-DFCB-D485-4E26-E933F6436B70}"/>
              </a:ext>
            </a:extLst>
          </p:cNvPr>
          <p:cNvSpPr>
            <a:spLocks noChangeArrowheads="1"/>
          </p:cNvSpPr>
          <p:nvPr/>
        </p:nvSpPr>
        <p:spPr bwMode="gray">
          <a:xfrm>
            <a:off x="6394952" y="2810567"/>
            <a:ext cx="2880000" cy="360000"/>
          </a:xfrm>
          <a:prstGeom prst="rect">
            <a:avLst/>
          </a:prstGeom>
          <a:solidFill>
            <a:schemeClr val="tx1">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本事案の</a:t>
            </a:r>
            <a:r>
              <a:rPr kumimoji="1" lang="ja-JP" altLang="en-US" sz="1600" b="1">
                <a:solidFill>
                  <a:schemeClr val="bg1"/>
                </a:solidFill>
              </a:rPr>
              <a:t>会計処理</a:t>
            </a:r>
            <a:endParaRPr kumimoji="1" lang="en-US" altLang="ja-JP" sz="1600" b="1">
              <a:solidFill>
                <a:schemeClr val="bg1"/>
              </a:solidFill>
            </a:endParaRPr>
          </a:p>
        </p:txBody>
      </p:sp>
      <p:sp>
        <p:nvSpPr>
          <p:cNvPr id="43" name="テキスト ボックス 42">
            <a:extLst>
              <a:ext uri="{FF2B5EF4-FFF2-40B4-BE49-F238E27FC236}">
                <a16:creationId xmlns:a16="http://schemas.microsoft.com/office/drawing/2014/main" id="{EB03CFF6-FDDB-BC1A-46FA-AF595C6C4FE6}"/>
              </a:ext>
            </a:extLst>
          </p:cNvPr>
          <p:cNvSpPr txBox="1"/>
          <p:nvPr/>
        </p:nvSpPr>
        <p:spPr>
          <a:xfrm>
            <a:off x="6056629" y="3323838"/>
            <a:ext cx="5976000" cy="1584000"/>
          </a:xfrm>
          <a:prstGeom prst="rect">
            <a:avLst/>
          </a:prstGeom>
          <a:noFill/>
        </p:spPr>
        <p:txBody>
          <a:bodyPr wrap="square" anchor="ctr">
            <a:noAutofit/>
          </a:bodyPr>
          <a:lstStyle/>
          <a:p>
            <a:pPr marL="285750" indent="-285750">
              <a:spcBef>
                <a:spcPts val="600"/>
              </a:spcBef>
              <a:buFont typeface="Wingdings" panose="05000000000000000000" pitchFamily="2" charset="2"/>
              <a:buChar char="Ø"/>
            </a:pPr>
            <a:r>
              <a:rPr lang="ja-JP" altLang="en-US" sz="1600" spc="110">
                <a:latin typeface="+mn-ea"/>
              </a:rPr>
              <a:t>社員寮や社宅、関連土地について、</a:t>
            </a:r>
            <a:r>
              <a:rPr lang="ja-JP" altLang="en-US" sz="1600" spc="110">
                <a:solidFill>
                  <a:srgbClr val="FF0000"/>
                </a:solidFill>
                <a:latin typeface="+mn-ea"/>
              </a:rPr>
              <a:t>遊休資産に該当することとなった会計期間中に減損処理が実施されず</a:t>
            </a:r>
            <a:r>
              <a:rPr lang="ja-JP" altLang="en-US" sz="1600" spc="110">
                <a:latin typeface="+mn-ea"/>
              </a:rPr>
              <a:t>、結果として</a:t>
            </a:r>
            <a:r>
              <a:rPr lang="en-US" altLang="ja-JP" sz="1600" spc="110">
                <a:solidFill>
                  <a:srgbClr val="FF0000"/>
                </a:solidFill>
                <a:latin typeface="+mn-ea"/>
              </a:rPr>
              <a:t>2026</a:t>
            </a:r>
            <a:r>
              <a:rPr lang="ja-JP" altLang="en-US" sz="1600" spc="110">
                <a:solidFill>
                  <a:srgbClr val="FF0000"/>
                </a:solidFill>
                <a:latin typeface="+mn-ea"/>
              </a:rPr>
              <a:t>年</a:t>
            </a:r>
            <a:r>
              <a:rPr lang="en-US" altLang="ja-JP" sz="1600" spc="110">
                <a:solidFill>
                  <a:srgbClr val="FF0000"/>
                </a:solidFill>
                <a:latin typeface="+mn-ea"/>
              </a:rPr>
              <a:t>3</a:t>
            </a:r>
            <a:r>
              <a:rPr lang="ja-JP" altLang="en-US" sz="1600" spc="110">
                <a:solidFill>
                  <a:srgbClr val="FF0000"/>
                </a:solidFill>
                <a:latin typeface="+mn-ea"/>
              </a:rPr>
              <a:t>月期に損失計上先送り</a:t>
            </a:r>
            <a:endParaRPr lang="en-US" altLang="ja-JP" sz="1600" spc="110">
              <a:latin typeface="+mn-ea"/>
            </a:endParaRPr>
          </a:p>
          <a:p>
            <a:pPr marL="285750" indent="-285750">
              <a:spcBef>
                <a:spcPts val="600"/>
              </a:spcBef>
              <a:buFont typeface="Wingdings" panose="05000000000000000000" pitchFamily="2" charset="2"/>
              <a:buChar char="Ø"/>
            </a:pPr>
            <a:r>
              <a:rPr lang="ja-JP" altLang="en-US" sz="1600" spc="110">
                <a:latin typeface="+mn-ea"/>
              </a:rPr>
              <a:t>一部社員寮は、過去に撤去費用等を含めた会計上の影響額の検討をしていたにもかかわらず、</a:t>
            </a:r>
            <a:r>
              <a:rPr lang="ja-JP" altLang="en-US" sz="1600" spc="110">
                <a:solidFill>
                  <a:srgbClr val="FF0000"/>
                </a:solidFill>
                <a:latin typeface="+mn-ea"/>
              </a:rPr>
              <a:t>減損処理未実施</a:t>
            </a:r>
            <a:endParaRPr lang="en-US" altLang="ja-JP" sz="1600" spc="110">
              <a:solidFill>
                <a:srgbClr val="FF0000"/>
              </a:solidFill>
              <a:latin typeface="+mn-ea"/>
            </a:endParaRPr>
          </a:p>
        </p:txBody>
      </p:sp>
      <p:sp>
        <p:nvSpPr>
          <p:cNvPr id="5" name="乗算記号 4">
            <a:extLst>
              <a:ext uri="{FF2B5EF4-FFF2-40B4-BE49-F238E27FC236}">
                <a16:creationId xmlns:a16="http://schemas.microsoft.com/office/drawing/2014/main" id="{10EEC548-B2E0-13A2-D0BF-B6C0E9315DB2}"/>
              </a:ext>
            </a:extLst>
          </p:cNvPr>
          <p:cNvSpPr/>
          <p:nvPr/>
        </p:nvSpPr>
        <p:spPr>
          <a:xfrm>
            <a:off x="5653125" y="2652986"/>
            <a:ext cx="684000" cy="684000"/>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9" name="円: 塗りつぶしなし 8">
            <a:extLst>
              <a:ext uri="{FF2B5EF4-FFF2-40B4-BE49-F238E27FC236}">
                <a16:creationId xmlns:a16="http://schemas.microsoft.com/office/drawing/2014/main" id="{CFC28F15-DD41-1AEC-0523-6DFD2436B040}"/>
              </a:ext>
            </a:extLst>
          </p:cNvPr>
          <p:cNvSpPr/>
          <p:nvPr/>
        </p:nvSpPr>
        <p:spPr>
          <a:xfrm>
            <a:off x="5682750" y="5002244"/>
            <a:ext cx="504000" cy="5040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2" name="正方形/長方形 11">
            <a:extLst>
              <a:ext uri="{FF2B5EF4-FFF2-40B4-BE49-F238E27FC236}">
                <a16:creationId xmlns:a16="http://schemas.microsoft.com/office/drawing/2014/main" id="{DE26C3D6-C9B7-F40B-A8EB-05B8B8A200D8}"/>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22267650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DCD2-D139-2D57-5C84-1AE478147B4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387F68B-C2B8-88E2-6CC1-9FD195AEDC9D}"/>
              </a:ext>
            </a:extLst>
          </p:cNvPr>
          <p:cNvSpPr>
            <a:spLocks noGrp="1"/>
          </p:cNvSpPr>
          <p:nvPr>
            <p:ph type="title"/>
          </p:nvPr>
        </p:nvSpPr>
        <p:spPr/>
        <p:txBody>
          <a:bodyPr/>
          <a:lstStyle/>
          <a:p>
            <a:r>
              <a:rPr lang="en-US" altLang="ja-JP">
                <a:cs typeface="Segoe UI"/>
              </a:rPr>
              <a:t>3-10.</a:t>
            </a:r>
            <a:r>
              <a:rPr lang="ja-JP" altLang="en-US">
                <a:cs typeface="Segoe UI"/>
              </a:rPr>
              <a:t>減損損失の兆候</a:t>
            </a:r>
          </a:p>
        </p:txBody>
      </p:sp>
      <p:sp>
        <p:nvSpPr>
          <p:cNvPr id="7" name="正方形/長方形 6">
            <a:extLst>
              <a:ext uri="{FF2B5EF4-FFF2-40B4-BE49-F238E27FC236}">
                <a16:creationId xmlns:a16="http://schemas.microsoft.com/office/drawing/2014/main" id="{127352DD-1F12-C9BF-DD95-676CE1E8DB2A}"/>
              </a:ext>
            </a:extLst>
          </p:cNvPr>
          <p:cNvSpPr/>
          <p:nvPr/>
        </p:nvSpPr>
        <p:spPr>
          <a:xfrm>
            <a:off x="1978010" y="1738257"/>
            <a:ext cx="9293449" cy="30087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500">
                <a:solidFill>
                  <a:schemeClr val="tx1"/>
                </a:solidFill>
                <a:latin typeface="+mn-ea"/>
                <a:cs typeface="Meiryo UI" panose="020B0604030504040204" pitchFamily="50" charset="-128"/>
              </a:rPr>
              <a:t>営業活動から生じる損益、</a:t>
            </a:r>
            <a:r>
              <a:rPr lang="en-US" altLang="ja-JP" sz="1500">
                <a:solidFill>
                  <a:schemeClr val="tx1"/>
                </a:solidFill>
                <a:latin typeface="+mn-ea"/>
                <a:cs typeface="Meiryo UI" panose="020B0604030504040204" pitchFamily="50" charset="-128"/>
              </a:rPr>
              <a:t>CF</a:t>
            </a:r>
            <a:r>
              <a:rPr lang="ja-JP" altLang="en-US" sz="1500">
                <a:solidFill>
                  <a:schemeClr val="tx1"/>
                </a:solidFill>
                <a:latin typeface="+mn-ea"/>
                <a:cs typeface="Meiryo UI" panose="020B0604030504040204" pitchFamily="50" charset="-128"/>
              </a:rPr>
              <a:t>が継続してマイナス</a:t>
            </a:r>
          </a:p>
        </p:txBody>
      </p:sp>
      <p:sp>
        <p:nvSpPr>
          <p:cNvPr id="9" name="Rectangle 22">
            <a:extLst>
              <a:ext uri="{FF2B5EF4-FFF2-40B4-BE49-F238E27FC236}">
                <a16:creationId xmlns:a16="http://schemas.microsoft.com/office/drawing/2014/main" id="{8621B3AB-030D-9A54-994C-F612E1F750AB}"/>
              </a:ext>
            </a:extLst>
          </p:cNvPr>
          <p:cNvSpPr>
            <a:spLocks noChangeArrowheads="1"/>
          </p:cNvSpPr>
          <p:nvPr/>
        </p:nvSpPr>
        <p:spPr bwMode="gray">
          <a:xfrm>
            <a:off x="920541" y="1738255"/>
            <a:ext cx="1057470" cy="300874"/>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要件①</a:t>
            </a:r>
            <a:endParaRPr kumimoji="1" lang="en-US" altLang="ja-JP" sz="1600" b="1">
              <a:solidFill>
                <a:schemeClr val="bg1"/>
              </a:solidFill>
            </a:endParaRPr>
          </a:p>
        </p:txBody>
      </p:sp>
      <p:sp>
        <p:nvSpPr>
          <p:cNvPr id="25" name="Text Placeholder 3">
            <a:extLst>
              <a:ext uri="{FF2B5EF4-FFF2-40B4-BE49-F238E27FC236}">
                <a16:creationId xmlns:a16="http://schemas.microsoft.com/office/drawing/2014/main" id="{58266C9E-27B9-38B1-9F0E-1B29ABCEAB9A}"/>
              </a:ext>
            </a:extLst>
          </p:cNvPr>
          <p:cNvSpPr txBox="1">
            <a:spLocks/>
          </p:cNvSpPr>
          <p:nvPr/>
        </p:nvSpPr>
        <p:spPr>
          <a:xfrm rot="16200000">
            <a:off x="1345389" y="1885370"/>
            <a:ext cx="758570" cy="1266665"/>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28" name="Text Placeholder 4">
            <a:extLst>
              <a:ext uri="{FF2B5EF4-FFF2-40B4-BE49-F238E27FC236}">
                <a16:creationId xmlns:a16="http://schemas.microsoft.com/office/drawing/2014/main" id="{AAFA8CF9-DB25-D8CB-923A-E1C4BF4F7355}"/>
              </a:ext>
            </a:extLst>
          </p:cNvPr>
          <p:cNvSpPr txBox="1">
            <a:spLocks/>
          </p:cNvSpPr>
          <p:nvPr/>
        </p:nvSpPr>
        <p:spPr>
          <a:xfrm>
            <a:off x="2358006" y="2139419"/>
            <a:ext cx="8913454" cy="756350"/>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200">
                <a:latin typeface="+mn-ea"/>
                <a:cs typeface="Meiryo UI" panose="020B0604030504040204" pitchFamily="50" charset="-128"/>
              </a:rPr>
              <a:t>○　前期実績は営業赤字、当期見込みは営業黒字</a:t>
            </a:r>
            <a:endParaRPr lang="en-US" altLang="ja-JP" sz="1200">
              <a:latin typeface="+mn-ea"/>
              <a:cs typeface="Meiryo UI" panose="020B0604030504040204" pitchFamily="50" charset="-128"/>
            </a:endParaRPr>
          </a:p>
          <a:p>
            <a:pPr>
              <a:spcBef>
                <a:spcPts val="600"/>
              </a:spcBef>
            </a:pPr>
            <a:r>
              <a:rPr lang="en-US" altLang="ja-JP" sz="1200">
                <a:solidFill>
                  <a:srgbClr val="FF0000"/>
                </a:solidFill>
                <a:latin typeface="+mn-ea"/>
                <a:cs typeface="Meiryo UI" panose="020B0604030504040204" pitchFamily="50" charset="-128"/>
              </a:rPr>
              <a:t>×</a:t>
            </a:r>
            <a:r>
              <a:rPr lang="ja-JP" altLang="en-US" sz="1200">
                <a:latin typeface="+mn-ea"/>
                <a:cs typeface="Meiryo UI" panose="020B0604030504040204" pitchFamily="50" charset="-128"/>
              </a:rPr>
              <a:t>　「前々期実績、前期実績、当期見込み」または「前期実績、当期見込み、翌期見通し」の</a:t>
            </a:r>
            <a:r>
              <a:rPr lang="ja-JP" altLang="en-US" sz="1200" u="sng">
                <a:solidFill>
                  <a:srgbClr val="FF0000"/>
                </a:solidFill>
                <a:latin typeface="+mn-ea"/>
                <a:cs typeface="Meiryo UI" panose="020B0604030504040204" pitchFamily="50" charset="-128"/>
              </a:rPr>
              <a:t>いずれか</a:t>
            </a:r>
            <a:r>
              <a:rPr lang="en-US" altLang="ja-JP" sz="1200" u="sng">
                <a:solidFill>
                  <a:srgbClr val="FF0000"/>
                </a:solidFill>
                <a:latin typeface="+mn-ea"/>
                <a:cs typeface="Meiryo UI" panose="020B0604030504040204" pitchFamily="50" charset="-128"/>
              </a:rPr>
              <a:t>3</a:t>
            </a:r>
            <a:r>
              <a:rPr lang="ja-JP" altLang="en-US" sz="1200" u="sng">
                <a:solidFill>
                  <a:srgbClr val="FF0000"/>
                </a:solidFill>
                <a:latin typeface="+mn-ea"/>
                <a:cs typeface="Meiryo UI" panose="020B0604030504040204" pitchFamily="50" charset="-128"/>
              </a:rPr>
              <a:t>期連続して営業黒字</a:t>
            </a:r>
          </a:p>
        </p:txBody>
      </p:sp>
      <p:sp>
        <p:nvSpPr>
          <p:cNvPr id="29" name="正方形/長方形 28">
            <a:extLst>
              <a:ext uri="{FF2B5EF4-FFF2-40B4-BE49-F238E27FC236}">
                <a16:creationId xmlns:a16="http://schemas.microsoft.com/office/drawing/2014/main" id="{03BCA283-F0A7-A94A-A891-15B13FD65DAD}"/>
              </a:ext>
            </a:extLst>
          </p:cNvPr>
          <p:cNvSpPr/>
          <p:nvPr/>
        </p:nvSpPr>
        <p:spPr>
          <a:xfrm>
            <a:off x="1978011" y="3156360"/>
            <a:ext cx="9293448"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使用方法の変更等、回収可能価額を著しく低下させる変化がある</a:t>
            </a:r>
          </a:p>
        </p:txBody>
      </p:sp>
      <p:sp>
        <p:nvSpPr>
          <p:cNvPr id="30" name="Rectangle 22">
            <a:extLst>
              <a:ext uri="{FF2B5EF4-FFF2-40B4-BE49-F238E27FC236}">
                <a16:creationId xmlns:a16="http://schemas.microsoft.com/office/drawing/2014/main" id="{4071E028-350F-BEC7-E142-FF77791ED835}"/>
              </a:ext>
            </a:extLst>
          </p:cNvPr>
          <p:cNvSpPr>
            <a:spLocks noChangeArrowheads="1"/>
          </p:cNvSpPr>
          <p:nvPr/>
        </p:nvSpPr>
        <p:spPr bwMode="gray">
          <a:xfrm>
            <a:off x="920541" y="3156360"/>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要件②</a:t>
            </a:r>
            <a:endParaRPr kumimoji="1" lang="en-US" altLang="ja-JP" sz="1600" b="1">
              <a:solidFill>
                <a:schemeClr val="bg1"/>
              </a:solidFill>
            </a:endParaRPr>
          </a:p>
        </p:txBody>
      </p:sp>
      <p:sp>
        <p:nvSpPr>
          <p:cNvPr id="31" name="Text Placeholder 3">
            <a:extLst>
              <a:ext uri="{FF2B5EF4-FFF2-40B4-BE49-F238E27FC236}">
                <a16:creationId xmlns:a16="http://schemas.microsoft.com/office/drawing/2014/main" id="{79B6E411-A035-7466-3ADC-EE441294FEDA}"/>
              </a:ext>
            </a:extLst>
          </p:cNvPr>
          <p:cNvSpPr txBox="1">
            <a:spLocks/>
          </p:cNvSpPr>
          <p:nvPr/>
        </p:nvSpPr>
        <p:spPr>
          <a:xfrm rot="16200000">
            <a:off x="626464" y="4019566"/>
            <a:ext cx="2204613" cy="1258483"/>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34" name="Text Placeholder 4">
            <a:extLst>
              <a:ext uri="{FF2B5EF4-FFF2-40B4-BE49-F238E27FC236}">
                <a16:creationId xmlns:a16="http://schemas.microsoft.com/office/drawing/2014/main" id="{AAAD0FE7-77AE-C967-E5D5-2FADF15B8874}"/>
              </a:ext>
            </a:extLst>
          </p:cNvPr>
          <p:cNvSpPr txBox="1">
            <a:spLocks/>
          </p:cNvSpPr>
          <p:nvPr/>
        </p:nvSpPr>
        <p:spPr>
          <a:xfrm>
            <a:off x="2358005" y="3546499"/>
            <a:ext cx="8913453" cy="2204615"/>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事業再編の決定</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当初見込みより早期に資産を処分することとなった場合（</a:t>
            </a:r>
            <a:r>
              <a:rPr lang="ja-JP" altLang="en-US" sz="1200" u="sng">
                <a:solidFill>
                  <a:srgbClr val="FF0000"/>
                </a:solidFill>
                <a:latin typeface="+mn-ea"/>
                <a:cs typeface="Meiryo UI" panose="020B0604030504040204" pitchFamily="50" charset="-128"/>
              </a:rPr>
              <a:t>特定の顧客先設置の資産について、契約が終了するなど</a:t>
            </a:r>
            <a:r>
              <a:rPr lang="ja-JP" altLang="en-US" sz="1200">
                <a:latin typeface="+mn-ea"/>
                <a:cs typeface="Meiryo UI" panose="020B0604030504040204" pitchFamily="50" charset="-128"/>
              </a:rPr>
              <a:t>）</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他の用途に転用する場合（自社利用の拠点を賃貸するなど）</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u="sng">
                <a:solidFill>
                  <a:srgbClr val="FF0000"/>
                </a:solidFill>
                <a:latin typeface="+mn-ea"/>
                <a:cs typeface="Meiryo UI" panose="020B0604030504040204" pitchFamily="50" charset="-128"/>
              </a:rPr>
              <a:t>資産が遊休状態にあり、用途が定まっていない場合</a:t>
            </a:r>
            <a:endParaRPr lang="en-US" altLang="ja-JP" sz="1200" u="sng">
              <a:solidFill>
                <a:srgbClr val="FF0000"/>
              </a:solidFill>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資産の稼働率が想定より著しく低い場合</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u="sng">
                <a:solidFill>
                  <a:srgbClr val="FF0000"/>
                </a:solidFill>
                <a:latin typeface="+mn-ea"/>
                <a:cs typeface="Meiryo UI" panose="020B0604030504040204" pitchFamily="50" charset="-128"/>
              </a:rPr>
              <a:t>資産の著しい陳腐化</a:t>
            </a:r>
            <a:endParaRPr lang="en-US" altLang="ja-JP" sz="1200" u="sng">
              <a:solidFill>
                <a:srgbClr val="FF0000"/>
              </a:solidFill>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建設仮勘定の長期滞留（</a:t>
            </a:r>
            <a:r>
              <a:rPr lang="ja-JP" altLang="en-US" sz="1200" u="sng">
                <a:solidFill>
                  <a:srgbClr val="FF0000"/>
                </a:solidFill>
                <a:latin typeface="+mn-ea"/>
                <a:cs typeface="Meiryo UI" panose="020B0604030504040204" pitchFamily="50" charset="-128"/>
              </a:rPr>
              <a:t>投資計画の中止、大幅な延期など</a:t>
            </a:r>
            <a:r>
              <a:rPr lang="ja-JP" altLang="en-US" sz="1200">
                <a:latin typeface="+mn-ea"/>
                <a:cs typeface="Meiryo UI" panose="020B0604030504040204" pitchFamily="50" charset="-128"/>
              </a:rPr>
              <a:t>）</a:t>
            </a:r>
          </a:p>
        </p:txBody>
      </p:sp>
      <p:sp>
        <p:nvSpPr>
          <p:cNvPr id="2" name="テキスト プレースホルダー 3">
            <a:extLst>
              <a:ext uri="{FF2B5EF4-FFF2-40B4-BE49-F238E27FC236}">
                <a16:creationId xmlns:a16="http://schemas.microsoft.com/office/drawing/2014/main" id="{44D0B3F5-D61F-76BE-BBB4-EAA66C2E4E23}"/>
              </a:ext>
            </a:extLst>
          </p:cNvPr>
          <p:cNvSpPr txBox="1">
            <a:spLocks/>
          </p:cNvSpPr>
          <p:nvPr/>
        </p:nvSpPr>
        <p:spPr>
          <a:xfrm>
            <a:off x="640095" y="917137"/>
            <a:ext cx="11260151" cy="1046226"/>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固定資産の減損損失は、遊休資産のみならず、複数の観点から計上の要否を検討する必要があります。</a:t>
            </a:r>
            <a:br>
              <a:rPr lang="en-US" altLang="ja-JP"/>
            </a:br>
            <a:r>
              <a:rPr lang="ja-JP" altLang="en-US"/>
              <a:t>日本基準における減損の兆候の代表的な例は以下の通りです。</a:t>
            </a:r>
            <a:endParaRPr lang="en-US" altLang="ja-JP"/>
          </a:p>
        </p:txBody>
      </p:sp>
      <p:sp>
        <p:nvSpPr>
          <p:cNvPr id="4" name="テキスト ボックス 3">
            <a:extLst>
              <a:ext uri="{FF2B5EF4-FFF2-40B4-BE49-F238E27FC236}">
                <a16:creationId xmlns:a16="http://schemas.microsoft.com/office/drawing/2014/main" id="{D8A1C038-33C5-1D0A-0B89-155B0FE7659C}"/>
              </a:ext>
            </a:extLst>
          </p:cNvPr>
          <p:cNvSpPr txBox="1"/>
          <p:nvPr/>
        </p:nvSpPr>
        <p:spPr>
          <a:xfrm>
            <a:off x="2299604" y="5942261"/>
            <a:ext cx="7745047" cy="576000"/>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上記はあくまで日本基準における参考例です。</a:t>
            </a:r>
            <a:endParaRPr lang="en-US" altLang="ja-JP" sz="1600" b="1">
              <a:solidFill>
                <a:schemeClr val="accent1"/>
              </a:solidFill>
            </a:endParaRPr>
          </a:p>
          <a:p>
            <a:pPr marL="0" indent="0" algn="ctr">
              <a:buNone/>
            </a:pPr>
            <a:r>
              <a:rPr lang="en-US" altLang="ja-JP" sz="1600" b="1">
                <a:solidFill>
                  <a:schemeClr val="accent1"/>
                </a:solidFill>
              </a:rPr>
              <a:t>IFRS</a:t>
            </a:r>
            <a:r>
              <a:rPr lang="ja-JP" altLang="en-US" sz="1600" b="1">
                <a:solidFill>
                  <a:schemeClr val="accent1"/>
                </a:solidFill>
              </a:rPr>
              <a:t>における減損の兆候判定フローは別途整理の上、展開する予定です。</a:t>
            </a:r>
          </a:p>
        </p:txBody>
      </p:sp>
    </p:spTree>
    <p:extLst>
      <p:ext uri="{BB962C8B-B14F-4D97-AF65-F5344CB8AC3E}">
        <p14:creationId xmlns:p14="http://schemas.microsoft.com/office/powerpoint/2010/main" val="22575741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8DCD2-D139-2D57-5C84-1AE478147B41}"/>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387F68B-C2B8-88E2-6CC1-9FD195AEDC9D}"/>
              </a:ext>
            </a:extLst>
          </p:cNvPr>
          <p:cNvSpPr>
            <a:spLocks noGrp="1"/>
          </p:cNvSpPr>
          <p:nvPr>
            <p:ph type="title"/>
          </p:nvPr>
        </p:nvSpPr>
        <p:spPr/>
        <p:txBody>
          <a:bodyPr/>
          <a:lstStyle/>
          <a:p>
            <a:r>
              <a:rPr lang="en-US" altLang="ja-JP">
                <a:cs typeface="Segoe UI"/>
              </a:rPr>
              <a:t>3-10.</a:t>
            </a:r>
            <a:r>
              <a:rPr lang="ja-JP" altLang="en-US">
                <a:cs typeface="Segoe UI"/>
              </a:rPr>
              <a:t>減損損失の兆候</a:t>
            </a:r>
          </a:p>
        </p:txBody>
      </p:sp>
      <p:sp>
        <p:nvSpPr>
          <p:cNvPr id="35" name="正方形/長方形 34">
            <a:extLst>
              <a:ext uri="{FF2B5EF4-FFF2-40B4-BE49-F238E27FC236}">
                <a16:creationId xmlns:a16="http://schemas.microsoft.com/office/drawing/2014/main" id="{D6DEB0AC-874F-C64B-5B8F-B4F45EA55A85}"/>
              </a:ext>
            </a:extLst>
          </p:cNvPr>
          <p:cNvSpPr/>
          <p:nvPr/>
        </p:nvSpPr>
        <p:spPr>
          <a:xfrm>
            <a:off x="1978011" y="1730853"/>
            <a:ext cx="9293447"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経営環境の著しい悪化</a:t>
            </a:r>
          </a:p>
        </p:txBody>
      </p:sp>
      <p:sp>
        <p:nvSpPr>
          <p:cNvPr id="38" name="Rectangle 22">
            <a:extLst>
              <a:ext uri="{FF2B5EF4-FFF2-40B4-BE49-F238E27FC236}">
                <a16:creationId xmlns:a16="http://schemas.microsoft.com/office/drawing/2014/main" id="{F97730C9-091A-8C82-95A1-6C09BADAEEC4}"/>
              </a:ext>
            </a:extLst>
          </p:cNvPr>
          <p:cNvSpPr>
            <a:spLocks noChangeArrowheads="1"/>
          </p:cNvSpPr>
          <p:nvPr/>
        </p:nvSpPr>
        <p:spPr bwMode="gray">
          <a:xfrm>
            <a:off x="920541" y="1730853"/>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a:t>
            </a:r>
            <a:r>
              <a:rPr lang="ja-JP" altLang="en-US" sz="1600" b="1">
                <a:solidFill>
                  <a:schemeClr val="bg1"/>
                </a:solidFill>
              </a:rPr>
              <a:t>③</a:t>
            </a:r>
            <a:endParaRPr kumimoji="1" lang="en-US" altLang="ja-JP" sz="1600" b="1">
              <a:solidFill>
                <a:schemeClr val="bg1"/>
              </a:solidFill>
            </a:endParaRPr>
          </a:p>
        </p:txBody>
      </p:sp>
      <p:sp>
        <p:nvSpPr>
          <p:cNvPr id="41" name="Text Placeholder 3">
            <a:extLst>
              <a:ext uri="{FF2B5EF4-FFF2-40B4-BE49-F238E27FC236}">
                <a16:creationId xmlns:a16="http://schemas.microsoft.com/office/drawing/2014/main" id="{193D26E2-65E8-CCB8-84D3-75AEE2137045}"/>
              </a:ext>
            </a:extLst>
          </p:cNvPr>
          <p:cNvSpPr txBox="1">
            <a:spLocks/>
          </p:cNvSpPr>
          <p:nvPr/>
        </p:nvSpPr>
        <p:spPr>
          <a:xfrm rot="16200000">
            <a:off x="1104583" y="2126721"/>
            <a:ext cx="1181783" cy="1208267"/>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42" name="Text Placeholder 4">
            <a:extLst>
              <a:ext uri="{FF2B5EF4-FFF2-40B4-BE49-F238E27FC236}">
                <a16:creationId xmlns:a16="http://schemas.microsoft.com/office/drawing/2014/main" id="{9945EE22-9126-210A-F496-B3EC02A2C70F}"/>
              </a:ext>
            </a:extLst>
          </p:cNvPr>
          <p:cNvSpPr txBox="1">
            <a:spLocks/>
          </p:cNvSpPr>
          <p:nvPr/>
        </p:nvSpPr>
        <p:spPr>
          <a:xfrm>
            <a:off x="2299605" y="2139965"/>
            <a:ext cx="8971853" cy="1181784"/>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71450" indent="-171450">
              <a:spcBef>
                <a:spcPts val="600"/>
              </a:spcBef>
              <a:buClr>
                <a:schemeClr val="tx1"/>
              </a:buClr>
              <a:buFont typeface="Wingdings" panose="05000000000000000000" pitchFamily="2" charset="2"/>
              <a:buChar char="Ø"/>
            </a:pPr>
            <a:r>
              <a:rPr lang="ja-JP" altLang="en-US" sz="1200" u="sng">
                <a:solidFill>
                  <a:srgbClr val="FF0000"/>
                </a:solidFill>
                <a:latin typeface="+mn-ea"/>
                <a:cs typeface="Meiryo UI" panose="020B0604030504040204" pitchFamily="50" charset="-128"/>
              </a:rPr>
              <a:t>市場環境全体として、</a:t>
            </a:r>
            <a:r>
              <a:rPr lang="ja-JP" altLang="en-US" sz="1200">
                <a:latin typeface="+mn-ea"/>
                <a:cs typeface="Meiryo UI" panose="020B0604030504040204" pitchFamily="50" charset="-128"/>
              </a:rPr>
              <a:t>原価の高騰、販売価格の大幅な下落または販売量の著しい減少などが続いている場合</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大幅な技術革新により技術に著しい陳腐化が発生している場合</a:t>
            </a:r>
            <a:endParaRPr lang="en-US" altLang="ja-JP" sz="1200">
              <a:latin typeface="+mn-ea"/>
              <a:cs typeface="Meiryo UI" panose="020B0604030504040204" pitchFamily="50" charset="-128"/>
            </a:endParaRPr>
          </a:p>
          <a:p>
            <a:pPr marL="171450" indent="-171450">
              <a:spcBef>
                <a:spcPts val="600"/>
              </a:spcBef>
              <a:buClr>
                <a:schemeClr val="tx1"/>
              </a:buClr>
              <a:buFont typeface="Wingdings" panose="05000000000000000000" pitchFamily="2" charset="2"/>
              <a:buChar char="Ø"/>
            </a:pPr>
            <a:r>
              <a:rPr lang="ja-JP" altLang="en-US" sz="1200" u="sng">
                <a:solidFill>
                  <a:srgbClr val="FF0000"/>
                </a:solidFill>
                <a:latin typeface="+mn-ea"/>
                <a:cs typeface="Meiryo UI" panose="020B0604030504040204" pitchFamily="50" charset="-128"/>
              </a:rPr>
              <a:t>重要な法律改正、規制緩和・強化</a:t>
            </a:r>
            <a:r>
              <a:rPr lang="ja-JP" altLang="en-US" sz="1200">
                <a:latin typeface="+mn-ea"/>
                <a:cs typeface="Meiryo UI" panose="020B0604030504040204" pitchFamily="50" charset="-128"/>
              </a:rPr>
              <a:t>などによる市場環境の著しい悪化</a:t>
            </a:r>
          </a:p>
        </p:txBody>
      </p:sp>
      <p:sp>
        <p:nvSpPr>
          <p:cNvPr id="43" name="正方形/長方形 42">
            <a:extLst>
              <a:ext uri="{FF2B5EF4-FFF2-40B4-BE49-F238E27FC236}">
                <a16:creationId xmlns:a16="http://schemas.microsoft.com/office/drawing/2014/main" id="{1A825652-429E-6B39-C03A-DC4C73B5AA78}"/>
              </a:ext>
            </a:extLst>
          </p:cNvPr>
          <p:cNvSpPr/>
          <p:nvPr/>
        </p:nvSpPr>
        <p:spPr>
          <a:xfrm>
            <a:off x="1951339" y="3564143"/>
            <a:ext cx="9320119" cy="30777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600">
                <a:solidFill>
                  <a:schemeClr val="tx1"/>
                </a:solidFill>
                <a:latin typeface="+mn-ea"/>
                <a:cs typeface="Meiryo UI" panose="020B0604030504040204" pitchFamily="50" charset="-128"/>
              </a:rPr>
              <a:t>市場価格の著しい下落</a:t>
            </a:r>
          </a:p>
        </p:txBody>
      </p:sp>
      <p:sp>
        <p:nvSpPr>
          <p:cNvPr id="44" name="Rectangle 22">
            <a:extLst>
              <a:ext uri="{FF2B5EF4-FFF2-40B4-BE49-F238E27FC236}">
                <a16:creationId xmlns:a16="http://schemas.microsoft.com/office/drawing/2014/main" id="{FC1234E6-E60F-AD26-8C9C-9929F3F44D6E}"/>
              </a:ext>
            </a:extLst>
          </p:cNvPr>
          <p:cNvSpPr>
            <a:spLocks noChangeArrowheads="1"/>
          </p:cNvSpPr>
          <p:nvPr/>
        </p:nvSpPr>
        <p:spPr bwMode="gray">
          <a:xfrm>
            <a:off x="920541" y="3564143"/>
            <a:ext cx="1057470" cy="307773"/>
          </a:xfrm>
          <a:prstGeom prst="rect">
            <a:avLst/>
          </a:prstGeom>
          <a:solidFill>
            <a:schemeClr val="accent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要件④</a:t>
            </a:r>
            <a:endParaRPr kumimoji="1" lang="en-US" altLang="ja-JP" sz="1600" b="1">
              <a:solidFill>
                <a:schemeClr val="bg1"/>
              </a:solidFill>
            </a:endParaRPr>
          </a:p>
        </p:txBody>
      </p:sp>
      <p:sp>
        <p:nvSpPr>
          <p:cNvPr id="45" name="Text Placeholder 3">
            <a:extLst>
              <a:ext uri="{FF2B5EF4-FFF2-40B4-BE49-F238E27FC236}">
                <a16:creationId xmlns:a16="http://schemas.microsoft.com/office/drawing/2014/main" id="{8A887F05-BFFF-47DE-05A9-CF06D5A5E96C}"/>
              </a:ext>
            </a:extLst>
          </p:cNvPr>
          <p:cNvSpPr txBox="1">
            <a:spLocks/>
          </p:cNvSpPr>
          <p:nvPr/>
        </p:nvSpPr>
        <p:spPr>
          <a:xfrm rot="16200000">
            <a:off x="1090677" y="3982296"/>
            <a:ext cx="1209593" cy="1208267"/>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algn="ctr"/>
            <a:r>
              <a:rPr lang="ja-JP" altLang="en-US" sz="1400" b="1"/>
              <a:t>具体例</a:t>
            </a:r>
          </a:p>
        </p:txBody>
      </p:sp>
      <p:sp>
        <p:nvSpPr>
          <p:cNvPr id="46" name="Text Placeholder 4">
            <a:extLst>
              <a:ext uri="{FF2B5EF4-FFF2-40B4-BE49-F238E27FC236}">
                <a16:creationId xmlns:a16="http://schemas.microsoft.com/office/drawing/2014/main" id="{6291F4ED-5D8F-A881-0961-453856804C2F}"/>
              </a:ext>
            </a:extLst>
          </p:cNvPr>
          <p:cNvSpPr txBox="1">
            <a:spLocks/>
          </p:cNvSpPr>
          <p:nvPr/>
        </p:nvSpPr>
        <p:spPr>
          <a:xfrm>
            <a:off x="2299604" y="3987327"/>
            <a:ext cx="8971854" cy="1194878"/>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171450" indent="-171450">
              <a:spcBef>
                <a:spcPts val="600"/>
              </a:spcBef>
              <a:buClr>
                <a:schemeClr val="tx1"/>
              </a:buClr>
              <a:buFont typeface="Wingdings" panose="05000000000000000000" pitchFamily="2" charset="2"/>
              <a:buChar char="Ø"/>
            </a:pPr>
            <a:r>
              <a:rPr lang="ja-JP" altLang="en-US" sz="1200">
                <a:latin typeface="+mn-ea"/>
                <a:cs typeface="Meiryo UI" panose="020B0604030504040204" pitchFamily="50" charset="-128"/>
              </a:rPr>
              <a:t>簿価に対して、市場価格が概ね</a:t>
            </a:r>
            <a:r>
              <a:rPr lang="en-US" altLang="ja-JP" sz="1200">
                <a:latin typeface="+mn-ea"/>
                <a:cs typeface="Meiryo UI" panose="020B0604030504040204" pitchFamily="50" charset="-128"/>
              </a:rPr>
              <a:t>50%</a:t>
            </a:r>
            <a:r>
              <a:rPr lang="ja-JP" altLang="en-US" sz="1200">
                <a:latin typeface="+mn-ea"/>
                <a:cs typeface="Meiryo UI" panose="020B0604030504040204" pitchFamily="50" charset="-128"/>
              </a:rPr>
              <a:t>以上下落している場合</a:t>
            </a:r>
            <a:br>
              <a:rPr lang="en-US" altLang="ja-JP" sz="1200">
                <a:latin typeface="+mn-ea"/>
                <a:cs typeface="Meiryo UI" panose="020B0604030504040204" pitchFamily="50" charset="-128"/>
              </a:rPr>
            </a:br>
            <a:br>
              <a:rPr lang="en-US" altLang="ja-JP" sz="1200">
                <a:latin typeface="+mn-ea"/>
                <a:cs typeface="Meiryo UI" panose="020B0604030504040204" pitchFamily="50" charset="-128"/>
              </a:rPr>
            </a:br>
            <a:r>
              <a:rPr lang="ja-JP" altLang="en-US" sz="1200">
                <a:latin typeface="+mn-ea"/>
                <a:cs typeface="Meiryo UI" panose="020B0604030504040204" pitchFamily="50" charset="-128"/>
              </a:rPr>
              <a:t>注）正確な市場価格を把握することは容易ではありませんが、兆候の判定としては、</a:t>
            </a:r>
            <a:r>
              <a:rPr lang="ja-JP" altLang="en-US" sz="1200" u="sng">
                <a:solidFill>
                  <a:srgbClr val="FF0000"/>
                </a:solidFill>
                <a:latin typeface="+mn-ea"/>
                <a:cs typeface="Meiryo UI" panose="020B0604030504040204" pitchFamily="50" charset="-128"/>
              </a:rPr>
              <a:t>土地について「固定資産税評価額</a:t>
            </a:r>
            <a:r>
              <a:rPr lang="en-US" altLang="ja-JP" sz="1200" u="sng">
                <a:solidFill>
                  <a:srgbClr val="FF0000"/>
                </a:solidFill>
                <a:latin typeface="+mn-ea"/>
                <a:cs typeface="Meiryo UI" panose="020B0604030504040204" pitchFamily="50" charset="-128"/>
              </a:rPr>
              <a:t>÷0.7</a:t>
            </a:r>
            <a:r>
              <a:rPr lang="ja-JP" altLang="en-US" sz="1200" u="sng">
                <a:solidFill>
                  <a:srgbClr val="FF0000"/>
                </a:solidFill>
                <a:latin typeface="+mn-ea"/>
                <a:cs typeface="Meiryo UI" panose="020B0604030504040204" pitchFamily="50" charset="-128"/>
              </a:rPr>
              <a:t>」で算出したものを簡便的に市場価格として比較</a:t>
            </a:r>
            <a:r>
              <a:rPr lang="ja-JP" altLang="en-US" sz="1200">
                <a:latin typeface="+mn-ea"/>
                <a:cs typeface="Meiryo UI" panose="020B0604030504040204" pitchFamily="50" charset="-128"/>
              </a:rPr>
              <a:t>します。</a:t>
            </a:r>
            <a:endParaRPr lang="en-US" altLang="ja-JP" sz="1200">
              <a:latin typeface="+mn-ea"/>
              <a:cs typeface="Meiryo UI" panose="020B0604030504040204" pitchFamily="50" charset="-128"/>
            </a:endParaRPr>
          </a:p>
        </p:txBody>
      </p:sp>
      <p:sp>
        <p:nvSpPr>
          <p:cNvPr id="2" name="テキスト プレースホルダー 3">
            <a:extLst>
              <a:ext uri="{FF2B5EF4-FFF2-40B4-BE49-F238E27FC236}">
                <a16:creationId xmlns:a16="http://schemas.microsoft.com/office/drawing/2014/main" id="{44D0B3F5-D61F-76BE-BBB4-EAA66C2E4E23}"/>
              </a:ext>
            </a:extLst>
          </p:cNvPr>
          <p:cNvSpPr txBox="1">
            <a:spLocks/>
          </p:cNvSpPr>
          <p:nvPr/>
        </p:nvSpPr>
        <p:spPr>
          <a:xfrm>
            <a:off x="640095" y="917137"/>
            <a:ext cx="11260151" cy="1026045"/>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固定資産の減損損失は、遊休資産のみならず、複数の観点から計上の要否を検討する必要があります。</a:t>
            </a:r>
            <a:br>
              <a:rPr lang="en-US" altLang="ja-JP"/>
            </a:br>
            <a:r>
              <a:rPr lang="ja-JP" altLang="en-US"/>
              <a:t>日本基準における減損の兆候の代表的な例は以下の通りです。</a:t>
            </a:r>
            <a:endParaRPr lang="en-US" altLang="ja-JP"/>
          </a:p>
        </p:txBody>
      </p:sp>
      <p:sp>
        <p:nvSpPr>
          <p:cNvPr id="4" name="テキスト ボックス 3">
            <a:extLst>
              <a:ext uri="{FF2B5EF4-FFF2-40B4-BE49-F238E27FC236}">
                <a16:creationId xmlns:a16="http://schemas.microsoft.com/office/drawing/2014/main" id="{641733DA-21BC-7177-FF89-1E3ED97AD3AC}"/>
              </a:ext>
            </a:extLst>
          </p:cNvPr>
          <p:cNvSpPr txBox="1"/>
          <p:nvPr/>
        </p:nvSpPr>
        <p:spPr>
          <a:xfrm>
            <a:off x="2299604" y="5942261"/>
            <a:ext cx="7745047" cy="576000"/>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上記はあくまで日本基準における参考例です。</a:t>
            </a:r>
            <a:endParaRPr lang="en-US" altLang="ja-JP" sz="1600" b="1">
              <a:solidFill>
                <a:schemeClr val="accent1"/>
              </a:solidFill>
            </a:endParaRPr>
          </a:p>
          <a:p>
            <a:pPr marL="0" indent="0" algn="ctr">
              <a:buNone/>
            </a:pPr>
            <a:r>
              <a:rPr lang="en-US" altLang="ja-JP" sz="1600" b="1">
                <a:solidFill>
                  <a:schemeClr val="accent1"/>
                </a:solidFill>
              </a:rPr>
              <a:t>IFRS</a:t>
            </a:r>
            <a:r>
              <a:rPr lang="ja-JP" altLang="en-US" sz="1600" b="1">
                <a:solidFill>
                  <a:schemeClr val="accent1"/>
                </a:solidFill>
              </a:rPr>
              <a:t>における減損の兆候判定フローは別途整理の上、展開する予定です。</a:t>
            </a:r>
          </a:p>
        </p:txBody>
      </p:sp>
    </p:spTree>
    <p:extLst>
      <p:ext uri="{BB962C8B-B14F-4D97-AF65-F5344CB8AC3E}">
        <p14:creationId xmlns:p14="http://schemas.microsoft.com/office/powerpoint/2010/main" val="17537002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4D8D0-468E-DC75-D6A1-B7F919ACD8B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37869F7-B726-2D2F-BA2D-C411C93CFB82}"/>
              </a:ext>
            </a:extLst>
          </p:cNvPr>
          <p:cNvSpPr>
            <a:spLocks noGrp="1"/>
          </p:cNvSpPr>
          <p:nvPr>
            <p:ph type="title"/>
          </p:nvPr>
        </p:nvSpPr>
        <p:spPr>
          <a:xfrm>
            <a:off x="659999" y="365508"/>
            <a:ext cx="6869385" cy="371961"/>
          </a:xfrm>
        </p:spPr>
        <p:txBody>
          <a:bodyPr>
            <a:normAutofit/>
          </a:bodyPr>
          <a:lstStyle/>
          <a:p>
            <a:r>
              <a:rPr lang="en-US" altLang="ja-JP"/>
              <a:t>3-11.</a:t>
            </a:r>
            <a:r>
              <a:rPr lang="ja-JP" altLang="en-US"/>
              <a:t>固定資産の除却損漏れ</a:t>
            </a:r>
          </a:p>
        </p:txBody>
      </p:sp>
      <p:sp>
        <p:nvSpPr>
          <p:cNvPr id="2" name="正方形/長方形 1">
            <a:extLst>
              <a:ext uri="{FF2B5EF4-FFF2-40B4-BE49-F238E27FC236}">
                <a16:creationId xmlns:a16="http://schemas.microsoft.com/office/drawing/2014/main" id="{D1D27258-D88E-D902-DBFD-45AC5E0DAD06}"/>
              </a:ext>
            </a:extLst>
          </p:cNvPr>
          <p:cNvSpPr/>
          <p:nvPr/>
        </p:nvSpPr>
        <p:spPr bwMode="gray">
          <a:xfrm>
            <a:off x="2207995" y="1729708"/>
            <a:ext cx="9720000" cy="864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本社プラントガス部は、</a:t>
            </a:r>
            <a:r>
              <a:rPr lang="en-US" altLang="ja-JP" sz="1400">
                <a:solidFill>
                  <a:prstClr val="black"/>
                </a:solidFill>
                <a:latin typeface="+mn-ea"/>
              </a:rPr>
              <a:t>An</a:t>
            </a:r>
            <a:r>
              <a:rPr lang="ja-JP" altLang="en-US" sz="1400">
                <a:solidFill>
                  <a:prstClr val="black"/>
                </a:solidFill>
                <a:latin typeface="+mn-ea"/>
              </a:rPr>
              <a:t>社に委託した設備等の撤去工事について、</a:t>
            </a:r>
            <a:r>
              <a:rPr lang="en-US" altLang="ja-JP" sz="1400">
                <a:solidFill>
                  <a:prstClr val="black"/>
                </a:solidFill>
                <a:latin typeface="+mn-ea"/>
              </a:rPr>
              <a:t>20××</a:t>
            </a:r>
            <a:r>
              <a:rPr lang="ja-JP" altLang="en-US" sz="1400">
                <a:solidFill>
                  <a:prstClr val="black"/>
                </a:solidFill>
                <a:latin typeface="+mn-ea"/>
              </a:rPr>
              <a:t>年度の上期中に撤去工事が完了し、請求書を受領していたことから、遅くとも</a:t>
            </a:r>
            <a:r>
              <a:rPr lang="en-US" altLang="ja-JP" sz="1400">
                <a:solidFill>
                  <a:prstClr val="black"/>
                </a:solidFill>
                <a:latin typeface="+mn-ea"/>
              </a:rPr>
              <a:t>20××</a:t>
            </a:r>
            <a:r>
              <a:rPr lang="ja-JP" altLang="en-US" sz="1400">
                <a:solidFill>
                  <a:prstClr val="black"/>
                </a:solidFill>
                <a:latin typeface="+mn-ea"/>
              </a:rPr>
              <a:t>年度上期に計上すべきであった撤去工事に伴う固定資産除却損と撤去費用を、業績改善の目的で、 </a:t>
            </a:r>
            <a:r>
              <a:rPr lang="en-US" altLang="ja-JP" sz="1400">
                <a:solidFill>
                  <a:prstClr val="black"/>
                </a:solidFill>
                <a:latin typeface="+mn-ea"/>
              </a:rPr>
              <a:t>20××</a:t>
            </a:r>
            <a:r>
              <a:rPr lang="ja-JP" altLang="en-US" sz="1400">
                <a:solidFill>
                  <a:prstClr val="black"/>
                </a:solidFill>
                <a:latin typeface="+mn-ea"/>
              </a:rPr>
              <a:t>年度下期に先送りされていた</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9F5504D7-B286-CE2F-1A40-8F378204EC5D}"/>
              </a:ext>
            </a:extLst>
          </p:cNvPr>
          <p:cNvSpPr/>
          <p:nvPr/>
        </p:nvSpPr>
        <p:spPr bwMode="gray">
          <a:xfrm>
            <a:off x="507602" y="1729708"/>
            <a:ext cx="1260000" cy="864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0B7BA1BF-7C6D-FD4D-A58A-527286C5B779}"/>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固定資産の帳簿価額の認識中止時期は、会計方針書等に定められた方針</a:t>
            </a:r>
            <a:r>
              <a:rPr lang="en-US" altLang="ja-JP" sz="1800" b="0"/>
              <a:t>(</a:t>
            </a:r>
            <a:r>
              <a:rPr lang="ja-JP" altLang="en-US" sz="1800" b="0"/>
              <a:t>例：処分時、など</a:t>
            </a:r>
            <a:r>
              <a:rPr lang="en-US" altLang="ja-JP" sz="1800" b="0"/>
              <a:t>)</a:t>
            </a:r>
            <a:r>
              <a:rPr lang="ja-JP" altLang="en-US" sz="1800" b="0"/>
              <a:t>に基づき処理する必要があります</a:t>
            </a:r>
          </a:p>
        </p:txBody>
      </p:sp>
      <p:sp>
        <p:nvSpPr>
          <p:cNvPr id="21" name="テキスト ボックス 20">
            <a:extLst>
              <a:ext uri="{FF2B5EF4-FFF2-40B4-BE49-F238E27FC236}">
                <a16:creationId xmlns:a16="http://schemas.microsoft.com/office/drawing/2014/main" id="{1273DADD-4F80-C743-0750-005319B45781}"/>
              </a:ext>
            </a:extLst>
          </p:cNvPr>
          <p:cNvSpPr txBox="1"/>
          <p:nvPr/>
        </p:nvSpPr>
        <p:spPr>
          <a:xfrm>
            <a:off x="1904793" y="4995350"/>
            <a:ext cx="7560000" cy="432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r>
              <a:rPr lang="ja-JP" altLang="en-US" sz="1600"/>
              <a:t>業績改善を目的に、固定資産除却損と撤去費用を</a:t>
            </a:r>
            <a:r>
              <a:rPr lang="en-US" altLang="ja-JP" sz="1600">
                <a:solidFill>
                  <a:srgbClr val="FF0000"/>
                </a:solidFill>
              </a:rPr>
              <a:t>20××</a:t>
            </a:r>
            <a:r>
              <a:rPr lang="ja-JP" altLang="en-US" sz="1600">
                <a:solidFill>
                  <a:srgbClr val="FF0000"/>
                </a:solidFill>
              </a:rPr>
              <a:t>年度下期にずらして計上</a:t>
            </a:r>
          </a:p>
        </p:txBody>
      </p:sp>
      <p:sp>
        <p:nvSpPr>
          <p:cNvPr id="6" name="正方形/長方形 5">
            <a:extLst>
              <a:ext uri="{FF2B5EF4-FFF2-40B4-BE49-F238E27FC236}">
                <a16:creationId xmlns:a16="http://schemas.microsoft.com/office/drawing/2014/main" id="{73457C63-817C-B350-65A7-17F76CBA476B}"/>
              </a:ext>
            </a:extLst>
          </p:cNvPr>
          <p:cNvSpPr/>
          <p:nvPr/>
        </p:nvSpPr>
        <p:spPr>
          <a:xfrm>
            <a:off x="1496146" y="3581086"/>
            <a:ext cx="144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ja-JP" sz="1600">
                <a:solidFill>
                  <a:schemeClr val="tx1"/>
                </a:solidFill>
                <a:latin typeface="+mn-ea"/>
                <a:cs typeface="Meiryo UI" panose="020B0604030504040204" pitchFamily="50" charset="-128"/>
              </a:rPr>
              <a:t>AW</a:t>
            </a:r>
            <a:r>
              <a:rPr lang="ja-JP" altLang="en-US" sz="1600">
                <a:solidFill>
                  <a:schemeClr val="tx1"/>
                </a:solidFill>
                <a:latin typeface="+mn-ea"/>
                <a:cs typeface="Meiryo UI" panose="020B0604030504040204" pitchFamily="50" charset="-128"/>
              </a:rPr>
              <a:t>本社プラントガス部</a:t>
            </a:r>
            <a:endParaRPr kumimoji="1" lang="ja-JP" altLang="en-US" sz="1600">
              <a:solidFill>
                <a:schemeClr val="tx1"/>
              </a:solidFill>
              <a:latin typeface="+mn-ea"/>
              <a:cs typeface="Meiryo UI" panose="020B0604030504040204" pitchFamily="50" charset="-128"/>
            </a:endParaRPr>
          </a:p>
        </p:txBody>
      </p:sp>
      <p:sp>
        <p:nvSpPr>
          <p:cNvPr id="16" name="正方形/長方形 15">
            <a:extLst>
              <a:ext uri="{FF2B5EF4-FFF2-40B4-BE49-F238E27FC236}">
                <a16:creationId xmlns:a16="http://schemas.microsoft.com/office/drawing/2014/main" id="{95EE7068-4115-0C55-D9FB-DAF22404D1EC}"/>
              </a:ext>
            </a:extLst>
          </p:cNvPr>
          <p:cNvSpPr/>
          <p:nvPr/>
        </p:nvSpPr>
        <p:spPr>
          <a:xfrm>
            <a:off x="8419464" y="3591697"/>
            <a:ext cx="1440000" cy="51744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kumimoji="1" lang="en-US" altLang="ja-JP" sz="1600">
                <a:solidFill>
                  <a:schemeClr val="tx1"/>
                </a:solidFill>
                <a:latin typeface="+mn-ea"/>
                <a:cs typeface="Meiryo UI" panose="020B0604030504040204" pitchFamily="50" charset="-128"/>
              </a:rPr>
              <a:t>An</a:t>
            </a:r>
            <a:r>
              <a:rPr kumimoji="1" lang="ja-JP" altLang="en-US" sz="1600">
                <a:solidFill>
                  <a:schemeClr val="tx1"/>
                </a:solidFill>
                <a:latin typeface="+mn-ea"/>
                <a:cs typeface="Meiryo UI" panose="020B0604030504040204" pitchFamily="50" charset="-128"/>
              </a:rPr>
              <a:t>社</a:t>
            </a:r>
          </a:p>
        </p:txBody>
      </p:sp>
      <p:cxnSp>
        <p:nvCxnSpPr>
          <p:cNvPr id="23" name="直線矢印コネクタ 22">
            <a:extLst>
              <a:ext uri="{FF2B5EF4-FFF2-40B4-BE49-F238E27FC236}">
                <a16:creationId xmlns:a16="http://schemas.microsoft.com/office/drawing/2014/main" id="{098F6404-92E1-161B-9B92-83E8B8E5EEE6}"/>
              </a:ext>
            </a:extLst>
          </p:cNvPr>
          <p:cNvCxnSpPr>
            <a:cxnSpLocks/>
          </p:cNvCxnSpPr>
          <p:nvPr/>
        </p:nvCxnSpPr>
        <p:spPr>
          <a:xfrm>
            <a:off x="2979442" y="3733515"/>
            <a:ext cx="5400000" cy="0"/>
          </a:xfrm>
          <a:prstGeom prst="straightConnector1">
            <a:avLst/>
          </a:prstGeom>
          <a:ln w="381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AF8D6A7-029F-8CBE-BE9F-F273B0364271}"/>
              </a:ext>
            </a:extLst>
          </p:cNvPr>
          <p:cNvSpPr txBox="1"/>
          <p:nvPr/>
        </p:nvSpPr>
        <p:spPr>
          <a:xfrm>
            <a:off x="3435655" y="3244022"/>
            <a:ext cx="4320000"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lgn="ctr">
              <a:buNone/>
            </a:pPr>
            <a:r>
              <a:rPr lang="ja-JP" altLang="en-US" sz="1600"/>
              <a:t>①設備等の撤去工事を委託</a:t>
            </a:r>
            <a:endParaRPr lang="en-US" altLang="ja-JP" sz="1600"/>
          </a:p>
        </p:txBody>
      </p:sp>
      <p:sp>
        <p:nvSpPr>
          <p:cNvPr id="7" name="テキスト ボックス 6">
            <a:extLst>
              <a:ext uri="{FF2B5EF4-FFF2-40B4-BE49-F238E27FC236}">
                <a16:creationId xmlns:a16="http://schemas.microsoft.com/office/drawing/2014/main" id="{889E791A-AA7F-2ECF-4877-A3A892F4A50B}"/>
              </a:ext>
            </a:extLst>
          </p:cNvPr>
          <p:cNvSpPr txBox="1"/>
          <p:nvPr/>
        </p:nvSpPr>
        <p:spPr>
          <a:xfrm>
            <a:off x="1335783" y="2718653"/>
            <a:ext cx="2019698" cy="360000"/>
          </a:xfrm>
          <a:prstGeom prst="rect">
            <a:avLst/>
          </a:prstGeom>
          <a:noFill/>
          <a:ln w="9525" algn="ctr">
            <a:no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indent="-285750">
              <a:buFont typeface="Wingdings" panose="05000000000000000000" pitchFamily="2" charset="2"/>
              <a:buChar char="n"/>
            </a:pPr>
            <a:r>
              <a:rPr lang="ja-JP" altLang="en-US" sz="1600" b="1"/>
              <a:t>事案の概要図</a:t>
            </a:r>
          </a:p>
        </p:txBody>
      </p:sp>
      <p:sp>
        <p:nvSpPr>
          <p:cNvPr id="17" name="テキスト ボックス 16">
            <a:extLst>
              <a:ext uri="{FF2B5EF4-FFF2-40B4-BE49-F238E27FC236}">
                <a16:creationId xmlns:a16="http://schemas.microsoft.com/office/drawing/2014/main" id="{00B8550F-8647-DC87-87DF-4C9AFBD1D896}"/>
              </a:ext>
            </a:extLst>
          </p:cNvPr>
          <p:cNvSpPr txBox="1"/>
          <p:nvPr/>
        </p:nvSpPr>
        <p:spPr>
          <a:xfrm>
            <a:off x="3435655" y="4048038"/>
            <a:ext cx="4320000"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271463" indent="-182563" algn="ctr">
              <a:buNone/>
            </a:pPr>
            <a:r>
              <a:rPr lang="ja-JP" altLang="en-US" sz="1600"/>
              <a:t>②</a:t>
            </a:r>
            <a:r>
              <a:rPr lang="en-US" altLang="ja-JP" sz="1600"/>
              <a:t>20××</a:t>
            </a:r>
            <a:r>
              <a:rPr lang="ja-JP" altLang="en-US" sz="1600"/>
              <a:t>年度上期中に撤去工事完了及び請求</a:t>
            </a:r>
            <a:endParaRPr lang="en-US" altLang="ja-JP" sz="1600"/>
          </a:p>
        </p:txBody>
      </p:sp>
      <p:cxnSp>
        <p:nvCxnSpPr>
          <p:cNvPr id="18" name="直線矢印コネクタ 17">
            <a:extLst>
              <a:ext uri="{FF2B5EF4-FFF2-40B4-BE49-F238E27FC236}">
                <a16:creationId xmlns:a16="http://schemas.microsoft.com/office/drawing/2014/main" id="{CED8B714-3743-D3F7-0F16-CC91B6C496A6}"/>
              </a:ext>
            </a:extLst>
          </p:cNvPr>
          <p:cNvCxnSpPr>
            <a:cxnSpLocks/>
          </p:cNvCxnSpPr>
          <p:nvPr/>
        </p:nvCxnSpPr>
        <p:spPr>
          <a:xfrm flipH="1">
            <a:off x="2971204" y="3959869"/>
            <a:ext cx="5400000" cy="0"/>
          </a:xfrm>
          <a:prstGeom prst="straightConnector1">
            <a:avLst/>
          </a:prstGeom>
          <a:ln w="38100" cap="rnd">
            <a:solidFill>
              <a:schemeClr val="tx1"/>
            </a:solidFill>
            <a:round/>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0CE526B1-19B7-CC54-C594-EDD110DC8C9B}"/>
              </a:ext>
            </a:extLst>
          </p:cNvPr>
          <p:cNvSpPr txBox="1"/>
          <p:nvPr/>
        </p:nvSpPr>
        <p:spPr>
          <a:xfrm>
            <a:off x="1904793" y="6085897"/>
            <a:ext cx="7560000" cy="432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r>
              <a:rPr lang="ja-JP" altLang="en-US" sz="1600"/>
              <a:t>固定資産除却損と</a:t>
            </a:r>
            <a:r>
              <a:rPr lang="ja-JP" altLang="en-US" sz="1600">
                <a:solidFill>
                  <a:sysClr val="windowText" lastClr="000000"/>
                </a:solidFill>
              </a:rPr>
              <a:t>撤去費用を遅くとも</a:t>
            </a:r>
            <a:r>
              <a:rPr lang="en-US" altLang="ja-JP" sz="1600">
                <a:solidFill>
                  <a:sysClr val="windowText" lastClr="000000"/>
                </a:solidFill>
              </a:rPr>
              <a:t>20××</a:t>
            </a:r>
            <a:r>
              <a:rPr lang="ja-JP" altLang="en-US" sz="1600">
                <a:solidFill>
                  <a:sysClr val="windowText" lastClr="000000"/>
                </a:solidFill>
              </a:rPr>
              <a:t>年度に上期に計上</a:t>
            </a:r>
          </a:p>
        </p:txBody>
      </p:sp>
      <p:sp>
        <p:nvSpPr>
          <p:cNvPr id="10" name="Rectangle 22">
            <a:extLst>
              <a:ext uri="{FF2B5EF4-FFF2-40B4-BE49-F238E27FC236}">
                <a16:creationId xmlns:a16="http://schemas.microsoft.com/office/drawing/2014/main" id="{BF29D288-BE74-5E9A-CD67-9FF4BCD67DA1}"/>
              </a:ext>
            </a:extLst>
          </p:cNvPr>
          <p:cNvSpPr>
            <a:spLocks noChangeArrowheads="1"/>
          </p:cNvSpPr>
          <p:nvPr/>
        </p:nvSpPr>
        <p:spPr bwMode="gray">
          <a:xfrm>
            <a:off x="2088983" y="5584874"/>
            <a:ext cx="2880000" cy="360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適切な会計処理</a:t>
            </a:r>
            <a:endParaRPr kumimoji="1" lang="en-US" altLang="ja-JP" sz="1600" b="1">
              <a:solidFill>
                <a:schemeClr val="bg1"/>
              </a:solidFill>
            </a:endParaRPr>
          </a:p>
        </p:txBody>
      </p:sp>
      <p:sp>
        <p:nvSpPr>
          <p:cNvPr id="12" name="Rectangle 22">
            <a:extLst>
              <a:ext uri="{FF2B5EF4-FFF2-40B4-BE49-F238E27FC236}">
                <a16:creationId xmlns:a16="http://schemas.microsoft.com/office/drawing/2014/main" id="{D481732A-8E47-116A-AF21-731C2373C585}"/>
              </a:ext>
            </a:extLst>
          </p:cNvPr>
          <p:cNvSpPr>
            <a:spLocks noChangeArrowheads="1"/>
          </p:cNvSpPr>
          <p:nvPr/>
        </p:nvSpPr>
        <p:spPr bwMode="gray">
          <a:xfrm>
            <a:off x="2088983" y="4555893"/>
            <a:ext cx="2880000" cy="360000"/>
          </a:xfrm>
          <a:prstGeom prst="rect">
            <a:avLst/>
          </a:prstGeom>
          <a:solidFill>
            <a:schemeClr val="tx1">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本事案の</a:t>
            </a:r>
            <a:r>
              <a:rPr kumimoji="1" lang="ja-JP" altLang="en-US" sz="1600" b="1">
                <a:solidFill>
                  <a:schemeClr val="bg1"/>
                </a:solidFill>
              </a:rPr>
              <a:t>会計処理</a:t>
            </a:r>
            <a:endParaRPr kumimoji="1" lang="en-US" altLang="ja-JP" sz="1600" b="1">
              <a:solidFill>
                <a:schemeClr val="bg1"/>
              </a:solidFill>
            </a:endParaRPr>
          </a:p>
        </p:txBody>
      </p:sp>
      <p:sp>
        <p:nvSpPr>
          <p:cNvPr id="14" name="乗算記号 13">
            <a:extLst>
              <a:ext uri="{FF2B5EF4-FFF2-40B4-BE49-F238E27FC236}">
                <a16:creationId xmlns:a16="http://schemas.microsoft.com/office/drawing/2014/main" id="{AE8DB23F-2F9F-5589-B058-22CEC42B2EE9}"/>
              </a:ext>
            </a:extLst>
          </p:cNvPr>
          <p:cNvSpPr/>
          <p:nvPr/>
        </p:nvSpPr>
        <p:spPr>
          <a:xfrm>
            <a:off x="1347156" y="4398312"/>
            <a:ext cx="684000" cy="684000"/>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5" name="円: 塗りつぶしなし 14">
            <a:extLst>
              <a:ext uri="{FF2B5EF4-FFF2-40B4-BE49-F238E27FC236}">
                <a16:creationId xmlns:a16="http://schemas.microsoft.com/office/drawing/2014/main" id="{D3D73C87-A128-C082-5A85-13771C5D3862}"/>
              </a:ext>
            </a:extLst>
          </p:cNvPr>
          <p:cNvSpPr/>
          <p:nvPr/>
        </p:nvSpPr>
        <p:spPr>
          <a:xfrm>
            <a:off x="1433931" y="5518941"/>
            <a:ext cx="504000" cy="5040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4" name="正方形/長方形 3">
            <a:extLst>
              <a:ext uri="{FF2B5EF4-FFF2-40B4-BE49-F238E27FC236}">
                <a16:creationId xmlns:a16="http://schemas.microsoft.com/office/drawing/2014/main" id="{72658BEC-77F2-BC00-CDD1-511FE231E4DF}"/>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1253870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E8C6D-3CEF-727B-C670-18762758BEC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259522D-F1AE-C68A-B839-98FEEF03E085}"/>
              </a:ext>
            </a:extLst>
          </p:cNvPr>
          <p:cNvSpPr>
            <a:spLocks noGrp="1"/>
          </p:cNvSpPr>
          <p:nvPr>
            <p:ph type="title"/>
          </p:nvPr>
        </p:nvSpPr>
        <p:spPr>
          <a:xfrm>
            <a:off x="659999" y="365508"/>
            <a:ext cx="6869385" cy="371961"/>
          </a:xfrm>
        </p:spPr>
        <p:txBody>
          <a:bodyPr>
            <a:normAutofit/>
          </a:bodyPr>
          <a:lstStyle/>
          <a:p>
            <a:r>
              <a:rPr lang="en-US" altLang="ja-JP"/>
              <a:t>3-11.</a:t>
            </a:r>
            <a:r>
              <a:rPr lang="ja-JP" altLang="en-US"/>
              <a:t>固定資産の除却損漏れ</a:t>
            </a:r>
          </a:p>
        </p:txBody>
      </p:sp>
      <p:sp>
        <p:nvSpPr>
          <p:cNvPr id="27" name="テキスト プレースホルダー 3">
            <a:extLst>
              <a:ext uri="{FF2B5EF4-FFF2-40B4-BE49-F238E27FC236}">
                <a16:creationId xmlns:a16="http://schemas.microsoft.com/office/drawing/2014/main" id="{B20AA2FD-395B-8226-2604-207CF33F704A}"/>
              </a:ext>
            </a:extLst>
          </p:cNvPr>
          <p:cNvSpPr txBox="1">
            <a:spLocks/>
          </p:cNvSpPr>
          <p:nvPr/>
        </p:nvSpPr>
        <p:spPr>
          <a:xfrm>
            <a:off x="659999" y="862714"/>
            <a:ext cx="11268000" cy="371962"/>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固定資産を除却する際は、社内の除却申請書（稟議書等）および廃棄証明書の準備が必要です。</a:t>
            </a:r>
            <a:endParaRPr lang="en-US" altLang="ja-JP" sz="1800" b="0"/>
          </a:p>
        </p:txBody>
      </p:sp>
      <p:sp>
        <p:nvSpPr>
          <p:cNvPr id="5" name="正方形/長方形 4">
            <a:extLst>
              <a:ext uri="{FF2B5EF4-FFF2-40B4-BE49-F238E27FC236}">
                <a16:creationId xmlns:a16="http://schemas.microsoft.com/office/drawing/2014/main" id="{5D6229CD-A64A-F7E5-0203-7B694E20F462}"/>
              </a:ext>
            </a:extLst>
          </p:cNvPr>
          <p:cNvSpPr/>
          <p:nvPr/>
        </p:nvSpPr>
        <p:spPr bwMode="gray">
          <a:xfrm>
            <a:off x="5336007" y="4536795"/>
            <a:ext cx="5688804" cy="698749"/>
          </a:xfrm>
          <a:prstGeom prst="rect">
            <a:avLst/>
          </a:prstGeom>
          <a:solidFill>
            <a:schemeClr val="bg1"/>
          </a:solidFill>
          <a:ln w="19050"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0487" defTabSz="990589">
              <a:spcBef>
                <a:spcPts val="300"/>
              </a:spcBef>
              <a:buSzPct val="100000"/>
            </a:pPr>
            <a:r>
              <a:rPr lang="en-US" altLang="ja-JP" sz="1400">
                <a:solidFill>
                  <a:prstClr val="black"/>
                </a:solidFill>
                <a:latin typeface="+mn-ea"/>
              </a:rPr>
              <a:t>※</a:t>
            </a:r>
            <a:r>
              <a:rPr lang="ja-JP" altLang="en-US" sz="1400">
                <a:solidFill>
                  <a:prstClr val="black"/>
                </a:solidFill>
                <a:latin typeface="+mn-ea"/>
              </a:rPr>
              <a:t>全国産業資源循環連合会のマニフェスト用紙を例示していますが、</a:t>
            </a:r>
            <a:endParaRPr lang="en-US" altLang="ja-JP" sz="1400">
              <a:solidFill>
                <a:prstClr val="black"/>
              </a:solidFill>
              <a:latin typeface="+mn-ea"/>
            </a:endParaRPr>
          </a:p>
          <a:p>
            <a:pPr marL="90487" defTabSz="990589">
              <a:spcBef>
                <a:spcPts val="300"/>
              </a:spcBef>
              <a:buSzPct val="100000"/>
            </a:pPr>
            <a:r>
              <a:rPr lang="ja-JP" altLang="en-US" sz="1400">
                <a:solidFill>
                  <a:prstClr val="black"/>
                </a:solidFill>
                <a:latin typeface="+mn-ea"/>
              </a:rPr>
              <a:t>その他の資料でも①産業廃棄物の内容②最終処分終了者のサイン・押印が確認できる資料を用意する必要があります。</a:t>
            </a:r>
            <a:endParaRPr lang="en-US" altLang="ja-JP" sz="1400">
              <a:solidFill>
                <a:prstClr val="black"/>
              </a:solidFill>
              <a:latin typeface="+mn-ea"/>
            </a:endParaRPr>
          </a:p>
        </p:txBody>
      </p:sp>
      <p:sp>
        <p:nvSpPr>
          <p:cNvPr id="15" name="テキスト ボックス 14">
            <a:extLst>
              <a:ext uri="{FF2B5EF4-FFF2-40B4-BE49-F238E27FC236}">
                <a16:creationId xmlns:a16="http://schemas.microsoft.com/office/drawing/2014/main" id="{53B6C3F4-6E5D-252A-93DE-FEC4DAEA067B}"/>
              </a:ext>
            </a:extLst>
          </p:cNvPr>
          <p:cNvSpPr txBox="1"/>
          <p:nvPr/>
        </p:nvSpPr>
        <p:spPr>
          <a:xfrm>
            <a:off x="3223709" y="2483301"/>
            <a:ext cx="9720766" cy="61201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a:t>②</a:t>
            </a:r>
            <a:r>
              <a:rPr lang="ja-JP" altLang="en-US" b="1"/>
              <a:t>最終処分終了年月日の記載（又は最終処分処理者）</a:t>
            </a:r>
            <a:endParaRPr lang="en-US" altLang="ja-JP" b="1"/>
          </a:p>
          <a:p>
            <a:pPr marL="90487" indent="0">
              <a:buNone/>
            </a:pPr>
            <a:r>
              <a:rPr lang="ja-JP" altLang="en-US"/>
              <a:t>→資産が確実に処分されたか確認するため、最終処分終了日の記載または最終処分処理者の押印・サインがあるか</a:t>
            </a:r>
            <a:endParaRPr lang="en-US" altLang="ja-JP"/>
          </a:p>
        </p:txBody>
      </p:sp>
      <p:sp>
        <p:nvSpPr>
          <p:cNvPr id="16" name="テキスト ボックス 15">
            <a:extLst>
              <a:ext uri="{FF2B5EF4-FFF2-40B4-BE49-F238E27FC236}">
                <a16:creationId xmlns:a16="http://schemas.microsoft.com/office/drawing/2014/main" id="{DE245B42-6F54-3485-E232-445DFD1F354B}"/>
              </a:ext>
            </a:extLst>
          </p:cNvPr>
          <p:cNvSpPr txBox="1"/>
          <p:nvPr/>
        </p:nvSpPr>
        <p:spPr>
          <a:xfrm>
            <a:off x="3223709" y="1934370"/>
            <a:ext cx="8853991" cy="612014"/>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a:t>①</a:t>
            </a:r>
            <a:r>
              <a:rPr lang="ja-JP" altLang="en-US" b="1"/>
              <a:t>廃棄物の内容</a:t>
            </a:r>
            <a:endParaRPr lang="en-US" altLang="ja-JP" b="1"/>
          </a:p>
          <a:p>
            <a:pPr marL="90487" indent="0">
              <a:buNone/>
            </a:pPr>
            <a:r>
              <a:rPr lang="ja-JP" altLang="en-US"/>
              <a:t>→除却申請している資産と素材や数量、荷姿が合致しているか（＝除却資産とは別の資産を除却していないか）</a:t>
            </a:r>
            <a:endParaRPr lang="en-US" altLang="ja-JP"/>
          </a:p>
        </p:txBody>
      </p:sp>
      <p:grpSp>
        <p:nvGrpSpPr>
          <p:cNvPr id="6" name="グループ化 5">
            <a:extLst>
              <a:ext uri="{FF2B5EF4-FFF2-40B4-BE49-F238E27FC236}">
                <a16:creationId xmlns:a16="http://schemas.microsoft.com/office/drawing/2014/main" id="{FDD5833F-E71F-4E7D-CD58-F950B74BAA61}"/>
              </a:ext>
            </a:extLst>
          </p:cNvPr>
          <p:cNvGrpSpPr/>
          <p:nvPr/>
        </p:nvGrpSpPr>
        <p:grpSpPr>
          <a:xfrm>
            <a:off x="310082" y="3095315"/>
            <a:ext cx="4732205" cy="3581710"/>
            <a:chOff x="310082" y="3095315"/>
            <a:chExt cx="4732205" cy="3581710"/>
          </a:xfrm>
        </p:grpSpPr>
        <p:sp>
          <p:nvSpPr>
            <p:cNvPr id="12" name="テキスト ボックス 11">
              <a:extLst>
                <a:ext uri="{FF2B5EF4-FFF2-40B4-BE49-F238E27FC236}">
                  <a16:creationId xmlns:a16="http://schemas.microsoft.com/office/drawing/2014/main" id="{BEFD4D35-7B52-CB0D-E65F-72B85A3D280D}"/>
                </a:ext>
              </a:extLst>
            </p:cNvPr>
            <p:cNvSpPr txBox="1"/>
            <p:nvPr/>
          </p:nvSpPr>
          <p:spPr>
            <a:xfrm>
              <a:off x="310082" y="3568593"/>
              <a:ext cx="374173" cy="318365"/>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sz="1600"/>
                <a:t>①</a:t>
              </a:r>
              <a:endParaRPr lang="en-US" altLang="ja-JP" sz="1600"/>
            </a:p>
          </p:txBody>
        </p:sp>
        <p:sp>
          <p:nvSpPr>
            <p:cNvPr id="14" name="テキスト ボックス 13">
              <a:extLst>
                <a:ext uri="{FF2B5EF4-FFF2-40B4-BE49-F238E27FC236}">
                  <a16:creationId xmlns:a16="http://schemas.microsoft.com/office/drawing/2014/main" id="{1000AE72-54E8-D1D2-ED24-1AD890AEDFC4}"/>
                </a:ext>
              </a:extLst>
            </p:cNvPr>
            <p:cNvSpPr txBox="1"/>
            <p:nvPr/>
          </p:nvSpPr>
          <p:spPr>
            <a:xfrm>
              <a:off x="4661287" y="5815286"/>
              <a:ext cx="381000"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sz="1600"/>
                <a:t>②</a:t>
              </a:r>
              <a:endParaRPr lang="en-US" altLang="ja-JP" sz="1600"/>
            </a:p>
          </p:txBody>
        </p:sp>
        <p:grpSp>
          <p:nvGrpSpPr>
            <p:cNvPr id="2" name="グループ化 1">
              <a:extLst>
                <a:ext uri="{FF2B5EF4-FFF2-40B4-BE49-F238E27FC236}">
                  <a16:creationId xmlns:a16="http://schemas.microsoft.com/office/drawing/2014/main" id="{06EED26F-3E03-92FD-0479-0A8185C741F3}"/>
                </a:ext>
              </a:extLst>
            </p:cNvPr>
            <p:cNvGrpSpPr/>
            <p:nvPr/>
          </p:nvGrpSpPr>
          <p:grpSpPr>
            <a:xfrm>
              <a:off x="659999" y="3095315"/>
              <a:ext cx="4088568" cy="3581710"/>
              <a:chOff x="659999" y="3095315"/>
              <a:chExt cx="4088568" cy="3581710"/>
            </a:xfrm>
          </p:grpSpPr>
          <p:pic>
            <p:nvPicPr>
              <p:cNvPr id="7" name="図 6">
                <a:extLst>
                  <a:ext uri="{FF2B5EF4-FFF2-40B4-BE49-F238E27FC236}">
                    <a16:creationId xmlns:a16="http://schemas.microsoft.com/office/drawing/2014/main" id="{86D4988D-9459-3E9D-5772-A1CF501009FC}"/>
                  </a:ext>
                </a:extLst>
              </p:cNvPr>
              <p:cNvPicPr>
                <a:picLocks noChangeAspect="1"/>
              </p:cNvPicPr>
              <p:nvPr/>
            </p:nvPicPr>
            <p:blipFill>
              <a:blip r:embed="rId3"/>
              <a:stretch>
                <a:fillRect/>
              </a:stretch>
            </p:blipFill>
            <p:spPr>
              <a:xfrm>
                <a:off x="684255" y="3095315"/>
                <a:ext cx="4064312" cy="3581710"/>
              </a:xfrm>
              <a:prstGeom prst="rect">
                <a:avLst/>
              </a:prstGeom>
            </p:spPr>
          </p:pic>
          <p:sp>
            <p:nvSpPr>
              <p:cNvPr id="10" name="正方形/長方形 9">
                <a:extLst>
                  <a:ext uri="{FF2B5EF4-FFF2-40B4-BE49-F238E27FC236}">
                    <a16:creationId xmlns:a16="http://schemas.microsoft.com/office/drawing/2014/main" id="{6AEDE802-25E3-5C5A-6EAC-A4576783FE6D}"/>
                  </a:ext>
                </a:extLst>
              </p:cNvPr>
              <p:cNvSpPr/>
              <p:nvPr/>
            </p:nvSpPr>
            <p:spPr>
              <a:xfrm>
                <a:off x="3487054" y="5933465"/>
                <a:ext cx="1174233" cy="25529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1" name="正方形/長方形 20">
                <a:extLst>
                  <a:ext uri="{FF2B5EF4-FFF2-40B4-BE49-F238E27FC236}">
                    <a16:creationId xmlns:a16="http://schemas.microsoft.com/office/drawing/2014/main" id="{B908BF90-B13F-BA27-BDF7-34583BF5947E}"/>
                  </a:ext>
                </a:extLst>
              </p:cNvPr>
              <p:cNvSpPr/>
              <p:nvPr/>
            </p:nvSpPr>
            <p:spPr>
              <a:xfrm>
                <a:off x="659999" y="3684731"/>
                <a:ext cx="4064312" cy="1025200"/>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grpSp>
      </p:grpSp>
      <p:sp>
        <p:nvSpPr>
          <p:cNvPr id="31" name="Rectangle 22">
            <a:extLst>
              <a:ext uri="{FF2B5EF4-FFF2-40B4-BE49-F238E27FC236}">
                <a16:creationId xmlns:a16="http://schemas.microsoft.com/office/drawing/2014/main" id="{78683909-8150-E7DD-1365-3D347E474899}"/>
              </a:ext>
            </a:extLst>
          </p:cNvPr>
          <p:cNvSpPr>
            <a:spLocks noChangeArrowheads="1"/>
          </p:cNvSpPr>
          <p:nvPr/>
        </p:nvSpPr>
        <p:spPr bwMode="gray">
          <a:xfrm>
            <a:off x="793888" y="2240377"/>
            <a:ext cx="2321326" cy="360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廃棄証明書の確認事項</a:t>
            </a:r>
            <a:endParaRPr kumimoji="1" lang="en-US" altLang="ja-JP" sz="1600" b="1">
              <a:solidFill>
                <a:schemeClr val="bg1"/>
              </a:solidFill>
            </a:endParaRPr>
          </a:p>
        </p:txBody>
      </p:sp>
      <p:sp>
        <p:nvSpPr>
          <p:cNvPr id="32" name="矢印: 下 31">
            <a:extLst>
              <a:ext uri="{FF2B5EF4-FFF2-40B4-BE49-F238E27FC236}">
                <a16:creationId xmlns:a16="http://schemas.microsoft.com/office/drawing/2014/main" id="{BDFEBB0B-E216-6B18-F57E-71CB83715819}"/>
              </a:ext>
            </a:extLst>
          </p:cNvPr>
          <p:cNvSpPr/>
          <p:nvPr/>
        </p:nvSpPr>
        <p:spPr>
          <a:xfrm>
            <a:off x="7658281" y="3263928"/>
            <a:ext cx="1044255" cy="411892"/>
          </a:xfrm>
          <a:prstGeom prst="downArrow">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3" name="テキスト ボックス 32">
            <a:extLst>
              <a:ext uri="{FF2B5EF4-FFF2-40B4-BE49-F238E27FC236}">
                <a16:creationId xmlns:a16="http://schemas.microsoft.com/office/drawing/2014/main" id="{95F82806-FF11-72D9-6979-D0D3ADEFF33B}"/>
              </a:ext>
            </a:extLst>
          </p:cNvPr>
          <p:cNvSpPr txBox="1"/>
          <p:nvPr/>
        </p:nvSpPr>
        <p:spPr>
          <a:xfrm>
            <a:off x="5336007" y="3823529"/>
            <a:ext cx="5855751" cy="558844"/>
          </a:xfrm>
          <a:prstGeom prst="rect">
            <a:avLst/>
          </a:prstGeom>
          <a:solidFill>
            <a:schemeClr val="bg1">
              <a:lumMod val="85000"/>
            </a:schemeClr>
          </a:solidFill>
          <a:ln w="28575" algn="ctr">
            <a:solidFill>
              <a:schemeClr val="accent1"/>
            </a:solidFill>
            <a:miter lim="800000"/>
            <a:headEnd/>
            <a:tailEnd/>
          </a:ln>
          <a:effectLst/>
        </p:spPr>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0" indent="0" algn="ctr">
              <a:buNone/>
            </a:pPr>
            <a:r>
              <a:rPr lang="ja-JP" altLang="en-US" sz="1600" b="1">
                <a:solidFill>
                  <a:schemeClr val="accent1"/>
                </a:solidFill>
              </a:rPr>
              <a:t>本当に資産を廃棄したことを客観的に証明できる資料か</a:t>
            </a:r>
            <a:endParaRPr lang="ja-JP">
              <a:solidFill>
                <a:schemeClr val="accent1"/>
              </a:solidFill>
            </a:endParaRPr>
          </a:p>
        </p:txBody>
      </p:sp>
      <p:sp>
        <p:nvSpPr>
          <p:cNvPr id="34" name="Rectangle 22">
            <a:extLst>
              <a:ext uri="{FF2B5EF4-FFF2-40B4-BE49-F238E27FC236}">
                <a16:creationId xmlns:a16="http://schemas.microsoft.com/office/drawing/2014/main" id="{1C1E3D4F-CCD3-2156-0A4D-CA0A1975DCC9}"/>
              </a:ext>
            </a:extLst>
          </p:cNvPr>
          <p:cNvSpPr>
            <a:spLocks noChangeArrowheads="1"/>
          </p:cNvSpPr>
          <p:nvPr/>
        </p:nvSpPr>
        <p:spPr bwMode="gray">
          <a:xfrm>
            <a:off x="793888" y="1499594"/>
            <a:ext cx="2321326" cy="360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除却申請書（稟議書等）</a:t>
            </a:r>
            <a:endParaRPr kumimoji="1" lang="en-US" altLang="ja-JP" sz="1600" b="1">
              <a:solidFill>
                <a:schemeClr val="bg1"/>
              </a:solidFill>
            </a:endParaRPr>
          </a:p>
        </p:txBody>
      </p:sp>
      <p:sp>
        <p:nvSpPr>
          <p:cNvPr id="35" name="テキスト ボックス 34">
            <a:extLst>
              <a:ext uri="{FF2B5EF4-FFF2-40B4-BE49-F238E27FC236}">
                <a16:creationId xmlns:a16="http://schemas.microsoft.com/office/drawing/2014/main" id="{0BC10E67-AEBF-DC87-274C-A04C8E204B0A}"/>
              </a:ext>
            </a:extLst>
          </p:cNvPr>
          <p:cNvSpPr txBox="1"/>
          <p:nvPr/>
        </p:nvSpPr>
        <p:spPr>
          <a:xfrm>
            <a:off x="3223709" y="1490841"/>
            <a:ext cx="9301666" cy="36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ja-JP" altLang="en-US"/>
              <a:t>①</a:t>
            </a:r>
            <a:r>
              <a:rPr lang="ja-JP" altLang="en-US" b="1"/>
              <a:t>なぜ除却するか（理由）、</a:t>
            </a:r>
            <a:r>
              <a:rPr lang="ja-JP" altLang="en-US"/>
              <a:t>②</a:t>
            </a:r>
            <a:r>
              <a:rPr lang="ja-JP" altLang="en-US" b="1"/>
              <a:t>何を除却するのか（対象）、</a:t>
            </a:r>
            <a:r>
              <a:rPr lang="ja-JP" altLang="en-US"/>
              <a:t>③</a:t>
            </a:r>
            <a:r>
              <a:rPr lang="ja-JP" altLang="en-US" b="1"/>
              <a:t>いつ除却するのか（日時）、</a:t>
            </a:r>
            <a:r>
              <a:rPr lang="ja-JP" altLang="en-US"/>
              <a:t>④</a:t>
            </a:r>
            <a:r>
              <a:rPr lang="ja-JP" altLang="en-US" b="1"/>
              <a:t>依頼業者又は金額等の詳細</a:t>
            </a:r>
            <a:endParaRPr lang="en-US" altLang="ja-JP" b="1"/>
          </a:p>
        </p:txBody>
      </p:sp>
      <p:sp>
        <p:nvSpPr>
          <p:cNvPr id="36" name="正方形/長方形 35">
            <a:extLst>
              <a:ext uri="{FF2B5EF4-FFF2-40B4-BE49-F238E27FC236}">
                <a16:creationId xmlns:a16="http://schemas.microsoft.com/office/drawing/2014/main" id="{738586FC-1250-18A2-8D14-642DCFAD3802}"/>
              </a:ext>
            </a:extLst>
          </p:cNvPr>
          <p:cNvSpPr/>
          <p:nvPr/>
        </p:nvSpPr>
        <p:spPr bwMode="gray">
          <a:xfrm>
            <a:off x="684255" y="2935195"/>
            <a:ext cx="2563710" cy="232700"/>
          </a:xfrm>
          <a:prstGeom prst="rect">
            <a:avLst/>
          </a:prstGeom>
          <a:noFill/>
          <a:ln w="19050"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0487" defTabSz="990589">
              <a:spcBef>
                <a:spcPts val="300"/>
              </a:spcBef>
              <a:buSzPct val="100000"/>
            </a:pPr>
            <a:r>
              <a:rPr lang="ja-JP" altLang="en-US" sz="1000">
                <a:solidFill>
                  <a:prstClr val="black"/>
                </a:solidFill>
                <a:latin typeface="+mn-ea"/>
              </a:rPr>
              <a:t>例）産業廃棄物管理票（マニフェスト）</a:t>
            </a:r>
            <a:r>
              <a:rPr lang="en-US" altLang="ja-JP" sz="1000">
                <a:solidFill>
                  <a:prstClr val="black"/>
                </a:solidFill>
                <a:latin typeface="+mn-ea"/>
              </a:rPr>
              <a:t>E</a:t>
            </a:r>
            <a:r>
              <a:rPr lang="ja-JP" altLang="en-US" sz="1000">
                <a:solidFill>
                  <a:prstClr val="black"/>
                </a:solidFill>
                <a:latin typeface="+mn-ea"/>
              </a:rPr>
              <a:t>票</a:t>
            </a:r>
            <a:endParaRPr lang="en-US" altLang="ja-JP" sz="1000">
              <a:solidFill>
                <a:prstClr val="black"/>
              </a:solidFill>
              <a:latin typeface="+mn-ea"/>
            </a:endParaRPr>
          </a:p>
        </p:txBody>
      </p:sp>
    </p:spTree>
    <p:extLst>
      <p:ext uri="{BB962C8B-B14F-4D97-AF65-F5344CB8AC3E}">
        <p14:creationId xmlns:p14="http://schemas.microsoft.com/office/powerpoint/2010/main" val="2102241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5F755-0D6F-BBB3-1F4D-EE7501DBDCB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6743F40-05D2-25BD-77A0-8962DA2ADCDE}"/>
              </a:ext>
            </a:extLst>
          </p:cNvPr>
          <p:cNvSpPr>
            <a:spLocks noGrp="1"/>
          </p:cNvSpPr>
          <p:nvPr>
            <p:ph type="title"/>
          </p:nvPr>
        </p:nvSpPr>
        <p:spPr>
          <a:xfrm>
            <a:off x="659999" y="365508"/>
            <a:ext cx="6869385" cy="371961"/>
          </a:xfrm>
        </p:spPr>
        <p:txBody>
          <a:bodyPr>
            <a:normAutofit/>
          </a:bodyPr>
          <a:lstStyle/>
          <a:p>
            <a:r>
              <a:rPr lang="en-US" altLang="ja-JP"/>
              <a:t>3-12.</a:t>
            </a:r>
            <a:r>
              <a:rPr lang="ja-JP" altLang="en-US"/>
              <a:t>資産性のない支出の固定資産計上</a:t>
            </a:r>
          </a:p>
        </p:txBody>
      </p:sp>
      <p:sp>
        <p:nvSpPr>
          <p:cNvPr id="2" name="正方形/長方形 1">
            <a:extLst>
              <a:ext uri="{FF2B5EF4-FFF2-40B4-BE49-F238E27FC236}">
                <a16:creationId xmlns:a16="http://schemas.microsoft.com/office/drawing/2014/main" id="{C54E5B76-9F03-5114-1C72-AD2B6311D079}"/>
              </a:ext>
            </a:extLst>
          </p:cNvPr>
          <p:cNvSpPr/>
          <p:nvPr/>
        </p:nvSpPr>
        <p:spPr bwMode="gray">
          <a:xfrm>
            <a:off x="2127658" y="1626625"/>
            <a:ext cx="9720000" cy="1620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a:t>
            </a:r>
            <a:r>
              <a:rPr lang="ja-JP" altLang="en-US" sz="1400">
                <a:solidFill>
                  <a:prstClr val="black"/>
                </a:solidFill>
                <a:latin typeface="+mn-ea"/>
              </a:rPr>
              <a:t>本社において利益改善目的で、①定期修繕に係る修繕費を一旦費用計上後に建設仮勘定に振替を指示、もしくは、②資本的支出として資産計上し得る性質ではない修繕費を資産計上、することで費用計上を先送りしていた</a:t>
            </a: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上記事案以外にも、資産性のない支出の固定資産計上の類似事案が以下の通り、複数社で発見されている</a:t>
            </a:r>
            <a:endParaRPr lang="en-US" altLang="ja-JP" sz="1400">
              <a:solidFill>
                <a:prstClr val="black"/>
              </a:solidFill>
              <a:latin typeface="+mn-ea"/>
            </a:endParaRPr>
          </a:p>
          <a:p>
            <a:pPr marL="833437" lvl="1" indent="-285750" defTabSz="990589">
              <a:spcBef>
                <a:spcPts val="300"/>
              </a:spcBef>
              <a:buSzPct val="100000"/>
              <a:buFont typeface="Arial" panose="020B0604020202020204" pitchFamily="34" charset="0"/>
              <a:buChar char="•"/>
            </a:pPr>
            <a:r>
              <a:rPr lang="en-US" altLang="ja-JP" sz="1400">
                <a:solidFill>
                  <a:prstClr val="black"/>
                </a:solidFill>
                <a:latin typeface="+mn-ea"/>
              </a:rPr>
              <a:t>AW</a:t>
            </a:r>
            <a:r>
              <a:rPr lang="ja-JP" altLang="en-US" sz="1400">
                <a:solidFill>
                  <a:prstClr val="black"/>
                </a:solidFill>
                <a:latin typeface="+mn-ea"/>
              </a:rPr>
              <a:t>防災において、ソフトウェアや開発費の資産計上要件を満たさない費用の資産計上</a:t>
            </a:r>
            <a:endParaRPr lang="en-US" altLang="ja-JP" sz="1400">
              <a:solidFill>
                <a:prstClr val="black"/>
              </a:solidFill>
              <a:latin typeface="+mn-ea"/>
            </a:endParaRPr>
          </a:p>
          <a:p>
            <a:pPr marL="833437" lvl="1" indent="-285750" defTabSz="990589">
              <a:spcBef>
                <a:spcPts val="300"/>
              </a:spcBef>
              <a:buSzPct val="100000"/>
              <a:buFont typeface="Arial" panose="020B0604020202020204" pitchFamily="34" charset="0"/>
              <a:buChar char="•"/>
            </a:pPr>
            <a:r>
              <a:rPr lang="en-US" altLang="ja-JP" sz="1400">
                <a:solidFill>
                  <a:prstClr val="black"/>
                </a:solidFill>
                <a:latin typeface="+mn-ea"/>
              </a:rPr>
              <a:t>AW</a:t>
            </a:r>
            <a:r>
              <a:rPr lang="ja-JP" altLang="en-US" sz="1400">
                <a:solidFill>
                  <a:prstClr val="black"/>
                </a:solidFill>
                <a:latin typeface="+mn-ea"/>
              </a:rPr>
              <a:t>本社において、研究開発費として発生時費用処理すべき金額を建設仮勘定に計上</a:t>
            </a:r>
            <a:endParaRPr lang="en-US" altLang="ja-JP" sz="1400">
              <a:solidFill>
                <a:prstClr val="black"/>
              </a:solidFill>
              <a:latin typeface="+mn-ea"/>
            </a:endParaRPr>
          </a:p>
          <a:p>
            <a:pPr marL="833437" lvl="1" indent="-285750" defTabSz="990589">
              <a:spcBef>
                <a:spcPts val="300"/>
              </a:spcBef>
              <a:buSzPct val="100000"/>
              <a:buFont typeface="Arial" panose="020B0604020202020204" pitchFamily="34" charset="0"/>
              <a:buChar char="•"/>
            </a:pPr>
            <a:r>
              <a:rPr lang="ja-JP" altLang="en-US" sz="1400">
                <a:solidFill>
                  <a:prstClr val="black"/>
                </a:solidFill>
                <a:latin typeface="+mn-ea"/>
              </a:rPr>
              <a:t>タテホ化学工業において、資産性のない外注費を建設仮勘定に計上</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42426A58-2BC2-910E-8DCB-4DC787BA440D}"/>
              </a:ext>
            </a:extLst>
          </p:cNvPr>
          <p:cNvSpPr/>
          <p:nvPr/>
        </p:nvSpPr>
        <p:spPr bwMode="gray">
          <a:xfrm>
            <a:off x="507602" y="1626625"/>
            <a:ext cx="1260000" cy="1620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graphicFrame>
        <p:nvGraphicFramePr>
          <p:cNvPr id="6" name="表 5">
            <a:extLst>
              <a:ext uri="{FF2B5EF4-FFF2-40B4-BE49-F238E27FC236}">
                <a16:creationId xmlns:a16="http://schemas.microsoft.com/office/drawing/2014/main" id="{2860EABB-8B10-E9F1-1099-62DED516BC45}"/>
              </a:ext>
            </a:extLst>
          </p:cNvPr>
          <p:cNvGraphicFramePr>
            <a:graphicFrameLocks noGrp="1"/>
          </p:cNvGraphicFramePr>
          <p:nvPr>
            <p:extLst>
              <p:ext uri="{D42A27DB-BD31-4B8C-83A1-F6EECF244321}">
                <p14:modId xmlns:p14="http://schemas.microsoft.com/office/powerpoint/2010/main" val="1740287035"/>
              </p:ext>
            </p:extLst>
          </p:nvPr>
        </p:nvGraphicFramePr>
        <p:xfrm>
          <a:off x="2526383" y="3961484"/>
          <a:ext cx="7211505" cy="1386515"/>
        </p:xfrm>
        <a:graphic>
          <a:graphicData uri="http://schemas.openxmlformats.org/drawingml/2006/table">
            <a:tbl>
              <a:tblPr firstRow="1" bandRow="1">
                <a:tableStyleId>{5C22544A-7EE6-4342-B048-85BDC9FD1C3A}</a:tableStyleId>
              </a:tblPr>
              <a:tblGrid>
                <a:gridCol w="2403835">
                  <a:extLst>
                    <a:ext uri="{9D8B030D-6E8A-4147-A177-3AD203B41FA5}">
                      <a16:colId xmlns:a16="http://schemas.microsoft.com/office/drawing/2014/main" val="746188620"/>
                    </a:ext>
                  </a:extLst>
                </a:gridCol>
                <a:gridCol w="2403835">
                  <a:extLst>
                    <a:ext uri="{9D8B030D-6E8A-4147-A177-3AD203B41FA5}">
                      <a16:colId xmlns:a16="http://schemas.microsoft.com/office/drawing/2014/main" val="477207402"/>
                    </a:ext>
                  </a:extLst>
                </a:gridCol>
                <a:gridCol w="2403835">
                  <a:extLst>
                    <a:ext uri="{9D8B030D-6E8A-4147-A177-3AD203B41FA5}">
                      <a16:colId xmlns:a16="http://schemas.microsoft.com/office/drawing/2014/main" val="435073880"/>
                    </a:ext>
                  </a:extLst>
                </a:gridCol>
              </a:tblGrid>
              <a:tr h="611942">
                <a:tc>
                  <a:txBody>
                    <a:bodyPr/>
                    <a:lstStyle/>
                    <a:p>
                      <a:pPr algn="ctr"/>
                      <a:r>
                        <a:rPr kumimoji="1" lang="ja-JP" altLang="en-US" sz="1600"/>
                        <a:t>本事案①の会計処理</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600"/>
                        <a:t>本事案②の会計処理</a:t>
                      </a:r>
                    </a:p>
                  </a:txBody>
                  <a:tcPr anchor="ctr"/>
                </a:tc>
                <a:tc>
                  <a:txBody>
                    <a:bodyPr/>
                    <a:lstStyle/>
                    <a:p>
                      <a:pPr algn="ctr"/>
                      <a:r>
                        <a:rPr kumimoji="1" lang="ja-JP" altLang="en-US" sz="1600"/>
                        <a:t>適切な会計処理</a:t>
                      </a:r>
                    </a:p>
                  </a:txBody>
                  <a:tcPr anchor="ctr"/>
                </a:tc>
                <a:extLst>
                  <a:ext uri="{0D108BD9-81ED-4DB2-BD59-A6C34878D82A}">
                    <a16:rowId xmlns:a16="http://schemas.microsoft.com/office/drawing/2014/main" val="3310091965"/>
                  </a:ext>
                </a:extLst>
              </a:tr>
              <a:tr h="680371">
                <a:tc>
                  <a:txBody>
                    <a:bodyPr/>
                    <a:lstStyle/>
                    <a:p>
                      <a:pPr algn="ctr">
                        <a:lnSpc>
                          <a:spcPct val="150000"/>
                        </a:lnSpc>
                      </a:pPr>
                      <a:r>
                        <a:rPr kumimoji="1" lang="ja-JP" altLang="en-US" sz="1600"/>
                        <a:t>修繕費</a:t>
                      </a:r>
                      <a:r>
                        <a:rPr kumimoji="1" lang="en-US" altLang="ja-JP" sz="1600"/>
                        <a:t>/</a:t>
                      </a:r>
                      <a:r>
                        <a:rPr kumimoji="1" lang="ja-JP" altLang="en-US" sz="1600"/>
                        <a:t>未払金</a:t>
                      </a:r>
                      <a:endParaRPr kumimoji="1" lang="en-US" altLang="ja-JP" sz="1600"/>
                    </a:p>
                    <a:p>
                      <a:pPr marL="0" marR="0" lvl="0" indent="0" algn="ctr" defTabSz="914400" rtl="0" eaLnBrk="1" fontAlgn="auto" latinLnBrk="0" hangingPunct="1">
                        <a:lnSpc>
                          <a:spcPct val="150000"/>
                        </a:lnSpc>
                        <a:spcBef>
                          <a:spcPts val="0"/>
                        </a:spcBef>
                        <a:spcAft>
                          <a:spcPts val="0"/>
                        </a:spcAft>
                        <a:buClrTx/>
                        <a:buSzTx/>
                        <a:buFontTx/>
                        <a:buNone/>
                        <a:tabLst/>
                        <a:defRPr/>
                      </a:pPr>
                      <a:r>
                        <a:rPr kumimoji="1" lang="ja-JP" altLang="en-US" sz="1600"/>
                        <a:t>建設仮勘定</a:t>
                      </a:r>
                      <a:r>
                        <a:rPr kumimoji="1" lang="en-US" altLang="ja-JP" sz="1600"/>
                        <a:t>/</a:t>
                      </a:r>
                      <a:r>
                        <a:rPr kumimoji="1" lang="ja-JP" altLang="en-US" sz="1600"/>
                        <a:t>修繕費</a:t>
                      </a:r>
                    </a:p>
                  </a:txBody>
                  <a:tcPr anchor="ctr"/>
                </a:tc>
                <a:tc>
                  <a:txBody>
                    <a:bodyPr/>
                    <a:lstStyle/>
                    <a:p>
                      <a:pPr algn="ctr"/>
                      <a:r>
                        <a:rPr kumimoji="1" lang="ja-JP" altLang="en-US" sz="1600"/>
                        <a:t>固定資産</a:t>
                      </a:r>
                      <a:r>
                        <a:rPr kumimoji="1" lang="en-US" altLang="ja-JP" sz="1600"/>
                        <a:t>/</a:t>
                      </a:r>
                      <a:r>
                        <a:rPr kumimoji="1" lang="ja-JP" altLang="en-US" sz="1600"/>
                        <a:t>未払金</a:t>
                      </a:r>
                    </a:p>
                  </a:txBody>
                  <a:tcPr anchor="ctr"/>
                </a:tc>
                <a:tc>
                  <a:txBody>
                    <a:bodyPr/>
                    <a:lstStyle/>
                    <a:p>
                      <a:pPr algn="ctr"/>
                      <a:r>
                        <a:rPr kumimoji="1" lang="ja-JP" altLang="en-US" sz="1600"/>
                        <a:t>修繕費</a:t>
                      </a:r>
                      <a:r>
                        <a:rPr kumimoji="1" lang="en-US" altLang="ja-JP" sz="1600"/>
                        <a:t>/</a:t>
                      </a:r>
                      <a:r>
                        <a:rPr kumimoji="1" lang="ja-JP" altLang="en-US" sz="1600"/>
                        <a:t>未払金</a:t>
                      </a:r>
                    </a:p>
                  </a:txBody>
                  <a:tcPr anchor="ctr"/>
                </a:tc>
                <a:extLst>
                  <a:ext uri="{0D108BD9-81ED-4DB2-BD59-A6C34878D82A}">
                    <a16:rowId xmlns:a16="http://schemas.microsoft.com/office/drawing/2014/main" val="2929332537"/>
                  </a:ext>
                </a:extLst>
              </a:tr>
            </a:tbl>
          </a:graphicData>
        </a:graphic>
      </p:graphicFrame>
      <p:sp>
        <p:nvSpPr>
          <p:cNvPr id="7" name="正方形/長方形 6">
            <a:extLst>
              <a:ext uri="{FF2B5EF4-FFF2-40B4-BE49-F238E27FC236}">
                <a16:creationId xmlns:a16="http://schemas.microsoft.com/office/drawing/2014/main" id="{BACE09DE-62F5-542C-39BD-C6CA198FD540}"/>
              </a:ext>
            </a:extLst>
          </p:cNvPr>
          <p:cNvSpPr/>
          <p:nvPr/>
        </p:nvSpPr>
        <p:spPr>
          <a:xfrm>
            <a:off x="2723378" y="5032231"/>
            <a:ext cx="2037449" cy="31576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cxnSp>
        <p:nvCxnSpPr>
          <p:cNvPr id="12" name="コネクタ: カギ線 11">
            <a:extLst>
              <a:ext uri="{FF2B5EF4-FFF2-40B4-BE49-F238E27FC236}">
                <a16:creationId xmlns:a16="http://schemas.microsoft.com/office/drawing/2014/main" id="{32AB7662-992F-95A8-6339-270AB55B9054}"/>
              </a:ext>
            </a:extLst>
          </p:cNvPr>
          <p:cNvCxnSpPr>
            <a:cxnSpLocks/>
            <a:stCxn id="7" idx="2"/>
            <a:endCxn id="14" idx="0"/>
          </p:cNvCxnSpPr>
          <p:nvPr/>
        </p:nvCxnSpPr>
        <p:spPr>
          <a:xfrm rot="16200000" flipH="1">
            <a:off x="4723824" y="4366276"/>
            <a:ext cx="525087" cy="2488529"/>
          </a:xfrm>
          <a:prstGeom prst="bentConnector3">
            <a:avLst>
              <a:gd name="adj1" fmla="val 50000"/>
            </a:avLst>
          </a:prstGeom>
          <a:ln w="38100"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1A273075-E0E2-56EA-C10E-730B9978F0D3}"/>
              </a:ext>
            </a:extLst>
          </p:cNvPr>
          <p:cNvSpPr txBox="1"/>
          <p:nvPr/>
        </p:nvSpPr>
        <p:spPr>
          <a:xfrm>
            <a:off x="3426158" y="5873085"/>
            <a:ext cx="5608948" cy="265265"/>
          </a:xfrm>
          <a:prstGeom prst="rect">
            <a:avLst/>
          </a:prstGeom>
          <a:noFill/>
        </p:spPr>
        <p:txBody>
          <a:bodyPr wrap="square" lIns="0" tIns="0" rIns="0" bIns="0" rtlCol="0">
            <a:spAutoFit/>
          </a:bodyPr>
          <a:lstStyle/>
          <a:p>
            <a:pPr>
              <a:lnSpc>
                <a:spcPct val="120000"/>
              </a:lnSpc>
            </a:pPr>
            <a:r>
              <a:rPr lang="ja-JP" altLang="en-US" sz="1600">
                <a:solidFill>
                  <a:srgbClr val="FF0000"/>
                </a:solidFill>
              </a:rPr>
              <a:t>利益改善</a:t>
            </a:r>
            <a:r>
              <a:rPr lang="en-US" altLang="ja-JP" sz="1600">
                <a:solidFill>
                  <a:srgbClr val="FF0000"/>
                </a:solidFill>
              </a:rPr>
              <a:t>(</a:t>
            </a:r>
            <a:r>
              <a:rPr lang="ja-JP" altLang="en-US" sz="1600">
                <a:solidFill>
                  <a:srgbClr val="FF0000"/>
                </a:solidFill>
              </a:rPr>
              <a:t>費用先送り</a:t>
            </a:r>
            <a:r>
              <a:rPr lang="en-US" altLang="ja-JP" sz="1600">
                <a:solidFill>
                  <a:srgbClr val="FF0000"/>
                </a:solidFill>
              </a:rPr>
              <a:t>)(※)</a:t>
            </a:r>
            <a:r>
              <a:rPr lang="ja-JP" altLang="en-US" sz="1600">
                <a:solidFill>
                  <a:srgbClr val="FF0000"/>
                </a:solidFill>
              </a:rPr>
              <a:t>の目的で費用⇒資産に振替は</a:t>
            </a:r>
            <a:r>
              <a:rPr lang="en-US" altLang="ja-JP" sz="1600">
                <a:solidFill>
                  <a:srgbClr val="FF0000"/>
                </a:solidFill>
              </a:rPr>
              <a:t>NG</a:t>
            </a:r>
          </a:p>
        </p:txBody>
      </p:sp>
      <p:sp>
        <p:nvSpPr>
          <p:cNvPr id="23" name="乗算記号 22">
            <a:extLst>
              <a:ext uri="{FF2B5EF4-FFF2-40B4-BE49-F238E27FC236}">
                <a16:creationId xmlns:a16="http://schemas.microsoft.com/office/drawing/2014/main" id="{83354C8D-43E3-B09F-D139-B4B348478AA7}"/>
              </a:ext>
            </a:extLst>
          </p:cNvPr>
          <p:cNvSpPr/>
          <p:nvPr/>
        </p:nvSpPr>
        <p:spPr>
          <a:xfrm>
            <a:off x="3328102" y="3277516"/>
            <a:ext cx="828000" cy="719138"/>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4" name="円: 塗りつぶしなし 23">
            <a:extLst>
              <a:ext uri="{FF2B5EF4-FFF2-40B4-BE49-F238E27FC236}">
                <a16:creationId xmlns:a16="http://schemas.microsoft.com/office/drawing/2014/main" id="{2A990486-C7CE-D5F3-CC22-0F8ADCEDBF13}"/>
              </a:ext>
            </a:extLst>
          </p:cNvPr>
          <p:cNvSpPr/>
          <p:nvPr/>
        </p:nvSpPr>
        <p:spPr>
          <a:xfrm>
            <a:off x="8167485" y="3322009"/>
            <a:ext cx="596247" cy="5969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5" name="正方形/長方形 34">
            <a:extLst>
              <a:ext uri="{FF2B5EF4-FFF2-40B4-BE49-F238E27FC236}">
                <a16:creationId xmlns:a16="http://schemas.microsoft.com/office/drawing/2014/main" id="{29B7099A-88EF-448F-848B-D19FBCC083F4}"/>
              </a:ext>
            </a:extLst>
          </p:cNvPr>
          <p:cNvSpPr/>
          <p:nvPr/>
        </p:nvSpPr>
        <p:spPr>
          <a:xfrm>
            <a:off x="5211908" y="4806565"/>
            <a:ext cx="2037449" cy="315767"/>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6" name="乗算記号 35">
            <a:extLst>
              <a:ext uri="{FF2B5EF4-FFF2-40B4-BE49-F238E27FC236}">
                <a16:creationId xmlns:a16="http://schemas.microsoft.com/office/drawing/2014/main" id="{F3D99E0B-A55B-971E-1D2F-741A8C04288B}"/>
              </a:ext>
            </a:extLst>
          </p:cNvPr>
          <p:cNvSpPr/>
          <p:nvPr/>
        </p:nvSpPr>
        <p:spPr>
          <a:xfrm>
            <a:off x="5718135" y="3277516"/>
            <a:ext cx="828000" cy="719138"/>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40" name="テキスト ボックス 39">
            <a:extLst>
              <a:ext uri="{FF2B5EF4-FFF2-40B4-BE49-F238E27FC236}">
                <a16:creationId xmlns:a16="http://schemas.microsoft.com/office/drawing/2014/main" id="{5A9AB4EA-B141-3C50-DBC7-F3DF3A7E8AD8}"/>
              </a:ext>
            </a:extLst>
          </p:cNvPr>
          <p:cNvSpPr txBox="1"/>
          <p:nvPr/>
        </p:nvSpPr>
        <p:spPr>
          <a:xfrm>
            <a:off x="3426158" y="6188849"/>
            <a:ext cx="8455376" cy="490455"/>
          </a:xfrm>
          <a:prstGeom prst="rect">
            <a:avLst/>
          </a:prstGeom>
          <a:noFill/>
        </p:spPr>
        <p:txBody>
          <a:bodyPr wrap="square" lIns="0" tIns="0" rIns="0" bIns="0" rtlCol="0">
            <a:spAutoFit/>
          </a:bodyPr>
          <a:lstStyle/>
          <a:p>
            <a:pPr marL="358775" indent="-358775">
              <a:lnSpc>
                <a:spcPct val="120000"/>
              </a:lnSpc>
            </a:pPr>
            <a:r>
              <a:rPr kumimoji="1" lang="en-US" altLang="ja-JP" sz="1400" spc="110" baseline="0">
                <a:solidFill>
                  <a:srgbClr val="FF0000"/>
                </a:solidFill>
              </a:rPr>
              <a:t>(※)</a:t>
            </a:r>
            <a:r>
              <a:rPr kumimoji="1" lang="ja-JP" altLang="en-US" sz="1400" spc="110" baseline="0">
                <a:solidFill>
                  <a:srgbClr val="FF0000"/>
                </a:solidFill>
              </a:rPr>
              <a:t>費用を固定資産計上することで、耐用年数に応じて減価償却されることになり、費用先送りが可能になってしまう</a:t>
            </a:r>
          </a:p>
        </p:txBody>
      </p:sp>
      <p:cxnSp>
        <p:nvCxnSpPr>
          <p:cNvPr id="43" name="コネクタ: カギ線 42">
            <a:extLst>
              <a:ext uri="{FF2B5EF4-FFF2-40B4-BE49-F238E27FC236}">
                <a16:creationId xmlns:a16="http://schemas.microsoft.com/office/drawing/2014/main" id="{AD3EAF5F-2203-D927-1D1D-AEBC7B6D68AB}"/>
              </a:ext>
            </a:extLst>
          </p:cNvPr>
          <p:cNvCxnSpPr>
            <a:cxnSpLocks/>
            <a:stCxn id="35" idx="2"/>
            <a:endCxn id="14" idx="0"/>
          </p:cNvCxnSpPr>
          <p:nvPr/>
        </p:nvCxnSpPr>
        <p:spPr>
          <a:xfrm rot="5400000">
            <a:off x="5855257" y="5497708"/>
            <a:ext cx="750753" cy="1"/>
          </a:xfrm>
          <a:prstGeom prst="bentConnector3">
            <a:avLst>
              <a:gd name="adj1" fmla="val 50000"/>
            </a:avLst>
          </a:prstGeom>
          <a:ln w="38100"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sp>
        <p:nvSpPr>
          <p:cNvPr id="52" name="テキスト プレースホルダー 3">
            <a:extLst>
              <a:ext uri="{FF2B5EF4-FFF2-40B4-BE49-F238E27FC236}">
                <a16:creationId xmlns:a16="http://schemas.microsoft.com/office/drawing/2014/main" id="{E812B4CE-169F-F660-DB01-FB19ED03B4C8}"/>
              </a:ext>
            </a:extLst>
          </p:cNvPr>
          <p:cNvSpPr txBox="1">
            <a:spLocks/>
          </p:cNvSpPr>
          <p:nvPr/>
        </p:nvSpPr>
        <p:spPr>
          <a:xfrm>
            <a:off x="659999" y="892271"/>
            <a:ext cx="11260151" cy="684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修繕費等の支出の適切な資産計上にあたっては、会計方針書等に定められた資産計上要件や実態に基づいて判断するとともに、事後的な検証も見据えて判断根拠の文書化・保存が必要です</a:t>
            </a:r>
          </a:p>
        </p:txBody>
      </p:sp>
      <p:sp>
        <p:nvSpPr>
          <p:cNvPr id="4" name="正方形/長方形 3">
            <a:extLst>
              <a:ext uri="{FF2B5EF4-FFF2-40B4-BE49-F238E27FC236}">
                <a16:creationId xmlns:a16="http://schemas.microsoft.com/office/drawing/2014/main" id="{0D6F0F13-E7E4-6570-E723-C59544925F7B}"/>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211436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12A87-B8E3-36E9-0AD5-28280D37D5E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7A3DDFB-2DD5-BC50-4E2F-2DF12CD33957}"/>
              </a:ext>
            </a:extLst>
          </p:cNvPr>
          <p:cNvSpPr>
            <a:spLocks noGrp="1"/>
          </p:cNvSpPr>
          <p:nvPr>
            <p:ph type="title"/>
          </p:nvPr>
        </p:nvSpPr>
        <p:spPr/>
        <p:txBody>
          <a:bodyPr/>
          <a:lstStyle/>
          <a:p>
            <a:r>
              <a:rPr lang="en-US" altLang="ja-JP"/>
              <a:t>3-12.</a:t>
            </a:r>
            <a:r>
              <a:rPr lang="ja-JP" altLang="en-US"/>
              <a:t>資産性のない支出の固定資産計上</a:t>
            </a:r>
            <a:endParaRPr kumimoji="1" lang="ja-JP" altLang="en-US"/>
          </a:p>
        </p:txBody>
      </p:sp>
      <p:sp>
        <p:nvSpPr>
          <p:cNvPr id="29" name="正方形/長方形 28">
            <a:extLst>
              <a:ext uri="{FF2B5EF4-FFF2-40B4-BE49-F238E27FC236}">
                <a16:creationId xmlns:a16="http://schemas.microsoft.com/office/drawing/2014/main" id="{06E90719-28F2-D81B-DC2F-A3BA1ACBBD33}"/>
              </a:ext>
            </a:extLst>
          </p:cNvPr>
          <p:cNvSpPr/>
          <p:nvPr/>
        </p:nvSpPr>
        <p:spPr>
          <a:xfrm>
            <a:off x="2668412" y="3741362"/>
            <a:ext cx="6288018" cy="1092978"/>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固定資産の修理、改良等のために支出した金額のうち当該</a:t>
            </a:r>
            <a:r>
              <a:rPr lang="ja-JP" altLang="en-US" sz="1600" b="1" u="sng">
                <a:solidFill>
                  <a:schemeClr val="tx1"/>
                </a:solidFill>
                <a:latin typeface="+mn-ea"/>
                <a:cs typeface="Meiryo UI" panose="020B0604030504040204" pitchFamily="50" charset="-128"/>
              </a:rPr>
              <a:t>固定資産の価値を高め</a:t>
            </a:r>
            <a:r>
              <a:rPr lang="ja-JP" altLang="en-US" sz="1600">
                <a:solidFill>
                  <a:schemeClr val="tx1"/>
                </a:solidFill>
                <a:latin typeface="+mn-ea"/>
                <a:cs typeface="Meiryo UI" panose="020B0604030504040204" pitchFamily="50" charset="-128"/>
              </a:rPr>
              <a:t>、又はその</a:t>
            </a:r>
            <a:r>
              <a:rPr lang="ja-JP" altLang="en-US" sz="1600" b="1" u="sng">
                <a:solidFill>
                  <a:schemeClr val="tx1"/>
                </a:solidFill>
                <a:latin typeface="+mn-ea"/>
                <a:cs typeface="Meiryo UI" panose="020B0604030504040204" pitchFamily="50" charset="-128"/>
              </a:rPr>
              <a:t>耐久性を増す</a:t>
            </a:r>
            <a:r>
              <a:rPr lang="ja-JP" altLang="en-US" sz="1600">
                <a:solidFill>
                  <a:schemeClr val="tx1"/>
                </a:solidFill>
                <a:latin typeface="+mn-ea"/>
                <a:cs typeface="Meiryo UI" panose="020B0604030504040204" pitchFamily="50" charset="-128"/>
              </a:rPr>
              <a:t>こととなると認められる部分</a:t>
            </a:r>
          </a:p>
        </p:txBody>
      </p:sp>
      <p:sp>
        <p:nvSpPr>
          <p:cNvPr id="31" name="正方形/長方形 30">
            <a:extLst>
              <a:ext uri="{FF2B5EF4-FFF2-40B4-BE49-F238E27FC236}">
                <a16:creationId xmlns:a16="http://schemas.microsoft.com/office/drawing/2014/main" id="{8169EBE3-5CCD-5505-1EBB-D0D21F6AC742}"/>
              </a:ext>
            </a:extLst>
          </p:cNvPr>
          <p:cNvSpPr/>
          <p:nvPr/>
        </p:nvSpPr>
        <p:spPr>
          <a:xfrm>
            <a:off x="601020" y="3127848"/>
            <a:ext cx="3422339" cy="46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285750" indent="-285750" algn="ctr">
              <a:buFont typeface="Wingdings" panose="05000000000000000000" pitchFamily="2" charset="2"/>
              <a:buChar char="n"/>
            </a:pPr>
            <a:r>
              <a:rPr lang="ja-JP" altLang="en-US" sz="1600">
                <a:solidFill>
                  <a:schemeClr val="tx1"/>
                </a:solidFill>
                <a:latin typeface="+mn-ea"/>
              </a:rPr>
              <a:t>法人税法基本通達</a:t>
            </a:r>
            <a:r>
              <a:rPr lang="en-US" altLang="ja-JP" sz="1600">
                <a:solidFill>
                  <a:schemeClr val="tx1"/>
                </a:solidFill>
                <a:latin typeface="+mn-ea"/>
              </a:rPr>
              <a:t>7-8-1</a:t>
            </a:r>
            <a:r>
              <a:rPr lang="ja-JP" altLang="en-US" sz="1600">
                <a:solidFill>
                  <a:schemeClr val="tx1"/>
                </a:solidFill>
                <a:latin typeface="+mn-ea"/>
              </a:rPr>
              <a:t>、</a:t>
            </a:r>
            <a:r>
              <a:rPr lang="en-US" altLang="ja-JP" sz="1600">
                <a:solidFill>
                  <a:schemeClr val="tx1"/>
                </a:solidFill>
                <a:latin typeface="+mn-ea"/>
              </a:rPr>
              <a:t>7-8-2</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
        <p:nvSpPr>
          <p:cNvPr id="2" name="Rectangle 22">
            <a:extLst>
              <a:ext uri="{FF2B5EF4-FFF2-40B4-BE49-F238E27FC236}">
                <a16:creationId xmlns:a16="http://schemas.microsoft.com/office/drawing/2014/main" id="{5BE3656B-8A48-69E9-5651-6E4250C3AAB5}"/>
              </a:ext>
            </a:extLst>
          </p:cNvPr>
          <p:cNvSpPr>
            <a:spLocks noChangeArrowheads="1"/>
          </p:cNvSpPr>
          <p:nvPr/>
        </p:nvSpPr>
        <p:spPr bwMode="gray">
          <a:xfrm>
            <a:off x="846666" y="3741361"/>
            <a:ext cx="1620000" cy="1092977"/>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資本的支出</a:t>
            </a:r>
            <a:endParaRPr kumimoji="1" lang="en-US" altLang="ja-JP" sz="1600" b="1">
              <a:solidFill>
                <a:schemeClr val="bg1"/>
              </a:solidFill>
            </a:endParaRPr>
          </a:p>
        </p:txBody>
      </p:sp>
      <p:sp>
        <p:nvSpPr>
          <p:cNvPr id="4" name="Rectangle 22">
            <a:extLst>
              <a:ext uri="{FF2B5EF4-FFF2-40B4-BE49-F238E27FC236}">
                <a16:creationId xmlns:a16="http://schemas.microsoft.com/office/drawing/2014/main" id="{2880739A-8000-F8DF-B201-00CDD1977AD7}"/>
              </a:ext>
            </a:extLst>
          </p:cNvPr>
          <p:cNvSpPr>
            <a:spLocks noChangeArrowheads="1"/>
          </p:cNvSpPr>
          <p:nvPr/>
        </p:nvSpPr>
        <p:spPr bwMode="gray">
          <a:xfrm>
            <a:off x="846666" y="4989056"/>
            <a:ext cx="1620000" cy="1092979"/>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修繕費</a:t>
            </a:r>
            <a:endParaRPr lang="en-US" altLang="ja-JP" sz="1600" b="1">
              <a:solidFill>
                <a:schemeClr val="bg1"/>
              </a:solidFill>
            </a:endParaRPr>
          </a:p>
          <a:p>
            <a:pPr marL="177795" indent="-177795" algn="ctr">
              <a:spcBef>
                <a:spcPts val="331"/>
              </a:spcBef>
            </a:pPr>
            <a:r>
              <a:rPr kumimoji="1" lang="en-US" altLang="ja-JP" sz="1600" b="1">
                <a:solidFill>
                  <a:schemeClr val="bg1"/>
                </a:solidFill>
              </a:rPr>
              <a:t>(</a:t>
            </a:r>
            <a:r>
              <a:rPr kumimoji="1" lang="ja-JP" altLang="en-US" sz="1600" b="1">
                <a:solidFill>
                  <a:schemeClr val="bg1"/>
                </a:solidFill>
              </a:rPr>
              <a:t>収益的支出</a:t>
            </a:r>
            <a:r>
              <a:rPr kumimoji="1" lang="en-US" altLang="ja-JP" sz="1600" b="1">
                <a:solidFill>
                  <a:schemeClr val="bg1"/>
                </a:solidFill>
              </a:rPr>
              <a:t>)</a:t>
            </a:r>
          </a:p>
        </p:txBody>
      </p:sp>
      <p:sp>
        <p:nvSpPr>
          <p:cNvPr id="8" name="正方形/長方形 7">
            <a:extLst>
              <a:ext uri="{FF2B5EF4-FFF2-40B4-BE49-F238E27FC236}">
                <a16:creationId xmlns:a16="http://schemas.microsoft.com/office/drawing/2014/main" id="{5A24FE54-D29D-E77B-EAB6-1A4DC844839C}"/>
              </a:ext>
            </a:extLst>
          </p:cNvPr>
          <p:cNvSpPr/>
          <p:nvPr/>
        </p:nvSpPr>
        <p:spPr>
          <a:xfrm>
            <a:off x="2668412" y="4989057"/>
            <a:ext cx="6288018" cy="1092979"/>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600">
                <a:solidFill>
                  <a:schemeClr val="tx1"/>
                </a:solidFill>
                <a:latin typeface="+mn-ea"/>
                <a:cs typeface="Meiryo UI" panose="020B0604030504040204" pitchFamily="50" charset="-128"/>
              </a:rPr>
              <a:t>固定資産の修理、改良等のために支出した金額のうち当該固定資産の通常の維持管理のため、又は毀損した固定資産につきその原状を回復するために要したと認められる部分</a:t>
            </a:r>
            <a:endParaRPr lang="en-US" altLang="ja-JP" sz="1600">
              <a:solidFill>
                <a:schemeClr val="tx1"/>
              </a:solidFill>
              <a:latin typeface="+mn-ea"/>
              <a:cs typeface="Meiryo UI" panose="020B0604030504040204" pitchFamily="50" charset="-128"/>
            </a:endParaRPr>
          </a:p>
        </p:txBody>
      </p:sp>
      <p:sp>
        <p:nvSpPr>
          <p:cNvPr id="11" name="Rectangle 22">
            <a:extLst>
              <a:ext uri="{FF2B5EF4-FFF2-40B4-BE49-F238E27FC236}">
                <a16:creationId xmlns:a16="http://schemas.microsoft.com/office/drawing/2014/main" id="{3BE5E2B6-BA79-3A16-86BB-0EE91AC0255B}"/>
              </a:ext>
            </a:extLst>
          </p:cNvPr>
          <p:cNvSpPr>
            <a:spLocks noChangeArrowheads="1"/>
          </p:cNvSpPr>
          <p:nvPr/>
        </p:nvSpPr>
        <p:spPr bwMode="gray">
          <a:xfrm>
            <a:off x="580944" y="1802894"/>
            <a:ext cx="1620000" cy="1008000"/>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spcBef>
                <a:spcPts val="331"/>
              </a:spcBef>
            </a:pPr>
            <a:r>
              <a:rPr lang="ja-JP" altLang="en-US" sz="1600" b="1">
                <a:solidFill>
                  <a:schemeClr val="bg1"/>
                </a:solidFill>
              </a:rPr>
              <a:t>現状の</a:t>
            </a:r>
            <a:r>
              <a:rPr kumimoji="1" lang="en-US" altLang="ja-JP" sz="1600" b="1">
                <a:solidFill>
                  <a:schemeClr val="bg1"/>
                </a:solidFill>
              </a:rPr>
              <a:t>AW</a:t>
            </a:r>
            <a:r>
              <a:rPr kumimoji="1" lang="ja-JP" altLang="en-US" sz="1600" b="1">
                <a:solidFill>
                  <a:schemeClr val="bg1"/>
                </a:solidFill>
              </a:rPr>
              <a:t>グループでの修繕費の処理ルール</a:t>
            </a:r>
            <a:endParaRPr kumimoji="1" lang="en-US" altLang="ja-JP" sz="1600" b="1">
              <a:solidFill>
                <a:schemeClr val="bg1"/>
              </a:solidFill>
            </a:endParaRPr>
          </a:p>
        </p:txBody>
      </p:sp>
      <p:sp>
        <p:nvSpPr>
          <p:cNvPr id="12" name="正方形/長方形 11">
            <a:extLst>
              <a:ext uri="{FF2B5EF4-FFF2-40B4-BE49-F238E27FC236}">
                <a16:creationId xmlns:a16="http://schemas.microsoft.com/office/drawing/2014/main" id="{67E03F3A-D248-855B-D754-06C65741B438}"/>
              </a:ext>
            </a:extLst>
          </p:cNvPr>
          <p:cNvSpPr/>
          <p:nvPr/>
        </p:nvSpPr>
        <p:spPr>
          <a:xfrm>
            <a:off x="2402690" y="1802894"/>
            <a:ext cx="9468000" cy="1008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通常の定期修繕、重要な定期修繕</a:t>
            </a:r>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以下「重定修」という</a:t>
            </a:r>
            <a:r>
              <a:rPr lang="en-US" altLang="ja-JP" sz="1600">
                <a:solidFill>
                  <a:schemeClr val="tx1"/>
                </a:solidFill>
                <a:latin typeface="+mn-ea"/>
                <a:cs typeface="Meiryo UI" panose="020B0604030504040204" pitchFamily="50" charset="-128"/>
              </a:rPr>
              <a:t>)</a:t>
            </a:r>
            <a:r>
              <a:rPr lang="ja-JP" altLang="en-US" sz="1600">
                <a:solidFill>
                  <a:schemeClr val="tx1"/>
                </a:solidFill>
                <a:latin typeface="+mn-ea"/>
                <a:cs typeface="Meiryo UI" panose="020B0604030504040204" pitchFamily="50" charset="-128"/>
              </a:rPr>
              <a:t>を問わず、修繕費の具体的な処理に係る統一的なルールは存在せず、支出部門ごとに判断を行っている</a:t>
            </a:r>
            <a:endParaRPr lang="en-US" altLang="ja-JP" sz="16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600">
                <a:solidFill>
                  <a:schemeClr val="tx1"/>
                </a:solidFill>
                <a:latin typeface="+mn-ea"/>
                <a:cs typeface="Meiryo UI" panose="020B0604030504040204" pitchFamily="50" charset="-128"/>
              </a:rPr>
              <a:t>なお、重定修に係る費用を一律に固定資産として計上、というルールはない</a:t>
            </a:r>
          </a:p>
        </p:txBody>
      </p:sp>
      <p:sp>
        <p:nvSpPr>
          <p:cNvPr id="16" name="テキスト プレースホルダー 3">
            <a:extLst>
              <a:ext uri="{FF2B5EF4-FFF2-40B4-BE49-F238E27FC236}">
                <a16:creationId xmlns:a16="http://schemas.microsoft.com/office/drawing/2014/main" id="{DF2E5C4C-40A4-93D6-66AA-F8602A1AF3E6}"/>
              </a:ext>
            </a:extLst>
          </p:cNvPr>
          <p:cNvSpPr txBox="1">
            <a:spLocks/>
          </p:cNvSpPr>
          <p:nvPr/>
        </p:nvSpPr>
        <p:spPr>
          <a:xfrm>
            <a:off x="659999" y="892471"/>
            <a:ext cx="11260151" cy="684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修繕費等の支出の適切な資産計上にあたっては、会計方針書等に定められた資産計上要件や実態に基づいて判断するとともに、事後的な検証も見据えて判断根拠の文書化・保存が必要です</a:t>
            </a:r>
          </a:p>
        </p:txBody>
      </p:sp>
      <p:sp>
        <p:nvSpPr>
          <p:cNvPr id="5" name="二等辺三角形 4">
            <a:extLst>
              <a:ext uri="{FF2B5EF4-FFF2-40B4-BE49-F238E27FC236}">
                <a16:creationId xmlns:a16="http://schemas.microsoft.com/office/drawing/2014/main" id="{277A5ABF-E279-FE44-7176-A4700CBF7478}"/>
              </a:ext>
            </a:extLst>
          </p:cNvPr>
          <p:cNvSpPr/>
          <p:nvPr/>
        </p:nvSpPr>
        <p:spPr>
          <a:xfrm rot="5400000">
            <a:off x="8733341" y="4166196"/>
            <a:ext cx="1078523" cy="228854"/>
          </a:xfrm>
          <a:prstGeom prst="triangle">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 name="二等辺三角形 5">
            <a:extLst>
              <a:ext uri="{FF2B5EF4-FFF2-40B4-BE49-F238E27FC236}">
                <a16:creationId xmlns:a16="http://schemas.microsoft.com/office/drawing/2014/main" id="{EC88B849-0E27-B026-E9BA-5651A986BEB8}"/>
              </a:ext>
            </a:extLst>
          </p:cNvPr>
          <p:cNvSpPr/>
          <p:nvPr/>
        </p:nvSpPr>
        <p:spPr>
          <a:xfrm rot="5400000">
            <a:off x="8733341" y="5413891"/>
            <a:ext cx="1078523" cy="228854"/>
          </a:xfrm>
          <a:prstGeom prst="triangle">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 name="正方形/長方形 6">
            <a:extLst>
              <a:ext uri="{FF2B5EF4-FFF2-40B4-BE49-F238E27FC236}">
                <a16:creationId xmlns:a16="http://schemas.microsoft.com/office/drawing/2014/main" id="{F21AD05B-FB68-F432-493C-B37C52315BE6}"/>
              </a:ext>
            </a:extLst>
          </p:cNvPr>
          <p:cNvSpPr/>
          <p:nvPr/>
        </p:nvSpPr>
        <p:spPr>
          <a:xfrm>
            <a:off x="9588775" y="3741361"/>
            <a:ext cx="1704455" cy="1092978"/>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資産計上</a:t>
            </a:r>
          </a:p>
        </p:txBody>
      </p:sp>
      <p:sp>
        <p:nvSpPr>
          <p:cNvPr id="9" name="正方形/長方形 8">
            <a:extLst>
              <a:ext uri="{FF2B5EF4-FFF2-40B4-BE49-F238E27FC236}">
                <a16:creationId xmlns:a16="http://schemas.microsoft.com/office/drawing/2014/main" id="{909BDE41-F262-B17C-04CB-90F607FDA058}"/>
              </a:ext>
            </a:extLst>
          </p:cNvPr>
          <p:cNvSpPr/>
          <p:nvPr/>
        </p:nvSpPr>
        <p:spPr>
          <a:xfrm>
            <a:off x="9588775" y="4989057"/>
            <a:ext cx="1704455" cy="1092978"/>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費用計上</a:t>
            </a:r>
          </a:p>
        </p:txBody>
      </p:sp>
      <p:sp>
        <p:nvSpPr>
          <p:cNvPr id="10" name="正方形/長方形 9">
            <a:extLst>
              <a:ext uri="{FF2B5EF4-FFF2-40B4-BE49-F238E27FC236}">
                <a16:creationId xmlns:a16="http://schemas.microsoft.com/office/drawing/2014/main" id="{AA579547-37C8-A903-4709-67B0048C26AB}"/>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38152957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8E4C8-84B6-33CC-729F-9D54077E8BCC}"/>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E090B54-7BFE-9B1B-5347-1AED0CFD0584}"/>
              </a:ext>
            </a:extLst>
          </p:cNvPr>
          <p:cNvSpPr>
            <a:spLocks noGrp="1"/>
          </p:cNvSpPr>
          <p:nvPr>
            <p:ph type="title"/>
          </p:nvPr>
        </p:nvSpPr>
        <p:spPr/>
        <p:txBody>
          <a:bodyPr>
            <a:normAutofit/>
          </a:bodyPr>
          <a:lstStyle/>
          <a:p>
            <a:r>
              <a:rPr lang="en-US" altLang="ja-JP"/>
              <a:t>3-12.</a:t>
            </a:r>
            <a:r>
              <a:rPr lang="ja-JP" altLang="en-US"/>
              <a:t>資産性のない支出の固定資産計上</a:t>
            </a:r>
            <a:endParaRPr lang="ja-JP" altLang="en-US">
              <a:cs typeface="Segoe UI"/>
            </a:endParaRPr>
          </a:p>
        </p:txBody>
      </p:sp>
      <p:sp>
        <p:nvSpPr>
          <p:cNvPr id="29" name="正方形/長方形 28">
            <a:extLst>
              <a:ext uri="{FF2B5EF4-FFF2-40B4-BE49-F238E27FC236}">
                <a16:creationId xmlns:a16="http://schemas.microsoft.com/office/drawing/2014/main" id="{2576F29D-EAB4-84A0-6E97-48A246B22CF8}"/>
              </a:ext>
            </a:extLst>
          </p:cNvPr>
          <p:cNvSpPr/>
          <p:nvPr/>
        </p:nvSpPr>
        <p:spPr>
          <a:xfrm>
            <a:off x="2668412" y="4528886"/>
            <a:ext cx="6288018" cy="1092978"/>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eaLnBrk="1" hangingPunct="1"/>
            <a:r>
              <a:rPr lang="ja-JP" altLang="en-US" sz="1200" b="1" u="sng">
                <a:solidFill>
                  <a:srgbClr val="FF0000"/>
                </a:solidFill>
                <a:latin typeface="+mn-ea"/>
                <a:cs typeface="Meiryo UI" panose="020B0604030504040204" pitchFamily="50" charset="-128"/>
              </a:rPr>
              <a:t>固定資産の価値を高める</a:t>
            </a:r>
            <a:endParaRPr lang="en-US" altLang="ja-JP" sz="1200" b="1" u="sng">
              <a:solidFill>
                <a:srgbClr val="FF0000"/>
              </a:solidFill>
              <a:latin typeface="+mn-ea"/>
              <a:cs typeface="Meiryo UI" panose="020B0604030504040204" pitchFamily="50" charset="-128"/>
            </a:endParaRPr>
          </a:p>
          <a:p>
            <a:pPr eaLnBrk="1" hangingPunct="1"/>
            <a:r>
              <a:rPr lang="ja-JP" altLang="en-US" sz="1200">
                <a:solidFill>
                  <a:schemeClr val="tx1"/>
                </a:solidFill>
                <a:latin typeface="+mn-ea"/>
                <a:cs typeface="Meiryo UI" panose="020B0604030504040204" pitchFamily="50" charset="-128"/>
              </a:rPr>
              <a:t>例）建物に避難階段を新しくつける。機械の部品を高性能の部品に変える。</a:t>
            </a:r>
            <a:endParaRPr lang="en-US" altLang="ja-JP" sz="1200">
              <a:solidFill>
                <a:schemeClr val="tx1"/>
              </a:solidFill>
              <a:latin typeface="+mn-ea"/>
              <a:cs typeface="Meiryo UI" panose="020B0604030504040204" pitchFamily="50" charset="-128"/>
            </a:endParaRPr>
          </a:p>
          <a:p>
            <a:pPr eaLnBrk="1" hangingPunct="1"/>
            <a:r>
              <a:rPr lang="ja-JP" altLang="en-US" sz="1200" b="1" u="sng">
                <a:solidFill>
                  <a:srgbClr val="FF0000"/>
                </a:solidFill>
                <a:latin typeface="+mn-ea"/>
                <a:cs typeface="Meiryo UI" panose="020B0604030504040204" pitchFamily="50" charset="-128"/>
              </a:rPr>
              <a:t>耐久性を増す</a:t>
            </a:r>
            <a:endParaRPr lang="en-US" altLang="ja-JP" sz="1200" b="1" u="sng">
              <a:solidFill>
                <a:srgbClr val="FF0000"/>
              </a:solidFill>
              <a:latin typeface="+mn-ea"/>
              <a:cs typeface="Meiryo UI" panose="020B0604030504040204" pitchFamily="50" charset="-128"/>
            </a:endParaRPr>
          </a:p>
          <a:p>
            <a:pPr eaLnBrk="1" hangingPunct="1"/>
            <a:r>
              <a:rPr lang="ja-JP" altLang="en-US" sz="1200">
                <a:solidFill>
                  <a:schemeClr val="tx1"/>
                </a:solidFill>
                <a:latin typeface="+mn-ea"/>
                <a:cs typeface="Meiryo UI" panose="020B0604030504040204" pitchFamily="50" charset="-128"/>
              </a:rPr>
              <a:t>例）屋根の一部補修ではなく、屋根全体を耐久性の高い仕様に更新し、建物の寿命を延ばす。</a:t>
            </a:r>
            <a:endParaRPr lang="en-US" altLang="ja-JP" sz="1200">
              <a:solidFill>
                <a:schemeClr val="tx1"/>
              </a:solidFill>
              <a:latin typeface="+mn-ea"/>
              <a:cs typeface="Meiryo UI" panose="020B0604030504040204" pitchFamily="50" charset="-128"/>
            </a:endParaRPr>
          </a:p>
          <a:p>
            <a:pPr eaLnBrk="1" hangingPunct="1"/>
            <a:r>
              <a:rPr lang="ja-JP" altLang="en-US" sz="1200">
                <a:solidFill>
                  <a:schemeClr val="tx1"/>
                </a:solidFill>
                <a:latin typeface="+mn-ea"/>
                <a:cs typeface="Meiryo UI" panose="020B0604030504040204" pitchFamily="50" charset="-128"/>
              </a:rPr>
              <a:t>　　貯槽タンクの塗装が剝がれたため、腐食耐性のある塗料を用いた工事を行った。</a:t>
            </a:r>
            <a:endParaRPr lang="en-US" altLang="ja-JP" sz="1200">
              <a:solidFill>
                <a:schemeClr val="tx1"/>
              </a:solidFill>
              <a:latin typeface="+mn-ea"/>
              <a:cs typeface="Meiryo UI" panose="020B0604030504040204" pitchFamily="50" charset="-128"/>
            </a:endParaRPr>
          </a:p>
        </p:txBody>
      </p:sp>
      <p:sp>
        <p:nvSpPr>
          <p:cNvPr id="8" name="正方形/長方形 7">
            <a:extLst>
              <a:ext uri="{FF2B5EF4-FFF2-40B4-BE49-F238E27FC236}">
                <a16:creationId xmlns:a16="http://schemas.microsoft.com/office/drawing/2014/main" id="{F67F6318-7ACD-A2C8-F8B3-B9A5F24EB3C8}"/>
              </a:ext>
            </a:extLst>
          </p:cNvPr>
          <p:cNvSpPr/>
          <p:nvPr/>
        </p:nvSpPr>
        <p:spPr>
          <a:xfrm>
            <a:off x="2668412" y="5701565"/>
            <a:ext cx="6288018" cy="748382"/>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200" b="1" u="sng">
                <a:solidFill>
                  <a:srgbClr val="FF0000"/>
                </a:solidFill>
                <a:latin typeface="+mn-ea"/>
                <a:cs typeface="Meiryo UI" panose="020B0604030504040204" pitchFamily="50" charset="-128"/>
              </a:rPr>
              <a:t>通常の維持管理、毀損した固定資産につきその原状を回復するため</a:t>
            </a:r>
            <a:endParaRPr lang="en-US" altLang="ja-JP" sz="1200" b="1" u="sng">
              <a:solidFill>
                <a:srgbClr val="FF0000"/>
              </a:solidFill>
              <a:latin typeface="+mn-ea"/>
              <a:cs typeface="Meiryo UI" panose="020B0604030504040204" pitchFamily="50" charset="-128"/>
            </a:endParaRPr>
          </a:p>
          <a:p>
            <a:pPr eaLnBrk="1" hangingPunct="1"/>
            <a:r>
              <a:rPr lang="ja-JP" altLang="en-US" sz="1200">
                <a:solidFill>
                  <a:schemeClr val="tx1"/>
                </a:solidFill>
                <a:latin typeface="+mn-ea"/>
                <a:cs typeface="Meiryo UI" panose="020B0604030504040204" pitchFamily="50" charset="-128"/>
              </a:rPr>
              <a:t>例）雨漏りした屋根の補修。故障した空調設備の修理。壊れた機械の部品を同等品に変える。既存設備の通常の部品取替え。被災した設備を元の状態に戻す工事。</a:t>
            </a:r>
            <a:endParaRPr lang="en-US" altLang="ja-JP" sz="1200">
              <a:solidFill>
                <a:schemeClr val="tx1"/>
              </a:solidFill>
              <a:latin typeface="+mn-ea"/>
              <a:cs typeface="Meiryo UI" panose="020B0604030504040204" pitchFamily="50" charset="-128"/>
            </a:endParaRPr>
          </a:p>
        </p:txBody>
      </p:sp>
      <p:sp>
        <p:nvSpPr>
          <p:cNvPr id="16" name="テキスト プレースホルダー 3">
            <a:extLst>
              <a:ext uri="{FF2B5EF4-FFF2-40B4-BE49-F238E27FC236}">
                <a16:creationId xmlns:a16="http://schemas.microsoft.com/office/drawing/2014/main" id="{36FD34A8-F3D3-D307-BB14-DBAA833231DC}"/>
              </a:ext>
            </a:extLst>
          </p:cNvPr>
          <p:cNvSpPr txBox="1">
            <a:spLocks/>
          </p:cNvSpPr>
          <p:nvPr/>
        </p:nvSpPr>
        <p:spPr>
          <a:xfrm>
            <a:off x="640095" y="810090"/>
            <a:ext cx="11260151" cy="684000"/>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下記フローチャートを参考に資本的支出か、修繕費かを判定すると共に、不明点があれば本社経理へご連絡ください。</a:t>
            </a:r>
          </a:p>
        </p:txBody>
      </p:sp>
      <p:sp>
        <p:nvSpPr>
          <p:cNvPr id="5" name="二等辺三角形 4">
            <a:extLst>
              <a:ext uri="{FF2B5EF4-FFF2-40B4-BE49-F238E27FC236}">
                <a16:creationId xmlns:a16="http://schemas.microsoft.com/office/drawing/2014/main" id="{A9CD667C-3A43-00A4-E91B-154E388F58E8}"/>
              </a:ext>
            </a:extLst>
          </p:cNvPr>
          <p:cNvSpPr/>
          <p:nvPr/>
        </p:nvSpPr>
        <p:spPr>
          <a:xfrm rot="5400000">
            <a:off x="8733341" y="4953720"/>
            <a:ext cx="1078523" cy="228854"/>
          </a:xfrm>
          <a:prstGeom prst="triangle">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6" name="二等辺三角形 5">
            <a:extLst>
              <a:ext uri="{FF2B5EF4-FFF2-40B4-BE49-F238E27FC236}">
                <a16:creationId xmlns:a16="http://schemas.microsoft.com/office/drawing/2014/main" id="{55448D1E-9D61-0B11-5F82-F66FF83408FF}"/>
              </a:ext>
            </a:extLst>
          </p:cNvPr>
          <p:cNvSpPr/>
          <p:nvPr/>
        </p:nvSpPr>
        <p:spPr>
          <a:xfrm rot="5400000">
            <a:off x="8903360" y="5956380"/>
            <a:ext cx="738485" cy="228854"/>
          </a:xfrm>
          <a:prstGeom prst="triangle">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7" name="正方形/長方形 6">
            <a:extLst>
              <a:ext uri="{FF2B5EF4-FFF2-40B4-BE49-F238E27FC236}">
                <a16:creationId xmlns:a16="http://schemas.microsoft.com/office/drawing/2014/main" id="{DD1C2286-789D-DCDA-AD55-5BD36AF21CD9}"/>
              </a:ext>
            </a:extLst>
          </p:cNvPr>
          <p:cNvSpPr/>
          <p:nvPr/>
        </p:nvSpPr>
        <p:spPr>
          <a:xfrm>
            <a:off x="9588775" y="4528885"/>
            <a:ext cx="1704455" cy="1092978"/>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資産計上</a:t>
            </a:r>
          </a:p>
        </p:txBody>
      </p:sp>
      <p:sp>
        <p:nvSpPr>
          <p:cNvPr id="9" name="正方形/長方形 8">
            <a:extLst>
              <a:ext uri="{FF2B5EF4-FFF2-40B4-BE49-F238E27FC236}">
                <a16:creationId xmlns:a16="http://schemas.microsoft.com/office/drawing/2014/main" id="{3AD940FC-B2A0-79FA-D778-8CF5E842A849}"/>
              </a:ext>
            </a:extLst>
          </p:cNvPr>
          <p:cNvSpPr/>
          <p:nvPr/>
        </p:nvSpPr>
        <p:spPr>
          <a:xfrm>
            <a:off x="9588775" y="5701564"/>
            <a:ext cx="1704455" cy="748381"/>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ja-JP" altLang="en-US" sz="1600">
                <a:solidFill>
                  <a:schemeClr val="tx1"/>
                </a:solidFill>
                <a:latin typeface="+mn-ea"/>
                <a:cs typeface="Meiryo UI" panose="020B0604030504040204" pitchFamily="50" charset="-128"/>
              </a:rPr>
              <a:t>費用計上</a:t>
            </a:r>
          </a:p>
        </p:txBody>
      </p:sp>
      <p:sp>
        <p:nvSpPr>
          <p:cNvPr id="18" name="Rectangle 22">
            <a:extLst>
              <a:ext uri="{FF2B5EF4-FFF2-40B4-BE49-F238E27FC236}">
                <a16:creationId xmlns:a16="http://schemas.microsoft.com/office/drawing/2014/main" id="{4B86C9CA-86F6-ECE6-EB41-4CB8117AA63B}"/>
              </a:ext>
            </a:extLst>
          </p:cNvPr>
          <p:cNvSpPr>
            <a:spLocks noChangeArrowheads="1"/>
          </p:cNvSpPr>
          <p:nvPr/>
        </p:nvSpPr>
        <p:spPr bwMode="gray">
          <a:xfrm>
            <a:off x="898770" y="4528885"/>
            <a:ext cx="1620000" cy="1092977"/>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資本的支出</a:t>
            </a:r>
            <a:endParaRPr kumimoji="1" lang="en-US" altLang="ja-JP" sz="1600" b="1">
              <a:solidFill>
                <a:schemeClr val="bg1"/>
              </a:solidFill>
            </a:endParaRPr>
          </a:p>
        </p:txBody>
      </p:sp>
      <p:sp>
        <p:nvSpPr>
          <p:cNvPr id="19" name="Rectangle 22">
            <a:extLst>
              <a:ext uri="{FF2B5EF4-FFF2-40B4-BE49-F238E27FC236}">
                <a16:creationId xmlns:a16="http://schemas.microsoft.com/office/drawing/2014/main" id="{DCD42F7A-DF42-2E6C-C916-A86B8F10B3C5}"/>
              </a:ext>
            </a:extLst>
          </p:cNvPr>
          <p:cNvSpPr>
            <a:spLocks noChangeArrowheads="1"/>
          </p:cNvSpPr>
          <p:nvPr/>
        </p:nvSpPr>
        <p:spPr bwMode="gray">
          <a:xfrm>
            <a:off x="898770" y="5701564"/>
            <a:ext cx="1620000" cy="748382"/>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修繕費</a:t>
            </a:r>
            <a:endParaRPr lang="en-US" altLang="ja-JP" sz="1600" b="1">
              <a:solidFill>
                <a:schemeClr val="bg1"/>
              </a:solidFill>
            </a:endParaRPr>
          </a:p>
          <a:p>
            <a:pPr marL="177795" indent="-177795" algn="ctr">
              <a:spcBef>
                <a:spcPts val="331"/>
              </a:spcBef>
            </a:pPr>
            <a:r>
              <a:rPr kumimoji="1" lang="en-US" altLang="ja-JP" sz="1600" b="1">
                <a:solidFill>
                  <a:schemeClr val="bg1"/>
                </a:solidFill>
              </a:rPr>
              <a:t>(</a:t>
            </a:r>
            <a:r>
              <a:rPr kumimoji="1" lang="ja-JP" altLang="en-US" sz="1600" b="1">
                <a:solidFill>
                  <a:schemeClr val="bg1"/>
                </a:solidFill>
              </a:rPr>
              <a:t>収益的支出</a:t>
            </a:r>
            <a:r>
              <a:rPr kumimoji="1" lang="en-US" altLang="ja-JP" sz="1600" b="1">
                <a:solidFill>
                  <a:schemeClr val="bg1"/>
                </a:solidFill>
              </a:rPr>
              <a:t>)</a:t>
            </a:r>
          </a:p>
        </p:txBody>
      </p:sp>
      <p:sp>
        <p:nvSpPr>
          <p:cNvPr id="23" name="Rounded Rectangle 2">
            <a:extLst>
              <a:ext uri="{FF2B5EF4-FFF2-40B4-BE49-F238E27FC236}">
                <a16:creationId xmlns:a16="http://schemas.microsoft.com/office/drawing/2014/main" id="{CCECE80E-0804-0060-BABE-CE32AF5011FC}"/>
              </a:ext>
            </a:extLst>
          </p:cNvPr>
          <p:cNvSpPr/>
          <p:nvPr/>
        </p:nvSpPr>
        <p:spPr>
          <a:xfrm>
            <a:off x="535870" y="1576471"/>
            <a:ext cx="11384280" cy="2892343"/>
          </a:xfrm>
          <a:prstGeom prst="roundRect">
            <a:avLst/>
          </a:prstGeom>
          <a:solidFill>
            <a:srgbClr val="EDEDED"/>
          </a:solidFill>
          <a:ln>
            <a:solidFill>
              <a:srgbClr val="EDED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3">
            <a:extLst>
              <a:ext uri="{FF2B5EF4-FFF2-40B4-BE49-F238E27FC236}">
                <a16:creationId xmlns:a16="http://schemas.microsoft.com/office/drawing/2014/main" id="{C24F52D6-287D-8742-A3EC-64418D16D726}"/>
              </a:ext>
            </a:extLst>
          </p:cNvPr>
          <p:cNvSpPr/>
          <p:nvPr/>
        </p:nvSpPr>
        <p:spPr>
          <a:xfrm>
            <a:off x="810190" y="1618848"/>
            <a:ext cx="475488" cy="2788343"/>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ounded Rectangle 4">
            <a:extLst>
              <a:ext uri="{FF2B5EF4-FFF2-40B4-BE49-F238E27FC236}">
                <a16:creationId xmlns:a16="http://schemas.microsoft.com/office/drawing/2014/main" id="{6F5AE4EB-0410-5476-D3A5-79ECC929964D}"/>
              </a:ext>
            </a:extLst>
          </p:cNvPr>
          <p:cNvSpPr/>
          <p:nvPr/>
        </p:nvSpPr>
        <p:spPr>
          <a:xfrm>
            <a:off x="10914310" y="1713631"/>
            <a:ext cx="475488" cy="2672887"/>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5">
            <a:extLst>
              <a:ext uri="{FF2B5EF4-FFF2-40B4-BE49-F238E27FC236}">
                <a16:creationId xmlns:a16="http://schemas.microsoft.com/office/drawing/2014/main" id="{01F97465-D62D-F6CF-5413-2A1FC1F33A14}"/>
              </a:ext>
            </a:extLst>
          </p:cNvPr>
          <p:cNvSpPr txBox="1"/>
          <p:nvPr/>
        </p:nvSpPr>
        <p:spPr>
          <a:xfrm>
            <a:off x="848567" y="2283978"/>
            <a:ext cx="411480" cy="1477328"/>
          </a:xfrm>
          <a:prstGeom prst="rect">
            <a:avLst/>
          </a:prstGeom>
          <a:noFill/>
        </p:spPr>
        <p:txBody>
          <a:bodyPr wrap="square" anchor="ctr">
            <a:spAutoFit/>
          </a:bodyPr>
          <a:lstStyle/>
          <a:p>
            <a:pPr algn="ctr"/>
            <a:r>
              <a:rPr sz="1800" b="1">
                <a:solidFill>
                  <a:srgbClr val="1C2637"/>
                </a:solidFill>
                <a:latin typeface="Meiryo"/>
              </a:rPr>
              <a:t>資
本
的
支
出</a:t>
            </a:r>
          </a:p>
        </p:txBody>
      </p:sp>
      <p:sp>
        <p:nvSpPr>
          <p:cNvPr id="27" name="TextBox 6">
            <a:extLst>
              <a:ext uri="{FF2B5EF4-FFF2-40B4-BE49-F238E27FC236}">
                <a16:creationId xmlns:a16="http://schemas.microsoft.com/office/drawing/2014/main" id="{240F8EA9-59AA-1236-3B4A-2567AD0CECC1}"/>
              </a:ext>
            </a:extLst>
          </p:cNvPr>
          <p:cNvSpPr txBox="1"/>
          <p:nvPr/>
        </p:nvSpPr>
        <p:spPr>
          <a:xfrm>
            <a:off x="10950886" y="2601508"/>
            <a:ext cx="411480" cy="1015663"/>
          </a:xfrm>
          <a:prstGeom prst="rect">
            <a:avLst/>
          </a:prstGeom>
          <a:noFill/>
        </p:spPr>
        <p:txBody>
          <a:bodyPr wrap="square" anchor="ctr">
            <a:spAutoFit/>
          </a:bodyPr>
          <a:lstStyle/>
          <a:p>
            <a:pPr algn="ctr"/>
            <a:r>
              <a:rPr sz="2000" b="1">
                <a:solidFill>
                  <a:srgbClr val="1C2637"/>
                </a:solidFill>
                <a:latin typeface="Meiryo"/>
              </a:rPr>
              <a:t>修
繕
費</a:t>
            </a:r>
          </a:p>
        </p:txBody>
      </p:sp>
      <p:sp>
        <p:nvSpPr>
          <p:cNvPr id="28" name="Rounded Rectangle 7">
            <a:extLst>
              <a:ext uri="{FF2B5EF4-FFF2-40B4-BE49-F238E27FC236}">
                <a16:creationId xmlns:a16="http://schemas.microsoft.com/office/drawing/2014/main" id="{82F79520-6252-6855-F64C-6277618AC445}"/>
              </a:ext>
            </a:extLst>
          </p:cNvPr>
          <p:cNvSpPr/>
          <p:nvPr/>
        </p:nvSpPr>
        <p:spPr>
          <a:xfrm>
            <a:off x="1727361" y="1688461"/>
            <a:ext cx="7406640" cy="240706"/>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0">
                <a:solidFill>
                  <a:srgbClr val="1C2637"/>
                </a:solidFill>
                <a:latin typeface="Meiryo"/>
              </a:rPr>
              <a:t>修理改良等の支費用が20万円未満である</a:t>
            </a:r>
          </a:p>
        </p:txBody>
      </p:sp>
      <p:sp>
        <p:nvSpPr>
          <p:cNvPr id="30" name="TextBox 8">
            <a:extLst>
              <a:ext uri="{FF2B5EF4-FFF2-40B4-BE49-F238E27FC236}">
                <a16:creationId xmlns:a16="http://schemas.microsoft.com/office/drawing/2014/main" id="{8B2B1BB2-03F7-4A57-A74C-0909E0355330}"/>
              </a:ext>
            </a:extLst>
          </p:cNvPr>
          <p:cNvSpPr txBox="1"/>
          <p:nvPr/>
        </p:nvSpPr>
        <p:spPr>
          <a:xfrm>
            <a:off x="1787744" y="1664648"/>
            <a:ext cx="182880" cy="284693"/>
          </a:xfrm>
          <a:prstGeom prst="rect">
            <a:avLst/>
          </a:prstGeom>
          <a:noFill/>
        </p:spPr>
        <p:txBody>
          <a:bodyPr wrap="square">
            <a:spAutoFit/>
          </a:bodyPr>
          <a:lstStyle/>
          <a:p>
            <a:pPr algn="ctr"/>
            <a:r>
              <a:rPr sz="1250" b="1">
                <a:solidFill>
                  <a:srgbClr val="1C2637"/>
                </a:solidFill>
                <a:latin typeface="Meiryo"/>
              </a:rPr>
              <a:t>1</a:t>
            </a:r>
          </a:p>
        </p:txBody>
      </p:sp>
      <p:sp>
        <p:nvSpPr>
          <p:cNvPr id="32" name="Rounded Rectangle 9">
            <a:extLst>
              <a:ext uri="{FF2B5EF4-FFF2-40B4-BE49-F238E27FC236}">
                <a16:creationId xmlns:a16="http://schemas.microsoft.com/office/drawing/2014/main" id="{92D54BA0-3EB3-19D2-49F1-411A1AF6872A}"/>
              </a:ext>
            </a:extLst>
          </p:cNvPr>
          <p:cNvSpPr/>
          <p:nvPr/>
        </p:nvSpPr>
        <p:spPr>
          <a:xfrm>
            <a:off x="1727361" y="2196562"/>
            <a:ext cx="7406640" cy="240706"/>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0" err="1">
                <a:solidFill>
                  <a:srgbClr val="1C2637"/>
                </a:solidFill>
                <a:latin typeface="Meiryo"/>
              </a:rPr>
              <a:t>その修理、改良等が概ね</a:t>
            </a:r>
            <a:r>
              <a:rPr lang="ja-JP" altLang="en-US" sz="1250">
                <a:solidFill>
                  <a:srgbClr val="1C2637"/>
                </a:solidFill>
                <a:latin typeface="Meiryo"/>
              </a:rPr>
              <a:t>同じ</a:t>
            </a:r>
            <a:r>
              <a:rPr sz="1250" b="0" err="1">
                <a:solidFill>
                  <a:srgbClr val="1C2637"/>
                </a:solidFill>
                <a:latin typeface="Meiryo"/>
              </a:rPr>
              <a:t>周期で行われている</a:t>
            </a:r>
            <a:r>
              <a:rPr lang="ja-JP" altLang="en-US" sz="1250" b="0">
                <a:solidFill>
                  <a:srgbClr val="1C2637"/>
                </a:solidFill>
                <a:latin typeface="Meiryo"/>
              </a:rPr>
              <a:t>（経常的な費用）</a:t>
            </a:r>
            <a:endParaRPr sz="1250" b="0">
              <a:solidFill>
                <a:srgbClr val="1C2637"/>
              </a:solidFill>
              <a:latin typeface="Meiryo"/>
            </a:endParaRPr>
          </a:p>
        </p:txBody>
      </p:sp>
      <p:sp>
        <p:nvSpPr>
          <p:cNvPr id="33" name="TextBox 10">
            <a:extLst>
              <a:ext uri="{FF2B5EF4-FFF2-40B4-BE49-F238E27FC236}">
                <a16:creationId xmlns:a16="http://schemas.microsoft.com/office/drawing/2014/main" id="{5C3C26FC-F749-B3FD-EE07-A1FB67779590}"/>
              </a:ext>
            </a:extLst>
          </p:cNvPr>
          <p:cNvSpPr txBox="1"/>
          <p:nvPr/>
        </p:nvSpPr>
        <p:spPr>
          <a:xfrm>
            <a:off x="1770310" y="2199735"/>
            <a:ext cx="182880" cy="284693"/>
          </a:xfrm>
          <a:prstGeom prst="rect">
            <a:avLst/>
          </a:prstGeom>
          <a:noFill/>
        </p:spPr>
        <p:txBody>
          <a:bodyPr wrap="square">
            <a:spAutoFit/>
          </a:bodyPr>
          <a:lstStyle/>
          <a:p>
            <a:pPr algn="ctr"/>
            <a:r>
              <a:rPr sz="1250" b="1">
                <a:solidFill>
                  <a:srgbClr val="1C2637"/>
                </a:solidFill>
                <a:latin typeface="Meiryo"/>
              </a:rPr>
              <a:t>2</a:t>
            </a:r>
          </a:p>
        </p:txBody>
      </p:sp>
      <p:sp>
        <p:nvSpPr>
          <p:cNvPr id="34" name="Rounded Rectangle 11">
            <a:extLst>
              <a:ext uri="{FF2B5EF4-FFF2-40B4-BE49-F238E27FC236}">
                <a16:creationId xmlns:a16="http://schemas.microsoft.com/office/drawing/2014/main" id="{251CBC31-0841-5775-79E6-22450D6CF254}"/>
              </a:ext>
            </a:extLst>
          </p:cNvPr>
          <p:cNvSpPr/>
          <p:nvPr/>
        </p:nvSpPr>
        <p:spPr>
          <a:xfrm>
            <a:off x="1727361" y="2756686"/>
            <a:ext cx="7406640" cy="240706"/>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0" err="1">
                <a:solidFill>
                  <a:srgbClr val="1C2637"/>
                </a:solidFill>
                <a:latin typeface="Meiryo"/>
              </a:rPr>
              <a:t>明らかに価値を高めるもの又は耐久性を増すものである</a:t>
            </a:r>
            <a:endParaRPr sz="1250" b="0">
              <a:solidFill>
                <a:srgbClr val="1C2637"/>
              </a:solidFill>
              <a:latin typeface="Meiryo"/>
            </a:endParaRPr>
          </a:p>
        </p:txBody>
      </p:sp>
      <p:sp>
        <p:nvSpPr>
          <p:cNvPr id="35" name="TextBox 12">
            <a:extLst>
              <a:ext uri="{FF2B5EF4-FFF2-40B4-BE49-F238E27FC236}">
                <a16:creationId xmlns:a16="http://schemas.microsoft.com/office/drawing/2014/main" id="{871031E6-0712-EE61-35C0-D4572CB1E988}"/>
              </a:ext>
            </a:extLst>
          </p:cNvPr>
          <p:cNvSpPr txBox="1"/>
          <p:nvPr/>
        </p:nvSpPr>
        <p:spPr>
          <a:xfrm>
            <a:off x="1770310" y="2728326"/>
            <a:ext cx="182880" cy="284693"/>
          </a:xfrm>
          <a:prstGeom prst="rect">
            <a:avLst/>
          </a:prstGeom>
          <a:noFill/>
        </p:spPr>
        <p:txBody>
          <a:bodyPr wrap="square">
            <a:spAutoFit/>
          </a:bodyPr>
          <a:lstStyle/>
          <a:p>
            <a:pPr algn="ctr"/>
            <a:r>
              <a:rPr lang="en-US" altLang="ja-JP" sz="1250" b="1">
                <a:solidFill>
                  <a:srgbClr val="1C2637"/>
                </a:solidFill>
                <a:latin typeface="Meiryo"/>
              </a:rPr>
              <a:t>3</a:t>
            </a:r>
            <a:endParaRPr sz="1250" b="1">
              <a:solidFill>
                <a:srgbClr val="1C2637"/>
              </a:solidFill>
              <a:latin typeface="Meiryo"/>
            </a:endParaRPr>
          </a:p>
        </p:txBody>
      </p:sp>
      <p:sp>
        <p:nvSpPr>
          <p:cNvPr id="36" name="Rounded Rectangle 13">
            <a:extLst>
              <a:ext uri="{FF2B5EF4-FFF2-40B4-BE49-F238E27FC236}">
                <a16:creationId xmlns:a16="http://schemas.microsoft.com/office/drawing/2014/main" id="{C9DBB03D-B0F8-3836-8141-2749636BDF78}"/>
              </a:ext>
            </a:extLst>
          </p:cNvPr>
          <p:cNvSpPr/>
          <p:nvPr/>
        </p:nvSpPr>
        <p:spPr>
          <a:xfrm>
            <a:off x="1727361" y="3285127"/>
            <a:ext cx="7406640" cy="240706"/>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0" err="1">
                <a:solidFill>
                  <a:srgbClr val="1C2637"/>
                </a:solidFill>
                <a:latin typeface="Meiryo"/>
              </a:rPr>
              <a:t>通常の維持管理、原状回復費用である</a:t>
            </a:r>
            <a:r>
              <a:rPr lang="ja-JP" altLang="en-US" sz="1250" b="0">
                <a:solidFill>
                  <a:srgbClr val="1C2637"/>
                </a:solidFill>
                <a:latin typeface="Meiryo"/>
              </a:rPr>
              <a:t>（原状回復）</a:t>
            </a:r>
            <a:endParaRPr sz="1250" b="0">
              <a:solidFill>
                <a:srgbClr val="1C2637"/>
              </a:solidFill>
              <a:latin typeface="Meiryo"/>
            </a:endParaRPr>
          </a:p>
        </p:txBody>
      </p:sp>
      <p:sp>
        <p:nvSpPr>
          <p:cNvPr id="37" name="TextBox 14">
            <a:extLst>
              <a:ext uri="{FF2B5EF4-FFF2-40B4-BE49-F238E27FC236}">
                <a16:creationId xmlns:a16="http://schemas.microsoft.com/office/drawing/2014/main" id="{04FC130E-021D-FA52-9F18-674CAAC5A4B3}"/>
              </a:ext>
            </a:extLst>
          </p:cNvPr>
          <p:cNvSpPr txBox="1"/>
          <p:nvPr/>
        </p:nvSpPr>
        <p:spPr>
          <a:xfrm>
            <a:off x="1770310" y="3297953"/>
            <a:ext cx="182880" cy="284693"/>
          </a:xfrm>
          <a:prstGeom prst="rect">
            <a:avLst/>
          </a:prstGeom>
          <a:noFill/>
        </p:spPr>
        <p:txBody>
          <a:bodyPr wrap="square">
            <a:spAutoFit/>
          </a:bodyPr>
          <a:lstStyle/>
          <a:p>
            <a:pPr algn="ctr"/>
            <a:r>
              <a:rPr lang="en-US" altLang="ja-JP" sz="1250" b="1">
                <a:solidFill>
                  <a:srgbClr val="1C2637"/>
                </a:solidFill>
                <a:latin typeface="Meiryo"/>
              </a:rPr>
              <a:t>4</a:t>
            </a:r>
            <a:endParaRPr sz="1250" b="1">
              <a:solidFill>
                <a:srgbClr val="1C2637"/>
              </a:solidFill>
              <a:latin typeface="Meiryo"/>
            </a:endParaRPr>
          </a:p>
        </p:txBody>
      </p:sp>
      <p:sp>
        <p:nvSpPr>
          <p:cNvPr id="38" name="Rounded Rectangle 15">
            <a:extLst>
              <a:ext uri="{FF2B5EF4-FFF2-40B4-BE49-F238E27FC236}">
                <a16:creationId xmlns:a16="http://schemas.microsoft.com/office/drawing/2014/main" id="{5924C706-4C9D-BF43-5A03-7601A6B97922}"/>
              </a:ext>
            </a:extLst>
          </p:cNvPr>
          <p:cNvSpPr/>
          <p:nvPr/>
        </p:nvSpPr>
        <p:spPr>
          <a:xfrm>
            <a:off x="1727361" y="3867234"/>
            <a:ext cx="7406640" cy="240706"/>
          </a:xfrm>
          <a:prstGeom prst="roundRect">
            <a:avLst/>
          </a:prstGeom>
          <a:solidFill>
            <a:srgbClr val="FFFFFF"/>
          </a:solidFill>
          <a:ln w="19050">
            <a:solidFill>
              <a:srgbClr val="00608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50" b="0" err="1">
                <a:solidFill>
                  <a:srgbClr val="1C2637"/>
                </a:solidFill>
                <a:latin typeface="Meiryo"/>
              </a:rPr>
              <a:t>災害等により</a:t>
            </a:r>
            <a:r>
              <a:rPr lang="ja-JP" altLang="en-US" sz="1250">
                <a:solidFill>
                  <a:srgbClr val="1C2637"/>
                </a:solidFill>
                <a:latin typeface="Meiryo"/>
              </a:rPr>
              <a:t>毀損</a:t>
            </a:r>
            <a:r>
              <a:rPr sz="1250" b="0" err="1">
                <a:solidFill>
                  <a:srgbClr val="1C2637"/>
                </a:solidFill>
                <a:latin typeface="Meiryo"/>
              </a:rPr>
              <a:t>したものを原状に復するためのもの</a:t>
            </a:r>
            <a:r>
              <a:rPr lang="ja-JP" altLang="en-US" sz="1250">
                <a:solidFill>
                  <a:srgbClr val="1C2637"/>
                </a:solidFill>
                <a:latin typeface="Meiryo"/>
              </a:rPr>
              <a:t>か（原状回復）</a:t>
            </a:r>
            <a:endParaRPr sz="1250" b="0">
              <a:solidFill>
                <a:srgbClr val="1C2637"/>
              </a:solidFill>
              <a:latin typeface="Meiryo"/>
            </a:endParaRPr>
          </a:p>
        </p:txBody>
      </p:sp>
      <p:sp>
        <p:nvSpPr>
          <p:cNvPr id="39" name="TextBox 16">
            <a:extLst>
              <a:ext uri="{FF2B5EF4-FFF2-40B4-BE49-F238E27FC236}">
                <a16:creationId xmlns:a16="http://schemas.microsoft.com/office/drawing/2014/main" id="{3D105187-EF0B-1E40-650E-4629A794AF28}"/>
              </a:ext>
            </a:extLst>
          </p:cNvPr>
          <p:cNvSpPr txBox="1"/>
          <p:nvPr/>
        </p:nvSpPr>
        <p:spPr>
          <a:xfrm>
            <a:off x="1770310" y="3848952"/>
            <a:ext cx="182880" cy="284693"/>
          </a:xfrm>
          <a:prstGeom prst="rect">
            <a:avLst/>
          </a:prstGeom>
          <a:noFill/>
        </p:spPr>
        <p:txBody>
          <a:bodyPr wrap="square">
            <a:spAutoFit/>
          </a:bodyPr>
          <a:lstStyle/>
          <a:p>
            <a:pPr algn="ctr"/>
            <a:r>
              <a:rPr lang="en-US" sz="1250" b="1">
                <a:solidFill>
                  <a:srgbClr val="1C2637"/>
                </a:solidFill>
                <a:latin typeface="Meiryo"/>
              </a:rPr>
              <a:t>5</a:t>
            </a:r>
            <a:endParaRPr sz="1250" b="1">
              <a:solidFill>
                <a:srgbClr val="1C2637"/>
              </a:solidFill>
              <a:latin typeface="Meiryo"/>
            </a:endParaRPr>
          </a:p>
        </p:txBody>
      </p:sp>
      <p:sp>
        <p:nvSpPr>
          <p:cNvPr id="40" name="Rounded Rectangle 19">
            <a:extLst>
              <a:ext uri="{FF2B5EF4-FFF2-40B4-BE49-F238E27FC236}">
                <a16:creationId xmlns:a16="http://schemas.microsoft.com/office/drawing/2014/main" id="{0DDB32E5-ED87-572B-213C-1CA81BC22819}"/>
              </a:ext>
            </a:extLst>
          </p:cNvPr>
          <p:cNvSpPr/>
          <p:nvPr/>
        </p:nvSpPr>
        <p:spPr>
          <a:xfrm>
            <a:off x="9767154" y="2482636"/>
            <a:ext cx="475488" cy="237744"/>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Yes</a:t>
            </a:r>
          </a:p>
        </p:txBody>
      </p:sp>
      <p:sp>
        <p:nvSpPr>
          <p:cNvPr id="41" name="Right Arrow 20">
            <a:extLst>
              <a:ext uri="{FF2B5EF4-FFF2-40B4-BE49-F238E27FC236}">
                <a16:creationId xmlns:a16="http://schemas.microsoft.com/office/drawing/2014/main" id="{DD72A0EA-9801-5BCD-F0AA-4827ED2640CA}"/>
              </a:ext>
            </a:extLst>
          </p:cNvPr>
          <p:cNvSpPr/>
          <p:nvPr/>
        </p:nvSpPr>
        <p:spPr>
          <a:xfrm>
            <a:off x="9295822" y="1759350"/>
            <a:ext cx="1527048" cy="176723"/>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ight Arrow 22">
            <a:extLst>
              <a:ext uri="{FF2B5EF4-FFF2-40B4-BE49-F238E27FC236}">
                <a16:creationId xmlns:a16="http://schemas.microsoft.com/office/drawing/2014/main" id="{3591C63E-DC0E-A26D-C4D5-BA4BCE5C6A20}"/>
              </a:ext>
            </a:extLst>
          </p:cNvPr>
          <p:cNvSpPr/>
          <p:nvPr/>
        </p:nvSpPr>
        <p:spPr>
          <a:xfrm>
            <a:off x="9295822" y="2371999"/>
            <a:ext cx="1527048" cy="158434"/>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29">
            <a:extLst>
              <a:ext uri="{FF2B5EF4-FFF2-40B4-BE49-F238E27FC236}">
                <a16:creationId xmlns:a16="http://schemas.microsoft.com/office/drawing/2014/main" id="{B0081DC4-CB40-66D6-8930-D519F6A9C4EE}"/>
              </a:ext>
            </a:extLst>
          </p:cNvPr>
          <p:cNvSpPr/>
          <p:nvPr/>
        </p:nvSpPr>
        <p:spPr>
          <a:xfrm>
            <a:off x="1288656" y="2984891"/>
            <a:ext cx="450827"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Yes</a:t>
            </a:r>
          </a:p>
        </p:txBody>
      </p:sp>
      <p:sp>
        <p:nvSpPr>
          <p:cNvPr id="44" name="Left Arrow 30">
            <a:extLst>
              <a:ext uri="{FF2B5EF4-FFF2-40B4-BE49-F238E27FC236}">
                <a16:creationId xmlns:a16="http://schemas.microsoft.com/office/drawing/2014/main" id="{19EAC4CB-78BC-49BE-8FC1-5978E046D565}"/>
              </a:ext>
            </a:extLst>
          </p:cNvPr>
          <p:cNvSpPr/>
          <p:nvPr/>
        </p:nvSpPr>
        <p:spPr>
          <a:xfrm>
            <a:off x="1299394" y="2735374"/>
            <a:ext cx="391391" cy="272377"/>
          </a:xfrm>
          <a:prstGeom prst="lef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Down Arrow 31">
            <a:extLst>
              <a:ext uri="{FF2B5EF4-FFF2-40B4-BE49-F238E27FC236}">
                <a16:creationId xmlns:a16="http://schemas.microsoft.com/office/drawing/2014/main" id="{D2F1F042-7D89-D598-860C-856D65738F6D}"/>
              </a:ext>
            </a:extLst>
          </p:cNvPr>
          <p:cNvSpPr/>
          <p:nvPr/>
        </p:nvSpPr>
        <p:spPr>
          <a:xfrm>
            <a:off x="4836321" y="1957391"/>
            <a:ext cx="256032" cy="228600"/>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32">
            <a:extLst>
              <a:ext uri="{FF2B5EF4-FFF2-40B4-BE49-F238E27FC236}">
                <a16:creationId xmlns:a16="http://schemas.microsoft.com/office/drawing/2014/main" id="{414DBDF2-BC35-6D2B-8CB4-68FD317CE011}"/>
              </a:ext>
            </a:extLst>
          </p:cNvPr>
          <p:cNvSpPr/>
          <p:nvPr/>
        </p:nvSpPr>
        <p:spPr>
          <a:xfrm>
            <a:off x="5192937" y="1933226"/>
            <a:ext cx="475488"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No</a:t>
            </a:r>
          </a:p>
        </p:txBody>
      </p:sp>
      <p:sp>
        <p:nvSpPr>
          <p:cNvPr id="47" name="Down Arrow 33">
            <a:extLst>
              <a:ext uri="{FF2B5EF4-FFF2-40B4-BE49-F238E27FC236}">
                <a16:creationId xmlns:a16="http://schemas.microsoft.com/office/drawing/2014/main" id="{A1AC3102-15BA-4B30-FBA1-D02D90E04A25}"/>
              </a:ext>
            </a:extLst>
          </p:cNvPr>
          <p:cNvSpPr/>
          <p:nvPr/>
        </p:nvSpPr>
        <p:spPr>
          <a:xfrm>
            <a:off x="4836321" y="2475419"/>
            <a:ext cx="256032" cy="228600"/>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34">
            <a:extLst>
              <a:ext uri="{FF2B5EF4-FFF2-40B4-BE49-F238E27FC236}">
                <a16:creationId xmlns:a16="http://schemas.microsoft.com/office/drawing/2014/main" id="{6DCD5640-D235-71BE-8EE2-7F60EBB42D4B}"/>
              </a:ext>
            </a:extLst>
          </p:cNvPr>
          <p:cNvSpPr/>
          <p:nvPr/>
        </p:nvSpPr>
        <p:spPr>
          <a:xfrm>
            <a:off x="5172431" y="2482636"/>
            <a:ext cx="475488"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No</a:t>
            </a:r>
          </a:p>
        </p:txBody>
      </p:sp>
      <p:sp>
        <p:nvSpPr>
          <p:cNvPr id="49" name="Down Arrow 35">
            <a:extLst>
              <a:ext uri="{FF2B5EF4-FFF2-40B4-BE49-F238E27FC236}">
                <a16:creationId xmlns:a16="http://schemas.microsoft.com/office/drawing/2014/main" id="{F0810596-A54C-DA4B-9E91-EB9889743C67}"/>
              </a:ext>
            </a:extLst>
          </p:cNvPr>
          <p:cNvSpPr/>
          <p:nvPr/>
        </p:nvSpPr>
        <p:spPr>
          <a:xfrm>
            <a:off x="4836321" y="3013019"/>
            <a:ext cx="256032" cy="228600"/>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36">
            <a:extLst>
              <a:ext uri="{FF2B5EF4-FFF2-40B4-BE49-F238E27FC236}">
                <a16:creationId xmlns:a16="http://schemas.microsoft.com/office/drawing/2014/main" id="{8CF99A59-4488-B4FE-EC99-8D382F157F82}"/>
              </a:ext>
            </a:extLst>
          </p:cNvPr>
          <p:cNvSpPr/>
          <p:nvPr/>
        </p:nvSpPr>
        <p:spPr>
          <a:xfrm>
            <a:off x="5165805" y="3022642"/>
            <a:ext cx="475488"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No</a:t>
            </a:r>
          </a:p>
        </p:txBody>
      </p:sp>
      <p:sp>
        <p:nvSpPr>
          <p:cNvPr id="51" name="Down Arrow 37">
            <a:extLst>
              <a:ext uri="{FF2B5EF4-FFF2-40B4-BE49-F238E27FC236}">
                <a16:creationId xmlns:a16="http://schemas.microsoft.com/office/drawing/2014/main" id="{2A5FC643-9706-AF9B-25ED-7665553F3F0E}"/>
              </a:ext>
            </a:extLst>
          </p:cNvPr>
          <p:cNvSpPr/>
          <p:nvPr/>
        </p:nvSpPr>
        <p:spPr>
          <a:xfrm>
            <a:off x="4836321" y="3566839"/>
            <a:ext cx="256032" cy="228600"/>
          </a:xfrm>
          <a:prstGeom prst="down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38">
            <a:extLst>
              <a:ext uri="{FF2B5EF4-FFF2-40B4-BE49-F238E27FC236}">
                <a16:creationId xmlns:a16="http://schemas.microsoft.com/office/drawing/2014/main" id="{C7A18FCF-F3DF-8D5E-63AC-C69EA67DA406}"/>
              </a:ext>
            </a:extLst>
          </p:cNvPr>
          <p:cNvSpPr/>
          <p:nvPr/>
        </p:nvSpPr>
        <p:spPr>
          <a:xfrm>
            <a:off x="5157123" y="3582613"/>
            <a:ext cx="475488"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No</a:t>
            </a:r>
          </a:p>
        </p:txBody>
      </p:sp>
      <p:sp>
        <p:nvSpPr>
          <p:cNvPr id="53" name="Rounded Rectangle 40">
            <a:extLst>
              <a:ext uri="{FF2B5EF4-FFF2-40B4-BE49-F238E27FC236}">
                <a16:creationId xmlns:a16="http://schemas.microsoft.com/office/drawing/2014/main" id="{C8703482-0562-80AF-CFC4-CAAC4D9B8AB4}"/>
              </a:ext>
            </a:extLst>
          </p:cNvPr>
          <p:cNvSpPr/>
          <p:nvPr/>
        </p:nvSpPr>
        <p:spPr>
          <a:xfrm>
            <a:off x="1307153" y="4147444"/>
            <a:ext cx="475488" cy="219456"/>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No</a:t>
            </a:r>
          </a:p>
        </p:txBody>
      </p:sp>
      <p:sp>
        <p:nvSpPr>
          <p:cNvPr id="54" name="TextBox 46">
            <a:extLst>
              <a:ext uri="{FF2B5EF4-FFF2-40B4-BE49-F238E27FC236}">
                <a16:creationId xmlns:a16="http://schemas.microsoft.com/office/drawing/2014/main" id="{2F2A7C37-3527-CC43-0508-062DB1D58835}"/>
              </a:ext>
            </a:extLst>
          </p:cNvPr>
          <p:cNvSpPr txBox="1"/>
          <p:nvPr/>
        </p:nvSpPr>
        <p:spPr>
          <a:xfrm>
            <a:off x="7497780" y="3098116"/>
            <a:ext cx="228600" cy="276999"/>
          </a:xfrm>
          <a:prstGeom prst="rect">
            <a:avLst/>
          </a:prstGeom>
          <a:noFill/>
        </p:spPr>
        <p:txBody>
          <a:bodyPr wrap="square">
            <a:spAutoFit/>
          </a:bodyPr>
          <a:lstStyle/>
          <a:p>
            <a:r>
              <a:rPr sz="1200" b="1">
                <a:solidFill>
                  <a:srgbClr val="1C2637"/>
                </a:solidFill>
                <a:latin typeface="Meiryo"/>
              </a:rPr>
              <a:t>.</a:t>
            </a:r>
          </a:p>
        </p:txBody>
      </p:sp>
      <p:sp>
        <p:nvSpPr>
          <p:cNvPr id="55" name="Rounded Rectangle 19">
            <a:extLst>
              <a:ext uri="{FF2B5EF4-FFF2-40B4-BE49-F238E27FC236}">
                <a16:creationId xmlns:a16="http://schemas.microsoft.com/office/drawing/2014/main" id="{5607DEF0-1E1A-B848-2CF7-02EAE4E5D6D6}"/>
              </a:ext>
            </a:extLst>
          </p:cNvPr>
          <p:cNvSpPr/>
          <p:nvPr/>
        </p:nvSpPr>
        <p:spPr>
          <a:xfrm>
            <a:off x="9780454" y="1896010"/>
            <a:ext cx="475488" cy="237744"/>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Yes</a:t>
            </a:r>
          </a:p>
        </p:txBody>
      </p:sp>
      <p:sp>
        <p:nvSpPr>
          <p:cNvPr id="56" name="Right Arrow 22">
            <a:extLst>
              <a:ext uri="{FF2B5EF4-FFF2-40B4-BE49-F238E27FC236}">
                <a16:creationId xmlns:a16="http://schemas.microsoft.com/office/drawing/2014/main" id="{0485568A-F921-5A58-E619-45B53945ED88}"/>
              </a:ext>
            </a:extLst>
          </p:cNvPr>
          <p:cNvSpPr/>
          <p:nvPr/>
        </p:nvSpPr>
        <p:spPr>
          <a:xfrm>
            <a:off x="9280582" y="3349783"/>
            <a:ext cx="1527048" cy="158434"/>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ounded Rectangle 19">
            <a:extLst>
              <a:ext uri="{FF2B5EF4-FFF2-40B4-BE49-F238E27FC236}">
                <a16:creationId xmlns:a16="http://schemas.microsoft.com/office/drawing/2014/main" id="{8E16361E-8A00-5297-F593-1800CB205F75}"/>
              </a:ext>
            </a:extLst>
          </p:cNvPr>
          <p:cNvSpPr/>
          <p:nvPr/>
        </p:nvSpPr>
        <p:spPr>
          <a:xfrm>
            <a:off x="9787520" y="3462496"/>
            <a:ext cx="475488" cy="237744"/>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Yes</a:t>
            </a:r>
          </a:p>
        </p:txBody>
      </p:sp>
      <p:sp>
        <p:nvSpPr>
          <p:cNvPr id="58" name="Left Arrow 30">
            <a:extLst>
              <a:ext uri="{FF2B5EF4-FFF2-40B4-BE49-F238E27FC236}">
                <a16:creationId xmlns:a16="http://schemas.microsoft.com/office/drawing/2014/main" id="{372709F0-C3B3-BB9A-530D-1A4C9E2BF845}"/>
              </a:ext>
            </a:extLst>
          </p:cNvPr>
          <p:cNvSpPr/>
          <p:nvPr/>
        </p:nvSpPr>
        <p:spPr>
          <a:xfrm>
            <a:off x="1305767" y="3840580"/>
            <a:ext cx="391391" cy="272377"/>
          </a:xfrm>
          <a:prstGeom prst="lef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ight Arrow 22">
            <a:extLst>
              <a:ext uri="{FF2B5EF4-FFF2-40B4-BE49-F238E27FC236}">
                <a16:creationId xmlns:a16="http://schemas.microsoft.com/office/drawing/2014/main" id="{CB9D7902-2BC9-C080-0950-810370F54B20}"/>
              </a:ext>
            </a:extLst>
          </p:cNvPr>
          <p:cNvSpPr/>
          <p:nvPr/>
        </p:nvSpPr>
        <p:spPr>
          <a:xfrm>
            <a:off x="9280582" y="3907066"/>
            <a:ext cx="1527048" cy="158434"/>
          </a:xfrm>
          <a:prstGeom prst="rightArrow">
            <a:avLst/>
          </a:prstGeom>
          <a:solidFill>
            <a:srgbClr val="00608C"/>
          </a:solidFill>
          <a:ln w="12700">
            <a:solidFill>
              <a:srgbClr val="006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19">
            <a:extLst>
              <a:ext uri="{FF2B5EF4-FFF2-40B4-BE49-F238E27FC236}">
                <a16:creationId xmlns:a16="http://schemas.microsoft.com/office/drawing/2014/main" id="{A789AA96-D43E-C440-9465-0B4252EED226}"/>
              </a:ext>
            </a:extLst>
          </p:cNvPr>
          <p:cNvSpPr/>
          <p:nvPr/>
        </p:nvSpPr>
        <p:spPr>
          <a:xfrm>
            <a:off x="9787520" y="4019779"/>
            <a:ext cx="475488" cy="237744"/>
          </a:xfrm>
          <a:prstGeom prst="roundRect">
            <a:avLst/>
          </a:prstGeom>
          <a:solidFill>
            <a:srgbClr val="FFFFFF"/>
          </a:solidFill>
          <a:ln w="12700">
            <a:solidFill>
              <a:srgbClr val="1E1E1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C2637"/>
                </a:solidFill>
                <a:latin typeface="Meiryo"/>
              </a:rPr>
              <a:t>Yes</a:t>
            </a:r>
          </a:p>
        </p:txBody>
      </p:sp>
      <p:sp>
        <p:nvSpPr>
          <p:cNvPr id="66" name="Rectangle 22">
            <a:extLst>
              <a:ext uri="{FF2B5EF4-FFF2-40B4-BE49-F238E27FC236}">
                <a16:creationId xmlns:a16="http://schemas.microsoft.com/office/drawing/2014/main" id="{14B02D14-113F-8F68-A506-BEB8661CC7C0}"/>
              </a:ext>
            </a:extLst>
          </p:cNvPr>
          <p:cNvSpPr>
            <a:spLocks noChangeArrowheads="1"/>
          </p:cNvSpPr>
          <p:nvPr/>
        </p:nvSpPr>
        <p:spPr bwMode="gray">
          <a:xfrm>
            <a:off x="540039" y="1482420"/>
            <a:ext cx="1150745" cy="30281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100" b="1">
                <a:solidFill>
                  <a:schemeClr val="bg1"/>
                </a:solidFill>
              </a:rPr>
              <a:t>フローチャート</a:t>
            </a:r>
            <a:endParaRPr kumimoji="1" lang="en-US" altLang="ja-JP" sz="1100" b="1">
              <a:solidFill>
                <a:schemeClr val="bg1"/>
              </a:solidFill>
            </a:endParaRPr>
          </a:p>
        </p:txBody>
      </p:sp>
      <p:sp>
        <p:nvSpPr>
          <p:cNvPr id="2" name="テキスト プレースホルダー 3">
            <a:extLst>
              <a:ext uri="{FF2B5EF4-FFF2-40B4-BE49-F238E27FC236}">
                <a16:creationId xmlns:a16="http://schemas.microsoft.com/office/drawing/2014/main" id="{429FA4CA-692D-5F1E-62BC-0E30DBDC96C5}"/>
              </a:ext>
            </a:extLst>
          </p:cNvPr>
          <p:cNvSpPr txBox="1">
            <a:spLocks/>
          </p:cNvSpPr>
          <p:nvPr/>
        </p:nvSpPr>
        <p:spPr>
          <a:xfrm>
            <a:off x="848566" y="6532241"/>
            <a:ext cx="6288017" cy="325759"/>
          </a:xfrm>
          <a:prstGeom prst="rect">
            <a:avLst/>
          </a:prstGeom>
        </p:spPr>
        <p:txBody>
          <a:bodyPr vert="horz" lIns="91440" tIns="45720" rIns="91440" bIns="45720" rtlCol="0">
            <a:noAutofit/>
          </a:bodyPr>
          <a:lstStyle>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algn="ctr"/>
            <a:r>
              <a:rPr lang="en-US" altLang="ja-JP" sz="1100" b="1"/>
              <a:t>※</a:t>
            </a:r>
            <a:r>
              <a:rPr lang="ja-JP" altLang="en-US" sz="1100" b="1"/>
              <a:t>上記判定フローは、今後</a:t>
            </a:r>
            <a:r>
              <a:rPr lang="en-US" altLang="ja-JP" sz="1100" b="1"/>
              <a:t>IFRS</a:t>
            </a:r>
            <a:r>
              <a:rPr lang="ja-JP" altLang="en-US" sz="1100" b="1"/>
              <a:t>に基づいたグループポリシーの元、別途整理する予定です。</a:t>
            </a:r>
          </a:p>
        </p:txBody>
      </p:sp>
    </p:spTree>
    <p:extLst>
      <p:ext uri="{BB962C8B-B14F-4D97-AF65-F5344CB8AC3E}">
        <p14:creationId xmlns:p14="http://schemas.microsoft.com/office/powerpoint/2010/main" val="2361806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D2B4-BA7C-A00C-1565-1AB7F0AC5274}"/>
            </a:ext>
          </a:extLst>
        </p:cNvPr>
        <p:cNvGrpSpPr/>
        <p:nvPr/>
      </p:nvGrpSpPr>
      <p:grpSpPr>
        <a:xfrm>
          <a:off x="0" y="0"/>
          <a:ext cx="0" cy="0"/>
          <a:chOff x="0" y="0"/>
          <a:chExt cx="0" cy="0"/>
        </a:xfrm>
      </p:grpSpPr>
      <p:sp>
        <p:nvSpPr>
          <p:cNvPr id="10" name="テキスト プレースホルダー 3">
            <a:extLst>
              <a:ext uri="{FF2B5EF4-FFF2-40B4-BE49-F238E27FC236}">
                <a16:creationId xmlns:a16="http://schemas.microsoft.com/office/drawing/2014/main" id="{E9A7EC38-D35C-6AE8-FA51-5DA6AE12FAB2}"/>
              </a:ext>
            </a:extLst>
          </p:cNvPr>
          <p:cNvSpPr txBox="1">
            <a:spLocks/>
          </p:cNvSpPr>
          <p:nvPr/>
        </p:nvSpPr>
        <p:spPr>
          <a:xfrm>
            <a:off x="600463" y="872240"/>
            <a:ext cx="11545878" cy="1721758"/>
          </a:xfrm>
          <a:prstGeom prst="rect">
            <a:avLst/>
          </a:prstGeom>
          <a:noFill/>
        </p:spPr>
        <p:txBody>
          <a:bodyPr vert="horz" lIns="91440" tIns="45720" rIns="91440" bIns="45720" rtlCol="0" anchor="t">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nSpc>
                <a:spcPct val="100000"/>
              </a:lnSpc>
            </a:pPr>
            <a:r>
              <a:rPr lang="ja-JP" altLang="en-US" sz="1800" b="0">
                <a:cs typeface="Segoe UI"/>
              </a:rPr>
              <a:t>日本基準においては、研究開発費は発生時にすべて費用処理しなければなりません。</a:t>
            </a:r>
            <a:endParaRPr lang="ja-JP" altLang="en-US" sz="1800" b="0">
              <a:solidFill>
                <a:srgbClr val="262626"/>
              </a:solidFill>
              <a:cs typeface="Segoe UI"/>
            </a:endParaRPr>
          </a:p>
          <a:p>
            <a:pPr>
              <a:lnSpc>
                <a:spcPct val="100000"/>
              </a:lnSpc>
            </a:pPr>
            <a:r>
              <a:rPr lang="ja-JP" altLang="en-US" sz="1800" b="0">
                <a:cs typeface="Segoe UI"/>
              </a:rPr>
              <a:t>IFRSにおいては、研究費は費用処理、開発費は資産化要件を満たすものについては資産計上することとなり</a:t>
            </a:r>
            <a:r>
              <a:rPr lang="ja-JP" altLang="en-US" sz="1800" b="0">
                <a:latin typeface="Segoe UI"/>
                <a:cs typeface="Segoe UI"/>
              </a:rPr>
              <a:t>ます。いずれの基準においても、</a:t>
            </a:r>
            <a:r>
              <a:rPr lang="ja-JP" sz="1800" u="sng">
                <a:solidFill>
                  <a:srgbClr val="FF0000"/>
                </a:solidFill>
                <a:latin typeface="BIZ UDPゴシック"/>
                <a:cs typeface="Segoe UI"/>
              </a:rPr>
              <a:t>利益改善(費用先送り)の目的で費用</a:t>
            </a:r>
            <a:r>
              <a:rPr lang="ja-JP" altLang="en-US" sz="1800" u="sng">
                <a:solidFill>
                  <a:srgbClr val="FF0000"/>
                </a:solidFill>
                <a:latin typeface="BIZ UDPゴシック"/>
                <a:cs typeface="Segoe UI"/>
              </a:rPr>
              <a:t>を</a:t>
            </a:r>
            <a:r>
              <a:rPr lang="ja-JP" sz="1800" u="sng">
                <a:solidFill>
                  <a:srgbClr val="FF0000"/>
                </a:solidFill>
                <a:latin typeface="BIZ UDPゴシック"/>
                <a:cs typeface="Segoe UI"/>
              </a:rPr>
              <a:t>資産に計上</a:t>
            </a:r>
            <a:r>
              <a:rPr lang="ja-JP" altLang="en-US" sz="1800" u="sng">
                <a:solidFill>
                  <a:srgbClr val="FF0000"/>
                </a:solidFill>
                <a:latin typeface="BIZ UDPゴシック"/>
                <a:cs typeface="Segoe UI"/>
              </a:rPr>
              <a:t>する</a:t>
            </a:r>
            <a:r>
              <a:rPr lang="en-US" altLang="en-US" sz="1800" u="sng">
                <a:solidFill>
                  <a:srgbClr val="FF0000"/>
                </a:solidFill>
                <a:latin typeface="BIZ UDPゴシック"/>
                <a:cs typeface="Segoe UI"/>
              </a:rPr>
              <a:t>(</a:t>
            </a:r>
            <a:r>
              <a:rPr lang="ja-JP" altLang="en-US" sz="1800" u="sng">
                <a:solidFill>
                  <a:srgbClr val="FF0000"/>
                </a:solidFill>
                <a:latin typeface="BIZ UDPゴシック"/>
                <a:cs typeface="Segoe UI"/>
              </a:rPr>
              <a:t>振り替える)ことは認められません。資産計上時は、IFRSにおける資産要件を満たしているか、必ずご確認ください。</a:t>
            </a:r>
            <a:endParaRPr lang="ja-JP" sz="1800" u="sng">
              <a:solidFill>
                <a:srgbClr val="FF0000"/>
              </a:solidFill>
              <a:latin typeface="BIZ UDPゴシック"/>
              <a:cs typeface="Segoe UI"/>
            </a:endParaRPr>
          </a:p>
          <a:p>
            <a:pPr>
              <a:lnSpc>
                <a:spcPct val="100000"/>
              </a:lnSpc>
            </a:pPr>
            <a:r>
              <a:rPr lang="ja-JP" sz="1800">
                <a:solidFill>
                  <a:schemeClr val="accent1"/>
                </a:solidFill>
                <a:cs typeface="Segoe UI"/>
              </a:rPr>
              <a:t>なお、</a:t>
            </a:r>
            <a:r>
              <a:rPr lang="ja-JP" sz="1800" u="sng">
                <a:solidFill>
                  <a:schemeClr val="accent1"/>
                </a:solidFill>
                <a:cs typeface="Segoe UI"/>
              </a:rPr>
              <a:t>資産化対象の開発費が発生</a:t>
            </a:r>
            <a:r>
              <a:rPr lang="ja-JP" altLang="en-US" sz="1800" u="sng">
                <a:solidFill>
                  <a:schemeClr val="accent1"/>
                </a:solidFill>
                <a:cs typeface="Segoe UI"/>
              </a:rPr>
              <a:t>する</a:t>
            </a:r>
            <a:r>
              <a:rPr lang="ja-JP" sz="1800" u="sng">
                <a:solidFill>
                  <a:schemeClr val="accent1"/>
                </a:solidFill>
                <a:cs typeface="Segoe UI"/>
              </a:rPr>
              <a:t>場合には、その内容および金額を</a:t>
            </a:r>
            <a:r>
              <a:rPr lang="en-US" altLang="ja-JP" sz="1800" u="sng">
                <a:solidFill>
                  <a:schemeClr val="accent1"/>
                </a:solidFill>
                <a:cs typeface="Segoe UI"/>
              </a:rPr>
              <a:t>AWI</a:t>
            </a:r>
            <a:r>
              <a:rPr lang="ja-JP" sz="1800" u="sng">
                <a:solidFill>
                  <a:schemeClr val="accent1"/>
                </a:solidFill>
                <a:cs typeface="Segoe UI"/>
              </a:rPr>
              <a:t>経理</a:t>
            </a:r>
            <a:r>
              <a:rPr lang="ja-JP" altLang="en-US" sz="1800" u="sng">
                <a:solidFill>
                  <a:schemeClr val="accent1"/>
                </a:solidFill>
                <a:cs typeface="Segoe UI"/>
              </a:rPr>
              <a:t>へご連絡</a:t>
            </a:r>
            <a:r>
              <a:rPr lang="ja-JP" sz="1800" u="sng">
                <a:solidFill>
                  <a:schemeClr val="accent1"/>
                </a:solidFill>
                <a:cs typeface="Segoe UI"/>
              </a:rPr>
              <a:t>お願いします</a:t>
            </a:r>
            <a:r>
              <a:rPr lang="ja-JP" altLang="en-US" sz="1800" u="sng">
                <a:solidFill>
                  <a:schemeClr val="accent1"/>
                </a:solidFill>
                <a:cs typeface="Segoe UI"/>
              </a:rPr>
              <a:t>。</a:t>
            </a:r>
            <a:endParaRPr lang="ja-JP" sz="1800" u="sng">
              <a:solidFill>
                <a:schemeClr val="accent1"/>
              </a:solidFill>
              <a:cs typeface="Segoe UI"/>
            </a:endParaRPr>
          </a:p>
          <a:p>
            <a:pPr>
              <a:lnSpc>
                <a:spcPct val="100000"/>
              </a:lnSpc>
            </a:pPr>
            <a:endParaRPr lang="ja-JP" altLang="en-US" sz="1600" b="0" u="sng">
              <a:solidFill>
                <a:schemeClr val="tx1"/>
              </a:solidFill>
              <a:cs typeface="Segoe UI"/>
            </a:endParaRPr>
          </a:p>
          <a:p>
            <a:endParaRPr lang="ja-JP" altLang="en-US" sz="1800" b="0">
              <a:cs typeface="Segoe UI"/>
            </a:endParaRPr>
          </a:p>
        </p:txBody>
      </p:sp>
      <p:sp>
        <p:nvSpPr>
          <p:cNvPr id="11" name="タイトル 2">
            <a:extLst>
              <a:ext uri="{FF2B5EF4-FFF2-40B4-BE49-F238E27FC236}">
                <a16:creationId xmlns:a16="http://schemas.microsoft.com/office/drawing/2014/main" id="{5DDE1650-F3AF-96B4-21D4-55AD06362B2F}"/>
              </a:ext>
            </a:extLst>
          </p:cNvPr>
          <p:cNvSpPr>
            <a:spLocks noGrp="1"/>
          </p:cNvSpPr>
          <p:nvPr>
            <p:ph type="title"/>
          </p:nvPr>
        </p:nvSpPr>
        <p:spPr>
          <a:xfrm>
            <a:off x="658800" y="367200"/>
            <a:ext cx="6862991" cy="370800"/>
          </a:xfrm>
        </p:spPr>
        <p:txBody>
          <a:bodyPr vert="horz" lIns="0" tIns="36000" rIns="0" bIns="0" rtlCol="0" anchor="ctr">
            <a:noAutofit/>
          </a:bodyPr>
          <a:lstStyle/>
          <a:p>
            <a:r>
              <a:rPr lang="en-US" altLang="ja-JP"/>
              <a:t>3-12.</a:t>
            </a:r>
            <a:r>
              <a:rPr lang="en-US" altLang="ja-JP">
                <a:latin typeface="BIZ UDPゴシック"/>
              </a:rPr>
              <a:t>資産性のない</a:t>
            </a:r>
            <a:r>
              <a:rPr lang="ja-JP" altLang="en-US">
                <a:latin typeface="BIZ UDPゴシック"/>
              </a:rPr>
              <a:t>支出の固定</a:t>
            </a:r>
            <a:r>
              <a:rPr lang="en-US" altLang="ja-JP" err="1">
                <a:latin typeface="BIZ UDPゴシック"/>
              </a:rPr>
              <a:t>資産計上</a:t>
            </a:r>
            <a:r>
              <a:rPr lang="en-US" altLang="ja-JP">
                <a:latin typeface="BIZ UDPゴシック"/>
              </a:rPr>
              <a:t>(</a:t>
            </a:r>
            <a:r>
              <a:rPr lang="en-US" altLang="ja-JP" err="1">
                <a:latin typeface="BIZ UDPゴシック"/>
              </a:rPr>
              <a:t>研究開発費</a:t>
            </a:r>
            <a:r>
              <a:rPr lang="en-US" altLang="ja-JP">
                <a:latin typeface="BIZ UDPゴシック"/>
              </a:rPr>
              <a:t>)</a:t>
            </a:r>
            <a:endParaRPr lang="ja-JP">
              <a:latin typeface="Segoe UI"/>
              <a:cs typeface="Segoe UI"/>
            </a:endParaRPr>
          </a:p>
        </p:txBody>
      </p:sp>
      <p:sp>
        <p:nvSpPr>
          <p:cNvPr id="12" name="正方形/長方形 11">
            <a:extLst>
              <a:ext uri="{FF2B5EF4-FFF2-40B4-BE49-F238E27FC236}">
                <a16:creationId xmlns:a16="http://schemas.microsoft.com/office/drawing/2014/main" id="{F51624CC-296A-7F87-4C77-3B3976107FA3}"/>
              </a:ext>
            </a:extLst>
          </p:cNvPr>
          <p:cNvSpPr/>
          <p:nvPr/>
        </p:nvSpPr>
        <p:spPr bwMode="gray">
          <a:xfrm>
            <a:off x="3865971" y="5735636"/>
            <a:ext cx="8029314" cy="533453"/>
          </a:xfrm>
          <a:prstGeom prst="rect">
            <a:avLst/>
          </a:prstGeom>
          <a:no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90805" defTabSz="990589">
              <a:spcBef>
                <a:spcPts val="300"/>
              </a:spcBef>
              <a:buSzPct val="100000"/>
            </a:pPr>
            <a:r>
              <a:rPr lang="ja-JP" altLang="en-US" sz="1200">
                <a:solidFill>
                  <a:prstClr val="black"/>
                </a:solidFill>
                <a:latin typeface="+mn-ea"/>
              </a:rPr>
              <a:t>資産化対象の開発費が、</a:t>
            </a:r>
            <a:r>
              <a:rPr lang="ja-JP" altLang="en-US" sz="1200" b="1" u="sng">
                <a:solidFill>
                  <a:srgbClr val="3D03FC"/>
                </a:solidFill>
                <a:latin typeface="+mn-ea"/>
              </a:rPr>
              <a:t>1開発テーマあたり1億円未満の場合、発生時に費用処理することとする。</a:t>
            </a:r>
            <a:endParaRPr lang="en-US" altLang="ja-JP" sz="1200" b="1" u="sng">
              <a:solidFill>
                <a:srgbClr val="3D03FC"/>
              </a:solidFill>
              <a:latin typeface="+mn-ea"/>
            </a:endParaRPr>
          </a:p>
          <a:p>
            <a:pPr marL="90805" defTabSz="990589">
              <a:spcBef>
                <a:spcPts val="300"/>
              </a:spcBef>
              <a:buSzPct val="100000"/>
            </a:pPr>
            <a:r>
              <a:rPr lang="en-US" altLang="ja-JP" sz="1200" b="1" u="sng">
                <a:solidFill>
                  <a:srgbClr val="3D03FC"/>
                </a:solidFill>
                <a:latin typeface="+mn-ea"/>
                <a:cs typeface="Segoe UI"/>
              </a:rPr>
              <a:t>※</a:t>
            </a:r>
            <a:r>
              <a:rPr lang="ja-JP" altLang="en-US" sz="1200" b="1" u="sng">
                <a:solidFill>
                  <a:srgbClr val="3D03FC"/>
                </a:solidFill>
                <a:latin typeface="+mn-ea"/>
                <a:cs typeface="Segoe UI"/>
              </a:rPr>
              <a:t>現状の</a:t>
            </a:r>
            <a:r>
              <a:rPr lang="en-US" altLang="ja-JP" sz="1200" b="1" u="sng">
                <a:solidFill>
                  <a:srgbClr val="3D03FC"/>
                </a:solidFill>
                <a:latin typeface="+mn-ea"/>
                <a:cs typeface="Segoe UI"/>
              </a:rPr>
              <a:t>IFRS</a:t>
            </a:r>
            <a:r>
              <a:rPr lang="ja-JP" altLang="en-US" sz="1200" b="1" u="sng">
                <a:solidFill>
                  <a:srgbClr val="3D03FC"/>
                </a:solidFill>
                <a:latin typeface="+mn-ea"/>
                <a:cs typeface="Segoe UI"/>
              </a:rPr>
              <a:t>会計実務指針上では、「</a:t>
            </a:r>
            <a:r>
              <a:rPr lang="ja-JP" altLang="en-US" sz="1200" b="1" u="sng">
                <a:solidFill>
                  <a:srgbClr val="3D03FC"/>
                </a:solidFill>
                <a:latin typeface="+mn-ea"/>
              </a:rPr>
              <a:t>費用処理することができる」と規定していますが、改定予定です。</a:t>
            </a:r>
            <a:endParaRPr lang="en-US" altLang="ja-JP" sz="1200" b="1" u="sng">
              <a:solidFill>
                <a:srgbClr val="FF0000"/>
              </a:solidFill>
              <a:cs typeface="Segoe UI"/>
            </a:endParaRPr>
          </a:p>
        </p:txBody>
      </p:sp>
      <p:sp>
        <p:nvSpPr>
          <p:cNvPr id="13" name="正方形/長方形 12">
            <a:extLst>
              <a:ext uri="{FF2B5EF4-FFF2-40B4-BE49-F238E27FC236}">
                <a16:creationId xmlns:a16="http://schemas.microsoft.com/office/drawing/2014/main" id="{16683494-8052-8D6E-0F36-8D6B510245E7}"/>
              </a:ext>
            </a:extLst>
          </p:cNvPr>
          <p:cNvSpPr/>
          <p:nvPr/>
        </p:nvSpPr>
        <p:spPr bwMode="gray">
          <a:xfrm>
            <a:off x="2529948" y="5735635"/>
            <a:ext cx="1260000" cy="533453"/>
          </a:xfrm>
          <a:prstGeom prst="rect">
            <a:avLst/>
          </a:prstGeom>
          <a:solidFill>
            <a:srgbClr val="00B0F0"/>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100" b="1">
                <a:solidFill>
                  <a:schemeClr val="bg1"/>
                </a:solidFill>
                <a:latin typeface="+mn-ea"/>
              </a:rPr>
              <a:t>重要性の基準</a:t>
            </a:r>
          </a:p>
        </p:txBody>
      </p:sp>
      <p:sp>
        <p:nvSpPr>
          <p:cNvPr id="37" name="正方形/長方形 36">
            <a:extLst>
              <a:ext uri="{FF2B5EF4-FFF2-40B4-BE49-F238E27FC236}">
                <a16:creationId xmlns:a16="http://schemas.microsoft.com/office/drawing/2014/main" id="{48B440EA-452E-600F-21F6-F87E4506F8BF}"/>
              </a:ext>
            </a:extLst>
          </p:cNvPr>
          <p:cNvSpPr/>
          <p:nvPr/>
        </p:nvSpPr>
        <p:spPr>
          <a:xfrm>
            <a:off x="2249521" y="2669382"/>
            <a:ext cx="9881104" cy="1060833"/>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lnSpc>
                <a:spcPct val="150000"/>
              </a:lnSpc>
              <a:buFont typeface="Wingdings" panose="05000000000000000000" pitchFamily="2" charset="2"/>
              <a:buChar char="Ø"/>
            </a:pPr>
            <a:r>
              <a:rPr lang="ja-JP" altLang="en-US" sz="1400">
                <a:solidFill>
                  <a:schemeClr val="tx1"/>
                </a:solidFill>
                <a:latin typeface="+mn-ea"/>
                <a:cs typeface="Meiryo UI" panose="020B0604030504040204" pitchFamily="50" charset="-128"/>
              </a:rPr>
              <a:t>研究開発費は、</a:t>
            </a:r>
            <a:r>
              <a:rPr lang="ja-JP" altLang="en-US" sz="1400" b="1" u="sng">
                <a:solidFill>
                  <a:srgbClr val="FF0000"/>
                </a:solidFill>
                <a:latin typeface="+mn-ea"/>
                <a:cs typeface="Meiryo UI" panose="020B0604030504040204" pitchFamily="50" charset="-128"/>
              </a:rPr>
              <a:t>発生時にすべて費用処理しなければならない</a:t>
            </a:r>
            <a:r>
              <a:rPr lang="ja-JP" altLang="en-US" sz="1400">
                <a:solidFill>
                  <a:schemeClr val="tx1"/>
                </a:solidFill>
                <a:latin typeface="+mn-ea"/>
                <a:cs typeface="Meiryo UI" panose="020B0604030504040204" pitchFamily="50" charset="-128"/>
              </a:rPr>
              <a:t>。</a:t>
            </a:r>
            <a:endParaRPr lang="en-US" altLang="ja-JP">
              <a:solidFill>
                <a:schemeClr val="tx1"/>
              </a:solidFill>
            </a:endParaRPr>
          </a:p>
          <a:p>
            <a:r>
              <a:rPr lang="ja-JP" altLang="en-US" sz="1400">
                <a:solidFill>
                  <a:schemeClr val="tx1"/>
                </a:solidFill>
                <a:latin typeface="+mn-ea"/>
              </a:rPr>
              <a:t>　　 なお、通常は「一般管理費」として計上されます。ただし、製造現場において研究開発活動が行われ、かつ当該研究開発に</a:t>
            </a:r>
            <a:endParaRPr lang="ja-JP" sz="1400" b="1" u="sng">
              <a:solidFill>
                <a:schemeClr val="tx1"/>
              </a:solidFill>
              <a:latin typeface="+mn-ea"/>
            </a:endParaRPr>
          </a:p>
          <a:p>
            <a:r>
              <a:rPr lang="ja-JP" altLang="en-US" sz="1400">
                <a:solidFill>
                  <a:schemeClr val="tx1"/>
                </a:solidFill>
                <a:latin typeface="+mn-ea"/>
              </a:rPr>
              <a:t>　　 要した費用を一括して製造現場で発生する原価に含めて計上している場合には「製造原価」に算入することができます。</a:t>
            </a:r>
            <a:endParaRPr lang="ja-JP" sz="1400" b="1" u="sng">
              <a:solidFill>
                <a:schemeClr val="tx1"/>
              </a:solidFill>
              <a:latin typeface="BIZ UDPゴシック"/>
            </a:endParaRPr>
          </a:p>
        </p:txBody>
      </p:sp>
      <p:sp>
        <p:nvSpPr>
          <p:cNvPr id="38" name="Rectangle 22">
            <a:extLst>
              <a:ext uri="{FF2B5EF4-FFF2-40B4-BE49-F238E27FC236}">
                <a16:creationId xmlns:a16="http://schemas.microsoft.com/office/drawing/2014/main" id="{30516F6C-54E6-D3D7-F25E-7F3CB1C1D85F}"/>
              </a:ext>
            </a:extLst>
          </p:cNvPr>
          <p:cNvSpPr>
            <a:spLocks noChangeArrowheads="1"/>
          </p:cNvSpPr>
          <p:nvPr/>
        </p:nvSpPr>
        <p:spPr bwMode="gray">
          <a:xfrm>
            <a:off x="375000" y="2669381"/>
            <a:ext cx="1872000" cy="1060834"/>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165" indent="-177165" algn="ctr">
              <a:spcBef>
                <a:spcPts val="331"/>
              </a:spcBef>
            </a:pPr>
            <a:r>
              <a:rPr lang="ja-JP" altLang="en-US" sz="1400" b="1">
                <a:solidFill>
                  <a:schemeClr val="bg1"/>
                </a:solidFill>
                <a:cs typeface="Segoe UI"/>
              </a:rPr>
              <a:t>日本基準</a:t>
            </a:r>
          </a:p>
        </p:txBody>
      </p:sp>
      <p:sp>
        <p:nvSpPr>
          <p:cNvPr id="41" name="Rectangle 22">
            <a:extLst>
              <a:ext uri="{FF2B5EF4-FFF2-40B4-BE49-F238E27FC236}">
                <a16:creationId xmlns:a16="http://schemas.microsoft.com/office/drawing/2014/main" id="{606F2AB1-F2DC-9D13-0BB7-4C7AF93A9B62}"/>
              </a:ext>
            </a:extLst>
          </p:cNvPr>
          <p:cNvSpPr>
            <a:spLocks noChangeArrowheads="1"/>
          </p:cNvSpPr>
          <p:nvPr/>
        </p:nvSpPr>
        <p:spPr bwMode="gray">
          <a:xfrm>
            <a:off x="375000" y="3800132"/>
            <a:ext cx="1872000" cy="2685706"/>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spcBef>
                <a:spcPts val="331"/>
              </a:spcBef>
            </a:pPr>
            <a:r>
              <a:rPr lang="ja-JP" altLang="en-US" sz="1600" b="1">
                <a:solidFill>
                  <a:schemeClr val="bg1"/>
                </a:solidFill>
                <a:cs typeface="Segoe UI"/>
              </a:rPr>
              <a:t>IFRS</a:t>
            </a:r>
          </a:p>
        </p:txBody>
      </p:sp>
      <p:sp>
        <p:nvSpPr>
          <p:cNvPr id="42" name="正方形/長方形 41">
            <a:extLst>
              <a:ext uri="{FF2B5EF4-FFF2-40B4-BE49-F238E27FC236}">
                <a16:creationId xmlns:a16="http://schemas.microsoft.com/office/drawing/2014/main" id="{AB5814DD-8BA8-9E91-C488-C4075DE33A81}"/>
              </a:ext>
            </a:extLst>
          </p:cNvPr>
          <p:cNvSpPr/>
          <p:nvPr/>
        </p:nvSpPr>
        <p:spPr>
          <a:xfrm>
            <a:off x="2247000" y="3800134"/>
            <a:ext cx="9881103" cy="2685704"/>
          </a:xfrm>
          <a:prstGeom prst="rect">
            <a:avLst/>
          </a:prstGeom>
          <a:no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pPr>
            <a:r>
              <a:rPr lang="ja-JP" altLang="en-US" sz="1400">
                <a:solidFill>
                  <a:schemeClr val="tx1"/>
                </a:solidFill>
                <a:latin typeface="+mn-ea"/>
                <a:cs typeface="Meiryo UI" panose="020B0604030504040204" pitchFamily="50" charset="-128"/>
              </a:rPr>
              <a:t>1)　研究開発活動を「研究局面」と「開発局面」に区分。</a:t>
            </a:r>
            <a:endParaRPr lang="en-US" altLang="ja-JP">
              <a:solidFill>
                <a:schemeClr val="tx1"/>
              </a:solidFill>
              <a:cs typeface="Segoe UI"/>
            </a:endParaRPr>
          </a:p>
          <a:p>
            <a:pPr>
              <a:lnSpc>
                <a:spcPct val="150000"/>
              </a:lnSpc>
            </a:pPr>
            <a:r>
              <a:rPr lang="ja-JP" altLang="en-US" sz="1400">
                <a:solidFill>
                  <a:schemeClr val="tx1"/>
                </a:solidFill>
                <a:latin typeface="+mn-ea"/>
                <a:cs typeface="Meiryo UI" panose="020B0604030504040204" pitchFamily="50" charset="-128"/>
              </a:rPr>
              <a:t>2)　</a:t>
            </a:r>
            <a:r>
              <a:rPr lang="ja-JP" altLang="en-US" sz="1400" b="1" u="sng">
                <a:solidFill>
                  <a:srgbClr val="FF0000"/>
                </a:solidFill>
                <a:latin typeface="+mn-ea"/>
                <a:cs typeface="Meiryo UI" panose="020B0604030504040204" pitchFamily="50" charset="-128"/>
              </a:rPr>
              <a:t>研究局面での支出は発生時に費用処理。開発局面での支出について、資産化要件を満たす場合に資産計上する。</a:t>
            </a:r>
          </a:p>
          <a:p>
            <a:r>
              <a:rPr lang="ja-JP" altLang="en-US" sz="1400">
                <a:solidFill>
                  <a:schemeClr val="tx1"/>
                </a:solidFill>
                <a:latin typeface="+mn-ea"/>
                <a:cs typeface="Meiryo UI" panose="020B0604030504040204" pitchFamily="50" charset="-128"/>
              </a:rPr>
              <a:t>　　 (資産化の6つの要件)</a:t>
            </a:r>
          </a:p>
          <a:p>
            <a:r>
              <a:rPr lang="ja-JP" altLang="en-US" sz="1400">
                <a:solidFill>
                  <a:schemeClr val="tx1"/>
                </a:solidFill>
                <a:latin typeface="+mn-ea"/>
                <a:cs typeface="Meiryo UI" panose="020B0604030504040204" pitchFamily="50" charset="-128"/>
              </a:rPr>
              <a:t>　　 ①技術的に実現可能 ②完成させ、使用または売却する意図がある ➂使用または売却する能力がある</a:t>
            </a:r>
          </a:p>
          <a:p>
            <a:r>
              <a:rPr lang="ja-JP" altLang="en-US" sz="1400">
                <a:solidFill>
                  <a:schemeClr val="tx1"/>
                </a:solidFill>
                <a:latin typeface="BIZ UDPゴシック"/>
                <a:cs typeface="Segoe UI"/>
              </a:rPr>
              <a:t>　　 ④将来の経済的便益を創出する可能性が高い ⑤完成させるための技術上、財務上その他の資源が十分である</a:t>
            </a:r>
          </a:p>
          <a:p>
            <a:r>
              <a:rPr lang="ja-JP" altLang="en-US" sz="1400">
                <a:solidFill>
                  <a:schemeClr val="tx1"/>
                </a:solidFill>
                <a:latin typeface="BIZ UDPゴシック"/>
                <a:cs typeface="Segoe UI"/>
              </a:rPr>
              <a:t>　　 ⑥発生する支出を信頼性をもって測定する能力がある</a:t>
            </a:r>
          </a:p>
          <a:p>
            <a:pPr marL="285750" indent="-285750">
              <a:buFont typeface="Wingdings" panose="05000000000000000000" pitchFamily="2" charset="2"/>
              <a:buChar char="Ø"/>
            </a:pPr>
            <a:endParaRPr lang="ja-JP" altLang="en-US" sz="1400">
              <a:solidFill>
                <a:srgbClr val="262626"/>
              </a:solidFill>
              <a:latin typeface="BIZ UDPゴシック"/>
              <a:cs typeface="Segoe UI"/>
            </a:endParaRPr>
          </a:p>
          <a:p>
            <a:endParaRPr lang="ja-JP" altLang="en-US" sz="1400">
              <a:solidFill>
                <a:srgbClr val="262626"/>
              </a:solidFill>
              <a:latin typeface="BIZ UDPゴシック"/>
              <a:cs typeface="Segoe UI"/>
            </a:endParaRPr>
          </a:p>
          <a:p>
            <a:endParaRPr lang="ja-JP" altLang="en-US" sz="1400">
              <a:solidFill>
                <a:srgbClr val="262626"/>
              </a:solidFill>
              <a:latin typeface="BIZ UDPゴシック"/>
              <a:cs typeface="Segoe UI"/>
            </a:endParaRPr>
          </a:p>
        </p:txBody>
      </p:sp>
    </p:spTree>
    <p:extLst>
      <p:ext uri="{BB962C8B-B14F-4D97-AF65-F5344CB8AC3E}">
        <p14:creationId xmlns:p14="http://schemas.microsoft.com/office/powerpoint/2010/main" val="35107768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8FF24E77-67DA-1EEB-9CAB-D38154D02182}"/>
              </a:ext>
            </a:extLst>
          </p:cNvPr>
          <p:cNvSpPr txBox="1"/>
          <p:nvPr/>
        </p:nvSpPr>
        <p:spPr>
          <a:xfrm>
            <a:off x="670560" y="894079"/>
            <a:ext cx="3628879" cy="199414"/>
          </a:xfrm>
          <a:prstGeom prst="rect">
            <a:avLst/>
          </a:prstGeom>
          <a:noFill/>
          <a:ln>
            <a:noFill/>
          </a:ln>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nSpc>
                <a:spcPct val="120000"/>
              </a:lnSpc>
            </a:pPr>
            <a:r>
              <a:rPr lang="ja-JP" altLang="en-US" sz="1200" spc="110">
                <a:solidFill>
                  <a:srgbClr val="262626"/>
                </a:solidFill>
                <a:cs typeface="Segoe UI"/>
              </a:rPr>
              <a:t>【</a:t>
            </a:r>
            <a:r>
              <a:rPr lang="ja-JP" altLang="en-US" sz="1200" b="1" spc="110">
                <a:cs typeface="Segoe UI"/>
              </a:rPr>
              <a:t>IFRS</a:t>
            </a:r>
            <a:r>
              <a:rPr lang="ja-JP" altLang="en-US" sz="1200" spc="110">
                <a:cs typeface="Segoe UI"/>
              </a:rPr>
              <a:t> </a:t>
            </a:r>
            <a:r>
              <a:rPr lang="ja-JP" altLang="en-US" sz="1200" b="1" spc="110">
                <a:cs typeface="Segoe UI"/>
              </a:rPr>
              <a:t>自己創設無形資産(開発費) 判定フロー】</a:t>
            </a:r>
            <a:endParaRPr lang="ja-JP" altLang="en-US" sz="1200" b="1" spc="110" baseline="0">
              <a:cs typeface="Segoe UI"/>
            </a:endParaRPr>
          </a:p>
        </p:txBody>
      </p:sp>
      <p:sp>
        <p:nvSpPr>
          <p:cNvPr id="7" name="タイトル 2">
            <a:extLst>
              <a:ext uri="{FF2B5EF4-FFF2-40B4-BE49-F238E27FC236}">
                <a16:creationId xmlns:a16="http://schemas.microsoft.com/office/drawing/2014/main" id="{14071982-7E2F-4CD2-D15C-1A793B357BCD}"/>
              </a:ext>
            </a:extLst>
          </p:cNvPr>
          <p:cNvSpPr txBox="1">
            <a:spLocks/>
          </p:cNvSpPr>
          <p:nvPr/>
        </p:nvSpPr>
        <p:spPr>
          <a:xfrm>
            <a:off x="658800" y="367200"/>
            <a:ext cx="6862991" cy="370800"/>
          </a:xfrm>
          <a:prstGeom prst="rect">
            <a:avLst/>
          </a:prstGeom>
        </p:spPr>
        <p:txBody>
          <a:bodyPr vert="horz" lIns="0" tIns="36000" rIns="0" bIns="0" rtlCol="0" anchor="ctr">
            <a:noAutofit/>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r>
              <a:rPr lang="en-US" altLang="ja-JP"/>
              <a:t>3-12.</a:t>
            </a:r>
            <a:r>
              <a:rPr lang="en-US" altLang="ja-JP">
                <a:latin typeface="BIZ UDPゴシック"/>
              </a:rPr>
              <a:t>資産性のない</a:t>
            </a:r>
            <a:r>
              <a:rPr lang="ja-JP" altLang="en-US">
                <a:latin typeface="BIZ UDPゴシック"/>
              </a:rPr>
              <a:t>支出</a:t>
            </a:r>
            <a:r>
              <a:rPr lang="en-US" altLang="ja-JP">
                <a:latin typeface="BIZ UDPゴシック"/>
              </a:rPr>
              <a:t>の</a:t>
            </a:r>
            <a:r>
              <a:rPr lang="ja-JP" altLang="en-US">
                <a:latin typeface="BIZ UDPゴシック"/>
              </a:rPr>
              <a:t>固定</a:t>
            </a:r>
            <a:r>
              <a:rPr lang="en-US" altLang="ja-JP" err="1">
                <a:latin typeface="BIZ UDPゴシック"/>
              </a:rPr>
              <a:t>資産計上</a:t>
            </a:r>
            <a:r>
              <a:rPr lang="en-US" altLang="ja-JP">
                <a:latin typeface="BIZ UDPゴシック"/>
              </a:rPr>
              <a:t>(</a:t>
            </a:r>
            <a:r>
              <a:rPr lang="en-US" altLang="ja-JP" err="1">
                <a:latin typeface="BIZ UDPゴシック"/>
              </a:rPr>
              <a:t>研究開発費</a:t>
            </a:r>
            <a:r>
              <a:rPr lang="en-US" altLang="ja-JP">
                <a:latin typeface="BIZ UDPゴシック"/>
              </a:rPr>
              <a:t>)</a:t>
            </a:r>
            <a:endParaRPr lang="ja-JP">
              <a:latin typeface="Segoe UI"/>
              <a:cs typeface="Segoe UI"/>
            </a:endParaRPr>
          </a:p>
        </p:txBody>
      </p:sp>
      <p:pic>
        <p:nvPicPr>
          <p:cNvPr id="3" name="Picture 2">
            <a:extLst>
              <a:ext uri="{FF2B5EF4-FFF2-40B4-BE49-F238E27FC236}">
                <a16:creationId xmlns:a16="http://schemas.microsoft.com/office/drawing/2014/main" id="{2C534F81-81FE-75FC-4C3A-32AB622F2975}"/>
              </a:ext>
            </a:extLst>
          </p:cNvPr>
          <p:cNvPicPr>
            <a:picLocks noChangeAspect="1"/>
          </p:cNvPicPr>
          <p:nvPr/>
        </p:nvPicPr>
        <p:blipFill>
          <a:blip r:embed="rId2"/>
          <a:stretch>
            <a:fillRect/>
          </a:stretch>
        </p:blipFill>
        <p:spPr>
          <a:xfrm>
            <a:off x="666282" y="1131046"/>
            <a:ext cx="4629150" cy="5384800"/>
          </a:xfrm>
          <a:prstGeom prst="rect">
            <a:avLst/>
          </a:prstGeom>
          <a:ln>
            <a:solidFill>
              <a:schemeClr val="tx1"/>
            </a:solidFill>
          </a:ln>
        </p:spPr>
      </p:pic>
      <p:sp>
        <p:nvSpPr>
          <p:cNvPr id="5" name="TextBox 4">
            <a:extLst>
              <a:ext uri="{FF2B5EF4-FFF2-40B4-BE49-F238E27FC236}">
                <a16:creationId xmlns:a16="http://schemas.microsoft.com/office/drawing/2014/main" id="{E8579459-F21D-11E8-6316-0837FDBBCD4F}"/>
              </a:ext>
            </a:extLst>
          </p:cNvPr>
          <p:cNvSpPr txBox="1"/>
          <p:nvPr/>
        </p:nvSpPr>
        <p:spPr>
          <a:xfrm>
            <a:off x="5529323" y="1129605"/>
            <a:ext cx="5988035" cy="5586145"/>
          </a:xfrm>
          <a:prstGeom prst="rect">
            <a:avLst/>
          </a:prstGeom>
          <a:noFill/>
          <a:ln>
            <a:solidFill>
              <a:schemeClr val="tx1"/>
            </a:solid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rtl="0"/>
            <a:r>
              <a:rPr lang="ja-JP" sz="1100"/>
              <a:t>（※1）研究局面と開発局面</a:t>
            </a:r>
            <a:r>
              <a:rPr lang="ja-JP" altLang="en-US" sz="1100"/>
              <a:t>の具体例は以下の通り。</a:t>
            </a:r>
            <a:endParaRPr lang="ja-JP" altLang="en-US" sz="1100">
              <a:cs typeface="Segoe UI"/>
            </a:endParaRPr>
          </a:p>
          <a:p>
            <a:pPr marL="171450" indent="-171450">
              <a:buAutoNum type="arabicPeriod"/>
            </a:pPr>
            <a:r>
              <a:rPr lang="en-US" altLang="en-US" sz="1100">
                <a:latin typeface="Segoe UI"/>
                <a:ea typeface="Meiryo UI"/>
                <a:cs typeface="Segoe UI"/>
              </a:rPr>
              <a:t>(</a:t>
            </a:r>
            <a:r>
              <a:rPr lang="ja-JP" sz="1100">
                <a:latin typeface="Meiryo UI"/>
                <a:ea typeface="Meiryo UI"/>
                <a:cs typeface="Segoe UI"/>
              </a:rPr>
              <a:t>研究局面）</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(1)</a:t>
            </a:r>
            <a:r>
              <a:rPr lang="ja-JP" sz="1100">
                <a:latin typeface="Meiryo UI"/>
                <a:ea typeface="Meiryo UI"/>
                <a:cs typeface="Segoe UI"/>
              </a:rPr>
              <a:t>新技術の入手を目的とする活動</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(2)</a:t>
            </a:r>
            <a:r>
              <a:rPr lang="ja-JP" sz="1100">
                <a:latin typeface="Meiryo UI"/>
                <a:ea typeface="Meiryo UI"/>
                <a:cs typeface="Segoe UI"/>
              </a:rPr>
              <a:t>研究成果または他の技術の応用の調査、評価及び採択の最終判断</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(3)</a:t>
            </a:r>
            <a:r>
              <a:rPr lang="ja-JP" sz="1100">
                <a:latin typeface="Meiryo UI"/>
                <a:ea typeface="Meiryo UI"/>
                <a:cs typeface="Segoe UI"/>
              </a:rPr>
              <a:t>材料、装置、製品、工程、システムまたは、サービスに関する改良・改善の調査</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(4)</a:t>
            </a:r>
            <a:r>
              <a:rPr lang="ja-JP" sz="1100">
                <a:latin typeface="Meiryo UI"/>
                <a:ea typeface="Meiryo UI"/>
                <a:cs typeface="Segoe UI"/>
              </a:rPr>
              <a:t>新規または改良された材料、装置、製品、工程、システムまたはサービスに関する有力な改良･改善手法等についてのマニュアル化、設計、評価及び採択の最終判断</a:t>
            </a:r>
            <a:endParaRPr lang="en-US" altLang="ja-JP" sz="1100">
              <a:solidFill>
                <a:srgbClr val="000000"/>
              </a:solidFill>
              <a:latin typeface="Meiryo UI"/>
              <a:ea typeface="Meiryo UI"/>
              <a:cs typeface="Segoe UI"/>
            </a:endParaRPr>
          </a:p>
          <a:p>
            <a:endParaRPr lang="ja-JP" altLang="en-US" sz="1100" baseline="0">
              <a:cs typeface="Segoe UI"/>
            </a:endParaRPr>
          </a:p>
          <a:p>
            <a:pPr marL="171450" indent="-171450">
              <a:buAutoNum type="arabicPeriod"/>
            </a:pPr>
            <a:r>
              <a:rPr lang="ja-JP" sz="1100">
                <a:latin typeface="Meiryo UI"/>
                <a:ea typeface="Meiryo UI"/>
                <a:cs typeface="Segoe UI"/>
              </a:rPr>
              <a:t>（開発局面）</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(1)</a:t>
            </a:r>
            <a:r>
              <a:rPr lang="ja-JP" sz="1100">
                <a:latin typeface="Meiryo UI"/>
                <a:ea typeface="Meiryo UI"/>
                <a:cs typeface="Segoe UI"/>
              </a:rPr>
              <a:t>生産または内部活用するという前提での試作品・模型に関する設計、建設及びテスト</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(2)</a:t>
            </a:r>
            <a:r>
              <a:rPr lang="ja-JP" sz="1100">
                <a:latin typeface="Meiryo UI"/>
                <a:ea typeface="Meiryo UI"/>
                <a:cs typeface="Segoe UI"/>
              </a:rPr>
              <a:t>商用に向けてのベンチプラントの設計、建設及び操業で、商業生産が経済的に実行可能ではない規模のもの</a:t>
            </a:r>
            <a:endParaRPr lang="en-US" altLang="ja-JP" sz="1100">
              <a:solidFill>
                <a:srgbClr val="000000"/>
              </a:solidFill>
              <a:latin typeface="Meiryo UI"/>
              <a:ea typeface="Meiryo UI"/>
              <a:cs typeface="Segoe UI"/>
            </a:endParaRPr>
          </a:p>
          <a:p>
            <a:r>
              <a:rPr lang="en-US" altLang="ja-JP" sz="1100">
                <a:latin typeface="Meiryo UI"/>
                <a:ea typeface="Meiryo UI"/>
                <a:cs typeface="Segoe UI"/>
              </a:rPr>
              <a:t>(3)</a:t>
            </a:r>
            <a:r>
              <a:rPr lang="ja-JP" sz="1100">
                <a:latin typeface="Meiryo UI"/>
                <a:ea typeface="Meiryo UI"/>
                <a:cs typeface="Segoe UI"/>
              </a:rPr>
              <a:t>新規または改良された材料、製品、工程、システムまたはサービスに関しての改良･改善についての設計･建設･及びテスト</a:t>
            </a:r>
          </a:p>
          <a:p>
            <a:endParaRPr lang="ja-JP" sz="1100">
              <a:latin typeface="Meiryo UI"/>
              <a:ea typeface="Meiryo UI"/>
              <a:cs typeface="Segoe UI"/>
            </a:endParaRPr>
          </a:p>
          <a:p>
            <a:r>
              <a:rPr lang="en-US" altLang="ja-JP" sz="1100">
                <a:latin typeface="Meiryo UI"/>
                <a:ea typeface="Meiryo UI"/>
                <a:cs typeface="Segoe UI"/>
              </a:rPr>
              <a:t>(※2)</a:t>
            </a:r>
            <a:r>
              <a:rPr lang="en-US" altLang="ja-JP" sz="1100" err="1">
                <a:latin typeface="Meiryo UI"/>
                <a:ea typeface="Meiryo UI"/>
                <a:cs typeface="Segoe UI"/>
              </a:rPr>
              <a:t>通期総予算</a:t>
            </a:r>
            <a:endParaRPr lang="en-US" altLang="ja-JP" sz="1100">
              <a:latin typeface="Meiryo UI"/>
              <a:ea typeface="Meiryo UI"/>
              <a:cs typeface="Segoe UI"/>
            </a:endParaRPr>
          </a:p>
          <a:p>
            <a:r>
              <a:rPr lang="en-US" altLang="ja-JP" sz="1100" err="1">
                <a:latin typeface="Meiryo UI"/>
                <a:ea typeface="Meiryo UI"/>
                <a:cs typeface="Segoe UI"/>
              </a:rPr>
              <a:t>開発テーマの通期総予算は、当期分はテーマ一覧表、来期以降は事業化計画表に明示される</a:t>
            </a:r>
            <a:r>
              <a:rPr lang="en-US" altLang="ja-JP" sz="1100">
                <a:latin typeface="Meiryo UI"/>
                <a:ea typeface="Meiryo UI"/>
                <a:cs typeface="Segoe UI"/>
              </a:rPr>
              <a:t>。</a:t>
            </a:r>
          </a:p>
          <a:p>
            <a:endParaRPr lang="en-US" altLang="ja-JP" sz="1100">
              <a:latin typeface="Meiryo UI"/>
              <a:ea typeface="Meiryo UI"/>
              <a:cs typeface="Segoe UI"/>
            </a:endParaRPr>
          </a:p>
          <a:p>
            <a:r>
              <a:rPr lang="en-US" altLang="ja-JP" sz="1100">
                <a:latin typeface="Meiryo UI"/>
                <a:ea typeface="Meiryo UI"/>
                <a:cs typeface="Segoe UI"/>
              </a:rPr>
              <a:t>(※3)</a:t>
            </a:r>
            <a:r>
              <a:rPr lang="en-US" altLang="ja-JP" sz="1100" err="1">
                <a:latin typeface="Meiryo UI"/>
                <a:ea typeface="Meiryo UI"/>
                <a:cs typeface="Segoe UI"/>
              </a:rPr>
              <a:t>開発費資産化の認識要件</a:t>
            </a:r>
            <a:endParaRPr lang="en-US" altLang="ja-JP" sz="1100">
              <a:latin typeface="Meiryo UI"/>
              <a:ea typeface="Meiryo UI"/>
              <a:cs typeface="Segoe UI"/>
            </a:endParaRPr>
          </a:p>
          <a:p>
            <a:r>
              <a:rPr lang="en-US" altLang="ja-JP" sz="1100">
                <a:latin typeface="Meiryo UI"/>
                <a:ea typeface="Meiryo UI"/>
                <a:cs typeface="Segoe UI"/>
              </a:rPr>
              <a:t>前項の6つの資産化認識要件を参照。一般的には④が満たされる場合、他の要件が満たされると考えられることから、④</a:t>
            </a:r>
            <a:r>
              <a:rPr lang="en-US" altLang="ja-JP" sz="1100" err="1">
                <a:latin typeface="Meiryo UI"/>
                <a:ea typeface="Meiryo UI"/>
                <a:cs typeface="Segoe UI"/>
              </a:rPr>
              <a:t>が満たされた時点を</a:t>
            </a:r>
            <a:r>
              <a:rPr lang="en-US" altLang="ja-JP" sz="1100">
                <a:latin typeface="Meiryo UI"/>
                <a:ea typeface="Meiryo UI"/>
                <a:cs typeface="Segoe UI"/>
              </a:rPr>
              <a:t>、①～⑥</a:t>
            </a:r>
            <a:r>
              <a:rPr lang="en-US" altLang="ja-JP" sz="1100" err="1">
                <a:latin typeface="Meiryo UI"/>
                <a:ea typeface="Meiryo UI"/>
                <a:cs typeface="Segoe UI"/>
              </a:rPr>
              <a:t>すべてが満たされたものとみなす</a:t>
            </a:r>
            <a:r>
              <a:rPr lang="en-US" altLang="ja-JP" sz="1100">
                <a:latin typeface="Meiryo UI"/>
                <a:ea typeface="Meiryo UI"/>
                <a:cs typeface="Segoe UI"/>
              </a:rPr>
              <a:t>。</a:t>
            </a:r>
          </a:p>
          <a:p>
            <a:r>
              <a:rPr lang="ja-JP" altLang="en-US" sz="1100">
                <a:latin typeface="Meiryo UI"/>
                <a:ea typeface="Meiryo UI"/>
                <a:cs typeface="Segoe UI"/>
              </a:rPr>
              <a:t>④が満たされる場合とは、原則、以下のいずれかが技術開発会議等で承認、もしくは報告されている場合をいう。</a:t>
            </a:r>
          </a:p>
          <a:p>
            <a:pPr marL="228600" indent="-228600">
              <a:buAutoNum type="arabicPeriod"/>
            </a:pPr>
            <a:r>
              <a:rPr lang="ja-JP" altLang="en-US" sz="1100">
                <a:latin typeface="Meiryo UI"/>
                <a:ea typeface="Meiryo UI"/>
                <a:cs typeface="Segoe UI"/>
              </a:rPr>
              <a:t>顧客との販売契約の締結(サンプル・試作品の受注契約は対象外)</a:t>
            </a:r>
          </a:p>
          <a:p>
            <a:pPr marL="228600" indent="-228600">
              <a:buAutoNum type="arabicPeriod"/>
            </a:pPr>
            <a:r>
              <a:rPr lang="ja-JP" altLang="en-US" sz="1100">
                <a:latin typeface="Meiryo UI"/>
                <a:ea typeface="Meiryo UI"/>
                <a:cs typeface="Segoe UI"/>
              </a:rPr>
              <a:t>事業化/実用化の決定</a:t>
            </a:r>
          </a:p>
          <a:p>
            <a:pPr marL="228600" indent="-228600">
              <a:buAutoNum type="arabicPeriod"/>
            </a:pPr>
            <a:r>
              <a:rPr lang="ja-JP" altLang="en-US" sz="1100">
                <a:latin typeface="Meiryo UI"/>
                <a:ea typeface="Meiryo UI"/>
                <a:cs typeface="Segoe UI"/>
              </a:rPr>
              <a:t>規制当局による承認</a:t>
            </a:r>
          </a:p>
          <a:p>
            <a:pPr marL="228600" indent="-228600">
              <a:buAutoNum type="arabicPeriod"/>
            </a:pPr>
            <a:endParaRPr lang="ja-JP" altLang="en-US" sz="1100">
              <a:latin typeface="Meiryo UI"/>
              <a:ea typeface="Meiryo UI"/>
              <a:cs typeface="Segoe UI"/>
            </a:endParaRPr>
          </a:p>
          <a:p>
            <a:r>
              <a:rPr lang="ja-JP" altLang="en-US" sz="1100">
                <a:latin typeface="Meiryo UI"/>
                <a:ea typeface="Meiryo UI"/>
                <a:cs typeface="Segoe UI"/>
              </a:rPr>
              <a:t>(※4)資産化対象開発費の集計　</a:t>
            </a:r>
            <a:r>
              <a:rPr lang="en-US" altLang="ja-JP" sz="1100" u="sng">
                <a:solidFill>
                  <a:srgbClr val="3D03FC"/>
                </a:solidFill>
                <a:latin typeface="Meiryo UI"/>
                <a:ea typeface="Meiryo UI"/>
                <a:cs typeface="Segoe UI"/>
              </a:rPr>
              <a:t>※1</a:t>
            </a:r>
            <a:r>
              <a:rPr lang="ja-JP" altLang="en-US" sz="1100" u="sng">
                <a:solidFill>
                  <a:srgbClr val="3D03FC"/>
                </a:solidFill>
                <a:latin typeface="Meiryo UI"/>
                <a:ea typeface="Meiryo UI"/>
                <a:cs typeface="Segoe UI"/>
              </a:rPr>
              <a:t>億円未満の場合は、発生時に費用処理することとする。</a:t>
            </a:r>
            <a:r>
              <a:rPr lang="en-US" altLang="ja-JP" sz="1100" u="sng">
                <a:solidFill>
                  <a:srgbClr val="3D03FC"/>
                </a:solidFill>
                <a:latin typeface="Meiryo UI"/>
                <a:ea typeface="Meiryo UI"/>
                <a:cs typeface="Segoe UI"/>
              </a:rPr>
              <a:t>(</a:t>
            </a:r>
            <a:r>
              <a:rPr lang="ja-JP" altLang="en-US" sz="1100" u="sng">
                <a:solidFill>
                  <a:srgbClr val="3D03FC"/>
                </a:solidFill>
                <a:latin typeface="Meiryo UI"/>
                <a:ea typeface="Meiryo UI"/>
                <a:cs typeface="Segoe UI"/>
              </a:rPr>
              <a:t>改定予定</a:t>
            </a:r>
            <a:r>
              <a:rPr lang="en-US" altLang="ja-JP" sz="1100" u="sng">
                <a:solidFill>
                  <a:srgbClr val="3D03FC"/>
                </a:solidFill>
                <a:latin typeface="Meiryo UI"/>
                <a:ea typeface="Meiryo UI"/>
                <a:cs typeface="Segoe UI"/>
              </a:rPr>
              <a:t>)</a:t>
            </a:r>
            <a:endParaRPr lang="ja-JP" altLang="en-US" sz="1100" u="sng">
              <a:solidFill>
                <a:srgbClr val="3D03FC"/>
              </a:solidFill>
              <a:latin typeface="Meiryo UI"/>
              <a:ea typeface="Meiryo UI"/>
              <a:cs typeface="Segoe UI"/>
            </a:endParaRPr>
          </a:p>
          <a:p>
            <a:r>
              <a:rPr lang="ja-JP" altLang="en-US" sz="1100">
                <a:latin typeface="Meiryo UI"/>
                <a:ea typeface="Meiryo UI"/>
                <a:cs typeface="Segoe UI"/>
              </a:rPr>
              <a:t>資産化対象開発費は、資産化開始日～資産化終了時点(*1)の開発費をいう。</a:t>
            </a:r>
          </a:p>
          <a:p>
            <a:r>
              <a:rPr lang="ja-JP" altLang="en-US" sz="1100">
                <a:latin typeface="Meiryo UI"/>
                <a:ea typeface="Meiryo UI"/>
                <a:cs typeface="Segoe UI"/>
              </a:rPr>
              <a:t>　　（</a:t>
            </a:r>
            <a:r>
              <a:rPr lang="ja-JP" sz="1100">
                <a:latin typeface="Meiryo UI"/>
                <a:ea typeface="Meiryo UI"/>
                <a:cs typeface="Segoe UI"/>
              </a:rPr>
              <a:t>*1）資産化終了時点とは、事業の開始（例：製品の量産開始、販売（サンプル品・試作品除く）、</a:t>
            </a:r>
            <a:endParaRPr lang="ja-JP" altLang="en-US" sz="1100">
              <a:latin typeface="Meiryo UI"/>
              <a:ea typeface="Meiryo UI"/>
              <a:cs typeface="Segoe UI"/>
            </a:endParaRPr>
          </a:p>
          <a:p>
            <a:r>
              <a:rPr lang="ja-JP" sz="1100">
                <a:latin typeface="Meiryo UI"/>
                <a:ea typeface="Meiryo UI"/>
                <a:cs typeface="Segoe UI"/>
              </a:rPr>
              <a:t>　　　　　　</a:t>
            </a:r>
            <a:r>
              <a:rPr lang="ja-JP" altLang="en-US" sz="1100">
                <a:latin typeface="Meiryo UI"/>
                <a:ea typeface="Meiryo UI"/>
                <a:cs typeface="Segoe UI"/>
              </a:rPr>
              <a:t>　</a:t>
            </a:r>
            <a:r>
              <a:rPr lang="ja-JP" sz="1100">
                <a:latin typeface="Meiryo UI"/>
                <a:ea typeface="Meiryo UI"/>
                <a:cs typeface="Segoe UI"/>
              </a:rPr>
              <a:t>設備等の使用開始等）時点をいう。資産化終了時点は、事業の開始に係る社内決議資料等</a:t>
            </a:r>
            <a:endParaRPr lang="ja-JP">
              <a:latin typeface="Segoe UI"/>
              <a:ea typeface="Meiryo UI"/>
              <a:cs typeface="Segoe UI"/>
            </a:endParaRPr>
          </a:p>
          <a:p>
            <a:r>
              <a:rPr lang="ja-JP" altLang="en-US" sz="1100">
                <a:latin typeface="Meiryo UI"/>
                <a:ea typeface="Meiryo UI"/>
                <a:cs typeface="Segoe UI"/>
              </a:rPr>
              <a:t>　　　　　　</a:t>
            </a:r>
            <a:r>
              <a:rPr lang="ja-JP" sz="1100">
                <a:latin typeface="Meiryo UI"/>
                <a:ea typeface="Meiryo UI"/>
                <a:cs typeface="Segoe UI"/>
              </a:rPr>
              <a:t>（会議の議事録、事業計画資料等）により確認する</a:t>
            </a:r>
            <a:r>
              <a:rPr lang="ja-JP" altLang="en-US" sz="1100">
                <a:latin typeface="Meiryo UI"/>
                <a:ea typeface="Meiryo UI"/>
                <a:cs typeface="Segoe UI"/>
              </a:rPr>
              <a:t>。</a:t>
            </a:r>
            <a:endParaRPr lang="ja-JP">
              <a:cs typeface="Segoe UI"/>
            </a:endParaRPr>
          </a:p>
        </p:txBody>
      </p:sp>
      <p:sp>
        <p:nvSpPr>
          <p:cNvPr id="2" name="TextBox 1">
            <a:extLst>
              <a:ext uri="{FF2B5EF4-FFF2-40B4-BE49-F238E27FC236}">
                <a16:creationId xmlns:a16="http://schemas.microsoft.com/office/drawing/2014/main" id="{D2FA87B3-17C9-4AC6-DFA1-9E03072FCB8D}"/>
              </a:ext>
            </a:extLst>
          </p:cNvPr>
          <p:cNvSpPr txBox="1"/>
          <p:nvPr/>
        </p:nvSpPr>
        <p:spPr>
          <a:xfrm>
            <a:off x="5531927" y="884433"/>
            <a:ext cx="4823436" cy="199414"/>
          </a:xfrm>
          <a:prstGeom prst="rect">
            <a:avLst/>
          </a:prstGeom>
          <a:noFill/>
          <a:ln>
            <a:noFill/>
          </a:ln>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nSpc>
                <a:spcPct val="120000"/>
              </a:lnSpc>
            </a:pPr>
            <a:r>
              <a:rPr lang="ja-JP" altLang="en-US" sz="1200" b="1" spc="110">
                <a:cs typeface="Segoe UI"/>
              </a:rPr>
              <a:t>・IFRS_会計実務指針_Ⅲ-2 自己創設無形資産(開発費)より抜粋 </a:t>
            </a:r>
            <a:endParaRPr lang="ja-JP" altLang="en-US" sz="1200" spc="110" baseline="0">
              <a:cs typeface="Segoe UI"/>
            </a:endParaRPr>
          </a:p>
        </p:txBody>
      </p:sp>
    </p:spTree>
    <p:extLst>
      <p:ext uri="{BB962C8B-B14F-4D97-AF65-F5344CB8AC3E}">
        <p14:creationId xmlns:p14="http://schemas.microsoft.com/office/powerpoint/2010/main" val="17140601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CD1E9-F7CD-1419-B7F5-56B620B838B2}"/>
            </a:ext>
          </a:extLst>
        </p:cNvPr>
        <p:cNvGrpSpPr/>
        <p:nvPr/>
      </p:nvGrpSpPr>
      <p:grpSpPr>
        <a:xfrm>
          <a:off x="0" y="0"/>
          <a:ext cx="0" cy="0"/>
          <a:chOff x="0" y="0"/>
          <a:chExt cx="0" cy="0"/>
        </a:xfrm>
      </p:grpSpPr>
      <p:graphicFrame>
        <p:nvGraphicFramePr>
          <p:cNvPr id="25" name="表 5">
            <a:extLst>
              <a:ext uri="{FF2B5EF4-FFF2-40B4-BE49-F238E27FC236}">
                <a16:creationId xmlns:a16="http://schemas.microsoft.com/office/drawing/2014/main" id="{B13F4498-561A-3ECB-4B53-B0B1B6A29A83}"/>
              </a:ext>
            </a:extLst>
          </p:cNvPr>
          <p:cNvGraphicFramePr>
            <a:graphicFrameLocks noGrp="1"/>
          </p:cNvGraphicFramePr>
          <p:nvPr>
            <p:extLst>
              <p:ext uri="{D42A27DB-BD31-4B8C-83A1-F6EECF244321}">
                <p14:modId xmlns:p14="http://schemas.microsoft.com/office/powerpoint/2010/main" val="565539711"/>
              </p:ext>
            </p:extLst>
          </p:nvPr>
        </p:nvGraphicFramePr>
        <p:xfrm>
          <a:off x="730575" y="3094845"/>
          <a:ext cx="7504428" cy="1270002"/>
        </p:xfrm>
        <a:graphic>
          <a:graphicData uri="http://schemas.openxmlformats.org/drawingml/2006/table">
            <a:tbl>
              <a:tblPr firstRow="1" bandRow="1">
                <a:tableStyleId>{5C22544A-7EE6-4342-B048-85BDC9FD1C3A}</a:tableStyleId>
              </a:tblPr>
              <a:tblGrid>
                <a:gridCol w="2501476">
                  <a:extLst>
                    <a:ext uri="{9D8B030D-6E8A-4147-A177-3AD203B41FA5}">
                      <a16:colId xmlns:a16="http://schemas.microsoft.com/office/drawing/2014/main" val="746188620"/>
                    </a:ext>
                  </a:extLst>
                </a:gridCol>
                <a:gridCol w="2501476">
                  <a:extLst>
                    <a:ext uri="{9D8B030D-6E8A-4147-A177-3AD203B41FA5}">
                      <a16:colId xmlns:a16="http://schemas.microsoft.com/office/drawing/2014/main" val="477207402"/>
                    </a:ext>
                  </a:extLst>
                </a:gridCol>
                <a:gridCol w="2501476">
                  <a:extLst>
                    <a:ext uri="{9D8B030D-6E8A-4147-A177-3AD203B41FA5}">
                      <a16:colId xmlns:a16="http://schemas.microsoft.com/office/drawing/2014/main" val="435073880"/>
                    </a:ext>
                  </a:extLst>
                </a:gridCol>
              </a:tblGrid>
              <a:tr h="609188">
                <a:tc>
                  <a:txBody>
                    <a:bodyPr/>
                    <a:lstStyle/>
                    <a:p>
                      <a:pPr algn="ctr"/>
                      <a:r>
                        <a:rPr kumimoji="1" lang="ja-JP" altLang="en-US" sz="1400"/>
                        <a:t>本事案①の会計処理</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a:t>本事案②の会計処理</a:t>
                      </a:r>
                    </a:p>
                  </a:txBody>
                  <a:tcPr anchor="ctr"/>
                </a:tc>
                <a:tc>
                  <a:txBody>
                    <a:bodyPr/>
                    <a:lstStyle/>
                    <a:p>
                      <a:pPr algn="ctr"/>
                      <a:r>
                        <a:rPr lang="ja-JP" altLang="en-US" sz="1400"/>
                        <a:t>本事案➂の</a:t>
                      </a:r>
                      <a:r>
                        <a:rPr kumimoji="1" lang="ja-JP" altLang="en-US" sz="1400"/>
                        <a:t>会計処理</a:t>
                      </a:r>
                    </a:p>
                  </a:txBody>
                  <a:tcPr anchor="ctr"/>
                </a:tc>
                <a:extLst>
                  <a:ext uri="{0D108BD9-81ED-4DB2-BD59-A6C34878D82A}">
                    <a16:rowId xmlns:a16="http://schemas.microsoft.com/office/drawing/2014/main" val="3310091965"/>
                  </a:ext>
                </a:extLst>
              </a:tr>
              <a:tr h="660814">
                <a:tc>
                  <a:txBody>
                    <a:bodyPr/>
                    <a:lstStyle/>
                    <a:p>
                      <a:pPr algn="ctr">
                        <a:lnSpc>
                          <a:spcPct val="150000"/>
                        </a:lnSpc>
                      </a:pPr>
                      <a:r>
                        <a:rPr kumimoji="1" lang="ja-JP" altLang="en-US" sz="1400"/>
                        <a:t>建設仮勘定</a:t>
                      </a:r>
                      <a:r>
                        <a:rPr lang="ja-JP" altLang="en-US" sz="1400"/>
                        <a:t> </a:t>
                      </a:r>
                      <a:r>
                        <a:rPr kumimoji="1" lang="en-US" altLang="ja-JP" sz="1400"/>
                        <a:t>/</a:t>
                      </a:r>
                      <a:r>
                        <a:rPr lang="en-US" altLang="ja-JP" sz="1400"/>
                        <a:t> 未払金</a:t>
                      </a:r>
                      <a:endParaRPr kumimoji="1" lang="ja-JP" altLang="en-US" sz="1400" err="1"/>
                    </a:p>
                  </a:txBody>
                  <a:tcPr anchor="ctr"/>
                </a:tc>
                <a:tc>
                  <a:txBody>
                    <a:bodyPr/>
                    <a:lstStyle/>
                    <a:p>
                      <a:pPr algn="ctr"/>
                      <a:r>
                        <a:rPr lang="en-US" altLang="ja-JP" sz="1400"/>
                        <a:t>開発費(無形資産)/</a:t>
                      </a:r>
                      <a:r>
                        <a:rPr kumimoji="1" lang="ja-JP" altLang="en-US" sz="1400"/>
                        <a:t>未払金</a:t>
                      </a:r>
                    </a:p>
                  </a:txBody>
                  <a:tcPr anchor="ctr"/>
                </a:tc>
                <a:tc>
                  <a:txBody>
                    <a:bodyPr/>
                    <a:lstStyle/>
                    <a:p>
                      <a:pPr algn="ctr"/>
                      <a:r>
                        <a:rPr lang="en-US" altLang="ja-JP" sz="1400"/>
                        <a:t>建設仮勘定 </a:t>
                      </a:r>
                      <a:r>
                        <a:rPr kumimoji="1" lang="en-US" altLang="ja-JP" sz="1400"/>
                        <a:t>/</a:t>
                      </a:r>
                      <a:r>
                        <a:rPr lang="en-US" altLang="ja-JP" sz="1400"/>
                        <a:t> </a:t>
                      </a:r>
                      <a:r>
                        <a:rPr kumimoji="1" lang="ja-JP" altLang="en-US" sz="1400"/>
                        <a:t>未払金</a:t>
                      </a:r>
                    </a:p>
                  </a:txBody>
                  <a:tcPr anchor="ctr"/>
                </a:tc>
                <a:extLst>
                  <a:ext uri="{0D108BD9-81ED-4DB2-BD59-A6C34878D82A}">
                    <a16:rowId xmlns:a16="http://schemas.microsoft.com/office/drawing/2014/main" val="2929332537"/>
                  </a:ext>
                </a:extLst>
              </a:tr>
            </a:tbl>
          </a:graphicData>
        </a:graphic>
      </p:graphicFrame>
      <p:sp>
        <p:nvSpPr>
          <p:cNvPr id="27" name="正方形/長方形 1">
            <a:extLst>
              <a:ext uri="{FF2B5EF4-FFF2-40B4-BE49-F238E27FC236}">
                <a16:creationId xmlns:a16="http://schemas.microsoft.com/office/drawing/2014/main" id="{A4D25140-23FA-1652-9235-2C1D73A35A8C}"/>
              </a:ext>
            </a:extLst>
          </p:cNvPr>
          <p:cNvSpPr/>
          <p:nvPr/>
        </p:nvSpPr>
        <p:spPr bwMode="gray">
          <a:xfrm>
            <a:off x="744269" y="1178424"/>
            <a:ext cx="10750085" cy="1670552"/>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376555" indent="-285750" defTabSz="990589">
              <a:spcBef>
                <a:spcPts val="300"/>
              </a:spcBef>
              <a:buSzPct val="100000"/>
              <a:buFont typeface="Wingdings"/>
              <a:buChar char="Ø"/>
            </a:pPr>
            <a:r>
              <a:rPr lang="ja-JP" altLang="en-US">
                <a:solidFill>
                  <a:prstClr val="black"/>
                </a:solidFill>
                <a:latin typeface="+mn-ea"/>
              </a:rPr>
              <a:t>資産性のない費用の資産計上事案が以下の通り、複数社で発見されています。 </a:t>
            </a:r>
            <a:endParaRPr lang="en-US" altLang="ja-JP">
              <a:solidFill>
                <a:prstClr val="black"/>
              </a:solidFill>
              <a:latin typeface="+mn-ea"/>
            </a:endParaRPr>
          </a:p>
          <a:p>
            <a:pPr marL="90805" defTabSz="990589">
              <a:spcBef>
                <a:spcPts val="300"/>
              </a:spcBef>
            </a:pPr>
            <a:r>
              <a:rPr lang="en-US" sz="2000">
                <a:solidFill>
                  <a:prstClr val="black"/>
                </a:solidFill>
                <a:latin typeface="+mn-ea"/>
              </a:rPr>
              <a:t>   </a:t>
            </a:r>
            <a:r>
              <a:rPr lang="en-US">
                <a:solidFill>
                  <a:prstClr val="black"/>
                </a:solidFill>
                <a:latin typeface="+mn-ea"/>
              </a:rPr>
              <a:t>①AW</a:t>
            </a:r>
            <a:r>
              <a:rPr lang="ja-JP" altLang="en-US">
                <a:solidFill>
                  <a:prstClr val="black"/>
                </a:solidFill>
                <a:latin typeface="+mn-ea"/>
              </a:rPr>
              <a:t>本社において、研究開発費として発生時費用処理すべき金額を建設仮勘定に計上</a:t>
            </a:r>
            <a:endParaRPr lang="en-US" altLang="ja-JP">
              <a:solidFill>
                <a:prstClr val="black"/>
              </a:solidFill>
              <a:latin typeface="+mn-ea"/>
            </a:endParaRPr>
          </a:p>
          <a:p>
            <a:pPr marL="90805" defTabSz="990589">
              <a:spcBef>
                <a:spcPts val="300"/>
              </a:spcBef>
            </a:pPr>
            <a:r>
              <a:rPr lang="en-US" altLang="ja-JP">
                <a:solidFill>
                  <a:prstClr val="black"/>
                </a:solidFill>
                <a:latin typeface="+mn-ea"/>
              </a:rPr>
              <a:t>　 ②AW</a:t>
            </a:r>
            <a:r>
              <a:rPr lang="ja-JP" altLang="en-US">
                <a:solidFill>
                  <a:prstClr val="black"/>
                </a:solidFill>
                <a:latin typeface="+mn-ea"/>
              </a:rPr>
              <a:t>防災において、開発費やソフトウェアの資産計上要件を満たさない費用の資産計上</a:t>
            </a:r>
            <a:endParaRPr lang="en-US" altLang="ja-JP">
              <a:solidFill>
                <a:prstClr val="black"/>
              </a:solidFill>
              <a:latin typeface="+mn-ea"/>
            </a:endParaRPr>
          </a:p>
          <a:p>
            <a:pPr marL="90805" defTabSz="990589">
              <a:spcBef>
                <a:spcPts val="300"/>
              </a:spcBef>
            </a:pPr>
            <a:r>
              <a:rPr lang="ja-JP" altLang="en-US">
                <a:solidFill>
                  <a:prstClr val="black"/>
                </a:solidFill>
                <a:latin typeface="+mn-ea"/>
              </a:rPr>
              <a:t>　 </a:t>
            </a:r>
            <a:r>
              <a:rPr lang="ja-JP" altLang="en-US" sz="2000">
                <a:solidFill>
                  <a:prstClr val="black"/>
                </a:solidFill>
                <a:latin typeface="+mn-ea"/>
              </a:rPr>
              <a:t>➂</a:t>
            </a:r>
            <a:r>
              <a:rPr lang="ja-JP" altLang="en-US">
                <a:solidFill>
                  <a:prstClr val="black"/>
                </a:solidFill>
                <a:latin typeface="+mn-ea"/>
              </a:rPr>
              <a:t>タテホ化学工業において、資産性のない外注費を建設仮勘定に計上</a:t>
            </a:r>
            <a:endParaRPr lang="en-US" altLang="ja-JP">
              <a:solidFill>
                <a:prstClr val="black"/>
              </a:solidFill>
              <a:latin typeface="+mn-ea"/>
            </a:endParaRPr>
          </a:p>
        </p:txBody>
      </p:sp>
      <p:sp>
        <p:nvSpPr>
          <p:cNvPr id="33" name="円: 塗りつぶしなし 23">
            <a:extLst>
              <a:ext uri="{FF2B5EF4-FFF2-40B4-BE49-F238E27FC236}">
                <a16:creationId xmlns:a16="http://schemas.microsoft.com/office/drawing/2014/main" id="{ECA7CB4B-77BA-AD0F-F2F8-480FA3549C9A}"/>
              </a:ext>
            </a:extLst>
          </p:cNvPr>
          <p:cNvSpPr/>
          <p:nvPr/>
        </p:nvSpPr>
        <p:spPr>
          <a:xfrm>
            <a:off x="8299353" y="5420888"/>
            <a:ext cx="579461" cy="604513"/>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34" name="TextBox 33">
            <a:extLst>
              <a:ext uri="{FF2B5EF4-FFF2-40B4-BE49-F238E27FC236}">
                <a16:creationId xmlns:a16="http://schemas.microsoft.com/office/drawing/2014/main" id="{B1AAAB81-F62E-6D23-FD41-1569F7490C11}"/>
              </a:ext>
            </a:extLst>
          </p:cNvPr>
          <p:cNvSpPr txBox="1"/>
          <p:nvPr/>
        </p:nvSpPr>
        <p:spPr>
          <a:xfrm>
            <a:off x="738881" y="869095"/>
            <a:ext cx="2666799" cy="299184"/>
          </a:xfrm>
          <a:prstGeom prst="rect">
            <a:avLst/>
          </a:prstGeom>
          <a:noFill/>
          <a:ln>
            <a:noFill/>
          </a:ln>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20000"/>
              </a:lnSpc>
            </a:pPr>
            <a:r>
              <a:rPr lang="ja-JP" altLang="en-US" spc="110">
                <a:solidFill>
                  <a:srgbClr val="262626"/>
                </a:solidFill>
                <a:cs typeface="Segoe UI"/>
              </a:rPr>
              <a:t>【事案への当てはめ】</a:t>
            </a:r>
            <a:endParaRPr lang="en-US" altLang="ja-JP">
              <a:cs typeface="Segoe UI"/>
            </a:endParaRPr>
          </a:p>
        </p:txBody>
      </p:sp>
      <p:graphicFrame>
        <p:nvGraphicFramePr>
          <p:cNvPr id="2" name="表 5">
            <a:extLst>
              <a:ext uri="{FF2B5EF4-FFF2-40B4-BE49-F238E27FC236}">
                <a16:creationId xmlns:a16="http://schemas.microsoft.com/office/drawing/2014/main" id="{00EA6BD1-7B75-3C76-A155-CAB49F7B6A96}"/>
              </a:ext>
            </a:extLst>
          </p:cNvPr>
          <p:cNvGraphicFramePr>
            <a:graphicFrameLocks noGrp="1"/>
          </p:cNvGraphicFramePr>
          <p:nvPr>
            <p:extLst>
              <p:ext uri="{D42A27DB-BD31-4B8C-83A1-F6EECF244321}">
                <p14:modId xmlns:p14="http://schemas.microsoft.com/office/powerpoint/2010/main" val="273304641"/>
              </p:ext>
            </p:extLst>
          </p:nvPr>
        </p:nvGraphicFramePr>
        <p:xfrm>
          <a:off x="718083" y="5324045"/>
          <a:ext cx="7520277" cy="823231"/>
        </p:xfrm>
        <a:graphic>
          <a:graphicData uri="http://schemas.openxmlformats.org/drawingml/2006/table">
            <a:tbl>
              <a:tblPr firstRow="1" bandRow="1">
                <a:tableStyleId>{5C22544A-7EE6-4342-B048-85BDC9FD1C3A}</a:tableStyleId>
              </a:tblPr>
              <a:tblGrid>
                <a:gridCol w="2506759">
                  <a:extLst>
                    <a:ext uri="{9D8B030D-6E8A-4147-A177-3AD203B41FA5}">
                      <a16:colId xmlns:a16="http://schemas.microsoft.com/office/drawing/2014/main" val="746188620"/>
                    </a:ext>
                  </a:extLst>
                </a:gridCol>
                <a:gridCol w="2506759">
                  <a:extLst>
                    <a:ext uri="{9D8B030D-6E8A-4147-A177-3AD203B41FA5}">
                      <a16:colId xmlns:a16="http://schemas.microsoft.com/office/drawing/2014/main" val="477207402"/>
                    </a:ext>
                  </a:extLst>
                </a:gridCol>
                <a:gridCol w="2506759">
                  <a:extLst>
                    <a:ext uri="{9D8B030D-6E8A-4147-A177-3AD203B41FA5}">
                      <a16:colId xmlns:a16="http://schemas.microsoft.com/office/drawing/2014/main" val="435073880"/>
                    </a:ext>
                  </a:extLst>
                </a:gridCol>
              </a:tblGrid>
              <a:tr h="823231">
                <a:tc>
                  <a:txBody>
                    <a:bodyPr/>
                    <a:lstStyle/>
                    <a:p>
                      <a:pPr algn="ctr">
                        <a:lnSpc>
                          <a:spcPct val="150000"/>
                        </a:lnSpc>
                      </a:pPr>
                      <a:r>
                        <a:rPr lang="en-US" altLang="ja-JP" sz="1400">
                          <a:solidFill>
                            <a:srgbClr val="3D03FC"/>
                          </a:solidFill>
                        </a:rPr>
                        <a:t>研究開発費 </a:t>
                      </a:r>
                      <a:r>
                        <a:rPr kumimoji="1" lang="en-US" altLang="ja-JP" sz="1400">
                          <a:solidFill>
                            <a:srgbClr val="3D03FC"/>
                          </a:solidFill>
                        </a:rPr>
                        <a:t>/</a:t>
                      </a:r>
                      <a:r>
                        <a:rPr lang="en-US" altLang="ja-JP" sz="1400">
                          <a:solidFill>
                            <a:srgbClr val="3D03FC"/>
                          </a:solidFill>
                        </a:rPr>
                        <a:t> 未払金</a:t>
                      </a:r>
                      <a:endParaRPr kumimoji="1" lang="ja-JP" altLang="en-US" sz="1400" err="1">
                        <a:solidFill>
                          <a:srgbClr val="3D03FC"/>
                        </a:solidFill>
                      </a:endParaRPr>
                    </a:p>
                  </a:txBody>
                  <a:tcPr anchor="ctr">
                    <a:solidFill>
                      <a:schemeClr val="accent3">
                        <a:lumMod val="60000"/>
                        <a:lumOff val="40000"/>
                      </a:schemeClr>
                    </a:solidFill>
                  </a:tcPr>
                </a:tc>
                <a:tc>
                  <a:txBody>
                    <a:bodyPr/>
                    <a:lstStyle/>
                    <a:p>
                      <a:pPr algn="ctr"/>
                      <a:r>
                        <a:rPr lang="en-US" altLang="ja-JP" sz="1400">
                          <a:solidFill>
                            <a:srgbClr val="3D03FC"/>
                          </a:solidFill>
                        </a:rPr>
                        <a:t>開発費(費用) / </a:t>
                      </a:r>
                      <a:r>
                        <a:rPr kumimoji="1" lang="ja-JP" altLang="en-US" sz="1400">
                          <a:solidFill>
                            <a:srgbClr val="3D03FC"/>
                          </a:solidFill>
                        </a:rPr>
                        <a:t>未払金</a:t>
                      </a:r>
                    </a:p>
                  </a:txBody>
                  <a:tcPr anchor="ctr">
                    <a:solidFill>
                      <a:schemeClr val="accent3">
                        <a:lumMod val="60000"/>
                        <a:lumOff val="40000"/>
                      </a:schemeClr>
                    </a:solidFill>
                  </a:tcPr>
                </a:tc>
                <a:tc>
                  <a:txBody>
                    <a:bodyPr/>
                    <a:lstStyle/>
                    <a:p>
                      <a:pPr algn="ctr"/>
                      <a:r>
                        <a:rPr lang="en-US" altLang="ja-JP" sz="1400">
                          <a:solidFill>
                            <a:srgbClr val="3D03FC"/>
                          </a:solidFill>
                        </a:rPr>
                        <a:t>外注費 </a:t>
                      </a:r>
                      <a:r>
                        <a:rPr kumimoji="1" lang="en-US" altLang="ja-JP" sz="1400">
                          <a:solidFill>
                            <a:srgbClr val="3D03FC"/>
                          </a:solidFill>
                        </a:rPr>
                        <a:t>/</a:t>
                      </a:r>
                      <a:r>
                        <a:rPr lang="en-US" altLang="ja-JP" sz="1400">
                          <a:solidFill>
                            <a:srgbClr val="3D03FC"/>
                          </a:solidFill>
                        </a:rPr>
                        <a:t> </a:t>
                      </a:r>
                      <a:r>
                        <a:rPr kumimoji="1" lang="ja-JP" altLang="en-US" sz="1400">
                          <a:solidFill>
                            <a:srgbClr val="3D03FC"/>
                          </a:solidFill>
                        </a:rPr>
                        <a:t>未払金</a:t>
                      </a:r>
                    </a:p>
                  </a:txBody>
                  <a:tcPr anchor="ctr">
                    <a:solidFill>
                      <a:schemeClr val="accent3">
                        <a:lumMod val="60000"/>
                        <a:lumOff val="40000"/>
                      </a:schemeClr>
                    </a:solidFill>
                  </a:tcPr>
                </a:tc>
                <a:extLst>
                  <a:ext uri="{0D108BD9-81ED-4DB2-BD59-A6C34878D82A}">
                    <a16:rowId xmlns:a16="http://schemas.microsoft.com/office/drawing/2014/main" val="2929332537"/>
                  </a:ext>
                </a:extLst>
              </a:tr>
            </a:tbl>
          </a:graphicData>
        </a:graphic>
      </p:graphicFrame>
      <p:sp>
        <p:nvSpPr>
          <p:cNvPr id="6" name="乗算記号 22">
            <a:extLst>
              <a:ext uri="{FF2B5EF4-FFF2-40B4-BE49-F238E27FC236}">
                <a16:creationId xmlns:a16="http://schemas.microsoft.com/office/drawing/2014/main" id="{5A5697F2-82B3-C4DD-24EB-7611B8EC64F3}"/>
              </a:ext>
            </a:extLst>
          </p:cNvPr>
          <p:cNvSpPr/>
          <p:nvPr/>
        </p:nvSpPr>
        <p:spPr>
          <a:xfrm>
            <a:off x="8256922" y="3751411"/>
            <a:ext cx="601782" cy="612568"/>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10" name="Arrow: Down 9">
            <a:extLst>
              <a:ext uri="{FF2B5EF4-FFF2-40B4-BE49-F238E27FC236}">
                <a16:creationId xmlns:a16="http://schemas.microsoft.com/office/drawing/2014/main" id="{C00C9526-3960-B19E-6240-0AE3BBF4E4F2}"/>
              </a:ext>
            </a:extLst>
          </p:cNvPr>
          <p:cNvSpPr/>
          <p:nvPr/>
        </p:nvSpPr>
        <p:spPr>
          <a:xfrm>
            <a:off x="1771011" y="4602180"/>
            <a:ext cx="547090" cy="590771"/>
          </a:xfrm>
          <a:prstGeom prst="down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en-US" sz="1800" b="0" i="0" u="none" strike="noStrike" kern="1200" cap="none" spc="0" normalizeH="0" baseline="0" noProof="0">
              <a:ln>
                <a:noFill/>
              </a:ln>
              <a:solidFill>
                <a:srgbClr val="FFFFFF"/>
              </a:solidFill>
              <a:effectLst/>
              <a:uLnTx/>
              <a:uFillTx/>
              <a:latin typeface="+mn-ea"/>
              <a:cs typeface="+mn-cs"/>
            </a:endParaRPr>
          </a:p>
        </p:txBody>
      </p:sp>
      <p:sp>
        <p:nvSpPr>
          <p:cNvPr id="7" name="タイトル 2">
            <a:extLst>
              <a:ext uri="{FF2B5EF4-FFF2-40B4-BE49-F238E27FC236}">
                <a16:creationId xmlns:a16="http://schemas.microsoft.com/office/drawing/2014/main" id="{6581D8DC-DAEB-D53A-61F9-DA0D7592DC22}"/>
              </a:ext>
            </a:extLst>
          </p:cNvPr>
          <p:cNvSpPr txBox="1">
            <a:spLocks/>
          </p:cNvSpPr>
          <p:nvPr/>
        </p:nvSpPr>
        <p:spPr>
          <a:xfrm>
            <a:off x="658800" y="367200"/>
            <a:ext cx="6862991" cy="370800"/>
          </a:xfrm>
          <a:prstGeom prst="rect">
            <a:avLst/>
          </a:prstGeom>
        </p:spPr>
        <p:txBody>
          <a:bodyPr vert="horz" lIns="0" tIns="36000" rIns="0" bIns="0" rtlCol="0" anchor="ctr">
            <a:noAutofit/>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r>
              <a:rPr lang="en-US" altLang="ja-JP"/>
              <a:t>3-12.</a:t>
            </a:r>
            <a:r>
              <a:rPr lang="en-US" altLang="ja-JP">
                <a:latin typeface="BIZ UDPゴシック"/>
              </a:rPr>
              <a:t>資産性のない</a:t>
            </a:r>
            <a:r>
              <a:rPr lang="ja-JP" altLang="en-US">
                <a:latin typeface="BIZ UDPゴシック"/>
              </a:rPr>
              <a:t>支出の固定</a:t>
            </a:r>
            <a:r>
              <a:rPr lang="en-US" altLang="ja-JP" err="1">
                <a:latin typeface="BIZ UDPゴシック"/>
              </a:rPr>
              <a:t>資産計上</a:t>
            </a:r>
            <a:r>
              <a:rPr lang="en-US" altLang="ja-JP">
                <a:latin typeface="BIZ UDPゴシック"/>
              </a:rPr>
              <a:t>(</a:t>
            </a:r>
            <a:r>
              <a:rPr lang="en-US" altLang="ja-JP" err="1">
                <a:latin typeface="BIZ UDPゴシック"/>
              </a:rPr>
              <a:t>研究開発費</a:t>
            </a:r>
            <a:r>
              <a:rPr lang="en-US" altLang="ja-JP">
                <a:latin typeface="BIZ UDPゴシック"/>
              </a:rPr>
              <a:t>)</a:t>
            </a:r>
            <a:endParaRPr lang="ja-JP">
              <a:latin typeface="Segoe UI"/>
              <a:cs typeface="Segoe UI"/>
            </a:endParaRPr>
          </a:p>
        </p:txBody>
      </p:sp>
      <p:sp>
        <p:nvSpPr>
          <p:cNvPr id="3" name="Speech Bubble: Rectangle 2">
            <a:extLst>
              <a:ext uri="{FF2B5EF4-FFF2-40B4-BE49-F238E27FC236}">
                <a16:creationId xmlns:a16="http://schemas.microsoft.com/office/drawing/2014/main" id="{8C090262-1D91-51EA-8D2E-95E98F06A627}"/>
              </a:ext>
            </a:extLst>
          </p:cNvPr>
          <p:cNvSpPr/>
          <p:nvPr/>
        </p:nvSpPr>
        <p:spPr>
          <a:xfrm>
            <a:off x="8963833" y="3887998"/>
            <a:ext cx="3100465" cy="2018845"/>
          </a:xfrm>
          <a:prstGeom prst="wedgeRectCallou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sz="1800" b="1" i="0" u="sng" baseline="0">
                <a:solidFill>
                  <a:srgbClr val="FF0000"/>
                </a:solidFill>
                <a:ea typeface="Segoe UI"/>
              </a:rPr>
              <a:t>利益改善</a:t>
            </a:r>
            <a:r>
              <a:rPr lang="en-US" altLang="ja-JP" sz="1800" b="1" i="0" u="sng" baseline="0">
                <a:solidFill>
                  <a:srgbClr val="FF0000"/>
                </a:solidFill>
                <a:latin typeface="Segoe UI"/>
              </a:rPr>
              <a:t>(</a:t>
            </a:r>
            <a:r>
              <a:rPr lang="ja-JP" altLang="en-US" sz="1800" b="1" i="0" u="sng" baseline="0">
                <a:solidFill>
                  <a:srgbClr val="FF0000"/>
                </a:solidFill>
                <a:ea typeface="Segoe UI"/>
              </a:rPr>
              <a:t>費用先送り</a:t>
            </a:r>
            <a:r>
              <a:rPr lang="en-US" altLang="ja-JP" sz="1800" b="1" i="0" u="sng" baseline="0">
                <a:solidFill>
                  <a:srgbClr val="FF0000"/>
                </a:solidFill>
                <a:latin typeface="Segoe UI"/>
              </a:rPr>
              <a:t>)</a:t>
            </a:r>
            <a:r>
              <a:rPr lang="ja-JP" altLang="en-US" sz="1800" b="1" i="0" u="sng" baseline="0">
                <a:solidFill>
                  <a:srgbClr val="FF0000"/>
                </a:solidFill>
                <a:ea typeface="Segoe UI"/>
              </a:rPr>
              <a:t>の目的で費用⇒資産に振替は</a:t>
            </a:r>
            <a:r>
              <a:rPr lang="en-US" sz="1800" b="1" i="0" u="sng" baseline="0">
                <a:solidFill>
                  <a:srgbClr val="FF0000"/>
                </a:solidFill>
                <a:latin typeface="Segoe UI"/>
              </a:rPr>
              <a:t>NG</a:t>
            </a:r>
            <a:r>
              <a:rPr lang="en-US" sz="1800" b="0" i="0">
                <a:solidFill>
                  <a:srgbClr val="000000"/>
                </a:solidFill>
                <a:latin typeface="Segoe UI"/>
                <a:ea typeface="Segoe UI"/>
                <a:cs typeface="Segoe UI"/>
              </a:rPr>
              <a:t>​</a:t>
            </a:r>
          </a:p>
          <a:p>
            <a:pPr algn="ctr"/>
            <a:r>
              <a:rPr lang="en-US">
                <a:solidFill>
                  <a:srgbClr val="000000"/>
                </a:solidFill>
                <a:latin typeface="Segoe UI"/>
                <a:cs typeface="Segoe UI"/>
              </a:rPr>
              <a:t>※</a:t>
            </a:r>
            <a:r>
              <a:rPr lang="ja-JP" altLang="en-US" u="sng">
                <a:solidFill>
                  <a:srgbClr val="000000"/>
                </a:solidFill>
                <a:latin typeface="Segoe UI"/>
                <a:cs typeface="Segoe UI"/>
              </a:rPr>
              <a:t>資産計上時は、IFRSの資産要件を満たしているか必ず</a:t>
            </a:r>
          </a:p>
          <a:p>
            <a:pPr algn="ctr"/>
            <a:r>
              <a:rPr lang="ja-JP" altLang="en-US" u="sng">
                <a:solidFill>
                  <a:srgbClr val="000000"/>
                </a:solidFill>
                <a:latin typeface="Segoe UI"/>
                <a:cs typeface="Segoe UI"/>
              </a:rPr>
              <a:t>確認し、</a:t>
            </a:r>
            <a:endParaRPr lang="ja-JP" u="sng">
              <a:solidFill>
                <a:srgbClr val="FFFFFF"/>
              </a:solidFill>
              <a:latin typeface="Segoe UI"/>
              <a:cs typeface="Segoe UI"/>
            </a:endParaRPr>
          </a:p>
          <a:p>
            <a:pPr algn="ctr"/>
            <a:r>
              <a:rPr lang="ja-JP" altLang="en-US" u="sng">
                <a:solidFill>
                  <a:srgbClr val="000000"/>
                </a:solidFill>
                <a:latin typeface="Segoe UI"/>
                <a:cs typeface="Segoe UI"/>
              </a:rPr>
              <a:t>AWI経理へご連絡ください(前頁参照)</a:t>
            </a:r>
            <a:endParaRPr lang="ja-JP" u="sng">
              <a:cs typeface="Segoe UI"/>
            </a:endParaRPr>
          </a:p>
        </p:txBody>
      </p:sp>
      <p:sp>
        <p:nvSpPr>
          <p:cNvPr id="4" name="Arrow: Down 3">
            <a:extLst>
              <a:ext uri="{FF2B5EF4-FFF2-40B4-BE49-F238E27FC236}">
                <a16:creationId xmlns:a16="http://schemas.microsoft.com/office/drawing/2014/main" id="{B0A4FC8D-3B13-079C-E6FF-06CF4929494F}"/>
              </a:ext>
            </a:extLst>
          </p:cNvPr>
          <p:cNvSpPr/>
          <p:nvPr/>
        </p:nvSpPr>
        <p:spPr>
          <a:xfrm>
            <a:off x="4281863" y="4602179"/>
            <a:ext cx="547090" cy="590771"/>
          </a:xfrm>
          <a:prstGeom prst="down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en-US" sz="1800" b="0" i="0" u="none" strike="noStrike" kern="1200" cap="none" spc="0" normalizeH="0" baseline="0" noProof="0">
              <a:ln>
                <a:noFill/>
              </a:ln>
              <a:solidFill>
                <a:srgbClr val="FFFFFF"/>
              </a:solidFill>
              <a:effectLst/>
              <a:uLnTx/>
              <a:uFillTx/>
              <a:latin typeface="+mn-ea"/>
              <a:cs typeface="+mn-cs"/>
            </a:endParaRPr>
          </a:p>
        </p:txBody>
      </p:sp>
      <p:sp>
        <p:nvSpPr>
          <p:cNvPr id="5" name="Arrow: Down 4">
            <a:extLst>
              <a:ext uri="{FF2B5EF4-FFF2-40B4-BE49-F238E27FC236}">
                <a16:creationId xmlns:a16="http://schemas.microsoft.com/office/drawing/2014/main" id="{D5C07CFF-3A7B-4B77-D398-95AB75230D30}"/>
              </a:ext>
            </a:extLst>
          </p:cNvPr>
          <p:cNvSpPr/>
          <p:nvPr/>
        </p:nvSpPr>
        <p:spPr>
          <a:xfrm>
            <a:off x="6880157" y="4602178"/>
            <a:ext cx="547090" cy="590771"/>
          </a:xfrm>
          <a:prstGeom prst="downArrow">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3310324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F5A8F-EC44-BA8B-8AAD-1D781A5B1CC6}"/>
            </a:ext>
          </a:extLst>
        </p:cNvPr>
        <p:cNvGrpSpPr/>
        <p:nvPr/>
      </p:nvGrpSpPr>
      <p:grpSpPr>
        <a:xfrm>
          <a:off x="0" y="0"/>
          <a:ext cx="0" cy="0"/>
          <a:chOff x="0" y="0"/>
          <a:chExt cx="0" cy="0"/>
        </a:xfrm>
      </p:grpSpPr>
      <p:cxnSp>
        <p:nvCxnSpPr>
          <p:cNvPr id="16" name="直線矢印コネクタ 15">
            <a:extLst>
              <a:ext uri="{FF2B5EF4-FFF2-40B4-BE49-F238E27FC236}">
                <a16:creationId xmlns:a16="http://schemas.microsoft.com/office/drawing/2014/main" id="{44BDBADE-84E5-04BA-AA37-BC724C3F1527}"/>
              </a:ext>
            </a:extLst>
          </p:cNvPr>
          <p:cNvCxnSpPr>
            <a:cxnSpLocks/>
          </p:cNvCxnSpPr>
          <p:nvPr/>
        </p:nvCxnSpPr>
        <p:spPr>
          <a:xfrm>
            <a:off x="383419" y="3575956"/>
            <a:ext cx="0" cy="3096000"/>
          </a:xfrm>
          <a:prstGeom prst="straightConnector1">
            <a:avLst/>
          </a:prstGeom>
          <a:ln w="31750" cap="rnd">
            <a:solidFill>
              <a:schemeClr val="accent1"/>
            </a:solidFill>
            <a:round/>
            <a:tailEnd type="triangle"/>
          </a:ln>
        </p:spPr>
        <p:style>
          <a:lnRef idx="1">
            <a:schemeClr val="accent1"/>
          </a:lnRef>
          <a:fillRef idx="0">
            <a:schemeClr val="accent1"/>
          </a:fillRef>
          <a:effectRef idx="0">
            <a:schemeClr val="accent1"/>
          </a:effectRef>
          <a:fontRef idx="minor">
            <a:schemeClr val="tx1"/>
          </a:fontRef>
        </p:style>
      </p:cxnSp>
      <p:sp>
        <p:nvSpPr>
          <p:cNvPr id="3" name="タイトル 2">
            <a:extLst>
              <a:ext uri="{FF2B5EF4-FFF2-40B4-BE49-F238E27FC236}">
                <a16:creationId xmlns:a16="http://schemas.microsoft.com/office/drawing/2014/main" id="{D1ACAE19-E1C0-9FB9-9B4E-0912E6401D7A}"/>
              </a:ext>
            </a:extLst>
          </p:cNvPr>
          <p:cNvSpPr>
            <a:spLocks noGrp="1"/>
          </p:cNvSpPr>
          <p:nvPr>
            <p:ph type="title"/>
          </p:nvPr>
        </p:nvSpPr>
        <p:spPr>
          <a:xfrm>
            <a:off x="659999" y="365508"/>
            <a:ext cx="6869385" cy="371961"/>
          </a:xfrm>
        </p:spPr>
        <p:txBody>
          <a:bodyPr>
            <a:normAutofit/>
          </a:bodyPr>
          <a:lstStyle/>
          <a:p>
            <a:r>
              <a:rPr lang="en-US" altLang="ja-JP"/>
              <a:t>3-13.</a:t>
            </a:r>
            <a:r>
              <a:rPr lang="ja-JP" altLang="en-US"/>
              <a:t>のれんの減損漏れ</a:t>
            </a:r>
          </a:p>
        </p:txBody>
      </p:sp>
      <p:sp>
        <p:nvSpPr>
          <p:cNvPr id="2" name="正方形/長方形 1">
            <a:extLst>
              <a:ext uri="{FF2B5EF4-FFF2-40B4-BE49-F238E27FC236}">
                <a16:creationId xmlns:a16="http://schemas.microsoft.com/office/drawing/2014/main" id="{3493E5FC-9AE7-505E-C347-6E5CEE9BDA3C}"/>
              </a:ext>
            </a:extLst>
          </p:cNvPr>
          <p:cNvSpPr/>
          <p:nvPr/>
        </p:nvSpPr>
        <p:spPr bwMode="gray">
          <a:xfrm>
            <a:off x="2127658" y="1645675"/>
            <a:ext cx="9720000" cy="115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AWBD</a:t>
            </a:r>
            <a:r>
              <a:rPr lang="ja-JP" altLang="en-US" sz="1400">
                <a:solidFill>
                  <a:prstClr val="black"/>
                </a:solidFill>
                <a:latin typeface="+mn-ea"/>
              </a:rPr>
              <a:t>において、</a:t>
            </a:r>
            <a:r>
              <a:rPr lang="en-US" altLang="ja-JP" sz="1400">
                <a:solidFill>
                  <a:prstClr val="black"/>
                </a:solidFill>
                <a:latin typeface="+mn-ea"/>
              </a:rPr>
              <a:t>A</a:t>
            </a:r>
            <a:r>
              <a:rPr lang="ja-JP" altLang="en-US" sz="1400">
                <a:solidFill>
                  <a:prstClr val="black"/>
                </a:solidFill>
                <a:latin typeface="+mn-ea"/>
              </a:rPr>
              <a:t>社から取得した内視鏡事業に係るのれんを含む固定資産等について、</a:t>
            </a:r>
            <a:r>
              <a:rPr lang="en-US" altLang="ja-JP" sz="1400">
                <a:solidFill>
                  <a:prstClr val="black"/>
                </a:solidFill>
                <a:latin typeface="+mn-ea"/>
              </a:rPr>
              <a:t>2024</a:t>
            </a:r>
            <a:r>
              <a:rPr lang="ja-JP" altLang="en-US" sz="1400">
                <a:solidFill>
                  <a:prstClr val="black"/>
                </a:solidFill>
                <a:latin typeface="+mn-ea"/>
              </a:rPr>
              <a:t>年</a:t>
            </a:r>
            <a:r>
              <a:rPr lang="en-US" altLang="ja-JP" sz="1400">
                <a:solidFill>
                  <a:prstClr val="black"/>
                </a:solidFill>
                <a:latin typeface="+mn-ea"/>
              </a:rPr>
              <a:t>3</a:t>
            </a:r>
            <a:r>
              <a:rPr lang="ja-JP" altLang="en-US" sz="1400">
                <a:solidFill>
                  <a:prstClr val="black"/>
                </a:solidFill>
                <a:latin typeface="+mn-ea"/>
              </a:rPr>
              <a:t>月期に減損処理を行うべきところ、</a:t>
            </a:r>
            <a:r>
              <a:rPr lang="en-US" altLang="ja-JP" sz="1400">
                <a:solidFill>
                  <a:prstClr val="black"/>
                </a:solidFill>
                <a:latin typeface="+mn-ea"/>
              </a:rPr>
              <a:t>AW</a:t>
            </a:r>
            <a:r>
              <a:rPr lang="ja-JP" altLang="en-US" sz="1400">
                <a:solidFill>
                  <a:prstClr val="black"/>
                </a:solidFill>
                <a:latin typeface="+mn-ea"/>
              </a:rPr>
              <a:t>本社保有の</a:t>
            </a:r>
            <a:r>
              <a:rPr lang="en-US" altLang="ja-JP" sz="1400">
                <a:solidFill>
                  <a:prstClr val="black"/>
                </a:solidFill>
                <a:latin typeface="+mn-ea"/>
              </a:rPr>
              <a:t>AWBD</a:t>
            </a:r>
            <a:r>
              <a:rPr lang="ja-JP" altLang="en-US" sz="1400">
                <a:solidFill>
                  <a:prstClr val="black"/>
                </a:solidFill>
                <a:latin typeface="+mn-ea"/>
              </a:rPr>
              <a:t>株式の減損回避目的で、</a:t>
            </a:r>
            <a:r>
              <a:rPr lang="en-US" altLang="ja-JP" sz="1400">
                <a:solidFill>
                  <a:prstClr val="black"/>
                </a:solidFill>
                <a:latin typeface="+mn-ea"/>
              </a:rPr>
              <a:t>2025</a:t>
            </a:r>
            <a:r>
              <a:rPr lang="ja-JP" altLang="en-US" sz="1400">
                <a:solidFill>
                  <a:prstClr val="black"/>
                </a:solidFill>
                <a:latin typeface="+mn-ea"/>
              </a:rPr>
              <a:t>年</a:t>
            </a:r>
            <a:r>
              <a:rPr lang="en-US" altLang="ja-JP" sz="1400">
                <a:solidFill>
                  <a:prstClr val="black"/>
                </a:solidFill>
                <a:latin typeface="+mn-ea"/>
              </a:rPr>
              <a:t>3</a:t>
            </a:r>
            <a:r>
              <a:rPr lang="ja-JP" altLang="en-US" sz="1400">
                <a:solidFill>
                  <a:prstClr val="black"/>
                </a:solidFill>
                <a:latin typeface="+mn-ea"/>
              </a:rPr>
              <a:t>月期に先送りされていた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上記に伴い</a:t>
            </a:r>
            <a:r>
              <a:rPr lang="en-US" altLang="ja-JP" sz="1400">
                <a:solidFill>
                  <a:prstClr val="black"/>
                </a:solidFill>
                <a:latin typeface="+mn-ea"/>
              </a:rPr>
              <a:t>AW</a:t>
            </a:r>
            <a:r>
              <a:rPr lang="ja-JP" altLang="en-US" sz="1400">
                <a:solidFill>
                  <a:prstClr val="black"/>
                </a:solidFill>
                <a:latin typeface="+mn-ea"/>
              </a:rPr>
              <a:t>本社においても、</a:t>
            </a:r>
            <a:r>
              <a:rPr lang="en-US" altLang="ja-JP" sz="1400">
                <a:solidFill>
                  <a:prstClr val="black"/>
                </a:solidFill>
                <a:latin typeface="+mn-ea"/>
              </a:rPr>
              <a:t> 2024</a:t>
            </a:r>
            <a:r>
              <a:rPr lang="ja-JP" altLang="en-US" sz="1400">
                <a:solidFill>
                  <a:prstClr val="black"/>
                </a:solidFill>
                <a:latin typeface="+mn-ea"/>
              </a:rPr>
              <a:t>年</a:t>
            </a:r>
            <a:r>
              <a:rPr lang="en-US" altLang="ja-JP" sz="1400">
                <a:solidFill>
                  <a:prstClr val="black"/>
                </a:solidFill>
                <a:latin typeface="+mn-ea"/>
              </a:rPr>
              <a:t>3</a:t>
            </a:r>
            <a:r>
              <a:rPr lang="ja-JP" altLang="en-US" sz="1400">
                <a:solidFill>
                  <a:prstClr val="black"/>
                </a:solidFill>
                <a:latin typeface="+mn-ea"/>
              </a:rPr>
              <a:t>月期の</a:t>
            </a:r>
            <a:r>
              <a:rPr lang="en-US" altLang="ja-JP" sz="1400">
                <a:solidFill>
                  <a:prstClr val="black"/>
                </a:solidFill>
                <a:latin typeface="+mn-ea"/>
              </a:rPr>
              <a:t>AWBD</a:t>
            </a:r>
            <a:r>
              <a:rPr lang="ja-JP" altLang="en-US" sz="1400">
                <a:solidFill>
                  <a:prstClr val="black"/>
                </a:solidFill>
                <a:latin typeface="+mn-ea"/>
              </a:rPr>
              <a:t>株式が過大計上、関係会社事業損失引当金が過少計上されていた</a:t>
            </a:r>
          </a:p>
        </p:txBody>
      </p:sp>
      <p:sp>
        <p:nvSpPr>
          <p:cNvPr id="11" name="正方形/長方形 10">
            <a:extLst>
              <a:ext uri="{FF2B5EF4-FFF2-40B4-BE49-F238E27FC236}">
                <a16:creationId xmlns:a16="http://schemas.microsoft.com/office/drawing/2014/main" id="{EC2BDD51-AFC4-08F4-97F5-CE3F048BE5B5}"/>
              </a:ext>
            </a:extLst>
          </p:cNvPr>
          <p:cNvSpPr/>
          <p:nvPr/>
        </p:nvSpPr>
        <p:spPr bwMode="gray">
          <a:xfrm>
            <a:off x="507602" y="1645675"/>
            <a:ext cx="1260000" cy="115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2FAE0E63-CF99-FCF1-D8F2-DCC0D0167C60}"/>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利益調整や株式の減損回避等を目的に、のれんを含む全ての資産の減損処理を先送りすることは認められておらず、減損損失の計上ルールに基づき、適切な時期に減損処理を実施する必要があります</a:t>
            </a:r>
          </a:p>
        </p:txBody>
      </p:sp>
      <p:sp>
        <p:nvSpPr>
          <p:cNvPr id="5" name="テキスト ボックス 4">
            <a:extLst>
              <a:ext uri="{FF2B5EF4-FFF2-40B4-BE49-F238E27FC236}">
                <a16:creationId xmlns:a16="http://schemas.microsoft.com/office/drawing/2014/main" id="{5FB7499D-B3DF-59BE-45BB-B6E0CA2AAAD7}"/>
              </a:ext>
            </a:extLst>
          </p:cNvPr>
          <p:cNvSpPr txBox="1"/>
          <p:nvPr/>
        </p:nvSpPr>
        <p:spPr>
          <a:xfrm>
            <a:off x="783282" y="3324540"/>
            <a:ext cx="5472000" cy="576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600" b="1" u="sng"/>
              <a:t>2022</a:t>
            </a:r>
            <a:r>
              <a:rPr lang="ja-JP" altLang="en-US" sz="1600" b="1" u="sng"/>
              <a:t>年</a:t>
            </a:r>
            <a:r>
              <a:rPr lang="en-US" altLang="ja-JP" sz="1600" b="1" u="sng"/>
              <a:t>9</a:t>
            </a:r>
            <a:r>
              <a:rPr lang="ja-JP" altLang="en-US" sz="1600" b="1" u="sng"/>
              <a:t>月</a:t>
            </a:r>
            <a:endParaRPr lang="en-US" altLang="ja-JP" sz="1600" b="1" u="sng"/>
          </a:p>
          <a:p>
            <a:r>
              <a:rPr lang="en-US" altLang="ja-JP" sz="1600"/>
              <a:t>A</a:t>
            </a:r>
            <a:r>
              <a:rPr lang="ja-JP" altLang="en-US" sz="1600"/>
              <a:t>社</a:t>
            </a:r>
            <a:r>
              <a:rPr lang="en-US" altLang="ja-JP" sz="1600"/>
              <a:t>(</a:t>
            </a:r>
            <a:r>
              <a:rPr lang="ja-JP" altLang="en-US" sz="1600"/>
              <a:t>内視鏡事業</a:t>
            </a:r>
            <a:r>
              <a:rPr lang="en-US" altLang="ja-JP" sz="1600"/>
              <a:t>)</a:t>
            </a:r>
            <a:r>
              <a:rPr lang="ja-JP" altLang="en-US" sz="1600"/>
              <a:t>を取得</a:t>
            </a:r>
            <a:endParaRPr lang="en-US" altLang="ja-JP" sz="1600"/>
          </a:p>
        </p:txBody>
      </p:sp>
      <p:sp>
        <p:nvSpPr>
          <p:cNvPr id="7" name="テキスト ボックス 6">
            <a:extLst>
              <a:ext uri="{FF2B5EF4-FFF2-40B4-BE49-F238E27FC236}">
                <a16:creationId xmlns:a16="http://schemas.microsoft.com/office/drawing/2014/main" id="{494AB00C-AF45-BAF7-7DCC-58B9D09C53DD}"/>
              </a:ext>
            </a:extLst>
          </p:cNvPr>
          <p:cNvSpPr txBox="1"/>
          <p:nvPr/>
        </p:nvSpPr>
        <p:spPr>
          <a:xfrm>
            <a:off x="783282" y="5772673"/>
            <a:ext cx="5472000" cy="576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600" b="1" u="sng"/>
              <a:t>2024</a:t>
            </a:r>
            <a:r>
              <a:rPr lang="ja-JP" altLang="en-US" sz="1600" b="1" u="sng"/>
              <a:t>年</a:t>
            </a:r>
            <a:r>
              <a:rPr lang="en-US" altLang="ja-JP" sz="1600" b="1" u="sng"/>
              <a:t>8</a:t>
            </a:r>
            <a:r>
              <a:rPr lang="ja-JP" altLang="en-US" sz="1600" b="1" u="sng"/>
              <a:t>月</a:t>
            </a:r>
            <a:endParaRPr lang="en-US" altLang="ja-JP" sz="1600" b="1" u="sng"/>
          </a:p>
          <a:p>
            <a:r>
              <a:rPr lang="ja-JP" altLang="en-US" sz="1600">
                <a:solidFill>
                  <a:srgbClr val="FF0000"/>
                </a:solidFill>
              </a:rPr>
              <a:t>先送りした、のれんを含む固定資産等の減損を実施</a:t>
            </a:r>
            <a:endParaRPr lang="en-US" altLang="ja-JP" sz="1600">
              <a:solidFill>
                <a:srgbClr val="FF0000"/>
              </a:solidFill>
            </a:endParaRPr>
          </a:p>
        </p:txBody>
      </p:sp>
      <p:sp>
        <p:nvSpPr>
          <p:cNvPr id="14" name="楕円 13">
            <a:extLst>
              <a:ext uri="{FF2B5EF4-FFF2-40B4-BE49-F238E27FC236}">
                <a16:creationId xmlns:a16="http://schemas.microsoft.com/office/drawing/2014/main" id="{DEBB4A27-188B-BD79-2BE7-EDFA70BC5748}"/>
              </a:ext>
            </a:extLst>
          </p:cNvPr>
          <p:cNvSpPr/>
          <p:nvPr/>
        </p:nvSpPr>
        <p:spPr>
          <a:xfrm>
            <a:off x="293419" y="3509078"/>
            <a:ext cx="180000" cy="18000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cxnSp>
        <p:nvCxnSpPr>
          <p:cNvPr id="18" name="直線矢印コネクタ 17">
            <a:extLst>
              <a:ext uri="{FF2B5EF4-FFF2-40B4-BE49-F238E27FC236}">
                <a16:creationId xmlns:a16="http://schemas.microsoft.com/office/drawing/2014/main" id="{1A41E8A7-36BF-FB64-F554-65BF0D15B6E2}"/>
              </a:ext>
            </a:extLst>
          </p:cNvPr>
          <p:cNvCxnSpPr>
            <a:cxnSpLocks/>
            <a:stCxn id="14" idx="6"/>
          </p:cNvCxnSpPr>
          <p:nvPr/>
        </p:nvCxnSpPr>
        <p:spPr>
          <a:xfrm flipV="1">
            <a:off x="473419" y="3596585"/>
            <a:ext cx="288000" cy="0"/>
          </a:xfrm>
          <a:prstGeom prst="straightConnector1">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F19D6C03-0691-5CF8-BB39-2C439E9BA705}"/>
              </a:ext>
            </a:extLst>
          </p:cNvPr>
          <p:cNvSpPr txBox="1"/>
          <p:nvPr/>
        </p:nvSpPr>
        <p:spPr>
          <a:xfrm>
            <a:off x="766806" y="3978111"/>
            <a:ext cx="5472000" cy="1800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600" b="1" u="sng"/>
              <a:t>2024</a:t>
            </a:r>
            <a:r>
              <a:rPr lang="ja-JP" altLang="en-US" sz="1600" b="1" u="sng"/>
              <a:t>年</a:t>
            </a:r>
            <a:r>
              <a:rPr lang="en-US" altLang="ja-JP" sz="1600" b="1" u="sng"/>
              <a:t>3</a:t>
            </a:r>
            <a:r>
              <a:rPr lang="ja-JP" altLang="en-US" sz="1600" b="1" u="sng"/>
              <a:t>月期</a:t>
            </a:r>
            <a:endParaRPr lang="en-US" altLang="ja-JP" sz="1600" b="1" u="sng"/>
          </a:p>
          <a:p>
            <a:r>
              <a:rPr lang="ja-JP" altLang="en-US" sz="1600"/>
              <a:t>業績不調に伴い、</a:t>
            </a:r>
            <a:r>
              <a:rPr lang="en-US" altLang="ja-JP" sz="1600"/>
              <a:t>AWBD</a:t>
            </a:r>
            <a:r>
              <a:rPr lang="ja-JP" altLang="en-US" sz="1600"/>
              <a:t>清算に向けた調整開始</a:t>
            </a:r>
            <a:endParaRPr lang="en-US" altLang="ja-JP" sz="1600"/>
          </a:p>
          <a:p>
            <a:r>
              <a:rPr lang="ja-JP" altLang="en-US" sz="1600"/>
              <a:t>シミュレーションの結果、</a:t>
            </a:r>
            <a:r>
              <a:rPr lang="en-US" altLang="ja-JP" sz="1600"/>
              <a:t>AWBD</a:t>
            </a:r>
            <a:r>
              <a:rPr lang="ja-JP" altLang="en-US" sz="1600"/>
              <a:t>において減損懸念のある全ての資産を減損すると</a:t>
            </a:r>
            <a:r>
              <a:rPr lang="en-US" altLang="ja-JP" sz="1600" b="1">
                <a:solidFill>
                  <a:schemeClr val="accent6"/>
                </a:solidFill>
              </a:rPr>
              <a:t>5</a:t>
            </a:r>
            <a:r>
              <a:rPr lang="ja-JP" altLang="en-US" sz="1600" b="1">
                <a:solidFill>
                  <a:schemeClr val="accent6"/>
                </a:solidFill>
              </a:rPr>
              <a:t>百万円の債務超過に陥る</a:t>
            </a:r>
            <a:r>
              <a:rPr lang="ja-JP" altLang="en-US" sz="1600"/>
              <a:t>と算定</a:t>
            </a:r>
            <a:endParaRPr lang="en-US" altLang="ja-JP" sz="1600"/>
          </a:p>
          <a:p>
            <a:r>
              <a:rPr lang="en-US" altLang="ja-JP" sz="1600">
                <a:solidFill>
                  <a:schemeClr val="tx1"/>
                </a:solidFill>
              </a:rPr>
              <a:t>AW</a:t>
            </a:r>
            <a:r>
              <a:rPr lang="ja-JP" altLang="en-US" sz="1600">
                <a:solidFill>
                  <a:schemeClr val="tx1"/>
                </a:solidFill>
              </a:rPr>
              <a:t>本社保有の</a:t>
            </a:r>
            <a:r>
              <a:rPr lang="en-US" altLang="ja-JP" sz="1600">
                <a:solidFill>
                  <a:schemeClr val="tx1"/>
                </a:solidFill>
              </a:rPr>
              <a:t>AWBD</a:t>
            </a:r>
            <a:r>
              <a:rPr lang="ja-JP" altLang="en-US" sz="1600">
                <a:solidFill>
                  <a:schemeClr val="tx1"/>
                </a:solidFill>
              </a:rPr>
              <a:t>株式の減損回避目的で</a:t>
            </a:r>
            <a:r>
              <a:rPr lang="ja-JP" altLang="en-US" sz="1600">
                <a:solidFill>
                  <a:srgbClr val="FF0000"/>
                </a:solidFill>
              </a:rPr>
              <a:t>一部在庫のみ評価減を実施</a:t>
            </a:r>
            <a:endParaRPr lang="en-US" altLang="ja-JP" sz="1600">
              <a:solidFill>
                <a:srgbClr val="FF0000"/>
              </a:solidFill>
            </a:endParaRPr>
          </a:p>
        </p:txBody>
      </p:sp>
      <p:sp>
        <p:nvSpPr>
          <p:cNvPr id="24" name="楕円 23">
            <a:extLst>
              <a:ext uri="{FF2B5EF4-FFF2-40B4-BE49-F238E27FC236}">
                <a16:creationId xmlns:a16="http://schemas.microsoft.com/office/drawing/2014/main" id="{0BC6550C-505D-B1BE-4B31-39196844CBC7}"/>
              </a:ext>
            </a:extLst>
          </p:cNvPr>
          <p:cNvSpPr/>
          <p:nvPr/>
        </p:nvSpPr>
        <p:spPr>
          <a:xfrm>
            <a:off x="293419" y="4792194"/>
            <a:ext cx="180000" cy="18000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cxnSp>
        <p:nvCxnSpPr>
          <p:cNvPr id="25" name="直線矢印コネクタ 24">
            <a:extLst>
              <a:ext uri="{FF2B5EF4-FFF2-40B4-BE49-F238E27FC236}">
                <a16:creationId xmlns:a16="http://schemas.microsoft.com/office/drawing/2014/main" id="{48C28FCE-4A46-205A-2337-AE1DBDB6DE85}"/>
              </a:ext>
            </a:extLst>
          </p:cNvPr>
          <p:cNvCxnSpPr>
            <a:cxnSpLocks/>
            <a:stCxn id="24" idx="6"/>
            <a:endCxn id="23" idx="1"/>
          </p:cNvCxnSpPr>
          <p:nvPr/>
        </p:nvCxnSpPr>
        <p:spPr>
          <a:xfrm flipV="1">
            <a:off x="473419" y="4878111"/>
            <a:ext cx="293387" cy="4083"/>
          </a:xfrm>
          <a:prstGeom prst="straightConnector1">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6" name="楕円 25">
            <a:extLst>
              <a:ext uri="{FF2B5EF4-FFF2-40B4-BE49-F238E27FC236}">
                <a16:creationId xmlns:a16="http://schemas.microsoft.com/office/drawing/2014/main" id="{FD302464-8F41-ADAE-CE8D-816CE2DC7F32}"/>
              </a:ext>
            </a:extLst>
          </p:cNvPr>
          <p:cNvSpPr/>
          <p:nvPr/>
        </p:nvSpPr>
        <p:spPr>
          <a:xfrm>
            <a:off x="293419" y="5967912"/>
            <a:ext cx="180000" cy="180000"/>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cxnSp>
        <p:nvCxnSpPr>
          <p:cNvPr id="28" name="直線矢印コネクタ 27">
            <a:extLst>
              <a:ext uri="{FF2B5EF4-FFF2-40B4-BE49-F238E27FC236}">
                <a16:creationId xmlns:a16="http://schemas.microsoft.com/office/drawing/2014/main" id="{B74E3301-2426-E3F7-5E75-FE0729590CBA}"/>
              </a:ext>
            </a:extLst>
          </p:cNvPr>
          <p:cNvCxnSpPr>
            <a:cxnSpLocks/>
            <a:stCxn id="26" idx="6"/>
            <a:endCxn id="7" idx="1"/>
          </p:cNvCxnSpPr>
          <p:nvPr/>
        </p:nvCxnSpPr>
        <p:spPr>
          <a:xfrm>
            <a:off x="473419" y="6057912"/>
            <a:ext cx="309863" cy="2761"/>
          </a:xfrm>
          <a:prstGeom prst="straightConnector1">
            <a:avLst/>
          </a:prstGeom>
          <a:ln w="12700"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82" name="テキスト ボックス 81">
            <a:extLst>
              <a:ext uri="{FF2B5EF4-FFF2-40B4-BE49-F238E27FC236}">
                <a16:creationId xmlns:a16="http://schemas.microsoft.com/office/drawing/2014/main" id="{CD522E00-F083-D828-E534-10349DF26043}"/>
              </a:ext>
            </a:extLst>
          </p:cNvPr>
          <p:cNvSpPr txBox="1"/>
          <p:nvPr/>
        </p:nvSpPr>
        <p:spPr>
          <a:xfrm>
            <a:off x="6276701" y="5649869"/>
            <a:ext cx="5796000" cy="864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r>
              <a:rPr lang="en-US" altLang="ja-JP" sz="1600">
                <a:solidFill>
                  <a:schemeClr val="tx1"/>
                </a:solidFill>
              </a:rPr>
              <a:t>2024</a:t>
            </a:r>
            <a:r>
              <a:rPr lang="ja-JP" altLang="en-US" sz="1600">
                <a:solidFill>
                  <a:schemeClr val="tx1"/>
                </a:solidFill>
              </a:rPr>
              <a:t>年</a:t>
            </a:r>
            <a:r>
              <a:rPr lang="en-US" altLang="ja-JP" sz="1600">
                <a:solidFill>
                  <a:schemeClr val="tx1"/>
                </a:solidFill>
              </a:rPr>
              <a:t>3</a:t>
            </a:r>
            <a:r>
              <a:rPr lang="ja-JP" altLang="en-US" sz="1600">
                <a:solidFill>
                  <a:schemeClr val="tx1"/>
                </a:solidFill>
              </a:rPr>
              <a:t>月期に以下を実施</a:t>
            </a:r>
            <a:endParaRPr lang="en-US" altLang="ja-JP" sz="1600">
              <a:solidFill>
                <a:schemeClr val="tx1"/>
              </a:solidFill>
            </a:endParaRPr>
          </a:p>
          <a:p>
            <a:pPr marL="268288" lvl="1">
              <a:buFont typeface="Arial" panose="020B0604020202020204" pitchFamily="34" charset="0"/>
              <a:buChar char="•"/>
            </a:pPr>
            <a:r>
              <a:rPr lang="en-US" altLang="ja-JP" sz="1600">
                <a:solidFill>
                  <a:schemeClr val="tx1"/>
                </a:solidFill>
              </a:rPr>
              <a:t>AWBD</a:t>
            </a:r>
            <a:r>
              <a:rPr lang="ja-JP" altLang="en-US" sz="1600"/>
              <a:t>：</a:t>
            </a:r>
            <a:r>
              <a:rPr lang="ja-JP" altLang="en-US" sz="1600">
                <a:solidFill>
                  <a:schemeClr val="tx1"/>
                </a:solidFill>
              </a:rPr>
              <a:t>減損懸念のある全ての資産を減損</a:t>
            </a:r>
            <a:endParaRPr lang="en-US" altLang="ja-JP" sz="1600"/>
          </a:p>
          <a:p>
            <a:pPr marL="268288" lvl="1">
              <a:buFont typeface="Arial" panose="020B0604020202020204" pitchFamily="34" charset="0"/>
              <a:buChar char="•"/>
            </a:pPr>
            <a:r>
              <a:rPr lang="en-US" altLang="ja-JP" sz="1600">
                <a:solidFill>
                  <a:schemeClr val="tx1"/>
                </a:solidFill>
              </a:rPr>
              <a:t>AW</a:t>
            </a:r>
            <a:r>
              <a:rPr lang="ja-JP" altLang="en-US" sz="1600">
                <a:solidFill>
                  <a:schemeClr val="tx1"/>
                </a:solidFill>
              </a:rPr>
              <a:t>本社：</a:t>
            </a:r>
            <a:r>
              <a:rPr lang="en-US" altLang="ja-JP" sz="1600">
                <a:solidFill>
                  <a:schemeClr val="tx1"/>
                </a:solidFill>
              </a:rPr>
              <a:t>AWBD</a:t>
            </a:r>
            <a:r>
              <a:rPr lang="ja-JP" altLang="en-US" sz="1600">
                <a:solidFill>
                  <a:schemeClr val="tx1"/>
                </a:solidFill>
              </a:rPr>
              <a:t>株式減損及び関係会社事業損失引当金計上</a:t>
            </a:r>
            <a:endParaRPr lang="en-US" altLang="ja-JP" sz="1600">
              <a:solidFill>
                <a:schemeClr val="tx1"/>
              </a:solidFill>
            </a:endParaRPr>
          </a:p>
        </p:txBody>
      </p:sp>
      <p:sp>
        <p:nvSpPr>
          <p:cNvPr id="83" name="テキスト ボックス 82">
            <a:extLst>
              <a:ext uri="{FF2B5EF4-FFF2-40B4-BE49-F238E27FC236}">
                <a16:creationId xmlns:a16="http://schemas.microsoft.com/office/drawing/2014/main" id="{D9F36CEA-1E87-DD0B-0609-CF4B0FE87179}"/>
              </a:ext>
            </a:extLst>
          </p:cNvPr>
          <p:cNvSpPr txBox="1"/>
          <p:nvPr/>
        </p:nvSpPr>
        <p:spPr>
          <a:xfrm>
            <a:off x="401907" y="3003125"/>
            <a:ext cx="5028338" cy="295036"/>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pPr marL="90487" indent="0">
              <a:buNone/>
            </a:pPr>
            <a:r>
              <a:rPr lang="en-US" altLang="ja-JP" sz="1600" b="1" u="sng"/>
              <a:t>【</a:t>
            </a:r>
            <a:r>
              <a:rPr lang="ja-JP" altLang="en-US" sz="1600" b="1" u="sng"/>
              <a:t>本事案のタイムライン</a:t>
            </a:r>
            <a:r>
              <a:rPr lang="en-US" altLang="ja-JP" sz="1600" u="sng"/>
              <a:t>】</a:t>
            </a:r>
            <a:endParaRPr lang="ja-JP" altLang="en-US" sz="1600" u="sng"/>
          </a:p>
        </p:txBody>
      </p:sp>
      <p:sp>
        <p:nvSpPr>
          <p:cNvPr id="8" name="テキスト ボックス 7">
            <a:extLst>
              <a:ext uri="{FF2B5EF4-FFF2-40B4-BE49-F238E27FC236}">
                <a16:creationId xmlns:a16="http://schemas.microsoft.com/office/drawing/2014/main" id="{538CDABF-591B-06D3-A59C-894007327CD4}"/>
              </a:ext>
            </a:extLst>
          </p:cNvPr>
          <p:cNvSpPr txBox="1"/>
          <p:nvPr/>
        </p:nvSpPr>
        <p:spPr>
          <a:xfrm>
            <a:off x="6276701" y="3413063"/>
            <a:ext cx="5796000" cy="1476000"/>
          </a:xfrm>
          <a:prstGeom prst="rect">
            <a:avLst/>
          </a:prstGeom>
          <a:noFill/>
          <a:ln w="9525" algn="ctr">
            <a:no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ja-JP"/>
            </a:defPPr>
            <a:lvl1pPr marL="285750" indent="-195263" defTabSz="990589">
              <a:spcBef>
                <a:spcPts val="300"/>
              </a:spcBef>
              <a:buSzPct val="100000"/>
              <a:buFont typeface="Wingdings" panose="05000000000000000000" pitchFamily="2" charset="2"/>
              <a:buChar char="Ø"/>
              <a:defRPr sz="1400">
                <a:solidFill>
                  <a:prstClr val="black"/>
                </a:solidFill>
                <a:latin typeface="+mn-ea"/>
              </a:defRPr>
            </a:lvl1pPr>
          </a:lstStyle>
          <a:p>
            <a:r>
              <a:rPr lang="en-US" altLang="ja-JP" sz="1600">
                <a:solidFill>
                  <a:schemeClr val="tx1"/>
                </a:solidFill>
              </a:rPr>
              <a:t>AW</a:t>
            </a:r>
            <a:r>
              <a:rPr lang="ja-JP" altLang="en-US" sz="1600">
                <a:solidFill>
                  <a:schemeClr val="tx1"/>
                </a:solidFill>
              </a:rPr>
              <a:t>本社保有の</a:t>
            </a:r>
            <a:r>
              <a:rPr lang="en-US" altLang="ja-JP" sz="1600">
                <a:solidFill>
                  <a:schemeClr val="tx1"/>
                </a:solidFill>
              </a:rPr>
              <a:t>AWBD</a:t>
            </a:r>
            <a:r>
              <a:rPr lang="ja-JP" altLang="en-US" sz="1600">
                <a:solidFill>
                  <a:schemeClr val="tx1"/>
                </a:solidFill>
              </a:rPr>
              <a:t>株式の減損回避目的で、</a:t>
            </a:r>
            <a:r>
              <a:rPr lang="en-US" altLang="ja-JP" sz="1600">
                <a:solidFill>
                  <a:schemeClr val="tx1"/>
                </a:solidFill>
              </a:rPr>
              <a:t>AWBD</a:t>
            </a:r>
            <a:r>
              <a:rPr lang="ja-JP" altLang="en-US" sz="1600">
                <a:solidFill>
                  <a:schemeClr val="tx1"/>
                </a:solidFill>
              </a:rPr>
              <a:t>において、一部在庫のみ評価減を実施し、</a:t>
            </a:r>
            <a:r>
              <a:rPr lang="ja-JP" altLang="en-US" sz="1600">
                <a:solidFill>
                  <a:srgbClr val="FF0000"/>
                </a:solidFill>
              </a:rPr>
              <a:t>のれんを含む固定資産等の減損処理先送り</a:t>
            </a:r>
            <a:endParaRPr lang="en-US" altLang="ja-JP" sz="1600">
              <a:solidFill>
                <a:srgbClr val="FF0000"/>
              </a:solidFill>
            </a:endParaRPr>
          </a:p>
          <a:p>
            <a:r>
              <a:rPr lang="en-US" altLang="ja-JP" sz="1600">
                <a:solidFill>
                  <a:schemeClr val="tx1"/>
                </a:solidFill>
              </a:rPr>
              <a:t>AW</a:t>
            </a:r>
            <a:r>
              <a:rPr lang="ja-JP" altLang="en-US" sz="1600">
                <a:solidFill>
                  <a:schemeClr val="tx1"/>
                </a:solidFill>
              </a:rPr>
              <a:t>本社において適切な会計処理が行われなかった結果、</a:t>
            </a:r>
            <a:r>
              <a:rPr lang="en-US" altLang="ja-JP" sz="1600">
                <a:solidFill>
                  <a:srgbClr val="FF0000"/>
                </a:solidFill>
              </a:rPr>
              <a:t>AWBD</a:t>
            </a:r>
            <a:r>
              <a:rPr lang="ja-JP" altLang="en-US" sz="1600">
                <a:solidFill>
                  <a:srgbClr val="FF0000"/>
                </a:solidFill>
              </a:rPr>
              <a:t>株式が過大計上、関係会社事業損失引当金が過少計上</a:t>
            </a:r>
            <a:endParaRPr lang="en-US" altLang="ja-JP" sz="1600">
              <a:solidFill>
                <a:srgbClr val="FF0000"/>
              </a:solidFill>
            </a:endParaRPr>
          </a:p>
        </p:txBody>
      </p:sp>
      <p:sp>
        <p:nvSpPr>
          <p:cNvPr id="15" name="Rectangle 22">
            <a:extLst>
              <a:ext uri="{FF2B5EF4-FFF2-40B4-BE49-F238E27FC236}">
                <a16:creationId xmlns:a16="http://schemas.microsoft.com/office/drawing/2014/main" id="{A1BA463A-688C-23A3-05BA-38C823CA7BEB}"/>
              </a:ext>
            </a:extLst>
          </p:cNvPr>
          <p:cNvSpPr>
            <a:spLocks noChangeArrowheads="1"/>
          </p:cNvSpPr>
          <p:nvPr/>
        </p:nvSpPr>
        <p:spPr bwMode="gray">
          <a:xfrm>
            <a:off x="6992301" y="5098064"/>
            <a:ext cx="2880000" cy="36000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適切な会計処理</a:t>
            </a:r>
            <a:endParaRPr kumimoji="1" lang="en-US" altLang="ja-JP" sz="1600" b="1">
              <a:solidFill>
                <a:schemeClr val="bg1"/>
              </a:solidFill>
            </a:endParaRPr>
          </a:p>
        </p:txBody>
      </p:sp>
      <p:sp>
        <p:nvSpPr>
          <p:cNvPr id="17" name="Rectangle 22">
            <a:extLst>
              <a:ext uri="{FF2B5EF4-FFF2-40B4-BE49-F238E27FC236}">
                <a16:creationId xmlns:a16="http://schemas.microsoft.com/office/drawing/2014/main" id="{4CCBB3C3-0B1B-6CAE-C070-6030DB96226D}"/>
              </a:ext>
            </a:extLst>
          </p:cNvPr>
          <p:cNvSpPr>
            <a:spLocks noChangeArrowheads="1"/>
          </p:cNvSpPr>
          <p:nvPr/>
        </p:nvSpPr>
        <p:spPr bwMode="gray">
          <a:xfrm>
            <a:off x="6992301" y="2974550"/>
            <a:ext cx="2880000" cy="360000"/>
          </a:xfrm>
          <a:prstGeom prst="rect">
            <a:avLst/>
          </a:prstGeom>
          <a:solidFill>
            <a:schemeClr val="tx1">
              <a:lumMod val="50000"/>
              <a:lumOff val="5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600" b="1">
                <a:solidFill>
                  <a:schemeClr val="bg1"/>
                </a:solidFill>
              </a:rPr>
              <a:t>本事案の</a:t>
            </a:r>
            <a:r>
              <a:rPr kumimoji="1" lang="ja-JP" altLang="en-US" sz="1600" b="1">
                <a:solidFill>
                  <a:schemeClr val="bg1"/>
                </a:solidFill>
              </a:rPr>
              <a:t>会計処理</a:t>
            </a:r>
            <a:endParaRPr kumimoji="1" lang="en-US" altLang="ja-JP" sz="1600" b="1">
              <a:solidFill>
                <a:schemeClr val="bg1"/>
              </a:solidFill>
            </a:endParaRPr>
          </a:p>
        </p:txBody>
      </p:sp>
      <p:sp>
        <p:nvSpPr>
          <p:cNvPr id="19" name="乗算記号 18">
            <a:extLst>
              <a:ext uri="{FF2B5EF4-FFF2-40B4-BE49-F238E27FC236}">
                <a16:creationId xmlns:a16="http://schemas.microsoft.com/office/drawing/2014/main" id="{BB0B9AE2-52E3-1F0D-F449-B89FB54BFAB6}"/>
              </a:ext>
            </a:extLst>
          </p:cNvPr>
          <p:cNvSpPr/>
          <p:nvPr/>
        </p:nvSpPr>
        <p:spPr>
          <a:xfrm>
            <a:off x="6307624" y="2843364"/>
            <a:ext cx="612000" cy="612000"/>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0" name="円: 塗りつぶしなし 19">
            <a:extLst>
              <a:ext uri="{FF2B5EF4-FFF2-40B4-BE49-F238E27FC236}">
                <a16:creationId xmlns:a16="http://schemas.microsoft.com/office/drawing/2014/main" id="{EFC8D675-D867-339A-DC4A-DA0632D8241D}"/>
              </a:ext>
            </a:extLst>
          </p:cNvPr>
          <p:cNvSpPr/>
          <p:nvPr/>
        </p:nvSpPr>
        <p:spPr>
          <a:xfrm>
            <a:off x="6340474" y="5023742"/>
            <a:ext cx="504000" cy="5040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4" name="正方形/長方形 3">
            <a:extLst>
              <a:ext uri="{FF2B5EF4-FFF2-40B4-BE49-F238E27FC236}">
                <a16:creationId xmlns:a16="http://schemas.microsoft.com/office/drawing/2014/main" id="{705CE66D-8C9D-5DEB-7E09-32E8F4494790}"/>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190639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5D7FB-7B0E-4AA6-9E91-B19F1651BF91}"/>
            </a:ext>
          </a:extLst>
        </p:cNvPr>
        <p:cNvGrpSpPr/>
        <p:nvPr/>
      </p:nvGrpSpPr>
      <p:grpSpPr>
        <a:xfrm>
          <a:off x="0" y="0"/>
          <a:ext cx="0" cy="0"/>
          <a:chOff x="0" y="0"/>
          <a:chExt cx="0" cy="0"/>
        </a:xfrm>
      </p:grpSpPr>
      <p:graphicFrame>
        <p:nvGraphicFramePr>
          <p:cNvPr id="41" name="think-cell data - do not delete" hidden="1">
            <a:extLst>
              <a:ext uri="{FF2B5EF4-FFF2-40B4-BE49-F238E27FC236}">
                <a16:creationId xmlns:a16="http://schemas.microsoft.com/office/drawing/2014/main" id="{AD9704F5-5741-2131-4DEF-1E0AFED60901}"/>
              </a:ext>
            </a:extLst>
          </p:cNvPr>
          <p:cNvGraphicFramePr>
            <a:graphicFrameLocks noChangeAspect="1"/>
          </p:cNvGraphicFramePr>
          <p:nvPr>
            <p:custDataLst>
              <p:tags r:id="rId1"/>
            </p:custDataLst>
            <p:extLst>
              <p:ext uri="{D42A27DB-BD31-4B8C-83A1-F6EECF244321}">
                <p14:modId xmlns:p14="http://schemas.microsoft.com/office/powerpoint/2010/main" val="40536932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639" imgH="639" progId="TCLayout.ActiveDocument.1">
                  <p:embed/>
                </p:oleObj>
              </mc:Choice>
              <mc:Fallback>
                <p:oleObj name="think-cellスライド" r:id="rId3" imgW="639" imgH="639" progId="TCLayout.ActiveDocument.1">
                  <p:embed/>
                  <p:pic>
                    <p:nvPicPr>
                      <p:cNvPr id="41" name="think-cell data - do not delete" hidden="1">
                        <a:extLst>
                          <a:ext uri="{FF2B5EF4-FFF2-40B4-BE49-F238E27FC236}">
                            <a16:creationId xmlns:a16="http://schemas.microsoft.com/office/drawing/2014/main" id="{AD9704F5-5741-2131-4DEF-1E0AFED609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54CF98BF-950D-DBD7-E83A-3C1C635881C6}"/>
              </a:ext>
            </a:extLst>
          </p:cNvPr>
          <p:cNvSpPr>
            <a:spLocks noGrp="1"/>
          </p:cNvSpPr>
          <p:nvPr>
            <p:ph type="title"/>
          </p:nvPr>
        </p:nvSpPr>
        <p:spPr>
          <a:xfrm>
            <a:off x="659999" y="365508"/>
            <a:ext cx="6869385" cy="371961"/>
          </a:xfrm>
        </p:spPr>
        <p:txBody>
          <a:bodyPr vert="horz">
            <a:normAutofit/>
          </a:bodyPr>
          <a:lstStyle/>
          <a:p>
            <a:r>
              <a:rPr lang="en-US" altLang="ja-JP"/>
              <a:t>3-14.</a:t>
            </a:r>
            <a:r>
              <a:rPr lang="ja-JP" altLang="en-US"/>
              <a:t>賞与引当金の計上時期操作</a:t>
            </a:r>
          </a:p>
        </p:txBody>
      </p:sp>
      <p:sp>
        <p:nvSpPr>
          <p:cNvPr id="2" name="正方形/長方形 1">
            <a:extLst>
              <a:ext uri="{FF2B5EF4-FFF2-40B4-BE49-F238E27FC236}">
                <a16:creationId xmlns:a16="http://schemas.microsoft.com/office/drawing/2014/main" id="{F486846A-5E14-1C3E-CACF-3A718ED4DB17}"/>
              </a:ext>
            </a:extLst>
          </p:cNvPr>
          <p:cNvSpPr/>
          <p:nvPr/>
        </p:nvSpPr>
        <p:spPr bwMode="gray">
          <a:xfrm>
            <a:off x="2127658" y="1647478"/>
            <a:ext cx="9720000" cy="115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en-US" altLang="ja-JP" sz="1400">
                <a:solidFill>
                  <a:prstClr val="black"/>
                </a:solidFill>
                <a:latin typeface="+mn-ea"/>
              </a:rPr>
              <a:t>AWMX</a:t>
            </a:r>
            <a:r>
              <a:rPr lang="ja-JP" altLang="en-US" sz="1400">
                <a:solidFill>
                  <a:prstClr val="black"/>
                </a:solidFill>
                <a:latin typeface="+mn-ea"/>
              </a:rPr>
              <a:t>において、毎月一定金額の賞与引当金を計上すべきところ、上期予算達成を目的として</a:t>
            </a:r>
            <a:r>
              <a:rPr lang="en-US" altLang="ja-JP" sz="1400">
                <a:solidFill>
                  <a:prstClr val="black"/>
                </a:solidFill>
                <a:latin typeface="+mn-ea"/>
              </a:rPr>
              <a:t>AW</a:t>
            </a:r>
            <a:r>
              <a:rPr lang="ja-JP" altLang="en-US" sz="1400">
                <a:solidFill>
                  <a:prstClr val="black"/>
                </a:solidFill>
                <a:latin typeface="+mn-ea"/>
              </a:rPr>
              <a:t>本社から賞与引当金計上の先送りの指示を受けた結果、</a:t>
            </a:r>
            <a:r>
              <a:rPr lang="en-US" altLang="ja-JP" sz="1400">
                <a:solidFill>
                  <a:prstClr val="black"/>
                </a:solidFill>
                <a:latin typeface="+mn-ea"/>
              </a:rPr>
              <a:t>2024</a:t>
            </a:r>
            <a:r>
              <a:rPr lang="ja-JP" altLang="en-US" sz="1400">
                <a:solidFill>
                  <a:prstClr val="black"/>
                </a:solidFill>
                <a:latin typeface="+mn-ea"/>
              </a:rPr>
              <a:t>年</a:t>
            </a:r>
            <a:r>
              <a:rPr lang="en-US" altLang="ja-JP" sz="1400">
                <a:solidFill>
                  <a:prstClr val="black"/>
                </a:solidFill>
                <a:latin typeface="+mn-ea"/>
              </a:rPr>
              <a:t>9</a:t>
            </a:r>
            <a:r>
              <a:rPr lang="ja-JP" altLang="en-US" sz="1400">
                <a:solidFill>
                  <a:prstClr val="black"/>
                </a:solidFill>
                <a:latin typeface="+mn-ea"/>
              </a:rPr>
              <a:t>月分の賞与引当金計上を取りやめ、</a:t>
            </a:r>
            <a:r>
              <a:rPr lang="en-US" altLang="ja-JP" sz="1400">
                <a:solidFill>
                  <a:prstClr val="black"/>
                </a:solidFill>
                <a:latin typeface="+mn-ea"/>
              </a:rPr>
              <a:t>2024</a:t>
            </a:r>
            <a:r>
              <a:rPr lang="ja-JP" altLang="en-US" sz="1400">
                <a:solidFill>
                  <a:prstClr val="black"/>
                </a:solidFill>
                <a:latin typeface="+mn-ea"/>
              </a:rPr>
              <a:t>年</a:t>
            </a:r>
            <a:r>
              <a:rPr lang="en-US" altLang="ja-JP" sz="1400">
                <a:solidFill>
                  <a:prstClr val="black"/>
                </a:solidFill>
                <a:latin typeface="+mn-ea"/>
              </a:rPr>
              <a:t>12</a:t>
            </a:r>
            <a:r>
              <a:rPr lang="ja-JP" altLang="en-US" sz="1400">
                <a:solidFill>
                  <a:prstClr val="black"/>
                </a:solidFill>
                <a:latin typeface="+mn-ea"/>
              </a:rPr>
              <a:t>月の賞与支給時に引当金不足分を費用計上することにより、</a:t>
            </a:r>
            <a:r>
              <a:rPr lang="en-US" altLang="ja-JP" sz="1400">
                <a:solidFill>
                  <a:prstClr val="black"/>
                </a:solidFill>
                <a:latin typeface="+mn-ea"/>
              </a:rPr>
              <a:t>2024</a:t>
            </a:r>
            <a:r>
              <a:rPr lang="ja-JP" altLang="en-US" sz="1400">
                <a:solidFill>
                  <a:prstClr val="black"/>
                </a:solidFill>
                <a:latin typeface="+mn-ea"/>
              </a:rPr>
              <a:t>年度上期から同年度下期に費用計上を先送りしていた</a:t>
            </a:r>
            <a:endParaRPr lang="en-US" altLang="ja-JP" sz="1400">
              <a:solidFill>
                <a:prstClr val="black"/>
              </a:solidFill>
              <a:latin typeface="+mn-ea"/>
            </a:endParaRPr>
          </a:p>
          <a:p>
            <a:pPr marL="285750" indent="-195263" defTabSz="990589">
              <a:spcBef>
                <a:spcPts val="300"/>
              </a:spcBef>
              <a:buSzPct val="100000"/>
              <a:buFont typeface="Wingdings" panose="05000000000000000000" pitchFamily="2" charset="2"/>
              <a:buChar char="Ø"/>
            </a:pPr>
            <a:r>
              <a:rPr lang="ja-JP" altLang="en-US" sz="1400">
                <a:latin typeface="+mn-ea"/>
              </a:rPr>
              <a:t>賞与引当金の計上取りやめは、</a:t>
            </a:r>
            <a:r>
              <a:rPr lang="en-US" altLang="ja-JP" sz="1400">
                <a:latin typeface="+mn-ea"/>
              </a:rPr>
              <a:t>AWMX</a:t>
            </a:r>
            <a:r>
              <a:rPr lang="ja-JP" altLang="en-US" sz="1400">
                <a:latin typeface="+mn-ea"/>
              </a:rPr>
              <a:t>以外にも</a:t>
            </a:r>
            <a:r>
              <a:rPr lang="en-US" altLang="ja-JP" sz="1400">
                <a:latin typeface="+mn-ea"/>
              </a:rPr>
              <a:t>AW</a:t>
            </a:r>
            <a:r>
              <a:rPr lang="ja-JP" altLang="en-US" sz="1400">
                <a:latin typeface="+mn-ea"/>
              </a:rPr>
              <a:t>グリーンデザイン、</a:t>
            </a:r>
            <a:r>
              <a:rPr lang="en-US" altLang="ja-JP" sz="1400">
                <a:latin typeface="+mn-ea"/>
              </a:rPr>
              <a:t>FILWEL</a:t>
            </a:r>
            <a:r>
              <a:rPr lang="ja-JP" altLang="en-US" sz="1400">
                <a:latin typeface="+mn-ea"/>
              </a:rPr>
              <a:t>、タテホ化学工業でも発見されている</a:t>
            </a:r>
            <a:endParaRPr lang="en-US" altLang="ja-JP" sz="1400">
              <a:solidFill>
                <a:prstClr val="black"/>
              </a:solidFill>
              <a:latin typeface="+mn-ea"/>
            </a:endParaRPr>
          </a:p>
        </p:txBody>
      </p:sp>
      <p:sp>
        <p:nvSpPr>
          <p:cNvPr id="11" name="正方形/長方形 10">
            <a:extLst>
              <a:ext uri="{FF2B5EF4-FFF2-40B4-BE49-F238E27FC236}">
                <a16:creationId xmlns:a16="http://schemas.microsoft.com/office/drawing/2014/main" id="{D981C99A-FBB5-0A5D-DFF0-DD95E2B2920C}"/>
              </a:ext>
            </a:extLst>
          </p:cNvPr>
          <p:cNvSpPr/>
          <p:nvPr/>
        </p:nvSpPr>
        <p:spPr bwMode="gray">
          <a:xfrm>
            <a:off x="507602" y="1647478"/>
            <a:ext cx="1260000" cy="115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27" name="テキスト プレースホルダー 3">
            <a:extLst>
              <a:ext uri="{FF2B5EF4-FFF2-40B4-BE49-F238E27FC236}">
                <a16:creationId xmlns:a16="http://schemas.microsoft.com/office/drawing/2014/main" id="{21967564-270C-4FF7-0616-3A787E5B3297}"/>
              </a:ext>
            </a:extLst>
          </p:cNvPr>
          <p:cNvSpPr txBox="1">
            <a:spLocks/>
          </p:cNvSpPr>
          <p:nvPr/>
        </p:nvSpPr>
        <p:spPr>
          <a:xfrm>
            <a:off x="659995" y="928103"/>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利益調整を目的とした賞与引当金の計上時期操作を防ぐために、計上ルールに従った会計処理が必要です。また、同一会計年度内の先送りも、期間損益を歪めるため認められません。</a:t>
            </a:r>
          </a:p>
        </p:txBody>
      </p:sp>
      <p:graphicFrame>
        <p:nvGraphicFramePr>
          <p:cNvPr id="5" name="表 4">
            <a:extLst>
              <a:ext uri="{FF2B5EF4-FFF2-40B4-BE49-F238E27FC236}">
                <a16:creationId xmlns:a16="http://schemas.microsoft.com/office/drawing/2014/main" id="{BBD403B9-45CC-0E48-9FE8-42A6AAEF18DC}"/>
              </a:ext>
            </a:extLst>
          </p:cNvPr>
          <p:cNvGraphicFramePr>
            <a:graphicFrameLocks noGrp="1"/>
          </p:cNvGraphicFramePr>
          <p:nvPr>
            <p:extLst>
              <p:ext uri="{D42A27DB-BD31-4B8C-83A1-F6EECF244321}">
                <p14:modId xmlns:p14="http://schemas.microsoft.com/office/powerpoint/2010/main" val="733239495"/>
              </p:ext>
            </p:extLst>
          </p:nvPr>
        </p:nvGraphicFramePr>
        <p:xfrm>
          <a:off x="344341" y="3424148"/>
          <a:ext cx="11583655" cy="1950720"/>
        </p:xfrm>
        <a:graphic>
          <a:graphicData uri="http://schemas.openxmlformats.org/drawingml/2006/table">
            <a:tbl>
              <a:tblPr firstRow="1" bandRow="1">
                <a:tableStyleId>{5C22544A-7EE6-4342-B048-85BDC9FD1C3A}</a:tableStyleId>
              </a:tblPr>
              <a:tblGrid>
                <a:gridCol w="1480747">
                  <a:extLst>
                    <a:ext uri="{9D8B030D-6E8A-4147-A177-3AD203B41FA5}">
                      <a16:colId xmlns:a16="http://schemas.microsoft.com/office/drawing/2014/main" val="582281252"/>
                    </a:ext>
                  </a:extLst>
                </a:gridCol>
                <a:gridCol w="1796696">
                  <a:extLst>
                    <a:ext uri="{9D8B030D-6E8A-4147-A177-3AD203B41FA5}">
                      <a16:colId xmlns:a16="http://schemas.microsoft.com/office/drawing/2014/main" val="1866938835"/>
                    </a:ext>
                  </a:extLst>
                </a:gridCol>
                <a:gridCol w="1796696">
                  <a:extLst>
                    <a:ext uri="{9D8B030D-6E8A-4147-A177-3AD203B41FA5}">
                      <a16:colId xmlns:a16="http://schemas.microsoft.com/office/drawing/2014/main" val="58766797"/>
                    </a:ext>
                  </a:extLst>
                </a:gridCol>
                <a:gridCol w="1796696">
                  <a:extLst>
                    <a:ext uri="{9D8B030D-6E8A-4147-A177-3AD203B41FA5}">
                      <a16:colId xmlns:a16="http://schemas.microsoft.com/office/drawing/2014/main" val="503062769"/>
                    </a:ext>
                  </a:extLst>
                </a:gridCol>
                <a:gridCol w="1796696">
                  <a:extLst>
                    <a:ext uri="{9D8B030D-6E8A-4147-A177-3AD203B41FA5}">
                      <a16:colId xmlns:a16="http://schemas.microsoft.com/office/drawing/2014/main" val="75729591"/>
                    </a:ext>
                  </a:extLst>
                </a:gridCol>
                <a:gridCol w="500399">
                  <a:extLst>
                    <a:ext uri="{9D8B030D-6E8A-4147-A177-3AD203B41FA5}">
                      <a16:colId xmlns:a16="http://schemas.microsoft.com/office/drawing/2014/main" val="1162315526"/>
                    </a:ext>
                  </a:extLst>
                </a:gridCol>
                <a:gridCol w="2415725">
                  <a:extLst>
                    <a:ext uri="{9D8B030D-6E8A-4147-A177-3AD203B41FA5}">
                      <a16:colId xmlns:a16="http://schemas.microsoft.com/office/drawing/2014/main" val="4269120389"/>
                    </a:ext>
                  </a:extLst>
                </a:gridCol>
              </a:tblGrid>
              <a:tr h="288000">
                <a:tc>
                  <a:txBody>
                    <a:bodyPr/>
                    <a:lstStyle/>
                    <a:p>
                      <a:pPr algn="ctr"/>
                      <a:r>
                        <a:rPr kumimoji="1" lang="ja-JP" altLang="en-US" sz="1400"/>
                        <a:t>四半期</a:t>
                      </a:r>
                    </a:p>
                  </a:txBody>
                  <a:tcPr anchor="ctr"/>
                </a:tc>
                <a:tc>
                  <a:txBody>
                    <a:bodyPr/>
                    <a:lstStyle/>
                    <a:p>
                      <a:pPr algn="ctr"/>
                      <a:r>
                        <a:rPr kumimoji="1" lang="ja-JP" altLang="en-US" sz="1400"/>
                        <a:t>第</a:t>
                      </a:r>
                      <a:r>
                        <a:rPr kumimoji="1" lang="en-US" altLang="ja-JP" sz="1400"/>
                        <a:t>1</a:t>
                      </a:r>
                      <a:r>
                        <a:rPr kumimoji="1" lang="ja-JP" altLang="en-US" sz="1400"/>
                        <a:t>四半期</a:t>
                      </a:r>
                    </a:p>
                  </a:txBody>
                  <a:tcPr anchor="ctr"/>
                </a:tc>
                <a:tc gridSpan="3">
                  <a:txBody>
                    <a:bodyPr/>
                    <a:lstStyle/>
                    <a:p>
                      <a:pPr algn="ctr"/>
                      <a:r>
                        <a:rPr kumimoji="1" lang="ja-JP" altLang="en-US" sz="1400"/>
                        <a:t>第</a:t>
                      </a:r>
                      <a:r>
                        <a:rPr kumimoji="1" lang="en-US" altLang="ja-JP" sz="1400"/>
                        <a:t>2</a:t>
                      </a:r>
                      <a:r>
                        <a:rPr kumimoji="1" lang="ja-JP" altLang="en-US" sz="1400"/>
                        <a:t>四半期</a:t>
                      </a:r>
                    </a:p>
                  </a:txBody>
                  <a:tcPr anchor="ctr"/>
                </a:tc>
                <a:tc hMerge="1">
                  <a:txBody>
                    <a:bodyPr/>
                    <a:lstStyle/>
                    <a:p>
                      <a:endParaRPr kumimoji="1" lang="ja-JP" altLang="en-US"/>
                    </a:p>
                  </a:txBody>
                  <a:tcPr/>
                </a:tc>
                <a:tc hMerge="1">
                  <a:txBody>
                    <a:bodyPr/>
                    <a:lstStyle/>
                    <a:p>
                      <a:endParaRPr kumimoji="1" lang="ja-JP" altLang="en-US"/>
                    </a:p>
                  </a:txBody>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1" i="0" u="none" strike="noStrike" kern="1200" cap="none" spc="0" normalizeH="0" baseline="0" noProof="0">
                          <a:ln>
                            <a:noFill/>
                          </a:ln>
                          <a:solidFill>
                            <a:srgbClr val="FFFFFF"/>
                          </a:solidFill>
                          <a:effectLst/>
                          <a:uLnTx/>
                          <a:uFillTx/>
                          <a:latin typeface="Segoe UI"/>
                          <a:ea typeface="BIZ UDPゴシック"/>
                          <a:cs typeface="+mn-cs"/>
                        </a:rPr>
                        <a:t>第</a:t>
                      </a:r>
                      <a:r>
                        <a:rPr kumimoji="1" lang="en-US" altLang="ja-JP" sz="1400" b="1" i="0" u="none" strike="noStrike" kern="1200" cap="none" spc="0" normalizeH="0" baseline="0" noProof="0">
                          <a:ln>
                            <a:noFill/>
                          </a:ln>
                          <a:solidFill>
                            <a:srgbClr val="FFFFFF"/>
                          </a:solidFill>
                          <a:effectLst/>
                          <a:uLnTx/>
                          <a:uFillTx/>
                          <a:latin typeface="Segoe UI"/>
                          <a:ea typeface="BIZ UDPゴシック"/>
                          <a:cs typeface="+mn-cs"/>
                        </a:rPr>
                        <a:t>3</a:t>
                      </a:r>
                      <a:r>
                        <a:rPr kumimoji="1" lang="ja-JP" altLang="en-US" sz="1400" b="1" i="0" u="none" strike="noStrike" kern="1200" cap="none" spc="0" normalizeH="0" baseline="0" noProof="0">
                          <a:ln>
                            <a:noFill/>
                          </a:ln>
                          <a:solidFill>
                            <a:srgbClr val="FFFFFF"/>
                          </a:solidFill>
                          <a:effectLst/>
                          <a:uLnTx/>
                          <a:uFillTx/>
                          <a:latin typeface="Segoe UI"/>
                          <a:ea typeface="BIZ UDPゴシック"/>
                          <a:cs typeface="+mn-cs"/>
                        </a:rPr>
                        <a:t>四半期</a:t>
                      </a:r>
                    </a:p>
                  </a:txBody>
                  <a:tcPr anchor="ct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i="0" u="none" strike="noStrike" kern="1200" cap="none" spc="0" normalizeH="0" baseline="0" noProof="0">
                        <a:ln>
                          <a:noFill/>
                        </a:ln>
                        <a:solidFill>
                          <a:srgbClr val="FFFFFF"/>
                        </a:solidFill>
                        <a:effectLst/>
                        <a:uLnTx/>
                        <a:uFillTx/>
                        <a:latin typeface="Segoe UI"/>
                        <a:ea typeface="BIZ UDPゴシック"/>
                        <a:cs typeface="+mn-cs"/>
                      </a:endParaRPr>
                    </a:p>
                  </a:txBody>
                  <a:tcPr/>
                </a:tc>
                <a:extLst>
                  <a:ext uri="{0D108BD9-81ED-4DB2-BD59-A6C34878D82A}">
                    <a16:rowId xmlns:a16="http://schemas.microsoft.com/office/drawing/2014/main" val="2328732841"/>
                  </a:ext>
                </a:extLst>
              </a:tr>
              <a:tr h="288000">
                <a:tc>
                  <a:txBody>
                    <a:bodyPr/>
                    <a:lstStyle/>
                    <a:p>
                      <a:pPr algn="ctr"/>
                      <a:r>
                        <a:rPr kumimoji="1" lang="ja-JP" altLang="en-US" sz="1400"/>
                        <a:t>月</a:t>
                      </a:r>
                    </a:p>
                  </a:txBody>
                  <a:tcPr anchor="ctr"/>
                </a:tc>
                <a:tc>
                  <a:txBody>
                    <a:bodyPr/>
                    <a:lstStyle/>
                    <a:p>
                      <a:pPr algn="ctr"/>
                      <a:r>
                        <a:rPr kumimoji="1" lang="en-US" altLang="ja-JP" sz="1400"/>
                        <a:t>4</a:t>
                      </a:r>
                      <a:r>
                        <a:rPr kumimoji="1" lang="ja-JP" altLang="en-US" sz="1400"/>
                        <a:t>月～</a:t>
                      </a:r>
                      <a:r>
                        <a:rPr kumimoji="1" lang="en-US" altLang="ja-JP" sz="1400"/>
                        <a:t>6</a:t>
                      </a:r>
                      <a:r>
                        <a:rPr kumimoji="1" lang="ja-JP" altLang="en-US" sz="1400"/>
                        <a:t>月</a:t>
                      </a:r>
                    </a:p>
                  </a:txBody>
                  <a:tcPr anchor="ctr"/>
                </a:tc>
                <a:tc>
                  <a:txBody>
                    <a:bodyPr/>
                    <a:lstStyle/>
                    <a:p>
                      <a:pPr algn="ctr"/>
                      <a:r>
                        <a:rPr kumimoji="1" lang="en-US" altLang="ja-JP" sz="1400"/>
                        <a:t>7</a:t>
                      </a:r>
                      <a:r>
                        <a:rPr kumimoji="1" lang="ja-JP" altLang="en-US" sz="1400"/>
                        <a:t>月</a:t>
                      </a:r>
                    </a:p>
                  </a:txBody>
                  <a:tcPr anchor="ctr"/>
                </a:tc>
                <a:tc>
                  <a:txBody>
                    <a:bodyPr/>
                    <a:lstStyle/>
                    <a:p>
                      <a:pPr algn="ctr"/>
                      <a:r>
                        <a:rPr kumimoji="1" lang="en-US" altLang="ja-JP" sz="1400"/>
                        <a:t>8</a:t>
                      </a:r>
                      <a:r>
                        <a:rPr kumimoji="1" lang="ja-JP" altLang="en-US" sz="1400"/>
                        <a:t>月</a:t>
                      </a:r>
                    </a:p>
                  </a:txBody>
                  <a:tcPr anchor="ctr"/>
                </a:tc>
                <a:tc>
                  <a:txBody>
                    <a:bodyPr/>
                    <a:lstStyle/>
                    <a:p>
                      <a:pPr algn="ctr"/>
                      <a:r>
                        <a:rPr kumimoji="1" lang="en-US" altLang="ja-JP" sz="1400"/>
                        <a:t>9</a:t>
                      </a:r>
                      <a:r>
                        <a:rPr kumimoji="1" lang="ja-JP" altLang="en-US" sz="1400"/>
                        <a:t>月</a:t>
                      </a:r>
                    </a:p>
                  </a:txBody>
                  <a:tcPr anchor="ctr"/>
                </a:tc>
                <a:tc>
                  <a:txBody>
                    <a:bodyPr/>
                    <a:lstStyle/>
                    <a:p>
                      <a:pPr algn="ctr"/>
                      <a:r>
                        <a:rPr kumimoji="1" lang="ja-JP" altLang="en-US" sz="1400"/>
                        <a:t>・・</a:t>
                      </a:r>
                    </a:p>
                  </a:txBody>
                  <a:tcPr anchor="ctr"/>
                </a:tc>
                <a:tc>
                  <a:txBody>
                    <a:bodyPr/>
                    <a:lstStyle/>
                    <a:p>
                      <a:pPr algn="ctr"/>
                      <a:r>
                        <a:rPr kumimoji="1" lang="en-US" altLang="ja-JP" sz="1400"/>
                        <a:t>12</a:t>
                      </a:r>
                      <a:r>
                        <a:rPr kumimoji="1" lang="ja-JP" altLang="en-US" sz="1400"/>
                        <a:t>月</a:t>
                      </a:r>
                    </a:p>
                  </a:txBody>
                  <a:tcPr anchor="ctr"/>
                </a:tc>
                <a:extLst>
                  <a:ext uri="{0D108BD9-81ED-4DB2-BD59-A6C34878D82A}">
                    <a16:rowId xmlns:a16="http://schemas.microsoft.com/office/drawing/2014/main" val="2042134321"/>
                  </a:ext>
                </a:extLst>
              </a:tr>
              <a:tr h="288000">
                <a:tc>
                  <a:txBody>
                    <a:bodyPr/>
                    <a:lstStyle/>
                    <a:p>
                      <a:pPr algn="ctr"/>
                      <a:r>
                        <a:rPr kumimoji="1" lang="ja-JP" altLang="en-US" sz="1400"/>
                        <a:t>①本事案の</a:t>
                      </a:r>
                      <a:endParaRPr kumimoji="1" lang="en-US" altLang="ja-JP" sz="1400"/>
                    </a:p>
                    <a:p>
                      <a:pPr algn="ctr"/>
                      <a:r>
                        <a:rPr kumimoji="1" lang="ja-JP" altLang="en-US" sz="1400"/>
                        <a:t>会計処理</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賞与引当金繰入 </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60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a:t>
                      </a: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賞与引当金 </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60</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賞与引当金繰入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mn-lt"/>
                          <a:ea typeface="+mn-ea"/>
                          <a:cs typeface="+mn-cs"/>
                        </a:rPr>
                        <a:t>/</a:t>
                      </a: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p>
                  </a:txBody>
                  <a:tcPr anchor="ctr"/>
                </a:tc>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賞与引当金繰入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mn-lt"/>
                          <a:ea typeface="+mn-ea"/>
                          <a:cs typeface="+mn-cs"/>
                        </a:rPr>
                        <a:t>/</a:t>
                      </a: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0000"/>
                          </a:solidFill>
                          <a:effectLst/>
                          <a:uLnTx/>
                          <a:uFillTx/>
                          <a:latin typeface="Segoe UI"/>
                          <a:ea typeface="BIZ UDPゴシック"/>
                          <a:cs typeface="+mn-cs"/>
                        </a:rPr>
                        <a:t>－</a:t>
                      </a:r>
                    </a:p>
                  </a:txBody>
                  <a:tcPr anchor="ctr"/>
                </a:tc>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a:t>
                      </a:r>
                    </a:p>
                  </a:txBody>
                  <a:tcPr anchor="ctr">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FF0000"/>
                          </a:solidFill>
                          <a:effectLst/>
                          <a:uLnTx/>
                          <a:uFillTx/>
                          <a:latin typeface="Segoe UI"/>
                          <a:ea typeface="BIZ UDPゴシック"/>
                          <a:cs typeface="+mn-cs"/>
                        </a:rPr>
                        <a:t>賞与 </a:t>
                      </a:r>
                      <a:r>
                        <a:rPr kumimoji="1" lang="en-US" altLang="ja-JP" sz="1400" b="0" i="0" u="none" strike="noStrike" kern="1200" cap="none" spc="0" normalizeH="0" baseline="0" noProof="0">
                          <a:ln>
                            <a:noFill/>
                          </a:ln>
                          <a:solidFill>
                            <a:srgbClr val="FF0000"/>
                          </a:solidFill>
                          <a:effectLst/>
                          <a:uLnTx/>
                          <a:uFillTx/>
                          <a:latin typeface="Segoe UI"/>
                          <a:ea typeface="BIZ UDPゴシック"/>
                          <a:cs typeface="+mn-cs"/>
                        </a:rPr>
                        <a:t>20              </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a:t>
                      </a: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現金 </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120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賞与引当金 </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100/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tc>
                <a:extLst>
                  <a:ext uri="{0D108BD9-81ED-4DB2-BD59-A6C34878D82A}">
                    <a16:rowId xmlns:a16="http://schemas.microsoft.com/office/drawing/2014/main" val="1216992092"/>
                  </a:ext>
                </a:extLst>
              </a:tr>
              <a:tr h="288000">
                <a:tc>
                  <a:txBody>
                    <a:bodyPr/>
                    <a:lstStyle/>
                    <a:p>
                      <a:pPr algn="ctr"/>
                      <a:r>
                        <a:rPr kumimoji="1" lang="ja-JP" altLang="en-US" sz="1400"/>
                        <a:t>②適切な</a:t>
                      </a:r>
                      <a:endParaRPr kumimoji="1" lang="en-US" altLang="ja-JP" sz="1400"/>
                    </a:p>
                    <a:p>
                      <a:pPr algn="ctr"/>
                      <a:r>
                        <a:rPr kumimoji="1" lang="ja-JP" altLang="en-US" sz="1400"/>
                        <a:t>会計処理</a:t>
                      </a:r>
                    </a:p>
                  </a:txBody>
                  <a:tcPr anchor="ctr"/>
                </a:tc>
                <a:tc vMerge="1">
                  <a:txBody>
                    <a:bodyPr/>
                    <a:lstStyle/>
                    <a:p>
                      <a:endParaRPr/>
                    </a:p>
                  </a:txBody>
                  <a:tcPr anchor="ctr"/>
                </a:tc>
                <a:tc vMerge="1">
                  <a:txBody>
                    <a:bodyPr/>
                    <a:lstStyle/>
                    <a:p>
                      <a:endParaRPr/>
                    </a:p>
                  </a:txBody>
                  <a:tcPr anchor="ctr"/>
                </a:tc>
                <a:tc vMerge="1">
                  <a:txBody>
                    <a:bodyPr/>
                    <a:lstStyle/>
                    <a:p>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賞与引当金繰入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mn-lt"/>
                          <a:ea typeface="+mn-ea"/>
                          <a:cs typeface="+mn-cs"/>
                        </a:rPr>
                        <a:t>/</a:t>
                      </a: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 </a:t>
                      </a:r>
                      <a:r>
                        <a:rPr kumimoji="1" lang="en-US" altLang="ja-JP" sz="1400" b="0" i="0" u="none" strike="noStrike" kern="1200" cap="none" spc="0" normalizeH="0" baseline="0" noProof="0">
                          <a:ln>
                            <a:noFill/>
                          </a:ln>
                          <a:solidFill>
                            <a:srgbClr val="262626"/>
                          </a:solidFill>
                          <a:effectLst/>
                          <a:uLnTx/>
                          <a:uFillTx/>
                          <a:latin typeface="+mn-lt"/>
                          <a:ea typeface="+mn-ea"/>
                          <a:cs typeface="+mn-cs"/>
                        </a:rPr>
                        <a:t>20</a:t>
                      </a:r>
                      <a:endParaRPr kumimoji="1" lang="ja-JP" altLang="en-US" sz="1400" b="0" i="0" u="none" strike="noStrike" kern="1200" cap="none" spc="0" normalizeH="0" baseline="0" noProof="0">
                        <a:ln>
                          <a:noFill/>
                        </a:ln>
                        <a:solidFill>
                          <a:srgbClr val="262626"/>
                        </a:solidFill>
                        <a:effectLst/>
                        <a:uLnTx/>
                        <a:uFillTx/>
                        <a:latin typeface="+mn-lt"/>
                        <a:ea typeface="+mn-ea"/>
                        <a:cs typeface="+mn-cs"/>
                      </a:endParaRPr>
                    </a:p>
                  </a:txBody>
                  <a:tcPr anchor="ctr">
                    <a:lnB w="12700" cap="flat" cmpd="sng" algn="ctr">
                      <a:solidFill>
                        <a:schemeClr val="bg1"/>
                      </a:solidFill>
                      <a:prstDash val="solid"/>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lnB w="12700" cap="flat" cmpd="sng" algn="ctr">
                      <a:solidFill>
                        <a:schemeClr val="bg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mn-lt"/>
                          <a:ea typeface="+mn-ea"/>
                          <a:cs typeface="+mn-cs"/>
                        </a:rPr>
                        <a:t>賞与引当金 </a:t>
                      </a:r>
                      <a:r>
                        <a:rPr kumimoji="1" lang="en-US" altLang="ja-JP" sz="1400" b="0" i="0" u="none" strike="noStrike" kern="1200" cap="none" spc="0" normalizeH="0" baseline="0" noProof="0">
                          <a:ln>
                            <a:noFill/>
                          </a:ln>
                          <a:solidFill>
                            <a:srgbClr val="262626"/>
                          </a:solidFill>
                          <a:effectLst/>
                          <a:uLnTx/>
                          <a:uFillTx/>
                          <a:latin typeface="+mn-lt"/>
                          <a:ea typeface="+mn-ea"/>
                          <a:cs typeface="+mn-cs"/>
                        </a:rPr>
                        <a:t>120//</a:t>
                      </a:r>
                      <a:r>
                        <a:rPr kumimoji="1" lang="ja-JP" altLang="en-US" sz="1400" b="0" i="0" u="none" strike="noStrike" kern="1200" cap="none" spc="0" normalizeH="0" baseline="0" noProof="0">
                          <a:ln>
                            <a:noFill/>
                          </a:ln>
                          <a:solidFill>
                            <a:srgbClr val="262626"/>
                          </a:solidFill>
                          <a:effectLst/>
                          <a:uLnTx/>
                          <a:uFillTx/>
                          <a:latin typeface="+mn-lt"/>
                          <a:ea typeface="+mn-ea"/>
                          <a:cs typeface="+mn-cs"/>
                        </a:rPr>
                        <a:t>現金 </a:t>
                      </a:r>
                      <a:r>
                        <a:rPr kumimoji="1" lang="en-US" altLang="ja-JP" sz="1400" b="0" i="0" u="none" strike="noStrike" kern="1200" cap="none" spc="0" normalizeH="0" baseline="0" noProof="0">
                          <a:ln>
                            <a:noFill/>
                          </a:ln>
                          <a:solidFill>
                            <a:srgbClr val="262626"/>
                          </a:solidFill>
                          <a:effectLst/>
                          <a:uLnTx/>
                          <a:uFillTx/>
                          <a:latin typeface="+mn-lt"/>
                          <a:ea typeface="+mn-ea"/>
                          <a:cs typeface="+mn-cs"/>
                        </a:rPr>
                        <a:t>120</a:t>
                      </a:r>
                    </a:p>
                  </a:txBody>
                  <a:tcPr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421766467"/>
                  </a:ext>
                </a:extLst>
              </a:tr>
              <a:tr h="288000">
                <a:tc>
                  <a:txBody>
                    <a:bodyPr/>
                    <a:lstStyle/>
                    <a:p>
                      <a:pPr algn="ctr"/>
                      <a:r>
                        <a:rPr kumimoji="1" lang="ja-JP" altLang="en-US" sz="1400">
                          <a:solidFill>
                            <a:schemeClr val="tx1"/>
                          </a:solidFill>
                        </a:rPr>
                        <a:t>②</a:t>
                      </a:r>
                      <a:r>
                        <a:rPr kumimoji="1" lang="en-US" altLang="ja-JP" sz="1400">
                          <a:solidFill>
                            <a:schemeClr val="tx1"/>
                          </a:solidFill>
                        </a:rPr>
                        <a:t>-</a:t>
                      </a:r>
                      <a:r>
                        <a:rPr kumimoji="1" lang="ja-JP" altLang="en-US" sz="1400">
                          <a:solidFill>
                            <a:schemeClr val="tx1"/>
                          </a:solidFill>
                        </a:rPr>
                        <a:t>①利益影響</a:t>
                      </a: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lnR w="12700" cap="flat" cmpd="sng" algn="ctr">
                      <a:solidFill>
                        <a:schemeClr val="bg1"/>
                      </a:solidFill>
                      <a:prstDash val="solid"/>
                      <a:round/>
                      <a:headEnd type="none" w="med" len="med"/>
                      <a:tailEnd type="none" w="med" len="med"/>
                    </a:lnR>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+20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v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rPr>
                        <a:t>▲</a:t>
                      </a:r>
                      <a:r>
                        <a:rPr kumimoji="1" lang="en-US" altLang="ja-JP" sz="1400" b="0" i="0" u="none" strike="noStrike" kern="1200" cap="none" spc="0" normalizeH="0" baseline="0" noProof="0">
                          <a:ln>
                            <a:noFill/>
                          </a:ln>
                          <a:solidFill>
                            <a:srgbClr val="262626"/>
                          </a:solidFill>
                          <a:effectLst/>
                          <a:uLnTx/>
                          <a:uFillTx/>
                          <a:latin typeface="Segoe UI"/>
                          <a:ea typeface="BIZ UDPゴシック"/>
                          <a:cs typeface="+mn-cs"/>
                        </a:rPr>
                        <a:t>20</a:t>
                      </a:r>
                      <a:endParaRPr kumimoji="1" lang="ja-JP" altLang="en-US" sz="1400" b="0" i="0" u="none" strike="noStrike" kern="1200" cap="none" spc="0" normalizeH="0" baseline="0" noProof="0">
                        <a:ln>
                          <a:noFill/>
                        </a:ln>
                        <a:solidFill>
                          <a:srgbClr val="262626"/>
                        </a:solidFill>
                        <a:effectLst/>
                        <a:uLnTx/>
                        <a:uFillTx/>
                        <a:latin typeface="Segoe UI"/>
                        <a:ea typeface="BIZ UDPゴシック"/>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206462950"/>
                  </a:ext>
                </a:extLst>
              </a:tr>
            </a:tbl>
          </a:graphicData>
        </a:graphic>
      </p:graphicFrame>
      <p:sp>
        <p:nvSpPr>
          <p:cNvPr id="21" name="正方形/長方形 20">
            <a:extLst>
              <a:ext uri="{FF2B5EF4-FFF2-40B4-BE49-F238E27FC236}">
                <a16:creationId xmlns:a16="http://schemas.microsoft.com/office/drawing/2014/main" id="{F93B6BCB-F2B2-BC34-9DE4-2432B6899452}"/>
              </a:ext>
            </a:extLst>
          </p:cNvPr>
          <p:cNvSpPr/>
          <p:nvPr/>
        </p:nvSpPr>
        <p:spPr>
          <a:xfrm flipV="1">
            <a:off x="7191633" y="4012503"/>
            <a:ext cx="1804321" cy="13623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b="0" i="0" u="none" strike="noStrike" kern="1200" cap="none" spc="0" normalizeH="0" baseline="0" noProof="0">
              <a:ln>
                <a:noFill/>
              </a:ln>
              <a:solidFill>
                <a:srgbClr val="FFFFFF"/>
              </a:solidFill>
              <a:effectLst/>
              <a:uLnTx/>
              <a:uFillTx/>
              <a:latin typeface="+mn-ea"/>
              <a:cs typeface="+mn-cs"/>
            </a:endParaRPr>
          </a:p>
        </p:txBody>
      </p:sp>
      <p:sp>
        <p:nvSpPr>
          <p:cNvPr id="35" name="テキスト ボックス 34">
            <a:extLst>
              <a:ext uri="{FF2B5EF4-FFF2-40B4-BE49-F238E27FC236}">
                <a16:creationId xmlns:a16="http://schemas.microsoft.com/office/drawing/2014/main" id="{B5B22E2D-B277-97EC-81EC-EC819C865671}"/>
              </a:ext>
            </a:extLst>
          </p:cNvPr>
          <p:cNvSpPr txBox="1"/>
          <p:nvPr/>
        </p:nvSpPr>
        <p:spPr>
          <a:xfrm>
            <a:off x="507602" y="3010602"/>
            <a:ext cx="7919706" cy="265073"/>
          </a:xfrm>
          <a:prstGeom prst="rect">
            <a:avLst/>
          </a:prstGeom>
          <a:noFill/>
          <a:ln>
            <a:noFill/>
          </a:ln>
        </p:spPr>
        <p:txBody>
          <a:bodyPr wrap="square" lIns="0" tIns="0" rIns="0" bIns="0" rtlCol="0">
            <a:spAutoFit/>
          </a:bodyPr>
          <a:lstStyle/>
          <a:p>
            <a:pPr marL="285750" indent="-285750">
              <a:lnSpc>
                <a:spcPct val="120000"/>
              </a:lnSpc>
              <a:buFont typeface="Wingdings" panose="05000000000000000000" pitchFamily="2" charset="2"/>
              <a:buChar char="n"/>
            </a:pPr>
            <a:r>
              <a:rPr kumimoji="1" lang="en-US" altLang="ja-JP" sz="1600" spc="110" baseline="0"/>
              <a:t>12</a:t>
            </a:r>
            <a:r>
              <a:rPr kumimoji="1" lang="ja-JP" altLang="en-US" sz="1600" spc="110" baseline="0"/>
              <a:t>月賞与支給に対する賞与引当金の計上、取り崩しイメージ（単位：百万円）</a:t>
            </a:r>
          </a:p>
        </p:txBody>
      </p:sp>
      <p:sp>
        <p:nvSpPr>
          <p:cNvPr id="40" name="テキスト ボックス 39">
            <a:extLst>
              <a:ext uri="{FF2B5EF4-FFF2-40B4-BE49-F238E27FC236}">
                <a16:creationId xmlns:a16="http://schemas.microsoft.com/office/drawing/2014/main" id="{79AFCCE4-0462-5020-7325-237E0F5BEB90}"/>
              </a:ext>
            </a:extLst>
          </p:cNvPr>
          <p:cNvSpPr txBox="1"/>
          <p:nvPr/>
        </p:nvSpPr>
        <p:spPr>
          <a:xfrm>
            <a:off x="1906819" y="5971776"/>
            <a:ext cx="10038196" cy="631583"/>
          </a:xfrm>
          <a:prstGeom prst="rect">
            <a:avLst/>
          </a:prstGeom>
          <a:noFill/>
          <a:ln>
            <a:noFill/>
          </a:ln>
        </p:spPr>
        <p:txBody>
          <a:bodyPr wrap="square" lIns="0" tIns="0" rIns="0" bIns="0" rtlCol="0" anchor="t">
            <a:spAutoFit/>
          </a:bodyPr>
          <a:lstStyle/>
          <a:p>
            <a:pPr>
              <a:lnSpc>
                <a:spcPct val="120000"/>
              </a:lnSpc>
            </a:pPr>
            <a:r>
              <a:rPr lang="ja-JP" altLang="en-US" spc="110">
                <a:solidFill>
                  <a:srgbClr val="FF0000"/>
                </a:solidFill>
              </a:rPr>
              <a:t>本来、第</a:t>
            </a:r>
            <a:r>
              <a:rPr lang="en-US" altLang="ja-JP" spc="110">
                <a:solidFill>
                  <a:srgbClr val="FF0000"/>
                </a:solidFill>
              </a:rPr>
              <a:t>2</a:t>
            </a:r>
            <a:r>
              <a:rPr lang="ja-JP" altLang="en-US" spc="110">
                <a:solidFill>
                  <a:srgbClr val="FF0000"/>
                </a:solidFill>
              </a:rPr>
              <a:t>四半期に計上すべき</a:t>
            </a:r>
            <a:r>
              <a:rPr lang="en-US" altLang="ja-JP" spc="110">
                <a:solidFill>
                  <a:srgbClr val="FF0000"/>
                </a:solidFill>
              </a:rPr>
              <a:t>20</a:t>
            </a:r>
            <a:r>
              <a:rPr lang="ja-JP" altLang="en-US" spc="110">
                <a:solidFill>
                  <a:srgbClr val="FF0000"/>
                </a:solidFill>
              </a:rPr>
              <a:t>百万円が第</a:t>
            </a:r>
            <a:r>
              <a:rPr lang="en-US" altLang="ja-JP" spc="110">
                <a:solidFill>
                  <a:srgbClr val="FF0000"/>
                </a:solidFill>
              </a:rPr>
              <a:t>3</a:t>
            </a:r>
            <a:r>
              <a:rPr lang="ja-JP" altLang="en-US" spc="110">
                <a:solidFill>
                  <a:srgbClr val="FF0000"/>
                </a:solidFill>
              </a:rPr>
              <a:t>四半期に計上されており、期間損益が歪んでいる</a:t>
            </a:r>
            <a:endParaRPr kumimoji="1" lang="ja-JP" altLang="en-US" spc="110" baseline="0">
              <a:solidFill>
                <a:srgbClr val="FF0000"/>
              </a:solidFill>
            </a:endParaRPr>
          </a:p>
        </p:txBody>
      </p:sp>
      <p:sp>
        <p:nvSpPr>
          <p:cNvPr id="17" name="乗算記号 16">
            <a:extLst>
              <a:ext uri="{FF2B5EF4-FFF2-40B4-BE49-F238E27FC236}">
                <a16:creationId xmlns:a16="http://schemas.microsoft.com/office/drawing/2014/main" id="{FFC2ED55-8863-074D-85FE-F51D01733EB3}"/>
              </a:ext>
            </a:extLst>
          </p:cNvPr>
          <p:cNvSpPr/>
          <p:nvPr/>
        </p:nvSpPr>
        <p:spPr>
          <a:xfrm>
            <a:off x="144041" y="4039791"/>
            <a:ext cx="468000" cy="468000"/>
          </a:xfrm>
          <a:prstGeom prst="mathMultiply">
            <a:avLst>
              <a:gd name="adj1" fmla="val 18276"/>
            </a:avLst>
          </a:prstGeom>
          <a:solidFill>
            <a:srgbClr val="FF0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2" name="円: 塗りつぶしなし 21">
            <a:extLst>
              <a:ext uri="{FF2B5EF4-FFF2-40B4-BE49-F238E27FC236}">
                <a16:creationId xmlns:a16="http://schemas.microsoft.com/office/drawing/2014/main" id="{8884CDCF-E420-5DE9-17EA-AB26F27B77C2}"/>
              </a:ext>
            </a:extLst>
          </p:cNvPr>
          <p:cNvSpPr/>
          <p:nvPr/>
        </p:nvSpPr>
        <p:spPr>
          <a:xfrm>
            <a:off x="198041" y="4636102"/>
            <a:ext cx="360000" cy="360000"/>
          </a:xfrm>
          <a:prstGeom prst="donut">
            <a:avLst>
              <a:gd name="adj" fmla="val 14526"/>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
        <p:nvSpPr>
          <p:cNvPr id="25" name="正方形/長方形 24">
            <a:extLst>
              <a:ext uri="{FF2B5EF4-FFF2-40B4-BE49-F238E27FC236}">
                <a16:creationId xmlns:a16="http://schemas.microsoft.com/office/drawing/2014/main" id="{3CFFFDE7-C755-7662-1016-C64F7676300A}"/>
              </a:ext>
            </a:extLst>
          </p:cNvPr>
          <p:cNvSpPr/>
          <p:nvPr/>
        </p:nvSpPr>
        <p:spPr>
          <a:xfrm flipV="1">
            <a:off x="9477633" y="4012502"/>
            <a:ext cx="2450362" cy="136236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b="0" i="0" u="none" strike="noStrike" kern="1200" cap="none" spc="0" normalizeH="0" baseline="0" noProof="0">
              <a:ln>
                <a:noFill/>
              </a:ln>
              <a:solidFill>
                <a:srgbClr val="FFFFFF"/>
              </a:solidFill>
              <a:effectLst/>
              <a:uLnTx/>
              <a:uFillTx/>
              <a:latin typeface="+mn-ea"/>
              <a:cs typeface="+mn-cs"/>
            </a:endParaRPr>
          </a:p>
        </p:txBody>
      </p:sp>
      <p:cxnSp>
        <p:nvCxnSpPr>
          <p:cNvPr id="28" name="コネクタ: カギ線 27">
            <a:extLst>
              <a:ext uri="{FF2B5EF4-FFF2-40B4-BE49-F238E27FC236}">
                <a16:creationId xmlns:a16="http://schemas.microsoft.com/office/drawing/2014/main" id="{7B6B499A-D835-880E-576D-713CDEBA1F85}"/>
              </a:ext>
            </a:extLst>
          </p:cNvPr>
          <p:cNvCxnSpPr>
            <a:cxnSpLocks/>
            <a:stCxn id="21" idx="0"/>
            <a:endCxn id="40" idx="0"/>
          </p:cNvCxnSpPr>
          <p:nvPr/>
        </p:nvCxnSpPr>
        <p:spPr>
          <a:xfrm rot="5400000">
            <a:off x="7211401" y="5089383"/>
            <a:ext cx="596910" cy="1167877"/>
          </a:xfrm>
          <a:prstGeom prst="bentConnector3">
            <a:avLst>
              <a:gd name="adj1" fmla="val 50000"/>
            </a:avLst>
          </a:prstGeom>
          <a:ln w="38100"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B5FDF075-ADBF-E8DD-F7A7-3537D170C6A3}"/>
              </a:ext>
            </a:extLst>
          </p:cNvPr>
          <p:cNvCxnSpPr>
            <a:cxnSpLocks/>
            <a:stCxn id="25" idx="0"/>
            <a:endCxn id="40" idx="0"/>
          </p:cNvCxnSpPr>
          <p:nvPr/>
        </p:nvCxnSpPr>
        <p:spPr>
          <a:xfrm rot="5400000">
            <a:off x="8515911" y="3784872"/>
            <a:ext cx="596911" cy="3776897"/>
          </a:xfrm>
          <a:prstGeom prst="bentConnector3">
            <a:avLst>
              <a:gd name="adj1" fmla="val 50000"/>
            </a:avLst>
          </a:prstGeom>
          <a:ln w="38100" cap="rnd">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sp>
        <p:nvSpPr>
          <p:cNvPr id="4" name="正方形/長方形 3">
            <a:extLst>
              <a:ext uri="{FF2B5EF4-FFF2-40B4-BE49-F238E27FC236}">
                <a16:creationId xmlns:a16="http://schemas.microsoft.com/office/drawing/2014/main" id="{FED10CF6-C4BF-ED09-01E1-32B074B8A1D7}"/>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2039674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プレースホルダー 3">
            <a:extLst>
              <a:ext uri="{FF2B5EF4-FFF2-40B4-BE49-F238E27FC236}">
                <a16:creationId xmlns:a16="http://schemas.microsoft.com/office/drawing/2014/main" id="{0C7341F6-6BFD-803B-1094-C134B5F3A22D}"/>
              </a:ext>
            </a:extLst>
          </p:cNvPr>
          <p:cNvSpPr txBox="1">
            <a:spLocks/>
          </p:cNvSpPr>
          <p:nvPr/>
        </p:nvSpPr>
        <p:spPr>
          <a:xfrm>
            <a:off x="659995" y="919865"/>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既に計上済みの資産除去債務の</a:t>
            </a:r>
            <a:r>
              <a:rPr lang="en-US" altLang="ja-JP" sz="1800" b="0"/>
              <a:t>Q3</a:t>
            </a:r>
            <a:r>
              <a:rPr lang="ja-JP" altLang="en-US" sz="1800" b="0"/>
              <a:t>以降の計上に加え、新規で発生した資産除去債務の計上も必要となるため、計上にあたって必要な情報を網羅的に把握、収集する仕組みを整備・運用することが必要です</a:t>
            </a:r>
          </a:p>
        </p:txBody>
      </p:sp>
      <p:sp>
        <p:nvSpPr>
          <p:cNvPr id="11" name="タイトル 2">
            <a:extLst>
              <a:ext uri="{FF2B5EF4-FFF2-40B4-BE49-F238E27FC236}">
                <a16:creationId xmlns:a16="http://schemas.microsoft.com/office/drawing/2014/main" id="{5848262D-DB67-A97D-C636-652165FAFAFB}"/>
              </a:ext>
            </a:extLst>
          </p:cNvPr>
          <p:cNvSpPr>
            <a:spLocks noGrp="1"/>
          </p:cNvSpPr>
          <p:nvPr>
            <p:ph type="title"/>
          </p:nvPr>
        </p:nvSpPr>
        <p:spPr>
          <a:xfrm>
            <a:off x="660000" y="365508"/>
            <a:ext cx="5610171" cy="371961"/>
          </a:xfrm>
        </p:spPr>
        <p:txBody>
          <a:bodyPr>
            <a:normAutofit/>
          </a:bodyPr>
          <a:lstStyle/>
          <a:p>
            <a:r>
              <a:rPr lang="en-US" altLang="ja-JP"/>
              <a:t>3-15.</a:t>
            </a:r>
            <a:r>
              <a:rPr lang="ja-JP" altLang="en-US"/>
              <a:t>資産除去債務の計上漏れ</a:t>
            </a:r>
          </a:p>
        </p:txBody>
      </p:sp>
      <p:sp>
        <p:nvSpPr>
          <p:cNvPr id="12" name="正方形/長方形 11">
            <a:extLst>
              <a:ext uri="{FF2B5EF4-FFF2-40B4-BE49-F238E27FC236}">
                <a16:creationId xmlns:a16="http://schemas.microsoft.com/office/drawing/2014/main" id="{5E0762E7-B014-56F9-38B8-635F2CE4F440}"/>
              </a:ext>
            </a:extLst>
          </p:cNvPr>
          <p:cNvSpPr/>
          <p:nvPr/>
        </p:nvSpPr>
        <p:spPr bwMode="gray">
          <a:xfrm>
            <a:off x="2127658" y="1723175"/>
            <a:ext cx="9720000" cy="432000"/>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複数社で過年度より資産除去債務の計上がされていなかった</a:t>
            </a:r>
            <a:endParaRPr lang="en-US" altLang="ja-JP" sz="1400">
              <a:solidFill>
                <a:prstClr val="black"/>
              </a:solidFill>
              <a:latin typeface="+mn-ea"/>
            </a:endParaRPr>
          </a:p>
        </p:txBody>
      </p:sp>
      <p:sp>
        <p:nvSpPr>
          <p:cNvPr id="13" name="正方形/長方形 12">
            <a:extLst>
              <a:ext uri="{FF2B5EF4-FFF2-40B4-BE49-F238E27FC236}">
                <a16:creationId xmlns:a16="http://schemas.microsoft.com/office/drawing/2014/main" id="{9AD033D3-A812-7760-DD21-B31D40A5B473}"/>
              </a:ext>
            </a:extLst>
          </p:cNvPr>
          <p:cNvSpPr/>
          <p:nvPr/>
        </p:nvSpPr>
        <p:spPr bwMode="gray">
          <a:xfrm>
            <a:off x="507602" y="1723175"/>
            <a:ext cx="1260000" cy="432000"/>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事案の概要</a:t>
            </a:r>
            <a:endParaRPr lang="en-US" altLang="ja-JP" sz="1400" b="1">
              <a:solidFill>
                <a:schemeClr val="bg1"/>
              </a:solidFill>
              <a:latin typeface="+mn-ea"/>
            </a:endParaRPr>
          </a:p>
        </p:txBody>
      </p:sp>
      <p:sp>
        <p:nvSpPr>
          <p:cNvPr id="37" name="正方形/長方形 36">
            <a:extLst>
              <a:ext uri="{FF2B5EF4-FFF2-40B4-BE49-F238E27FC236}">
                <a16:creationId xmlns:a16="http://schemas.microsoft.com/office/drawing/2014/main" id="{490F625C-8F8B-2E0F-28F4-5575C4ABA05F}"/>
              </a:ext>
            </a:extLst>
          </p:cNvPr>
          <p:cNvSpPr/>
          <p:nvPr/>
        </p:nvSpPr>
        <p:spPr>
          <a:xfrm>
            <a:off x="2260894" y="2373694"/>
            <a:ext cx="9756000" cy="79200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Ø"/>
            </a:pPr>
            <a:r>
              <a:rPr lang="ja-JP" altLang="en-US" sz="1400">
                <a:solidFill>
                  <a:schemeClr val="tx1"/>
                </a:solidFill>
                <a:latin typeface="+mn-ea"/>
                <a:cs typeface="Meiryo UI" panose="020B0604030504040204" pitchFamily="50" charset="-128"/>
              </a:rPr>
              <a:t>有形固定資産の取得、建設、開発または通常の使用によって生じ、</a:t>
            </a:r>
            <a:br>
              <a:rPr lang="en-US" altLang="ja-JP" sz="1400">
                <a:solidFill>
                  <a:schemeClr val="tx1"/>
                </a:solidFill>
                <a:latin typeface="+mn-ea"/>
                <a:cs typeface="Meiryo UI" panose="020B0604030504040204" pitchFamily="50" charset="-128"/>
              </a:rPr>
            </a:br>
            <a:r>
              <a:rPr lang="ja-JP" altLang="en-US" sz="1400">
                <a:solidFill>
                  <a:schemeClr val="tx1"/>
                </a:solidFill>
                <a:latin typeface="+mn-ea"/>
                <a:cs typeface="Meiryo UI" panose="020B0604030504040204" pitchFamily="50" charset="-128"/>
              </a:rPr>
              <a:t>当該有形固定資産の</a:t>
            </a:r>
            <a:r>
              <a:rPr lang="ja-JP" altLang="en-US" sz="1400" b="1" u="sng">
                <a:solidFill>
                  <a:srgbClr val="FF0000"/>
                </a:solidFill>
                <a:latin typeface="+mn-ea"/>
                <a:cs typeface="Meiryo UI" panose="020B0604030504040204" pitchFamily="50" charset="-128"/>
              </a:rPr>
              <a:t>除去に関して法令または契約で要求される法律上の義務</a:t>
            </a:r>
            <a:r>
              <a:rPr lang="ja-JP" altLang="en-US" sz="1400">
                <a:solidFill>
                  <a:schemeClr val="tx1"/>
                </a:solidFill>
                <a:latin typeface="+mn-ea"/>
                <a:cs typeface="Meiryo UI" panose="020B0604030504040204" pitchFamily="50" charset="-128"/>
              </a:rPr>
              <a:t>およびそれに準ずるもの</a:t>
            </a:r>
            <a:endParaRPr lang="en-US" altLang="ja-JP" sz="1400">
              <a:solidFill>
                <a:schemeClr val="tx1"/>
              </a:solidFill>
              <a:latin typeface="+mn-ea"/>
              <a:cs typeface="Meiryo UI" panose="020B0604030504040204" pitchFamily="50" charset="-128"/>
            </a:endParaRPr>
          </a:p>
          <a:p>
            <a:pPr marL="285750" indent="-285750">
              <a:buFont typeface="Wingdings" panose="05000000000000000000" pitchFamily="2" charset="2"/>
              <a:buChar char="Ø"/>
            </a:pPr>
            <a:r>
              <a:rPr lang="ja-JP" altLang="en-US" sz="1400">
                <a:solidFill>
                  <a:schemeClr val="tx1"/>
                </a:solidFill>
                <a:latin typeface="+mn-ea"/>
                <a:cs typeface="Meiryo UI" panose="020B0604030504040204" pitchFamily="50" charset="-128"/>
              </a:rPr>
              <a:t>固定資産の除去に関する</a:t>
            </a:r>
            <a:r>
              <a:rPr lang="ja-JP" altLang="en-US" sz="1400" b="1" u="sng">
                <a:solidFill>
                  <a:srgbClr val="FF0000"/>
                </a:solidFill>
                <a:latin typeface="+mn-ea"/>
                <a:cs typeface="Meiryo UI" panose="020B0604030504040204" pitchFamily="50" charset="-128"/>
              </a:rPr>
              <a:t>将来の負担を財務諸表に反映させる</a:t>
            </a:r>
            <a:r>
              <a:rPr lang="ja-JP" altLang="en-US" sz="1400">
                <a:solidFill>
                  <a:schemeClr val="tx1"/>
                </a:solidFill>
                <a:latin typeface="+mn-ea"/>
                <a:cs typeface="Meiryo UI" panose="020B0604030504040204" pitchFamily="50" charset="-128"/>
              </a:rPr>
              <a:t>ために資産除去債務の計上が求められている</a:t>
            </a:r>
          </a:p>
        </p:txBody>
      </p:sp>
      <p:sp>
        <p:nvSpPr>
          <p:cNvPr id="38" name="Rectangle 22">
            <a:extLst>
              <a:ext uri="{FF2B5EF4-FFF2-40B4-BE49-F238E27FC236}">
                <a16:creationId xmlns:a16="http://schemas.microsoft.com/office/drawing/2014/main" id="{FCFD43B5-B936-DA73-D36C-902BA11E6D95}"/>
              </a:ext>
            </a:extLst>
          </p:cNvPr>
          <p:cNvSpPr>
            <a:spLocks noChangeArrowheads="1"/>
          </p:cNvSpPr>
          <p:nvPr/>
        </p:nvSpPr>
        <p:spPr bwMode="gray">
          <a:xfrm>
            <a:off x="375000" y="2373693"/>
            <a:ext cx="1872000" cy="791999"/>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lang="ja-JP" altLang="en-US" sz="1400" b="1">
                <a:solidFill>
                  <a:schemeClr val="bg1"/>
                </a:solidFill>
              </a:rPr>
              <a:t>資産除去債務とは</a:t>
            </a:r>
            <a:endParaRPr kumimoji="1" lang="en-US" altLang="ja-JP" sz="1400" b="1">
              <a:solidFill>
                <a:schemeClr val="bg1"/>
              </a:solidFill>
            </a:endParaRPr>
          </a:p>
        </p:txBody>
      </p:sp>
      <p:sp>
        <p:nvSpPr>
          <p:cNvPr id="41" name="Rectangle 22">
            <a:extLst>
              <a:ext uri="{FF2B5EF4-FFF2-40B4-BE49-F238E27FC236}">
                <a16:creationId xmlns:a16="http://schemas.microsoft.com/office/drawing/2014/main" id="{291A5E6A-1AD2-6CFF-EB2E-86A1818D9D97}"/>
              </a:ext>
            </a:extLst>
          </p:cNvPr>
          <p:cNvSpPr>
            <a:spLocks noChangeArrowheads="1"/>
          </p:cNvSpPr>
          <p:nvPr/>
        </p:nvSpPr>
        <p:spPr bwMode="gray">
          <a:xfrm>
            <a:off x="375000" y="3282757"/>
            <a:ext cx="1872000" cy="854303"/>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spcBef>
                <a:spcPts val="331"/>
              </a:spcBef>
            </a:pPr>
            <a:r>
              <a:rPr lang="ja-JP" altLang="en-US" sz="1400" b="1">
                <a:solidFill>
                  <a:schemeClr val="bg1"/>
                </a:solidFill>
              </a:rPr>
              <a:t>資産除去債務の</a:t>
            </a:r>
            <a:br>
              <a:rPr lang="en-US" altLang="ja-JP" sz="1400" b="1">
                <a:solidFill>
                  <a:schemeClr val="bg1"/>
                </a:solidFill>
              </a:rPr>
            </a:br>
            <a:r>
              <a:rPr lang="ja-JP" altLang="en-US" sz="1400" b="1">
                <a:solidFill>
                  <a:schemeClr val="bg1"/>
                </a:solidFill>
              </a:rPr>
              <a:t>計上が必要となる例</a:t>
            </a:r>
            <a:endParaRPr kumimoji="1" lang="en-US" altLang="ja-JP" sz="1400" b="1">
              <a:solidFill>
                <a:schemeClr val="bg1"/>
              </a:solidFill>
            </a:endParaRPr>
          </a:p>
        </p:txBody>
      </p:sp>
      <p:sp>
        <p:nvSpPr>
          <p:cNvPr id="42" name="正方形/長方形 41">
            <a:extLst>
              <a:ext uri="{FF2B5EF4-FFF2-40B4-BE49-F238E27FC236}">
                <a16:creationId xmlns:a16="http://schemas.microsoft.com/office/drawing/2014/main" id="{D5E7B93F-13F4-CD3F-F360-F6D8C1246716}"/>
              </a:ext>
            </a:extLst>
          </p:cNvPr>
          <p:cNvSpPr/>
          <p:nvPr/>
        </p:nvSpPr>
        <p:spPr>
          <a:xfrm>
            <a:off x="2260894" y="3282757"/>
            <a:ext cx="9756000" cy="854303"/>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eaLnBrk="1" hangingPunct="1">
              <a:buFont typeface="Wingdings" panose="05000000000000000000" pitchFamily="2" charset="2"/>
              <a:buChar char="Ø"/>
            </a:pPr>
            <a:r>
              <a:rPr lang="ja-JP" altLang="en-US" sz="1400">
                <a:solidFill>
                  <a:schemeClr val="tx1"/>
                </a:solidFill>
                <a:latin typeface="+mn-ea"/>
                <a:cs typeface="Meiryo UI" panose="020B0604030504040204" pitchFamily="50" charset="-128"/>
              </a:rPr>
              <a:t>アスベスト（石綿）の除去費用、土壌汚染対策法に基づく浄化費用</a:t>
            </a:r>
            <a:endParaRPr lang="en-US" altLang="ja-JP" sz="14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400" b="1" u="sng">
                <a:solidFill>
                  <a:srgbClr val="FF0000"/>
                </a:solidFill>
                <a:latin typeface="+mn-ea"/>
                <a:cs typeface="Meiryo UI" panose="020B0604030504040204" pitchFamily="50" charset="-128"/>
              </a:rPr>
              <a:t>客先オンサイト設備やグループ外からの借地上の建屋の除却・退去時に伴う原状回復費用</a:t>
            </a:r>
            <a:endParaRPr lang="en-US" altLang="ja-JP" sz="1400" b="1" u="sng">
              <a:solidFill>
                <a:srgbClr val="FF0000"/>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400">
                <a:solidFill>
                  <a:schemeClr val="tx1"/>
                </a:solidFill>
                <a:latin typeface="+mn-ea"/>
                <a:cs typeface="Meiryo UI" panose="020B0604030504040204" pitchFamily="50" charset="-128"/>
              </a:rPr>
              <a:t>定期借地権契約終了後の更地返還費用</a:t>
            </a:r>
          </a:p>
        </p:txBody>
      </p:sp>
      <p:sp>
        <p:nvSpPr>
          <p:cNvPr id="43" name="Rectangle 22">
            <a:extLst>
              <a:ext uri="{FF2B5EF4-FFF2-40B4-BE49-F238E27FC236}">
                <a16:creationId xmlns:a16="http://schemas.microsoft.com/office/drawing/2014/main" id="{4A1A500D-BAE6-0392-8E2C-F44E250C5D87}"/>
              </a:ext>
            </a:extLst>
          </p:cNvPr>
          <p:cNvSpPr>
            <a:spLocks noChangeArrowheads="1"/>
          </p:cNvSpPr>
          <p:nvPr/>
        </p:nvSpPr>
        <p:spPr bwMode="gray">
          <a:xfrm>
            <a:off x="375000" y="4254124"/>
            <a:ext cx="1872000" cy="2238367"/>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spcBef>
                <a:spcPts val="331"/>
              </a:spcBef>
            </a:pPr>
            <a:r>
              <a:rPr lang="ja-JP" altLang="en-US" sz="1400" b="1">
                <a:solidFill>
                  <a:schemeClr val="bg1"/>
                </a:solidFill>
              </a:rPr>
              <a:t>資産除去債務の算定に必要な作業・情報</a:t>
            </a:r>
            <a:endParaRPr kumimoji="1" lang="en-US" altLang="ja-JP" sz="1400" b="1">
              <a:solidFill>
                <a:schemeClr val="bg1"/>
              </a:solidFill>
            </a:endParaRPr>
          </a:p>
        </p:txBody>
      </p:sp>
      <p:sp>
        <p:nvSpPr>
          <p:cNvPr id="44" name="正方形/長方形 43">
            <a:extLst>
              <a:ext uri="{FF2B5EF4-FFF2-40B4-BE49-F238E27FC236}">
                <a16:creationId xmlns:a16="http://schemas.microsoft.com/office/drawing/2014/main" id="{7969E45B-56F7-698E-53F6-FEFBB877AC2A}"/>
              </a:ext>
            </a:extLst>
          </p:cNvPr>
          <p:cNvSpPr/>
          <p:nvPr/>
        </p:nvSpPr>
        <p:spPr>
          <a:xfrm>
            <a:off x="2260894" y="4254124"/>
            <a:ext cx="9756000" cy="2238367"/>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eaLnBrk="1" hangingPunct="1">
              <a:buFont typeface="+mj-ea"/>
              <a:buAutoNum type="circleNumDbPlain"/>
            </a:pPr>
            <a:r>
              <a:rPr lang="ja-JP" altLang="en-US" sz="1400">
                <a:solidFill>
                  <a:schemeClr val="tx1"/>
                </a:solidFill>
                <a:latin typeface="+mn-ea"/>
                <a:cs typeface="Meiryo UI" panose="020B0604030504040204" pitchFamily="50" charset="-128"/>
              </a:rPr>
              <a:t>以下情報を基礎とする、割引前の将来キャッシュ・フローの見積り</a:t>
            </a:r>
          </a:p>
          <a:p>
            <a:pPr marL="342900" indent="-342900" eaLnBrk="1" hangingPunct="1">
              <a:buFont typeface="+mj-lt"/>
              <a:buAutoNum type="alphaLcPeriod"/>
            </a:pPr>
            <a:r>
              <a:rPr lang="ja-JP" altLang="en-US" sz="1400">
                <a:solidFill>
                  <a:schemeClr val="tx1"/>
                </a:solidFill>
                <a:latin typeface="+mn-ea"/>
                <a:cs typeface="Meiryo UI" panose="020B0604030504040204" pitchFamily="50" charset="-128"/>
              </a:rPr>
              <a:t>対象となる有形固定資産の除去に必要な</a:t>
            </a:r>
            <a:r>
              <a:rPr lang="ja-JP" altLang="en-US" sz="1400" b="1" u="sng">
                <a:solidFill>
                  <a:srgbClr val="FF0000"/>
                </a:solidFill>
                <a:latin typeface="+mn-ea"/>
                <a:cs typeface="Meiryo UI" panose="020B0604030504040204" pitchFamily="50" charset="-128"/>
              </a:rPr>
              <a:t>平均的な処理作業に対する価格の見積もり</a:t>
            </a:r>
            <a:endParaRPr lang="en-US" altLang="ja-JP" sz="1400" b="1" u="sng">
              <a:solidFill>
                <a:srgbClr val="FF0000"/>
              </a:solidFill>
              <a:latin typeface="+mn-ea"/>
              <a:cs typeface="Meiryo UI" panose="020B0604030504040204" pitchFamily="50" charset="-128"/>
            </a:endParaRPr>
          </a:p>
          <a:p>
            <a:pPr marL="342900" indent="-342900" eaLnBrk="1" hangingPunct="1">
              <a:buFont typeface="+mj-lt"/>
              <a:buAutoNum type="alphaLcPeriod"/>
            </a:pPr>
            <a:r>
              <a:rPr lang="ja-JP" altLang="en-US" sz="1400">
                <a:solidFill>
                  <a:schemeClr val="tx1"/>
                </a:solidFill>
                <a:latin typeface="+mn-ea"/>
                <a:cs typeface="Meiryo UI" panose="020B0604030504040204" pitchFamily="50" charset="-128"/>
              </a:rPr>
              <a:t>対象となる有形固定資産を取得した際に、取引価額から控除された当該資産に係る除去費用の算定の基礎となった数値</a:t>
            </a:r>
            <a:endParaRPr lang="en-US" altLang="ja-JP" sz="1400">
              <a:solidFill>
                <a:schemeClr val="tx1"/>
              </a:solidFill>
              <a:latin typeface="+mn-ea"/>
              <a:cs typeface="Meiryo UI" panose="020B0604030504040204" pitchFamily="50" charset="-128"/>
            </a:endParaRPr>
          </a:p>
          <a:p>
            <a:pPr marL="342900" indent="-342900" eaLnBrk="1" hangingPunct="1">
              <a:buFont typeface="+mj-lt"/>
              <a:buAutoNum type="alphaLcPeriod"/>
            </a:pPr>
            <a:r>
              <a:rPr lang="ja-JP" altLang="en-US" sz="1400" b="1" u="sng">
                <a:solidFill>
                  <a:srgbClr val="FF0000"/>
                </a:solidFill>
                <a:latin typeface="+mn-ea"/>
                <a:cs typeface="Meiryo UI" panose="020B0604030504040204" pitchFamily="50" charset="-128"/>
              </a:rPr>
              <a:t>過去において類似の資産について発生した除去費用の実績</a:t>
            </a:r>
            <a:endParaRPr lang="en-US" altLang="ja-JP" sz="1400" b="1" u="sng">
              <a:solidFill>
                <a:srgbClr val="FF0000"/>
              </a:solidFill>
              <a:latin typeface="+mn-ea"/>
              <a:cs typeface="Meiryo UI" panose="020B0604030504040204" pitchFamily="50" charset="-128"/>
            </a:endParaRPr>
          </a:p>
          <a:p>
            <a:pPr marL="342900" indent="-342900" eaLnBrk="1" hangingPunct="1">
              <a:buFont typeface="+mj-lt"/>
              <a:buAutoNum type="alphaLcPeriod"/>
            </a:pPr>
            <a:r>
              <a:rPr lang="ja-JP" altLang="en-US" sz="1400">
                <a:solidFill>
                  <a:schemeClr val="tx1"/>
                </a:solidFill>
                <a:latin typeface="+mn-ea"/>
                <a:cs typeface="Meiryo UI" panose="020B0604030504040204" pitchFamily="50" charset="-128"/>
              </a:rPr>
              <a:t>当該有形固定資産への投資の意思決定を行う際に見積もられた除去費用</a:t>
            </a:r>
            <a:endParaRPr lang="en-US" altLang="ja-JP" sz="1400">
              <a:solidFill>
                <a:schemeClr val="tx1"/>
              </a:solidFill>
              <a:latin typeface="+mn-ea"/>
              <a:cs typeface="Meiryo UI" panose="020B0604030504040204" pitchFamily="50" charset="-128"/>
            </a:endParaRPr>
          </a:p>
          <a:p>
            <a:pPr marL="342900" indent="-342900" eaLnBrk="1" hangingPunct="1">
              <a:buFont typeface="+mj-lt"/>
              <a:buAutoNum type="alphaLcPeriod"/>
            </a:pPr>
            <a:r>
              <a:rPr lang="ja-JP" altLang="en-US" sz="1400">
                <a:solidFill>
                  <a:schemeClr val="tx1"/>
                </a:solidFill>
                <a:latin typeface="+mn-ea"/>
                <a:cs typeface="Meiryo UI" panose="020B0604030504040204" pitchFamily="50" charset="-128"/>
              </a:rPr>
              <a:t>有形固定資産の除去に係る用役（除去サービス）を行う業者など第三者からの情報</a:t>
            </a:r>
            <a:endParaRPr lang="en-US" altLang="ja-JP" sz="1400">
              <a:solidFill>
                <a:schemeClr val="tx1"/>
              </a:solidFill>
              <a:latin typeface="+mn-ea"/>
              <a:cs typeface="Meiryo UI" panose="020B0604030504040204" pitchFamily="50" charset="-128"/>
            </a:endParaRPr>
          </a:p>
          <a:p>
            <a:pPr eaLnBrk="1" hangingPunct="1"/>
            <a:endParaRPr lang="en-US" altLang="ja-JP" sz="1400">
              <a:solidFill>
                <a:schemeClr val="tx1"/>
              </a:solidFill>
              <a:latin typeface="+mn-ea"/>
              <a:cs typeface="Meiryo UI" panose="020B0604030504040204" pitchFamily="50" charset="-128"/>
            </a:endParaRPr>
          </a:p>
          <a:p>
            <a:pPr marL="342900" indent="-342900" eaLnBrk="1" hangingPunct="1">
              <a:buFont typeface="+mj-ea"/>
              <a:buAutoNum type="circleNumDbPlain" startAt="2"/>
            </a:pPr>
            <a:r>
              <a:rPr lang="ja-JP" altLang="en-US" sz="1400">
                <a:solidFill>
                  <a:schemeClr val="tx1"/>
                </a:solidFill>
                <a:latin typeface="+mn-ea"/>
                <a:cs typeface="Meiryo UI" panose="020B0604030504040204" pitchFamily="50" charset="-128"/>
              </a:rPr>
              <a:t>①で見積もった金額を現在の価値に割り引くために、「割引率」を設定。</a:t>
            </a:r>
            <a:br>
              <a:rPr lang="en-US" altLang="ja-JP" sz="1400">
                <a:solidFill>
                  <a:schemeClr val="tx1"/>
                </a:solidFill>
                <a:latin typeface="+mn-ea"/>
                <a:cs typeface="Meiryo UI" panose="020B0604030504040204" pitchFamily="50" charset="-128"/>
              </a:rPr>
            </a:br>
            <a:r>
              <a:rPr lang="ja-JP" altLang="en-US" sz="1400">
                <a:solidFill>
                  <a:schemeClr val="tx1"/>
                </a:solidFill>
                <a:latin typeface="+mn-ea"/>
                <a:cs typeface="Meiryo UI" panose="020B0604030504040204" pitchFamily="50" charset="-128"/>
              </a:rPr>
              <a:t>原則として、「貨幣の時間価値を反映した無リスクの税引前利回り」を用いる</a:t>
            </a:r>
          </a:p>
        </p:txBody>
      </p:sp>
      <p:sp>
        <p:nvSpPr>
          <p:cNvPr id="2" name="正方形/長方形 1">
            <a:extLst>
              <a:ext uri="{FF2B5EF4-FFF2-40B4-BE49-F238E27FC236}">
                <a16:creationId xmlns:a16="http://schemas.microsoft.com/office/drawing/2014/main" id="{835E3C74-32F3-C28E-2F88-646088C3C3B9}"/>
              </a:ext>
            </a:extLst>
          </p:cNvPr>
          <p:cNvSpPr/>
          <p:nvPr/>
        </p:nvSpPr>
        <p:spPr>
          <a:xfrm>
            <a:off x="8567530" y="179669"/>
            <a:ext cx="1600201" cy="598841"/>
          </a:xfrm>
          <a:prstGeom prst="rect">
            <a:avLst/>
          </a:prstGeom>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説明会資料</a:t>
            </a:r>
            <a:endParaRPr lang="en-US" altLang="ja-JP">
              <a:solidFill>
                <a:srgbClr val="FFFFFF"/>
              </a:solidFill>
              <a:latin typeface="+mn-ea"/>
            </a:endParaRPr>
          </a:p>
          <a:p>
            <a:pPr marL="0" marR="0" indent="0" algn="ctr" defTabSz="914400" rtl="0" eaLnBrk="1" fontAlgn="auto" latinLnBrk="0" hangingPunct="1">
              <a:lnSpc>
                <a:spcPct val="100000"/>
              </a:lnSpc>
              <a:spcBef>
                <a:spcPts val="0"/>
              </a:spcBef>
              <a:spcAft>
                <a:spcPts val="0"/>
              </a:spcAft>
              <a:buClrTx/>
              <a:buSzTx/>
              <a:buFontTx/>
              <a:buNone/>
              <a:tabLst/>
            </a:pPr>
            <a:r>
              <a:rPr lang="ja-JP" altLang="en-US">
                <a:solidFill>
                  <a:srgbClr val="FFFFFF"/>
                </a:solidFill>
                <a:latin typeface="+mn-ea"/>
              </a:rPr>
              <a:t>より再掲</a:t>
            </a:r>
            <a:endParaRPr kumimoji="1" lang="ja-JP" altLang="en-US" sz="1800" b="0" i="0" u="none" strike="noStrike" kern="1200" cap="none" spc="0" normalizeH="0" baseline="0" noProof="0">
              <a:ln>
                <a:noFill/>
              </a:ln>
              <a:solidFill>
                <a:srgbClr val="FFFFFF"/>
              </a:solidFill>
              <a:effectLst/>
              <a:uLnTx/>
              <a:uFillTx/>
              <a:latin typeface="+mn-ea"/>
              <a:cs typeface="+mn-cs"/>
            </a:endParaRPr>
          </a:p>
        </p:txBody>
      </p:sp>
    </p:spTree>
    <p:extLst>
      <p:ext uri="{BB962C8B-B14F-4D97-AF65-F5344CB8AC3E}">
        <p14:creationId xmlns:p14="http://schemas.microsoft.com/office/powerpoint/2010/main" val="43248710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プレースホルダー 3">
            <a:extLst>
              <a:ext uri="{FF2B5EF4-FFF2-40B4-BE49-F238E27FC236}">
                <a16:creationId xmlns:a16="http://schemas.microsoft.com/office/drawing/2014/main" id="{0C7341F6-6BFD-803B-1094-C134B5F3A22D}"/>
              </a:ext>
            </a:extLst>
          </p:cNvPr>
          <p:cNvSpPr txBox="1">
            <a:spLocks/>
          </p:cNvSpPr>
          <p:nvPr/>
        </p:nvSpPr>
        <p:spPr>
          <a:xfrm>
            <a:off x="659995" y="919865"/>
            <a:ext cx="11268000" cy="692373"/>
          </a:xfrm>
          <a:prstGeom prst="rect">
            <a:avLst/>
          </a:prstGeom>
        </p:spPr>
        <p:txBody>
          <a:bodyPr vert="horz" lIns="91440" tIns="45720" rIns="91440" bIns="45720" rtlCol="0" anchor="ctr">
            <a:noAutofit/>
          </a:bodyPr>
          <a:lstStyle>
            <a:lvl1pPr marL="0" indent="0" algn="l" defTabSz="914400" rtl="0" eaLnBrk="1" latinLnBrk="0" hangingPunct="1">
              <a:lnSpc>
                <a:spcPct val="120000"/>
              </a:lnSpc>
              <a:spcBef>
                <a:spcPts val="1000"/>
              </a:spcBef>
              <a:buFont typeface="Arial" panose="020B0604020202020204" pitchFamily="34" charset="0"/>
              <a:buNone/>
              <a:defRPr kumimoji="1" sz="2000" b="1" kern="1200" spc="110" baseline="0">
                <a:solidFill>
                  <a:srgbClr val="22237D"/>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1800" b="0"/>
              <a:t>資産除去債務の計上にあたり、従前は計上ルールが明確でなかったことから、計上対象を明確化しました。</a:t>
            </a:r>
          </a:p>
        </p:txBody>
      </p:sp>
      <p:sp>
        <p:nvSpPr>
          <p:cNvPr id="11" name="タイトル 2">
            <a:extLst>
              <a:ext uri="{FF2B5EF4-FFF2-40B4-BE49-F238E27FC236}">
                <a16:creationId xmlns:a16="http://schemas.microsoft.com/office/drawing/2014/main" id="{5848262D-DB67-A97D-C636-652165FAFAFB}"/>
              </a:ext>
            </a:extLst>
          </p:cNvPr>
          <p:cNvSpPr>
            <a:spLocks noGrp="1"/>
          </p:cNvSpPr>
          <p:nvPr>
            <p:ph type="title"/>
          </p:nvPr>
        </p:nvSpPr>
        <p:spPr>
          <a:xfrm>
            <a:off x="660000" y="365508"/>
            <a:ext cx="5610171" cy="371961"/>
          </a:xfrm>
        </p:spPr>
        <p:txBody>
          <a:bodyPr>
            <a:normAutofit/>
          </a:bodyPr>
          <a:lstStyle/>
          <a:p>
            <a:r>
              <a:rPr lang="en-US" altLang="ja-JP"/>
              <a:t>3-15.</a:t>
            </a:r>
            <a:r>
              <a:rPr lang="ja-JP" altLang="en-US"/>
              <a:t>資産除去債務の計上漏れ</a:t>
            </a:r>
            <a:endParaRPr lang="ja-JP" altLang="en-US">
              <a:cs typeface="Segoe UI"/>
            </a:endParaRPr>
          </a:p>
        </p:txBody>
      </p:sp>
      <p:sp>
        <p:nvSpPr>
          <p:cNvPr id="12" name="正方形/長方形 11">
            <a:extLst>
              <a:ext uri="{FF2B5EF4-FFF2-40B4-BE49-F238E27FC236}">
                <a16:creationId xmlns:a16="http://schemas.microsoft.com/office/drawing/2014/main" id="{5E0762E7-B014-56F9-38B8-635F2CE4F440}"/>
              </a:ext>
            </a:extLst>
          </p:cNvPr>
          <p:cNvSpPr/>
          <p:nvPr/>
        </p:nvSpPr>
        <p:spPr bwMode="gray">
          <a:xfrm>
            <a:off x="2127658" y="1723174"/>
            <a:ext cx="9720000" cy="533453"/>
          </a:xfrm>
          <a:prstGeom prst="rect">
            <a:avLst/>
          </a:prstGeom>
          <a:solidFill>
            <a:schemeClr val="bg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285750" indent="-195263" defTabSz="990589">
              <a:spcBef>
                <a:spcPts val="300"/>
              </a:spcBef>
              <a:buSzPct val="100000"/>
              <a:buFont typeface="Wingdings" panose="05000000000000000000" pitchFamily="2" charset="2"/>
              <a:buChar char="Ø"/>
            </a:pPr>
            <a:r>
              <a:rPr lang="ja-JP" altLang="en-US" sz="1400">
                <a:solidFill>
                  <a:prstClr val="black"/>
                </a:solidFill>
                <a:latin typeface="+mn-ea"/>
              </a:rPr>
              <a:t>費用負担が発生しないと明確に想定される場合を除き、全額を</a:t>
            </a:r>
            <a:r>
              <a:rPr lang="en-US" altLang="ja-JP" sz="1400">
                <a:solidFill>
                  <a:prstClr val="black"/>
                </a:solidFill>
                <a:latin typeface="+mn-ea"/>
              </a:rPr>
              <a:t>AW</a:t>
            </a:r>
            <a:r>
              <a:rPr lang="ja-JP" altLang="en-US" sz="1400">
                <a:solidFill>
                  <a:prstClr val="black"/>
                </a:solidFill>
                <a:latin typeface="+mn-ea"/>
              </a:rPr>
              <a:t>グループ負担として資産除去債務の計上対象とする。</a:t>
            </a:r>
            <a:endParaRPr lang="en-US" altLang="ja-JP" sz="1400">
              <a:solidFill>
                <a:prstClr val="black"/>
              </a:solidFill>
              <a:latin typeface="+mn-ea"/>
            </a:endParaRPr>
          </a:p>
        </p:txBody>
      </p:sp>
      <p:sp>
        <p:nvSpPr>
          <p:cNvPr id="13" name="正方形/長方形 12">
            <a:extLst>
              <a:ext uri="{FF2B5EF4-FFF2-40B4-BE49-F238E27FC236}">
                <a16:creationId xmlns:a16="http://schemas.microsoft.com/office/drawing/2014/main" id="{9AD033D3-A812-7760-DD21-B31D40A5B473}"/>
              </a:ext>
            </a:extLst>
          </p:cNvPr>
          <p:cNvSpPr/>
          <p:nvPr/>
        </p:nvSpPr>
        <p:spPr bwMode="gray">
          <a:xfrm>
            <a:off x="507602" y="1723174"/>
            <a:ext cx="1260000" cy="533453"/>
          </a:xfrm>
          <a:prstGeom prst="rect">
            <a:avLst/>
          </a:prstGeom>
          <a:solidFill>
            <a:schemeClr val="accent1"/>
          </a:solidFill>
          <a:ln w="9525" algn="ctr">
            <a:solidFill>
              <a:schemeClr val="tx2"/>
            </a:solidFill>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90589">
              <a:spcBef>
                <a:spcPts val="300"/>
              </a:spcBef>
              <a:buSzPct val="100000"/>
            </a:pPr>
            <a:r>
              <a:rPr lang="ja-JP" altLang="en-US" sz="1400" b="1">
                <a:solidFill>
                  <a:schemeClr val="bg1"/>
                </a:solidFill>
                <a:latin typeface="+mn-ea"/>
              </a:rPr>
              <a:t>ベースの考え方</a:t>
            </a:r>
            <a:endParaRPr lang="en-US" altLang="ja-JP" sz="1400" b="1">
              <a:solidFill>
                <a:schemeClr val="bg1"/>
              </a:solidFill>
              <a:latin typeface="+mn-ea"/>
            </a:endParaRPr>
          </a:p>
        </p:txBody>
      </p:sp>
      <p:sp>
        <p:nvSpPr>
          <p:cNvPr id="37" name="正方形/長方形 36">
            <a:extLst>
              <a:ext uri="{FF2B5EF4-FFF2-40B4-BE49-F238E27FC236}">
                <a16:creationId xmlns:a16="http://schemas.microsoft.com/office/drawing/2014/main" id="{490F625C-8F8B-2E0F-28F4-5575C4ABA05F}"/>
              </a:ext>
            </a:extLst>
          </p:cNvPr>
          <p:cNvSpPr/>
          <p:nvPr/>
        </p:nvSpPr>
        <p:spPr>
          <a:xfrm>
            <a:off x="2260894" y="2597944"/>
            <a:ext cx="9756000" cy="1060834"/>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a:solidFill>
                  <a:schemeClr val="tx1"/>
                </a:solidFill>
                <a:latin typeface="+mn-ea"/>
                <a:cs typeface="Meiryo UI" panose="020B0604030504040204" pitchFamily="50" charset="-128"/>
              </a:rPr>
              <a:t>①オンサイト設備、②借地上の当社建物等及び③賃借物件について、</a:t>
            </a:r>
            <a:r>
              <a:rPr lang="ja-JP" altLang="en-US" sz="1400" b="1" u="sng">
                <a:solidFill>
                  <a:srgbClr val="FF0000"/>
                </a:solidFill>
                <a:latin typeface="+mn-ea"/>
                <a:cs typeface="Meiryo UI" panose="020B0604030504040204" pitchFamily="50" charset="-128"/>
              </a:rPr>
              <a:t>次のいずれかに該当する場合</a:t>
            </a:r>
            <a:endParaRPr lang="en-US" altLang="ja-JP" sz="1400" b="1" u="sng">
              <a:solidFill>
                <a:srgbClr val="FF0000"/>
              </a:solidFill>
              <a:latin typeface="+mn-ea"/>
              <a:cs typeface="Meiryo UI" panose="020B0604030504040204" pitchFamily="50" charset="-128"/>
            </a:endParaRPr>
          </a:p>
          <a:p>
            <a:pPr marL="285750" indent="-285750">
              <a:buFont typeface="Wingdings" panose="05000000000000000000" pitchFamily="2" charset="2"/>
              <a:buChar char="Ø"/>
            </a:pPr>
            <a:r>
              <a:rPr lang="ja-JP" altLang="en-US" sz="1400">
                <a:solidFill>
                  <a:schemeClr val="tx1"/>
                </a:solidFill>
                <a:latin typeface="+mn-ea"/>
                <a:cs typeface="Meiryo UI" panose="020B0604030504040204" pitchFamily="50" charset="-128"/>
              </a:rPr>
              <a:t>契約により資産除去義務があるとされている場合</a:t>
            </a:r>
            <a:endParaRPr lang="en-US" altLang="ja-JP" sz="1400">
              <a:solidFill>
                <a:schemeClr val="tx1"/>
              </a:solidFill>
              <a:latin typeface="+mn-ea"/>
              <a:cs typeface="Meiryo UI" panose="020B0604030504040204" pitchFamily="50" charset="-128"/>
            </a:endParaRPr>
          </a:p>
          <a:p>
            <a:pPr marL="285750" indent="-285750">
              <a:buFont typeface="Wingdings" panose="05000000000000000000" pitchFamily="2" charset="2"/>
              <a:buChar char="Ø"/>
            </a:pPr>
            <a:r>
              <a:rPr lang="ja-JP" altLang="en-US" sz="1400">
                <a:solidFill>
                  <a:schemeClr val="tx1"/>
                </a:solidFill>
                <a:latin typeface="+mn-ea"/>
                <a:cs typeface="Meiryo UI" panose="020B0604030504040204" pitchFamily="50" charset="-128"/>
              </a:rPr>
              <a:t>設備の稼働または使用開始に伴い資産除去義務が発生する場合</a:t>
            </a:r>
            <a:endParaRPr lang="en-US" altLang="ja-JP" sz="1400">
              <a:solidFill>
                <a:schemeClr val="tx1"/>
              </a:solidFill>
              <a:latin typeface="+mn-ea"/>
              <a:cs typeface="Meiryo UI" panose="020B0604030504040204" pitchFamily="50" charset="-128"/>
            </a:endParaRPr>
          </a:p>
        </p:txBody>
      </p:sp>
      <p:sp>
        <p:nvSpPr>
          <p:cNvPr id="38" name="Rectangle 22">
            <a:extLst>
              <a:ext uri="{FF2B5EF4-FFF2-40B4-BE49-F238E27FC236}">
                <a16:creationId xmlns:a16="http://schemas.microsoft.com/office/drawing/2014/main" id="{FCFD43B5-B936-DA73-D36C-902BA11E6D95}"/>
              </a:ext>
            </a:extLst>
          </p:cNvPr>
          <p:cNvSpPr>
            <a:spLocks noChangeArrowheads="1"/>
          </p:cNvSpPr>
          <p:nvPr/>
        </p:nvSpPr>
        <p:spPr bwMode="gray">
          <a:xfrm>
            <a:off x="375000" y="2597943"/>
            <a:ext cx="1872000" cy="106083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400" b="1">
                <a:solidFill>
                  <a:schemeClr val="bg1"/>
                </a:solidFill>
              </a:rPr>
              <a:t>計上対象</a:t>
            </a:r>
            <a:endParaRPr kumimoji="1" lang="en-US" altLang="ja-JP" sz="1400" b="1">
              <a:solidFill>
                <a:schemeClr val="bg1"/>
              </a:solidFill>
            </a:endParaRPr>
          </a:p>
        </p:txBody>
      </p:sp>
      <p:sp>
        <p:nvSpPr>
          <p:cNvPr id="41" name="Rectangle 22">
            <a:extLst>
              <a:ext uri="{FF2B5EF4-FFF2-40B4-BE49-F238E27FC236}">
                <a16:creationId xmlns:a16="http://schemas.microsoft.com/office/drawing/2014/main" id="{291A5E6A-1AD2-6CFF-EB2E-86A1818D9D97}"/>
              </a:ext>
            </a:extLst>
          </p:cNvPr>
          <p:cNvSpPr>
            <a:spLocks noChangeArrowheads="1"/>
          </p:cNvSpPr>
          <p:nvPr/>
        </p:nvSpPr>
        <p:spPr bwMode="gray">
          <a:xfrm>
            <a:off x="375000" y="3800132"/>
            <a:ext cx="1872000" cy="1757020"/>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spcBef>
                <a:spcPts val="331"/>
              </a:spcBef>
            </a:pPr>
            <a:r>
              <a:rPr kumimoji="1" lang="ja-JP" altLang="en-US" sz="1400" b="1">
                <a:solidFill>
                  <a:schemeClr val="bg1"/>
                </a:solidFill>
              </a:rPr>
              <a:t>注意事項</a:t>
            </a:r>
            <a:endParaRPr kumimoji="1" lang="en-US" altLang="ja-JP" sz="1400" b="1">
              <a:solidFill>
                <a:schemeClr val="bg1"/>
              </a:solidFill>
            </a:endParaRPr>
          </a:p>
        </p:txBody>
      </p:sp>
      <p:sp>
        <p:nvSpPr>
          <p:cNvPr id="42" name="正方形/長方形 41">
            <a:extLst>
              <a:ext uri="{FF2B5EF4-FFF2-40B4-BE49-F238E27FC236}">
                <a16:creationId xmlns:a16="http://schemas.microsoft.com/office/drawing/2014/main" id="{D5E7B93F-13F4-CD3F-F360-F6D8C1246716}"/>
              </a:ext>
            </a:extLst>
          </p:cNvPr>
          <p:cNvSpPr/>
          <p:nvPr/>
        </p:nvSpPr>
        <p:spPr>
          <a:xfrm>
            <a:off x="2260894" y="3800132"/>
            <a:ext cx="9756000" cy="1757020"/>
          </a:xfrm>
          <a:prstGeom prst="rect">
            <a:avLst/>
          </a:prstGeom>
          <a:solidFill>
            <a:schemeClr val="bg1"/>
          </a:solidFill>
          <a:ln w="6350">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eaLnBrk="1" hangingPunct="1">
              <a:buFont typeface="Wingdings" panose="05000000000000000000" pitchFamily="2" charset="2"/>
              <a:buChar char="Ø"/>
            </a:pPr>
            <a:r>
              <a:rPr lang="ja-JP" altLang="en-US" sz="1400">
                <a:solidFill>
                  <a:schemeClr val="tx1"/>
                </a:solidFill>
                <a:latin typeface="+mn-ea"/>
                <a:cs typeface="Meiryo UI" panose="020B0604030504040204" pitchFamily="50" charset="-128"/>
              </a:rPr>
              <a:t>契約書で撤去義務がない旨が明確に規定されている場合を除き、</a:t>
            </a:r>
            <a:r>
              <a:rPr lang="ja-JP" altLang="en-US" sz="1400" b="1" u="sng">
                <a:solidFill>
                  <a:srgbClr val="FF0000"/>
                </a:solidFill>
                <a:latin typeface="+mn-ea"/>
                <a:cs typeface="Meiryo UI" panose="020B0604030504040204" pitchFamily="50" charset="-128"/>
              </a:rPr>
              <a:t>撤去義務があるものとみなします</a:t>
            </a:r>
            <a:r>
              <a:rPr lang="ja-JP" altLang="en-US" sz="1400">
                <a:solidFill>
                  <a:schemeClr val="tx1"/>
                </a:solidFill>
                <a:latin typeface="+mn-ea"/>
                <a:cs typeface="Meiryo UI" panose="020B0604030504040204" pitchFamily="50" charset="-128"/>
              </a:rPr>
              <a:t>。</a:t>
            </a:r>
            <a:endParaRPr lang="en-US" altLang="ja-JP" sz="14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400">
                <a:solidFill>
                  <a:schemeClr val="tx1"/>
                </a:solidFill>
                <a:latin typeface="+mn-ea"/>
                <a:cs typeface="Meiryo UI" panose="020B0604030504040204" pitchFamily="50" charset="-128"/>
              </a:rPr>
              <a:t>撤去費用の負担割合が契約書等で明確に規定されているときは、負担分のみを資産除去債務として計上します。</a:t>
            </a:r>
            <a:r>
              <a:rPr lang="ja-JP" altLang="en-US" sz="1400" b="1">
                <a:solidFill>
                  <a:srgbClr val="FF0000"/>
                </a:solidFill>
                <a:latin typeface="+mn-ea"/>
                <a:cs typeface="Meiryo UI" panose="020B0604030504040204" pitchFamily="50" charset="-128"/>
              </a:rPr>
              <a:t>負担割合が不明な場合は、全額を当社負担として資産除去債務を計上します</a:t>
            </a:r>
            <a:r>
              <a:rPr lang="ja-JP" altLang="en-US" sz="1400">
                <a:solidFill>
                  <a:schemeClr val="tx1"/>
                </a:solidFill>
                <a:latin typeface="+mn-ea"/>
                <a:cs typeface="Meiryo UI" panose="020B0604030504040204" pitchFamily="50" charset="-128"/>
              </a:rPr>
              <a:t>。</a:t>
            </a:r>
            <a:endParaRPr lang="en-US" altLang="ja-JP" sz="1400">
              <a:solidFill>
                <a:schemeClr val="tx1"/>
              </a:solidFill>
              <a:latin typeface="+mn-ea"/>
              <a:cs typeface="Meiryo UI" panose="020B0604030504040204" pitchFamily="50" charset="-128"/>
            </a:endParaRPr>
          </a:p>
          <a:p>
            <a:pPr marL="285750" indent="-285750" eaLnBrk="1" hangingPunct="1">
              <a:buFont typeface="Wingdings" panose="05000000000000000000" pitchFamily="2" charset="2"/>
              <a:buChar char="Ø"/>
            </a:pPr>
            <a:r>
              <a:rPr lang="ja-JP" altLang="en-US" sz="1400">
                <a:solidFill>
                  <a:schemeClr val="tx1"/>
                </a:solidFill>
                <a:latin typeface="+mn-ea"/>
                <a:cs typeface="Meiryo UI" panose="020B0604030504040204" pitchFamily="50" charset="-128"/>
              </a:rPr>
              <a:t>顧客都合の撤去については契約に顧客負担と明記があり、過去実績等の客観的根拠に基づき当社に実質的な撤去義務が発生しないと合理的に説明できる場合は、資産除去債務を計上しないことができます。</a:t>
            </a:r>
          </a:p>
        </p:txBody>
      </p:sp>
    </p:spTree>
    <p:extLst>
      <p:ext uri="{BB962C8B-B14F-4D97-AF65-F5344CB8AC3E}">
        <p14:creationId xmlns:p14="http://schemas.microsoft.com/office/powerpoint/2010/main" val="36740426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9C45-4744-06D0-253C-DE1CBE922BA9}"/>
            </a:ext>
          </a:extLst>
        </p:cNvPr>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EB85FCE-3824-6FBA-744D-FBAAF978D90C}"/>
              </a:ext>
            </a:extLst>
          </p:cNvPr>
          <p:cNvSpPr>
            <a:spLocks noGrp="1"/>
          </p:cNvSpPr>
          <p:nvPr>
            <p:ph type="body" sz="quarter" idx="12"/>
          </p:nvPr>
        </p:nvSpPr>
        <p:spPr>
          <a:xfrm>
            <a:off x="2042017" y="2749550"/>
            <a:ext cx="8129506" cy="1358900"/>
          </a:xfrm>
        </p:spPr>
        <p:txBody>
          <a:bodyPr/>
          <a:lstStyle/>
          <a:p>
            <a:r>
              <a:rPr lang="ja-JP" altLang="en-US"/>
              <a:t>収益認識基準５ステップの解説</a:t>
            </a:r>
            <a:endParaRPr kumimoji="1" lang="ja-JP" altLang="en-US"/>
          </a:p>
        </p:txBody>
      </p:sp>
      <p:sp>
        <p:nvSpPr>
          <p:cNvPr id="5" name="TextBox 4">
            <a:extLst>
              <a:ext uri="{FF2B5EF4-FFF2-40B4-BE49-F238E27FC236}">
                <a16:creationId xmlns:a16="http://schemas.microsoft.com/office/drawing/2014/main" id="{BB937BDE-2E46-14EF-D8C7-C474C9C36694}"/>
              </a:ext>
            </a:extLst>
          </p:cNvPr>
          <p:cNvSpPr txBox="1"/>
          <p:nvPr/>
        </p:nvSpPr>
        <p:spPr>
          <a:xfrm>
            <a:off x="495312" y="495041"/>
            <a:ext cx="4122603" cy="465384"/>
          </a:xfrm>
          <a:prstGeom prst="rect">
            <a:avLst/>
          </a:prstGeom>
          <a:noFill/>
          <a:ln>
            <a:noFill/>
          </a:ln>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a:lnSpc>
                <a:spcPct val="120000"/>
              </a:lnSpc>
            </a:pPr>
            <a:r>
              <a:rPr lang="ja-JP" altLang="en-US" sz="2800" b="1" spc="110">
                <a:cs typeface="Segoe UI"/>
              </a:rPr>
              <a:t>自主点検　補足参考資料</a:t>
            </a:r>
            <a:endParaRPr kumimoji="1" lang="en-US" sz="2800" b="1" spc="110" baseline="0"/>
          </a:p>
        </p:txBody>
      </p:sp>
      <p:sp>
        <p:nvSpPr>
          <p:cNvPr id="3" name="テキスト プレースホルダー 4">
            <a:extLst>
              <a:ext uri="{FF2B5EF4-FFF2-40B4-BE49-F238E27FC236}">
                <a16:creationId xmlns:a16="http://schemas.microsoft.com/office/drawing/2014/main" id="{CE577660-6AD2-05CC-630A-456FDDBD4731}"/>
              </a:ext>
            </a:extLst>
          </p:cNvPr>
          <p:cNvSpPr txBox="1">
            <a:spLocks/>
          </p:cNvSpPr>
          <p:nvPr/>
        </p:nvSpPr>
        <p:spPr bwMode="gray">
          <a:xfrm>
            <a:off x="8048368" y="5098964"/>
            <a:ext cx="3525794" cy="792000"/>
          </a:xfrm>
          <a:prstGeom prst="rect">
            <a:avLst/>
          </a:prstGeom>
        </p:spPr>
        <p:txBody>
          <a:bodyPr vert="horz" wrap="square" lIns="0" tIns="0" rIns="0" bIns="0" rtlCol="0" anchor="ctr">
            <a:noAutofit/>
          </a:bodyPr>
          <a:lstStyle>
            <a:lvl1pPr marL="0" marR="0" indent="0" algn="l" defTabSz="742923" rtl="0" eaLnBrk="1" fontAlgn="auto" latinLnBrk="0" hangingPunct="1">
              <a:lnSpc>
                <a:spcPct val="100000"/>
              </a:lnSpc>
              <a:spcBef>
                <a:spcPts val="0"/>
              </a:spcBef>
              <a:spcAft>
                <a:spcPts val="0"/>
              </a:spcAft>
              <a:buClrTx/>
              <a:buSzPct val="100000"/>
              <a:buFont typeface="Arial" panose="020B0604020202020204" pitchFamily="34" charset="0"/>
              <a:buNone/>
              <a:tabLst/>
              <a:defRPr kumimoji="1" sz="1200" b="1" kern="1200" baseline="0">
                <a:solidFill>
                  <a:schemeClr val="accent3"/>
                </a:solidFill>
                <a:latin typeface="+mn-lt"/>
                <a:ea typeface="+mn-ea"/>
                <a:cs typeface="+mn-cs"/>
                <a:sym typeface="+mn-lt"/>
              </a:defRPr>
            </a:lvl1pPr>
            <a:lvl2pPr marL="135000" marR="0" indent="-135000" algn="l" defTabSz="742923" rtl="0" eaLnBrk="1" fontAlgn="auto" latinLnBrk="0" hangingPunct="1">
              <a:lnSpc>
                <a:spcPct val="110000"/>
              </a:lnSpc>
              <a:spcBef>
                <a:spcPts val="450"/>
              </a:spcBef>
              <a:spcAft>
                <a:spcPts val="0"/>
              </a:spcAft>
              <a:buClrTx/>
              <a:buSzPct val="100000"/>
              <a:buFont typeface="Wingdings" panose="05000000000000000000" pitchFamily="2" charset="2"/>
              <a:buChar char="n"/>
              <a:tabLst/>
              <a:defRPr kumimoji="1" lang="en-US" sz="900" b="0" kern="1200" dirty="0" smtClean="0">
                <a:solidFill>
                  <a:schemeClr val="tx1"/>
                </a:solidFill>
                <a:latin typeface="+mn-lt"/>
                <a:ea typeface="+mn-ea"/>
                <a:cs typeface="+mn-cs"/>
                <a:sym typeface="+mn-lt"/>
              </a:defRPr>
            </a:lvl2pPr>
            <a:lvl3pPr marL="270000" marR="0" indent="-135000" algn="l" defTabSz="742923" rtl="0" eaLnBrk="1" fontAlgn="auto" latinLnBrk="0" hangingPunct="1">
              <a:lnSpc>
                <a:spcPct val="110000"/>
              </a:lnSpc>
              <a:spcBef>
                <a:spcPts val="450"/>
              </a:spcBef>
              <a:spcAft>
                <a:spcPts val="0"/>
              </a:spcAft>
              <a:buClrTx/>
              <a:buSzPct val="100000"/>
              <a:buFont typeface="Wingdings" panose="05000000000000000000" pitchFamily="2" charset="2"/>
              <a:buChar char="Ø"/>
              <a:tabLst/>
              <a:defRPr kumimoji="1" lang="en-US" sz="900" b="0" kern="1200" dirty="0" smtClean="0">
                <a:solidFill>
                  <a:schemeClr val="tx1"/>
                </a:solidFill>
                <a:latin typeface="+mn-lt"/>
                <a:ea typeface="+mn-ea"/>
                <a:cs typeface="+mn-cs"/>
                <a:sym typeface="+mn-lt"/>
              </a:defRPr>
            </a:lvl3pPr>
            <a:lvl4pPr marL="378000" marR="0" indent="-108000" algn="l" defTabSz="742923" rtl="0" eaLnBrk="1" fontAlgn="auto" latinLnBrk="0" hangingPunct="1">
              <a:lnSpc>
                <a:spcPct val="110000"/>
              </a:lnSpc>
              <a:spcBef>
                <a:spcPts val="450"/>
              </a:spcBef>
              <a:spcAft>
                <a:spcPts val="0"/>
              </a:spcAft>
              <a:buClrTx/>
              <a:buSzPct val="100000"/>
              <a:buFont typeface="Arial" panose="020B0604020202020204" pitchFamily="34" charset="0"/>
              <a:buChar char="•"/>
              <a:tabLst/>
              <a:defRPr kumimoji="1" lang="en-US" sz="900" b="0" kern="1200" baseline="0" dirty="0" smtClean="0">
                <a:solidFill>
                  <a:schemeClr val="tx1"/>
                </a:solidFill>
                <a:latin typeface="+mn-lt"/>
                <a:ea typeface="+mn-ea"/>
                <a:cs typeface="+mn-cs"/>
                <a:sym typeface="+mn-lt"/>
              </a:defRPr>
            </a:lvl4pPr>
            <a:lvl5pPr marL="513000" indent="-135000" algn="l" defTabSz="648768" rtl="0" eaLnBrk="1" latinLnBrk="0" hangingPunct="1">
              <a:lnSpc>
                <a:spcPct val="110000"/>
              </a:lnSpc>
              <a:spcBef>
                <a:spcPts val="450"/>
              </a:spcBef>
              <a:spcAft>
                <a:spcPts val="0"/>
              </a:spcAft>
              <a:buClrTx/>
              <a:buSzPct val="100000"/>
              <a:buFont typeface="Verdana" panose="020B0604030504040204" pitchFamily="34" charset="0"/>
              <a:buChar char="−"/>
              <a:tabLst/>
              <a:defRPr kumimoji="1" lang="en-US" sz="900" kern="1200" baseline="0" dirty="0" smtClean="0">
                <a:solidFill>
                  <a:schemeClr val="tx1"/>
                </a:solidFill>
                <a:latin typeface="+mn-lt"/>
                <a:ea typeface="+mn-ea"/>
                <a:cs typeface="+mn-cs"/>
              </a:defRPr>
            </a:lvl5pPr>
            <a:lvl6pPr marL="648000" indent="-135000" algn="l" defTabSz="742923" rtl="0" eaLnBrk="1" latinLnBrk="0" hangingPunct="1">
              <a:lnSpc>
                <a:spcPct val="110000"/>
              </a:lnSpc>
              <a:spcBef>
                <a:spcPts val="450"/>
              </a:spcBef>
              <a:spcAft>
                <a:spcPts val="0"/>
              </a:spcAft>
              <a:buFont typeface="Wingdings" panose="05000000000000000000" pitchFamily="2" charset="2"/>
              <a:buChar char="ü"/>
              <a:defRPr kumimoji="1" sz="900" kern="1200" baseline="0">
                <a:solidFill>
                  <a:schemeClr val="tx1"/>
                </a:solidFill>
                <a:latin typeface="+mn-lt"/>
                <a:ea typeface="+mn-ea"/>
                <a:cs typeface="+mn-cs"/>
              </a:defRPr>
            </a:lvl6pPr>
            <a:lvl7pPr marL="432884" indent="-143320" algn="l" defTabSz="742923" rtl="0" eaLnBrk="1" latinLnBrk="0" hangingPunct="1">
              <a:spcBef>
                <a:spcPts val="0"/>
              </a:spcBef>
              <a:spcAft>
                <a:spcPts val="812"/>
              </a:spcAft>
              <a:buFont typeface="Verdana" panose="020B0604030504040204" pitchFamily="34" charset="0"/>
              <a:buChar char="−"/>
              <a:defRPr kumimoji="1" sz="975" kern="1200">
                <a:solidFill>
                  <a:schemeClr val="tx1"/>
                </a:solidFill>
                <a:latin typeface="+mn-lt"/>
                <a:ea typeface="+mn-ea"/>
                <a:cs typeface="+mn-cs"/>
              </a:defRPr>
            </a:lvl7pPr>
            <a:lvl8pPr marL="432884" indent="-143320" algn="l" defTabSz="742923" rtl="0" eaLnBrk="1" latinLnBrk="0" hangingPunct="1">
              <a:spcBef>
                <a:spcPts val="0"/>
              </a:spcBef>
              <a:spcAft>
                <a:spcPts val="812"/>
              </a:spcAft>
              <a:buFont typeface="Verdana" panose="020B0604030504040204" pitchFamily="34" charset="0"/>
              <a:buChar char="−"/>
              <a:defRPr kumimoji="1" sz="975" kern="1200" baseline="0">
                <a:solidFill>
                  <a:schemeClr val="tx1"/>
                </a:solidFill>
                <a:latin typeface="+mn-lt"/>
                <a:ea typeface="+mn-ea"/>
                <a:cs typeface="+mn-cs"/>
              </a:defRPr>
            </a:lvl8pPr>
            <a:lvl9pPr marL="432884" indent="-143320" algn="l" defTabSz="742923" rtl="0" eaLnBrk="1" latinLnBrk="0" hangingPunct="1">
              <a:spcBef>
                <a:spcPts val="0"/>
              </a:spcBef>
              <a:spcAft>
                <a:spcPts val="812"/>
              </a:spcAft>
              <a:buFont typeface="Verdana" panose="020B0604030504040204" pitchFamily="34" charset="0"/>
              <a:buChar char="−"/>
              <a:defRPr kumimoji="1" sz="975" kern="1200" baseline="0">
                <a:solidFill>
                  <a:schemeClr val="tx1"/>
                </a:solidFill>
                <a:latin typeface="+mn-lt"/>
                <a:ea typeface="+mn-ea"/>
                <a:cs typeface="+mn-cs"/>
              </a:defRPr>
            </a:lvl9pPr>
          </a:lstStyle>
          <a:p>
            <a:r>
              <a:rPr lang="en-US" altLang="ja-JP" sz="1400" b="0">
                <a:solidFill>
                  <a:schemeClr val="tx1"/>
                </a:solidFill>
              </a:rPr>
              <a:t>AW</a:t>
            </a:r>
            <a:r>
              <a:rPr lang="ja-JP" altLang="en-US" sz="1400" b="0">
                <a:solidFill>
                  <a:schemeClr val="tx1"/>
                </a:solidFill>
              </a:rPr>
              <a:t>防災向け売上取引勉強会資料より抜粋</a:t>
            </a:r>
          </a:p>
        </p:txBody>
      </p:sp>
    </p:spTree>
    <p:extLst>
      <p:ext uri="{BB962C8B-B14F-4D97-AF65-F5344CB8AC3E}">
        <p14:creationId xmlns:p14="http://schemas.microsoft.com/office/powerpoint/2010/main" val="19960339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34B4C-4EDC-61C1-9AE5-EA9812FA806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A453B65-A965-3953-21B6-226336969E4B}"/>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収益認識基準ー全体像</a:t>
            </a:r>
            <a:r>
              <a:rPr lang="en-US" altLang="ja-JP"/>
              <a:t>(1/3)</a:t>
            </a:r>
            <a:r>
              <a:rPr lang="ja-JP" altLang="en-US"/>
              <a:t>ー</a:t>
            </a:r>
          </a:p>
        </p:txBody>
      </p:sp>
      <p:sp>
        <p:nvSpPr>
          <p:cNvPr id="5" name="テキスト プレースホルダー 4">
            <a:extLst>
              <a:ext uri="{FF2B5EF4-FFF2-40B4-BE49-F238E27FC236}">
                <a16:creationId xmlns:a16="http://schemas.microsoft.com/office/drawing/2014/main" id="{46609A31-0C16-9598-11A5-DBD22240ED9C}"/>
              </a:ext>
            </a:extLst>
          </p:cNvPr>
          <p:cNvSpPr>
            <a:spLocks noGrp="1"/>
          </p:cNvSpPr>
          <p:nvPr>
            <p:ph type="body" sz="quarter" idx="11"/>
          </p:nvPr>
        </p:nvSpPr>
        <p:spPr>
          <a:xfrm rot="16200000">
            <a:off x="1188014" y="911122"/>
            <a:ext cx="871878" cy="2212815"/>
          </a:xfrm>
        </p:spPr>
        <p:txBody>
          <a:bodyPr/>
          <a:lstStyle/>
          <a:p>
            <a:pPr algn="ctr"/>
            <a:r>
              <a:rPr lang="ja-JP" altLang="en-US"/>
              <a:t>ステップ</a:t>
            </a:r>
            <a:r>
              <a:rPr lang="en-US" altLang="ja-JP"/>
              <a:t>1</a:t>
            </a:r>
            <a:r>
              <a:rPr lang="ja-JP" altLang="en-US"/>
              <a:t>　</a:t>
            </a:r>
            <a:endParaRPr lang="en-US" altLang="ja-JP"/>
          </a:p>
          <a:p>
            <a:pPr algn="ctr"/>
            <a:r>
              <a:rPr lang="ja-JP" altLang="en-US"/>
              <a:t>顧客との契約を</a:t>
            </a:r>
            <a:br>
              <a:rPr lang="en-US" altLang="ja-JP"/>
            </a:br>
            <a:r>
              <a:rPr lang="ja-JP" altLang="en-US"/>
              <a:t>識別する</a:t>
            </a:r>
          </a:p>
        </p:txBody>
      </p:sp>
      <p:sp>
        <p:nvSpPr>
          <p:cNvPr id="6" name="テキスト プレースホルダー 5">
            <a:extLst>
              <a:ext uri="{FF2B5EF4-FFF2-40B4-BE49-F238E27FC236}">
                <a16:creationId xmlns:a16="http://schemas.microsoft.com/office/drawing/2014/main" id="{3646C545-89F2-129B-1B71-22D1A98BC0F0}"/>
              </a:ext>
            </a:extLst>
          </p:cNvPr>
          <p:cNvSpPr>
            <a:spLocks noGrp="1"/>
          </p:cNvSpPr>
          <p:nvPr>
            <p:ph type="body" sz="quarter" idx="12"/>
          </p:nvPr>
        </p:nvSpPr>
        <p:spPr>
          <a:xfrm>
            <a:off x="2737594" y="1581590"/>
            <a:ext cx="3694663" cy="871879"/>
          </a:xfrm>
        </p:spPr>
        <p:txBody>
          <a:bodyPr/>
          <a:lstStyle/>
          <a:p>
            <a:r>
              <a:rPr lang="ja-JP" altLang="en-US"/>
              <a:t>顧客との約束を識別する。</a:t>
            </a:r>
          </a:p>
        </p:txBody>
      </p:sp>
      <p:sp>
        <p:nvSpPr>
          <p:cNvPr id="7" name="テキスト プレースホルダー 6">
            <a:extLst>
              <a:ext uri="{FF2B5EF4-FFF2-40B4-BE49-F238E27FC236}">
                <a16:creationId xmlns:a16="http://schemas.microsoft.com/office/drawing/2014/main" id="{0F1DBCDA-2076-3F50-5050-5F4AFB454503}"/>
              </a:ext>
            </a:extLst>
          </p:cNvPr>
          <p:cNvSpPr>
            <a:spLocks noGrp="1"/>
          </p:cNvSpPr>
          <p:nvPr>
            <p:ph type="body" sz="quarter" idx="13"/>
          </p:nvPr>
        </p:nvSpPr>
        <p:spPr>
          <a:xfrm rot="16200000">
            <a:off x="1188012" y="1927790"/>
            <a:ext cx="871878" cy="2212815"/>
          </a:xfrm>
        </p:spPr>
        <p:txBody>
          <a:bodyPr/>
          <a:lstStyle/>
          <a:p>
            <a:pPr algn="ctr"/>
            <a:r>
              <a:rPr lang="ja-JP" altLang="en-US"/>
              <a:t>ステップ</a:t>
            </a:r>
            <a:r>
              <a:rPr lang="en-US" altLang="ja-JP"/>
              <a:t>2</a:t>
            </a:r>
            <a:r>
              <a:rPr lang="ja-JP" altLang="en-US"/>
              <a:t>　</a:t>
            </a:r>
            <a:endParaRPr lang="en-US" altLang="ja-JP"/>
          </a:p>
          <a:p>
            <a:pPr algn="ctr"/>
            <a:r>
              <a:rPr lang="ja-JP" altLang="en-US"/>
              <a:t>契約における履行義務を識別する</a:t>
            </a:r>
          </a:p>
        </p:txBody>
      </p:sp>
      <p:sp>
        <p:nvSpPr>
          <p:cNvPr id="8" name="テキスト プレースホルダー 7">
            <a:extLst>
              <a:ext uri="{FF2B5EF4-FFF2-40B4-BE49-F238E27FC236}">
                <a16:creationId xmlns:a16="http://schemas.microsoft.com/office/drawing/2014/main" id="{94D076CA-0058-C8A8-D214-EA938139211E}"/>
              </a:ext>
            </a:extLst>
          </p:cNvPr>
          <p:cNvSpPr>
            <a:spLocks noGrp="1"/>
          </p:cNvSpPr>
          <p:nvPr>
            <p:ph type="body" sz="quarter" idx="14"/>
          </p:nvPr>
        </p:nvSpPr>
        <p:spPr>
          <a:xfrm>
            <a:off x="2737595" y="2606206"/>
            <a:ext cx="3694663" cy="871879"/>
          </a:xfrm>
        </p:spPr>
        <p:txBody>
          <a:bodyPr/>
          <a:lstStyle/>
          <a:p>
            <a:r>
              <a:rPr lang="ja-JP" altLang="en-US"/>
              <a:t>顧客と結んだ契約内容から、企業が果たすべき義務（サービス）を識別する。</a:t>
            </a:r>
            <a:endParaRPr lang="en-US" altLang="ja-JP"/>
          </a:p>
        </p:txBody>
      </p:sp>
      <p:sp>
        <p:nvSpPr>
          <p:cNvPr id="9" name="テキスト プレースホルダー 8">
            <a:extLst>
              <a:ext uri="{FF2B5EF4-FFF2-40B4-BE49-F238E27FC236}">
                <a16:creationId xmlns:a16="http://schemas.microsoft.com/office/drawing/2014/main" id="{C535452F-EBE7-DC14-7ED0-7A6B813198BA}"/>
              </a:ext>
            </a:extLst>
          </p:cNvPr>
          <p:cNvSpPr>
            <a:spLocks noGrp="1"/>
          </p:cNvSpPr>
          <p:nvPr>
            <p:ph type="body" sz="quarter" idx="15"/>
          </p:nvPr>
        </p:nvSpPr>
        <p:spPr>
          <a:xfrm rot="16200000">
            <a:off x="1188010" y="2964135"/>
            <a:ext cx="871878" cy="2212815"/>
          </a:xfrm>
        </p:spPr>
        <p:txBody>
          <a:bodyPr/>
          <a:lstStyle/>
          <a:p>
            <a:pPr algn="ctr"/>
            <a:r>
              <a:rPr lang="ja-JP" altLang="en-US"/>
              <a:t>ステップ</a:t>
            </a:r>
            <a:r>
              <a:rPr lang="en-US" altLang="ja-JP"/>
              <a:t>3</a:t>
            </a:r>
            <a:r>
              <a:rPr lang="ja-JP" altLang="en-US"/>
              <a:t>　</a:t>
            </a:r>
            <a:endParaRPr lang="en-US" altLang="ja-JP"/>
          </a:p>
          <a:p>
            <a:pPr algn="ctr"/>
            <a:r>
              <a:rPr lang="ja-JP" altLang="en-US"/>
              <a:t>取引価格を算定する</a:t>
            </a:r>
          </a:p>
        </p:txBody>
      </p:sp>
      <p:sp>
        <p:nvSpPr>
          <p:cNvPr id="10" name="テキスト プレースホルダー 9">
            <a:extLst>
              <a:ext uri="{FF2B5EF4-FFF2-40B4-BE49-F238E27FC236}">
                <a16:creationId xmlns:a16="http://schemas.microsoft.com/office/drawing/2014/main" id="{0EC49F76-BD03-8E04-79B9-DF0A06DA43BB}"/>
              </a:ext>
            </a:extLst>
          </p:cNvPr>
          <p:cNvSpPr>
            <a:spLocks noGrp="1"/>
          </p:cNvSpPr>
          <p:nvPr>
            <p:ph type="body" sz="quarter" idx="16"/>
          </p:nvPr>
        </p:nvSpPr>
        <p:spPr>
          <a:xfrm>
            <a:off x="2737593" y="3634600"/>
            <a:ext cx="3694663" cy="871879"/>
          </a:xfrm>
        </p:spPr>
        <p:txBody>
          <a:bodyPr/>
          <a:lstStyle/>
          <a:p>
            <a:r>
              <a:rPr lang="ja-JP" altLang="en-US"/>
              <a:t>契約全体の金額を識別する。</a:t>
            </a:r>
            <a:endParaRPr lang="en-US" altLang="ja-JP"/>
          </a:p>
        </p:txBody>
      </p:sp>
      <p:sp>
        <p:nvSpPr>
          <p:cNvPr id="15" name="テキスト プレースホルダー 6">
            <a:extLst>
              <a:ext uri="{FF2B5EF4-FFF2-40B4-BE49-F238E27FC236}">
                <a16:creationId xmlns:a16="http://schemas.microsoft.com/office/drawing/2014/main" id="{FF84B0EF-8FB7-A499-4FB5-CA20C33A8358}"/>
              </a:ext>
            </a:extLst>
          </p:cNvPr>
          <p:cNvSpPr txBox="1">
            <a:spLocks/>
          </p:cNvSpPr>
          <p:nvPr/>
        </p:nvSpPr>
        <p:spPr>
          <a:xfrm rot="16200000">
            <a:off x="1188011" y="4000480"/>
            <a:ext cx="871878" cy="2212815"/>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ステップ</a:t>
            </a:r>
            <a:r>
              <a:rPr kumimoji="1" lang="en-US" altLang="ja-JP" sz="1600" b="0" i="0" u="none" strike="noStrike" kern="1200" cap="none" spc="0" normalizeH="0" baseline="0" noProof="0">
                <a:ln>
                  <a:noFill/>
                </a:ln>
                <a:solidFill>
                  <a:srgbClr val="FFFFFF"/>
                </a:solidFill>
                <a:effectLst/>
                <a:uLnTx/>
                <a:uFillTx/>
                <a:latin typeface="BIZ UDPゴシック"/>
                <a:ea typeface="BIZ UDPゴシック"/>
                <a:cs typeface="+mn-cs"/>
              </a:rPr>
              <a:t>4</a:t>
            </a: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　</a:t>
            </a:r>
            <a:endParaRPr kumimoji="1" lang="en-US" altLang="ja-JP" sz="1600" b="0" i="0" u="none" strike="noStrike" kern="1200" cap="none" spc="0" normalizeH="0" baseline="0" noProof="0">
              <a:ln>
                <a:noFill/>
              </a:ln>
              <a:solidFill>
                <a:srgbClr val="FFFFFF"/>
              </a:solidFill>
              <a:effectLst/>
              <a:uLnTx/>
              <a:uFillTx/>
              <a:latin typeface="BIZ UDPゴシック"/>
              <a:ea typeface="BIZ UDPゴシック"/>
              <a:cs typeface="+mn-cs"/>
            </a:endParaRPr>
          </a:p>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取引価格を履行義務に配分する</a:t>
            </a:r>
          </a:p>
        </p:txBody>
      </p:sp>
      <p:sp>
        <p:nvSpPr>
          <p:cNvPr id="16" name="テキスト プレースホルダー 7">
            <a:extLst>
              <a:ext uri="{FF2B5EF4-FFF2-40B4-BE49-F238E27FC236}">
                <a16:creationId xmlns:a16="http://schemas.microsoft.com/office/drawing/2014/main" id="{D4533240-565C-23FA-5699-6137BF3B55CF}"/>
              </a:ext>
            </a:extLst>
          </p:cNvPr>
          <p:cNvSpPr txBox="1">
            <a:spLocks/>
          </p:cNvSpPr>
          <p:nvPr/>
        </p:nvSpPr>
        <p:spPr>
          <a:xfrm>
            <a:off x="2737593" y="4670945"/>
            <a:ext cx="3694663" cy="871879"/>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ja-JP" altLang="en-US">
                <a:solidFill>
                  <a:srgbClr val="262626"/>
                </a:solidFill>
                <a:latin typeface="Segoe UI"/>
                <a:ea typeface="BIZ UDPゴシック"/>
              </a:rPr>
              <a:t>履行義務ごとにいくら売上を計上するのかを判定する。</a:t>
            </a:r>
            <a:endParaRPr kumimoji="1" lang="en-US" altLang="ja-JP" sz="1600" b="1" i="0" u="none" strike="noStrike" kern="1200" cap="none" spc="110" normalizeH="0" baseline="0" noProof="0">
              <a:ln>
                <a:noFill/>
              </a:ln>
              <a:solidFill>
                <a:srgbClr val="262626"/>
              </a:solidFill>
              <a:effectLst/>
              <a:uLnTx/>
              <a:uFillTx/>
              <a:latin typeface="Segoe UI"/>
              <a:ea typeface="BIZ UDPゴシック"/>
              <a:cs typeface="+mn-cs"/>
            </a:endParaRPr>
          </a:p>
        </p:txBody>
      </p:sp>
      <p:sp>
        <p:nvSpPr>
          <p:cNvPr id="17" name="テキスト プレースホルダー 8">
            <a:extLst>
              <a:ext uri="{FF2B5EF4-FFF2-40B4-BE49-F238E27FC236}">
                <a16:creationId xmlns:a16="http://schemas.microsoft.com/office/drawing/2014/main" id="{129CD388-86A2-06F3-5803-6A3D43761BDC}"/>
              </a:ext>
            </a:extLst>
          </p:cNvPr>
          <p:cNvSpPr txBox="1">
            <a:spLocks/>
          </p:cNvSpPr>
          <p:nvPr/>
        </p:nvSpPr>
        <p:spPr>
          <a:xfrm rot="16200000">
            <a:off x="1188013" y="5100833"/>
            <a:ext cx="871878" cy="2212814"/>
          </a:xfrm>
          <a:prstGeom prst="round2SameRect">
            <a:avLst>
              <a:gd name="adj1" fmla="val 10052"/>
              <a:gd name="adj2" fmla="val 0"/>
            </a:avLst>
          </a:prstGeom>
          <a:gradFill flip="none" rotWithShape="1">
            <a:gsLst>
              <a:gs pos="0">
                <a:srgbClr val="00B0F0"/>
              </a:gs>
              <a:gs pos="12000">
                <a:schemeClr val="accent2">
                  <a:lumMod val="75000"/>
                </a:schemeClr>
              </a:gs>
              <a:gs pos="47000">
                <a:schemeClr val="accent6">
                  <a:lumMod val="75000"/>
                </a:schemeClr>
              </a:gs>
              <a:gs pos="100000">
                <a:srgbClr val="22237D"/>
              </a:gs>
            </a:gsLst>
            <a:lin ang="16200000" scaled="1"/>
            <a:tileRect/>
          </a:gradFill>
          <a:ln w="9525" cap="flat" cmpd="sng" algn="ctr">
            <a:noFill/>
            <a:prstDash val="solid"/>
            <a:miter lim="800000"/>
          </a:ln>
          <a:effectLst/>
        </p:spPr>
        <p:txBody>
          <a:bodyPr vert="vert" lIns="36000" tIns="36000" rIns="36000" bIns="36000" rtlCol="0" anchor="ctr" anchorCtr="1">
            <a:noAutofit/>
          </a:bodyPr>
          <a:lstStyle>
            <a:lvl1pPr marL="0" indent="0" algn="l" defTabSz="914400" rtl="0" eaLnBrk="1" latinLnBrk="0" hangingPunct="1">
              <a:lnSpc>
                <a:spcPct val="100000"/>
              </a:lnSpc>
              <a:spcBef>
                <a:spcPts val="1000"/>
              </a:spcBef>
              <a:buFont typeface="Arial" panose="020B0604020202020204" pitchFamily="34" charset="0"/>
              <a:buNone/>
              <a:defRPr kumimoji="1" lang="ja-JP" altLang="en-US" sz="1600" b="0" i="0" u="none" strike="noStrike" kern="1200" cap="none" spc="0" normalizeH="0" baseline="0" dirty="0" smtClean="0">
                <a:ln>
                  <a:noFill/>
                </a:ln>
                <a:solidFill>
                  <a:srgbClr val="FFFFFF"/>
                </a:solidFill>
                <a:effectLst/>
                <a:uLnTx/>
                <a:uFillTx/>
                <a:latin typeface="+mn-ea"/>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lt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l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ステップ</a:t>
            </a:r>
            <a:r>
              <a:rPr kumimoji="1" lang="en-US" altLang="ja-JP" sz="1600" b="0" i="0" u="none" strike="noStrike" kern="1200" cap="none" spc="0" normalizeH="0" baseline="0" noProof="0">
                <a:ln>
                  <a:noFill/>
                </a:ln>
                <a:solidFill>
                  <a:srgbClr val="FFFFFF"/>
                </a:solidFill>
                <a:effectLst/>
                <a:uLnTx/>
                <a:uFillTx/>
                <a:latin typeface="BIZ UDPゴシック"/>
                <a:ea typeface="BIZ UDPゴシック"/>
                <a:cs typeface="+mn-cs"/>
              </a:rPr>
              <a:t>5</a:t>
            </a: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　</a:t>
            </a:r>
            <a:endParaRPr kumimoji="1" lang="en-US" altLang="ja-JP" sz="1600" b="0" i="0" u="none" strike="noStrike" kern="1200" cap="none" spc="0" normalizeH="0" baseline="0" noProof="0">
              <a:ln>
                <a:noFill/>
              </a:ln>
              <a:solidFill>
                <a:srgbClr val="FFFFFF"/>
              </a:solidFill>
              <a:effectLst/>
              <a:uLnTx/>
              <a:uFillTx/>
              <a:latin typeface="BIZ UDPゴシック"/>
              <a:ea typeface="BIZ UDPゴシック"/>
              <a:cs typeface="+mn-cs"/>
            </a:endParaRPr>
          </a:p>
          <a:p>
            <a:pPr marL="0" marR="0" lvl="0" indent="0" algn="ct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ja-JP" altLang="en-US" sz="1600" b="0" i="0" u="none" strike="noStrike" kern="1200" cap="none" spc="0" normalizeH="0" baseline="0" noProof="0">
                <a:ln>
                  <a:noFill/>
                </a:ln>
                <a:solidFill>
                  <a:srgbClr val="FFFFFF"/>
                </a:solidFill>
                <a:effectLst/>
                <a:uLnTx/>
                <a:uFillTx/>
                <a:latin typeface="BIZ UDPゴシック"/>
                <a:ea typeface="BIZ UDPゴシック"/>
                <a:cs typeface="+mn-cs"/>
              </a:rPr>
              <a:t>履行義務充足時に収益を認識する</a:t>
            </a:r>
          </a:p>
        </p:txBody>
      </p:sp>
      <p:sp>
        <p:nvSpPr>
          <p:cNvPr id="18" name="テキスト プレースホルダー 9">
            <a:extLst>
              <a:ext uri="{FF2B5EF4-FFF2-40B4-BE49-F238E27FC236}">
                <a16:creationId xmlns:a16="http://schemas.microsoft.com/office/drawing/2014/main" id="{A02977CE-0193-DBFC-E665-5FF9934D1474}"/>
              </a:ext>
            </a:extLst>
          </p:cNvPr>
          <p:cNvSpPr txBox="1">
            <a:spLocks/>
          </p:cNvSpPr>
          <p:nvPr/>
        </p:nvSpPr>
        <p:spPr>
          <a:xfrm>
            <a:off x="2737593" y="5771298"/>
            <a:ext cx="3694663" cy="871879"/>
          </a:xfrm>
          <a:prstGeom prst="rect">
            <a:avLst/>
          </a:prstGeom>
          <a:solidFill>
            <a:srgbClr val="E1E3EB"/>
          </a:solidFill>
          <a:ln>
            <a:noFill/>
          </a:ln>
        </p:spPr>
        <p:txBody>
          <a:bodyPr vert="horz" lIns="91440" tIns="45720" rIns="91440" bIns="45720" rtlCol="0" anchor="ctr">
            <a:noAutofit/>
          </a:bodyPr>
          <a:lstStyle>
            <a:lvl1pPr marL="0" indent="0" algn="l" defTabSz="914400" rtl="0" eaLnBrk="1" latinLnBrk="0" hangingPunct="1">
              <a:lnSpc>
                <a:spcPct val="100000"/>
              </a:lnSpc>
              <a:spcBef>
                <a:spcPts val="1000"/>
              </a:spcBef>
              <a:buFont typeface="Arial" panose="020B0604020202020204" pitchFamily="34" charset="0"/>
              <a:buNone/>
              <a:defRPr kumimoji="1" sz="1600" b="1" kern="1200" spc="110" baseline="0">
                <a:solidFill>
                  <a:schemeClr val="tx1"/>
                </a:solidFill>
                <a:latin typeface="+mn-lt"/>
                <a:ea typeface="+mn-ea"/>
                <a:cs typeface="+mn-cs"/>
              </a:defRPr>
            </a:lvl1pPr>
            <a:lvl2pPr marL="4572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2pPr>
            <a:lvl3pPr marL="914400" indent="0" algn="l" defTabSz="914400" rtl="0" eaLnBrk="1" latinLnBrk="0" hangingPunct="1">
              <a:lnSpc>
                <a:spcPct val="120000"/>
              </a:lnSpc>
              <a:spcBef>
                <a:spcPts val="500"/>
              </a:spcBef>
              <a:buFont typeface="Arial" panose="020B0604020202020204" pitchFamily="34" charset="0"/>
              <a:buNone/>
              <a:defRPr kumimoji="1" sz="1600" kern="1200" spc="110" baseline="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800" kern="1200" spc="-9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1" lang="ja-JP" altLang="en-US" sz="1600" b="1" i="0" u="none" strike="noStrike" kern="1200" cap="none" spc="110" normalizeH="0" baseline="0" noProof="0">
                <a:ln>
                  <a:noFill/>
                </a:ln>
                <a:solidFill>
                  <a:srgbClr val="262626"/>
                </a:solidFill>
                <a:effectLst/>
                <a:uLnTx/>
                <a:uFillTx/>
                <a:latin typeface="Segoe UI"/>
                <a:ea typeface="BIZ UDPゴシック"/>
                <a:cs typeface="+mn-cs"/>
              </a:rPr>
              <a:t>履行義務ごとにいつ売上を計上するのかを判定する。</a:t>
            </a:r>
            <a:endParaRPr kumimoji="1" lang="en-US" altLang="ja-JP" sz="1600" b="1" i="0" u="none" strike="noStrike" kern="1200" cap="none" spc="110" normalizeH="0" baseline="0" noProof="0">
              <a:ln>
                <a:noFill/>
              </a:ln>
              <a:solidFill>
                <a:srgbClr val="262626"/>
              </a:solidFill>
              <a:effectLst/>
              <a:uLnTx/>
              <a:uFillTx/>
              <a:latin typeface="Segoe UI"/>
              <a:ea typeface="BIZ UDPゴシック"/>
              <a:cs typeface="+mn-cs"/>
            </a:endParaRPr>
          </a:p>
        </p:txBody>
      </p:sp>
      <p:sp>
        <p:nvSpPr>
          <p:cNvPr id="2" name="テキスト ボックス 1">
            <a:extLst>
              <a:ext uri="{FF2B5EF4-FFF2-40B4-BE49-F238E27FC236}">
                <a16:creationId xmlns:a16="http://schemas.microsoft.com/office/drawing/2014/main" id="{B9CDA104-DEE5-531E-8734-DA832D31C021}"/>
              </a:ext>
            </a:extLst>
          </p:cNvPr>
          <p:cNvSpPr txBox="1"/>
          <p:nvPr/>
        </p:nvSpPr>
        <p:spPr bwMode="gray">
          <a:xfrm>
            <a:off x="6600217" y="3454023"/>
            <a:ext cx="1438943" cy="272382"/>
          </a:xfrm>
          <a:prstGeom prst="rect">
            <a:avLst/>
          </a:prstGeom>
          <a:solidFill>
            <a:schemeClr val="bg1"/>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en-US" altLang="ja-JP">
                <a:solidFill>
                  <a:schemeClr val="tx1"/>
                </a:solidFill>
              </a:rPr>
              <a:t>90,000</a:t>
            </a:r>
            <a:r>
              <a:rPr kumimoji="1" lang="ja-JP" altLang="en-US">
                <a:solidFill>
                  <a:schemeClr val="tx1"/>
                </a:solidFill>
              </a:rPr>
              <a:t>円</a:t>
            </a:r>
          </a:p>
        </p:txBody>
      </p:sp>
      <p:sp>
        <p:nvSpPr>
          <p:cNvPr id="12" name="テキスト ボックス 11">
            <a:extLst>
              <a:ext uri="{FF2B5EF4-FFF2-40B4-BE49-F238E27FC236}">
                <a16:creationId xmlns:a16="http://schemas.microsoft.com/office/drawing/2014/main" id="{7F27DD45-C4F7-809F-7825-0838EF7F6DC7}"/>
              </a:ext>
            </a:extLst>
          </p:cNvPr>
          <p:cNvSpPr txBox="1"/>
          <p:nvPr/>
        </p:nvSpPr>
        <p:spPr bwMode="gray">
          <a:xfrm>
            <a:off x="8292674" y="4035884"/>
            <a:ext cx="1438943" cy="272382"/>
          </a:xfrm>
          <a:prstGeom prst="rect">
            <a:avLst/>
          </a:prstGeom>
          <a:solidFill>
            <a:schemeClr val="bg1"/>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en-US" altLang="ja-JP">
                <a:solidFill>
                  <a:schemeClr val="tx1"/>
                </a:solidFill>
              </a:rPr>
              <a:t>72</a:t>
            </a:r>
            <a:r>
              <a:rPr kumimoji="1" lang="en-US" altLang="ja-JP">
                <a:solidFill>
                  <a:schemeClr val="tx1"/>
                </a:solidFill>
              </a:rPr>
              <a:t>,</a:t>
            </a:r>
            <a:r>
              <a:rPr lang="en-US" altLang="ja-JP">
                <a:solidFill>
                  <a:schemeClr val="tx1"/>
                </a:solidFill>
              </a:rPr>
              <a:t>0</a:t>
            </a:r>
            <a:r>
              <a:rPr kumimoji="1" lang="en-US" altLang="ja-JP">
                <a:solidFill>
                  <a:schemeClr val="tx1"/>
                </a:solidFill>
              </a:rPr>
              <a:t>00</a:t>
            </a:r>
            <a:r>
              <a:rPr kumimoji="1" lang="ja-JP" altLang="en-US">
                <a:solidFill>
                  <a:schemeClr val="tx1"/>
                </a:solidFill>
              </a:rPr>
              <a:t>円</a:t>
            </a:r>
          </a:p>
        </p:txBody>
      </p:sp>
      <p:sp>
        <p:nvSpPr>
          <p:cNvPr id="13" name="円/楕円 17">
            <a:extLst>
              <a:ext uri="{FF2B5EF4-FFF2-40B4-BE49-F238E27FC236}">
                <a16:creationId xmlns:a16="http://schemas.microsoft.com/office/drawing/2014/main" id="{8414C260-AA39-EF5E-2DA5-4FB9A6BAA87B}"/>
              </a:ext>
            </a:extLst>
          </p:cNvPr>
          <p:cNvSpPr/>
          <p:nvPr/>
        </p:nvSpPr>
        <p:spPr bwMode="gray">
          <a:xfrm>
            <a:off x="8436081" y="4424850"/>
            <a:ext cx="1152128" cy="361186"/>
          </a:xfrm>
          <a:prstGeom prst="ellipse">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p>
            <a:pPr>
              <a:lnSpc>
                <a:spcPct val="85000"/>
              </a:lnSpc>
              <a:spcAft>
                <a:spcPts val="600"/>
              </a:spcAft>
              <a:buClr>
                <a:schemeClr val="accent2"/>
              </a:buClr>
              <a:buSzPct val="70000"/>
            </a:pPr>
            <a:r>
              <a:rPr lang="ja-JP" altLang="en-US" sz="1600">
                <a:solidFill>
                  <a:schemeClr val="bg1"/>
                </a:solidFill>
              </a:rPr>
              <a:t>一時点</a:t>
            </a:r>
          </a:p>
        </p:txBody>
      </p:sp>
      <p:cxnSp>
        <p:nvCxnSpPr>
          <p:cNvPr id="14" name="曲線コネクタ 19">
            <a:extLst>
              <a:ext uri="{FF2B5EF4-FFF2-40B4-BE49-F238E27FC236}">
                <a16:creationId xmlns:a16="http://schemas.microsoft.com/office/drawing/2014/main" id="{5D263153-8AAC-2246-E316-11DFEA1472BB}"/>
              </a:ext>
            </a:extLst>
          </p:cNvPr>
          <p:cNvCxnSpPr/>
          <p:nvPr/>
        </p:nvCxnSpPr>
        <p:spPr bwMode="gray">
          <a:xfrm rot="16200000" flipH="1">
            <a:off x="7688962" y="3479714"/>
            <a:ext cx="412624" cy="1044990"/>
          </a:xfrm>
          <a:prstGeom prst="curvedConnector2">
            <a:avLst/>
          </a:prstGeom>
          <a:noFill/>
          <a:ln w="25400" cap="flat" cmpd="sng" algn="ctr">
            <a:solidFill>
              <a:schemeClr val="tx1"/>
            </a:solidFill>
            <a:prstDash val="solid"/>
            <a:round/>
            <a:headEnd type="none" w="med" len="med"/>
            <a:tailEnd type="arrow"/>
          </a:ln>
          <a:effectLst/>
        </p:spPr>
      </p:cxnSp>
      <p:cxnSp>
        <p:nvCxnSpPr>
          <p:cNvPr id="19" name="曲線コネクタ 34">
            <a:extLst>
              <a:ext uri="{FF2B5EF4-FFF2-40B4-BE49-F238E27FC236}">
                <a16:creationId xmlns:a16="http://schemas.microsoft.com/office/drawing/2014/main" id="{43BEEA99-6C9E-CF55-3287-AE28B8E25011}"/>
              </a:ext>
            </a:extLst>
          </p:cNvPr>
          <p:cNvCxnSpPr/>
          <p:nvPr/>
        </p:nvCxnSpPr>
        <p:spPr bwMode="gray">
          <a:xfrm>
            <a:off x="8184796" y="3551855"/>
            <a:ext cx="2795344" cy="376101"/>
          </a:xfrm>
          <a:prstGeom prst="curvedConnector2">
            <a:avLst/>
          </a:prstGeom>
          <a:ln w="25400">
            <a:solidFill>
              <a:schemeClr val="tx1"/>
            </a:solidFill>
            <a:tailEnd type="arrow" w="lg" len="sm"/>
          </a:ln>
        </p:spPr>
        <p:style>
          <a:lnRef idx="1">
            <a:schemeClr val="accent1"/>
          </a:lnRef>
          <a:fillRef idx="0">
            <a:schemeClr val="accent1"/>
          </a:fillRef>
          <a:effectRef idx="0">
            <a:schemeClr val="accent1"/>
          </a:effectRef>
          <a:fontRef idx="minor">
            <a:schemeClr val="tx1"/>
          </a:fontRef>
        </p:style>
      </p:cxnSp>
      <p:sp>
        <p:nvSpPr>
          <p:cNvPr id="20" name="角丸四角形 43">
            <a:extLst>
              <a:ext uri="{FF2B5EF4-FFF2-40B4-BE49-F238E27FC236}">
                <a16:creationId xmlns:a16="http://schemas.microsoft.com/office/drawing/2014/main" id="{12AEB5FD-24B1-CDFD-3581-8089102E9005}"/>
              </a:ext>
            </a:extLst>
          </p:cNvPr>
          <p:cNvSpPr/>
          <p:nvPr/>
        </p:nvSpPr>
        <p:spPr bwMode="gray">
          <a:xfrm>
            <a:off x="7789442" y="2773089"/>
            <a:ext cx="1765244" cy="724802"/>
          </a:xfrm>
          <a:prstGeom prst="roundRect">
            <a:avLst/>
          </a:prstGeom>
          <a:solidFill>
            <a:schemeClr val="bg2"/>
          </a:solidFill>
          <a:ln w="12700" algn="ctr">
            <a:noFill/>
            <a:miter lim="800000"/>
            <a:headEnd/>
            <a:tailEnd/>
          </a:ln>
        </p:spPr>
        <p:txBody>
          <a:bodyPr wrap="square" lIns="36000" tIns="36000" rIns="36000" bIns="36000" rtlCol="0" anchor="t"/>
          <a:lstStyle/>
          <a:p>
            <a:pPr algn="ctr"/>
            <a:r>
              <a:rPr kumimoji="1" lang="ja-JP" altLang="en-US" sz="1800">
                <a:latin typeface="+mn-lt"/>
              </a:rPr>
              <a:t>履行義務①</a:t>
            </a:r>
          </a:p>
        </p:txBody>
      </p:sp>
      <p:sp>
        <p:nvSpPr>
          <p:cNvPr id="21" name="角丸四角形 46">
            <a:extLst>
              <a:ext uri="{FF2B5EF4-FFF2-40B4-BE49-F238E27FC236}">
                <a16:creationId xmlns:a16="http://schemas.microsoft.com/office/drawing/2014/main" id="{0EEF51A9-0DA1-E9F7-D542-C94C6846F0D6}"/>
              </a:ext>
            </a:extLst>
          </p:cNvPr>
          <p:cNvSpPr/>
          <p:nvPr/>
        </p:nvSpPr>
        <p:spPr bwMode="gray">
          <a:xfrm>
            <a:off x="9715840" y="2741755"/>
            <a:ext cx="1765244" cy="724802"/>
          </a:xfrm>
          <a:prstGeom prst="roundRect">
            <a:avLst/>
          </a:prstGeom>
          <a:solidFill>
            <a:schemeClr val="bg2"/>
          </a:solidFill>
          <a:ln w="12700" algn="ctr">
            <a:noFill/>
            <a:miter lim="800000"/>
            <a:headEnd/>
            <a:tailEnd/>
          </a:ln>
        </p:spPr>
        <p:txBody>
          <a:bodyPr wrap="square" lIns="36000" tIns="36000" rIns="36000" bIns="36000" rtlCol="0" anchor="t"/>
          <a:lstStyle/>
          <a:p>
            <a:pPr algn="ctr"/>
            <a:r>
              <a:rPr kumimoji="1" lang="ja-JP" altLang="en-US" sz="1800">
                <a:latin typeface="+mn-lt"/>
              </a:rPr>
              <a:t>履行義務②</a:t>
            </a:r>
          </a:p>
        </p:txBody>
      </p:sp>
      <p:sp>
        <p:nvSpPr>
          <p:cNvPr id="22" name="角丸四角形 48">
            <a:extLst>
              <a:ext uri="{FF2B5EF4-FFF2-40B4-BE49-F238E27FC236}">
                <a16:creationId xmlns:a16="http://schemas.microsoft.com/office/drawing/2014/main" id="{8EF0617B-D63D-EDF4-C750-EEC1343C9863}"/>
              </a:ext>
            </a:extLst>
          </p:cNvPr>
          <p:cNvSpPr/>
          <p:nvPr/>
        </p:nvSpPr>
        <p:spPr bwMode="gray">
          <a:xfrm>
            <a:off x="8221923" y="4824396"/>
            <a:ext cx="1765244" cy="724802"/>
          </a:xfrm>
          <a:prstGeom prst="roundRect">
            <a:avLst/>
          </a:prstGeom>
          <a:solidFill>
            <a:schemeClr val="bg2"/>
          </a:solidFill>
          <a:ln w="12700" algn="ctr">
            <a:noFill/>
            <a:miter lim="800000"/>
            <a:headEnd/>
            <a:tailEnd/>
          </a:ln>
        </p:spPr>
        <p:txBody>
          <a:bodyPr wrap="square" lIns="36000" tIns="36000" rIns="36000" bIns="36000" rtlCol="0" anchor="t"/>
          <a:lstStyle/>
          <a:p>
            <a:pPr lvl="0" algn="ctr" defTabSz="711200">
              <a:lnSpc>
                <a:spcPct val="90000"/>
              </a:lnSpc>
              <a:spcAft>
                <a:spcPct val="35000"/>
              </a:spcAft>
            </a:pPr>
            <a:r>
              <a:rPr kumimoji="1" lang="ja-JP" altLang="en-US" sz="1600">
                <a:latin typeface="+mn-lt"/>
              </a:rPr>
              <a:t>当期の収益</a:t>
            </a:r>
          </a:p>
        </p:txBody>
      </p:sp>
      <p:sp>
        <p:nvSpPr>
          <p:cNvPr id="23" name="正方形/長方形 22">
            <a:extLst>
              <a:ext uri="{FF2B5EF4-FFF2-40B4-BE49-F238E27FC236}">
                <a16:creationId xmlns:a16="http://schemas.microsoft.com/office/drawing/2014/main" id="{1AECFC76-2FBF-0181-FB91-7EEA0CF6AEBF}"/>
              </a:ext>
            </a:extLst>
          </p:cNvPr>
          <p:cNvSpPr/>
          <p:nvPr/>
        </p:nvSpPr>
        <p:spPr bwMode="gray">
          <a:xfrm>
            <a:off x="8415082" y="5171739"/>
            <a:ext cx="1378927" cy="288234"/>
          </a:xfrm>
          <a:prstGeom prst="rect">
            <a:avLst/>
          </a:prstGeom>
          <a:solidFill>
            <a:schemeClr val="accent1"/>
          </a:solidFill>
          <a:ln w="12700" algn="ctr">
            <a:noFill/>
            <a:miter lim="800000"/>
            <a:headEnd/>
            <a:tailEnd/>
          </a:ln>
        </p:spPr>
        <p:txBody>
          <a:bodyPr wrap="square" lIns="36000" tIns="36000" rIns="36000" bIns="36000" rtlCol="0" anchor="ctr"/>
          <a:lstStyle/>
          <a:p>
            <a:pPr lvl="0" algn="ctr" defTabSz="711200">
              <a:lnSpc>
                <a:spcPct val="90000"/>
              </a:lnSpc>
              <a:spcAft>
                <a:spcPct val="35000"/>
              </a:spcAft>
            </a:pPr>
            <a:r>
              <a:rPr lang="en-US" altLang="ja-JP" sz="1600">
                <a:solidFill>
                  <a:schemeClr val="bg1"/>
                </a:solidFill>
              </a:rPr>
              <a:t>72</a:t>
            </a:r>
            <a:r>
              <a:rPr kumimoji="1" lang="en-US" altLang="ja-JP" sz="1600">
                <a:solidFill>
                  <a:schemeClr val="bg1"/>
                </a:solidFill>
                <a:latin typeface="+mn-lt"/>
              </a:rPr>
              <a:t>,000</a:t>
            </a:r>
            <a:r>
              <a:rPr kumimoji="1" lang="ja-JP" altLang="en-US" sz="1600">
                <a:solidFill>
                  <a:schemeClr val="bg1"/>
                </a:solidFill>
                <a:latin typeface="+mn-lt"/>
              </a:rPr>
              <a:t>円</a:t>
            </a:r>
          </a:p>
        </p:txBody>
      </p:sp>
      <p:sp>
        <p:nvSpPr>
          <p:cNvPr id="27" name="Text Box 476">
            <a:extLst>
              <a:ext uri="{FF2B5EF4-FFF2-40B4-BE49-F238E27FC236}">
                <a16:creationId xmlns:a16="http://schemas.microsoft.com/office/drawing/2014/main" id="{187C63DB-C193-3F00-0434-903F0C73EDC0}"/>
              </a:ext>
            </a:extLst>
          </p:cNvPr>
          <p:cNvSpPr>
            <a:spLocks noChangeArrowheads="1"/>
          </p:cNvSpPr>
          <p:nvPr/>
        </p:nvSpPr>
        <p:spPr bwMode="gray">
          <a:xfrm>
            <a:off x="7811594" y="3764562"/>
            <a:ext cx="1943608" cy="181943"/>
          </a:xfrm>
          <a:prstGeom prst="roundRect">
            <a:avLst/>
          </a:prstGeom>
          <a:solidFill>
            <a:schemeClr val="bg1"/>
          </a:solidFill>
          <a:ln w="12700" algn="ctr">
            <a:solidFill>
              <a:srgbClr val="B4B4B4"/>
            </a:solidFill>
            <a:miter lim="800000"/>
            <a:headEnd type="none" w="sm" len="sm"/>
            <a:tailEnd type="none" w="sm" len="sm"/>
          </a:ln>
        </p:spPr>
        <p:txBody>
          <a:bodyPr lIns="35999" tIns="0" rIns="35999" bIns="0" anchor="ctr"/>
          <a:lstStyle/>
          <a:p>
            <a:pPr algn="ctr">
              <a:spcBef>
                <a:spcPts val="0"/>
              </a:spcBef>
            </a:pPr>
            <a:r>
              <a:rPr lang="ja-JP" altLang="en-US" sz="1200" b="1">
                <a:solidFill>
                  <a:srgbClr val="FF0000"/>
                </a:solidFill>
                <a:latin typeface="+mn-lt"/>
              </a:rPr>
              <a:t>独立販売価格の比率で按分</a:t>
            </a:r>
          </a:p>
        </p:txBody>
      </p:sp>
      <p:cxnSp>
        <p:nvCxnSpPr>
          <p:cNvPr id="28" name="直線矢印コネクタ 27">
            <a:extLst>
              <a:ext uri="{FF2B5EF4-FFF2-40B4-BE49-F238E27FC236}">
                <a16:creationId xmlns:a16="http://schemas.microsoft.com/office/drawing/2014/main" id="{A4660377-3396-89D6-114D-13E5643E607E}"/>
              </a:ext>
            </a:extLst>
          </p:cNvPr>
          <p:cNvCxnSpPr>
            <a:cxnSpLocks/>
          </p:cNvCxnSpPr>
          <p:nvPr/>
        </p:nvCxnSpPr>
        <p:spPr bwMode="gray">
          <a:xfrm flipH="1">
            <a:off x="8727250" y="2535272"/>
            <a:ext cx="112296" cy="216024"/>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cxnSp>
        <p:nvCxnSpPr>
          <p:cNvPr id="29" name="直線矢印コネクタ 28">
            <a:extLst>
              <a:ext uri="{FF2B5EF4-FFF2-40B4-BE49-F238E27FC236}">
                <a16:creationId xmlns:a16="http://schemas.microsoft.com/office/drawing/2014/main" id="{D66566C6-88BF-E67F-4976-BB807FF487E9}"/>
              </a:ext>
            </a:extLst>
          </p:cNvPr>
          <p:cNvCxnSpPr>
            <a:cxnSpLocks/>
          </p:cNvCxnSpPr>
          <p:nvPr/>
        </p:nvCxnSpPr>
        <p:spPr bwMode="gray">
          <a:xfrm>
            <a:off x="9879378" y="2540877"/>
            <a:ext cx="144016" cy="216024"/>
          </a:xfrm>
          <a:prstGeom prst="straightConnector1">
            <a:avLst/>
          </a:prstGeom>
          <a:ln w="19050">
            <a:solidFill>
              <a:schemeClr val="accent6"/>
            </a:solidFill>
            <a:tailEnd type="arrow"/>
          </a:ln>
        </p:spPr>
        <p:style>
          <a:lnRef idx="1">
            <a:schemeClr val="accent1"/>
          </a:lnRef>
          <a:fillRef idx="0">
            <a:schemeClr val="accent1"/>
          </a:fillRef>
          <a:effectRef idx="0">
            <a:schemeClr val="accent1"/>
          </a:effectRef>
          <a:fontRef idx="minor">
            <a:schemeClr val="tx1"/>
          </a:fontRef>
        </p:style>
      </p:cxnSp>
      <p:sp>
        <p:nvSpPr>
          <p:cNvPr id="31" name="正方形/長方形 30">
            <a:extLst>
              <a:ext uri="{FF2B5EF4-FFF2-40B4-BE49-F238E27FC236}">
                <a16:creationId xmlns:a16="http://schemas.microsoft.com/office/drawing/2014/main" id="{FBAC801A-D73F-EF26-5DD5-D67F8A2FF5D4}"/>
              </a:ext>
            </a:extLst>
          </p:cNvPr>
          <p:cNvSpPr/>
          <p:nvPr/>
        </p:nvSpPr>
        <p:spPr bwMode="gray">
          <a:xfrm>
            <a:off x="9587638" y="3132750"/>
            <a:ext cx="2017389" cy="288234"/>
          </a:xfrm>
          <a:prstGeom prst="rect">
            <a:avLst/>
          </a:prstGeom>
          <a:solidFill>
            <a:schemeClr val="accent1"/>
          </a:solidFill>
          <a:ln w="12700" algn="ctr">
            <a:solidFill>
              <a:schemeClr val="bg1"/>
            </a:solidFill>
            <a:miter lim="800000"/>
            <a:headEnd/>
            <a:tailEnd/>
          </a:ln>
        </p:spPr>
        <p:txBody>
          <a:bodyPr wrap="square" lIns="36000" tIns="36000" rIns="36000" bIns="36000" rtlCol="0" anchor="ctr"/>
          <a:lstStyle/>
          <a:p>
            <a:pPr lvl="0" algn="ctr"/>
            <a:r>
              <a:rPr kumimoji="1" lang="ja-JP" altLang="en-US" sz="1600">
                <a:solidFill>
                  <a:schemeClr val="bg1"/>
                </a:solidFill>
                <a:latin typeface="+mn-lt"/>
              </a:rPr>
              <a:t>保証サービス（</a:t>
            </a:r>
            <a:r>
              <a:rPr kumimoji="1" lang="en-US" altLang="ja-JP" sz="1600">
                <a:solidFill>
                  <a:schemeClr val="bg1"/>
                </a:solidFill>
                <a:latin typeface="+mn-lt"/>
              </a:rPr>
              <a:t>3</a:t>
            </a:r>
            <a:r>
              <a:rPr kumimoji="1" lang="ja-JP" altLang="en-US" sz="1600">
                <a:solidFill>
                  <a:schemeClr val="bg1"/>
                </a:solidFill>
                <a:latin typeface="+mn-lt"/>
              </a:rPr>
              <a:t>年間）</a:t>
            </a:r>
          </a:p>
        </p:txBody>
      </p:sp>
      <p:sp>
        <p:nvSpPr>
          <p:cNvPr id="47" name="テキスト ボックス 46">
            <a:extLst>
              <a:ext uri="{FF2B5EF4-FFF2-40B4-BE49-F238E27FC236}">
                <a16:creationId xmlns:a16="http://schemas.microsoft.com/office/drawing/2014/main" id="{C0FA81A2-6B6C-283A-AB13-83871E5A083E}"/>
              </a:ext>
            </a:extLst>
          </p:cNvPr>
          <p:cNvSpPr txBox="1"/>
          <p:nvPr/>
        </p:nvSpPr>
        <p:spPr bwMode="gray">
          <a:xfrm>
            <a:off x="10205365" y="4010453"/>
            <a:ext cx="1438943" cy="272382"/>
          </a:xfrm>
          <a:prstGeom prst="rect">
            <a:avLst/>
          </a:prstGeom>
          <a:solidFill>
            <a:schemeClr val="bg1"/>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en-US" altLang="ja-JP">
                <a:solidFill>
                  <a:schemeClr val="tx1"/>
                </a:solidFill>
              </a:rPr>
              <a:t>18</a:t>
            </a:r>
            <a:r>
              <a:rPr kumimoji="1" lang="en-US" altLang="ja-JP">
                <a:solidFill>
                  <a:schemeClr val="tx1"/>
                </a:solidFill>
              </a:rPr>
              <a:t>,</a:t>
            </a:r>
            <a:r>
              <a:rPr lang="en-US" altLang="ja-JP">
                <a:solidFill>
                  <a:schemeClr val="tx1"/>
                </a:solidFill>
              </a:rPr>
              <a:t>0</a:t>
            </a:r>
            <a:r>
              <a:rPr kumimoji="1" lang="en-US" altLang="ja-JP">
                <a:solidFill>
                  <a:schemeClr val="tx1"/>
                </a:solidFill>
              </a:rPr>
              <a:t>00</a:t>
            </a:r>
            <a:r>
              <a:rPr kumimoji="1" lang="ja-JP" altLang="en-US">
                <a:solidFill>
                  <a:schemeClr val="tx1"/>
                </a:solidFill>
              </a:rPr>
              <a:t>円</a:t>
            </a:r>
          </a:p>
        </p:txBody>
      </p:sp>
      <p:grpSp>
        <p:nvGrpSpPr>
          <p:cNvPr id="54" name="グループ化 53">
            <a:extLst>
              <a:ext uri="{FF2B5EF4-FFF2-40B4-BE49-F238E27FC236}">
                <a16:creationId xmlns:a16="http://schemas.microsoft.com/office/drawing/2014/main" id="{BDBF5C78-4177-B6A7-1127-B38795F1D808}"/>
              </a:ext>
            </a:extLst>
          </p:cNvPr>
          <p:cNvGrpSpPr/>
          <p:nvPr/>
        </p:nvGrpSpPr>
        <p:grpSpPr>
          <a:xfrm>
            <a:off x="7116804" y="913604"/>
            <a:ext cx="4643562" cy="1572408"/>
            <a:chOff x="6641986" y="870884"/>
            <a:chExt cx="4643562" cy="1572408"/>
          </a:xfrm>
        </p:grpSpPr>
        <p:grpSp>
          <p:nvGrpSpPr>
            <p:cNvPr id="32" name="グループ化 31">
              <a:extLst>
                <a:ext uri="{FF2B5EF4-FFF2-40B4-BE49-F238E27FC236}">
                  <a16:creationId xmlns:a16="http://schemas.microsoft.com/office/drawing/2014/main" id="{FACF89CE-0FFE-7A0F-DC71-75B89A569588}"/>
                </a:ext>
              </a:extLst>
            </p:cNvPr>
            <p:cNvGrpSpPr/>
            <p:nvPr/>
          </p:nvGrpSpPr>
          <p:grpSpPr>
            <a:xfrm>
              <a:off x="6641986" y="870884"/>
              <a:ext cx="4643562" cy="1572408"/>
              <a:chOff x="6131971" y="2535503"/>
              <a:chExt cx="2392881" cy="1033248"/>
            </a:xfrm>
          </p:grpSpPr>
          <p:sp>
            <p:nvSpPr>
              <p:cNvPr id="33" name="角丸四角形 33">
                <a:extLst>
                  <a:ext uri="{FF2B5EF4-FFF2-40B4-BE49-F238E27FC236}">
                    <a16:creationId xmlns:a16="http://schemas.microsoft.com/office/drawing/2014/main" id="{90BD6856-4C28-598A-9F44-963503450910}"/>
                  </a:ext>
                </a:extLst>
              </p:cNvPr>
              <p:cNvSpPr/>
              <p:nvPr/>
            </p:nvSpPr>
            <p:spPr bwMode="gray">
              <a:xfrm>
                <a:off x="6131971" y="2535503"/>
                <a:ext cx="2392881" cy="1033248"/>
              </a:xfrm>
              <a:prstGeom prst="roundRect">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cxnSp>
            <p:nvCxnSpPr>
              <p:cNvPr id="34" name="直線矢印コネクタ 70">
                <a:extLst>
                  <a:ext uri="{FF2B5EF4-FFF2-40B4-BE49-F238E27FC236}">
                    <a16:creationId xmlns:a16="http://schemas.microsoft.com/office/drawing/2014/main" id="{8CB296C0-EB9A-147C-363F-556F7D9CA8B3}"/>
                  </a:ext>
                </a:extLst>
              </p:cNvPr>
              <p:cNvCxnSpPr>
                <a:cxnSpLocks noChangeShapeType="1"/>
              </p:cNvCxnSpPr>
              <p:nvPr/>
            </p:nvCxnSpPr>
            <p:spPr bwMode="gray">
              <a:xfrm>
                <a:off x="6850942" y="2973611"/>
                <a:ext cx="928239" cy="1466"/>
              </a:xfrm>
              <a:prstGeom prst="straightConnector1">
                <a:avLst/>
              </a:prstGeom>
              <a:noFill/>
              <a:ln w="25400" algn="ctr">
                <a:solidFill>
                  <a:schemeClr val="tx2"/>
                </a:solidFill>
                <a:round/>
                <a:headEnd type="arrow" w="med" len="med"/>
                <a:tailEnd type="none" w="med" len="med"/>
              </a:ln>
            </p:spPr>
          </p:cxnSp>
          <p:cxnSp>
            <p:nvCxnSpPr>
              <p:cNvPr id="35" name="直線矢印コネクタ 98">
                <a:extLst>
                  <a:ext uri="{FF2B5EF4-FFF2-40B4-BE49-F238E27FC236}">
                    <a16:creationId xmlns:a16="http://schemas.microsoft.com/office/drawing/2014/main" id="{95F28E12-BE91-FF4A-4839-5A50FC9CE92D}"/>
                  </a:ext>
                </a:extLst>
              </p:cNvPr>
              <p:cNvCxnSpPr>
                <a:cxnSpLocks noChangeShapeType="1"/>
              </p:cNvCxnSpPr>
              <p:nvPr/>
            </p:nvCxnSpPr>
            <p:spPr bwMode="gray">
              <a:xfrm>
                <a:off x="6850942" y="3104373"/>
                <a:ext cx="928239" cy="1466"/>
              </a:xfrm>
              <a:prstGeom prst="straightConnector1">
                <a:avLst/>
              </a:prstGeom>
              <a:noFill/>
              <a:ln w="25400" algn="ctr">
                <a:solidFill>
                  <a:schemeClr val="tx2"/>
                </a:solidFill>
                <a:round/>
                <a:headEnd/>
                <a:tailEnd type="arrow" w="med" len="med"/>
              </a:ln>
            </p:spPr>
          </p:cxnSp>
          <p:sp>
            <p:nvSpPr>
              <p:cNvPr id="36" name="Rectangle 34">
                <a:extLst>
                  <a:ext uri="{FF2B5EF4-FFF2-40B4-BE49-F238E27FC236}">
                    <a16:creationId xmlns:a16="http://schemas.microsoft.com/office/drawing/2014/main" id="{8D5C86C3-ED0A-3AE6-80FF-1CB77ECA4848}"/>
                  </a:ext>
                </a:extLst>
              </p:cNvPr>
              <p:cNvSpPr>
                <a:spLocks noChangeArrowheads="1"/>
              </p:cNvSpPr>
              <p:nvPr/>
            </p:nvSpPr>
            <p:spPr bwMode="gray">
              <a:xfrm>
                <a:off x="6170205" y="3178800"/>
                <a:ext cx="655854" cy="254464"/>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家電販売店</a:t>
                </a:r>
                <a:endParaRPr lang="ja-JP" altLang="nl-NL" sz="1400" kern="0">
                  <a:latin typeface="+mn-lt"/>
                </a:endParaRPr>
              </a:p>
            </p:txBody>
          </p:sp>
          <p:sp>
            <p:nvSpPr>
              <p:cNvPr id="39" name="Rectangle 34">
                <a:extLst>
                  <a:ext uri="{FF2B5EF4-FFF2-40B4-BE49-F238E27FC236}">
                    <a16:creationId xmlns:a16="http://schemas.microsoft.com/office/drawing/2014/main" id="{777BBA4B-B9D5-D776-B80F-4E7995998A3D}"/>
                  </a:ext>
                </a:extLst>
              </p:cNvPr>
              <p:cNvSpPr>
                <a:spLocks noChangeArrowheads="1"/>
              </p:cNvSpPr>
              <p:nvPr/>
            </p:nvSpPr>
            <p:spPr bwMode="gray">
              <a:xfrm>
                <a:off x="7850461" y="3209881"/>
                <a:ext cx="577362" cy="229012"/>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顧客</a:t>
                </a:r>
                <a:endParaRPr lang="ja-JP" altLang="nl-NL" sz="1400" kern="0">
                  <a:latin typeface="+mn-lt"/>
                </a:endParaRPr>
              </a:p>
            </p:txBody>
          </p:sp>
          <p:sp>
            <p:nvSpPr>
              <p:cNvPr id="40" name="テキスト ボックス 39">
                <a:extLst>
                  <a:ext uri="{FF2B5EF4-FFF2-40B4-BE49-F238E27FC236}">
                    <a16:creationId xmlns:a16="http://schemas.microsoft.com/office/drawing/2014/main" id="{5A1C05DA-6B25-A3ED-E004-9F9C76724A17}"/>
                  </a:ext>
                </a:extLst>
              </p:cNvPr>
              <p:cNvSpPr txBox="1"/>
              <p:nvPr/>
            </p:nvSpPr>
            <p:spPr bwMode="gray">
              <a:xfrm>
                <a:off x="6684504" y="2644062"/>
                <a:ext cx="1163572" cy="297888"/>
              </a:xfrm>
              <a:prstGeom prst="rect">
                <a:avLst/>
              </a:prstGeom>
              <a:noFill/>
            </p:spPr>
            <p:txBody>
              <a:bodyPr wrap="square" lIns="0" tIns="0" rIns="0" bIns="0" rtlCol="0">
                <a:spAutoFit/>
              </a:bodyPr>
              <a:lstStyle/>
              <a:p>
                <a:pPr algn="ctr"/>
                <a:r>
                  <a:rPr kumimoji="1" lang="ja-JP" altLang="en-US" sz="1100" b="1">
                    <a:latin typeface="+mn-lt"/>
                    <a:cs typeface="Arial" panose="020B0604020202020204" pitchFamily="34" charset="0"/>
                  </a:rPr>
                  <a:t>保証サービスセットの特別価格</a:t>
                </a:r>
                <a:endParaRPr kumimoji="1" lang="en-US" altLang="ja-JP" sz="1100" b="1">
                  <a:latin typeface="+mn-lt"/>
                  <a:cs typeface="Arial" panose="020B0604020202020204" pitchFamily="34" charset="0"/>
                </a:endParaRPr>
              </a:p>
              <a:p>
                <a:pPr algn="ctr"/>
                <a:r>
                  <a:rPr kumimoji="1" lang="en-US" altLang="ja-JP" sz="1846" b="1">
                    <a:latin typeface="+mn-lt"/>
                    <a:cs typeface="Arial" panose="020B0604020202020204" pitchFamily="34" charset="0"/>
                  </a:rPr>
                  <a:t>\</a:t>
                </a:r>
                <a:r>
                  <a:rPr lang="en-US" altLang="ja-JP" sz="1846" b="1">
                    <a:cs typeface="Arial" panose="020B0604020202020204" pitchFamily="34" charset="0"/>
                  </a:rPr>
                  <a:t>9</a:t>
                </a:r>
                <a:r>
                  <a:rPr kumimoji="1" lang="en-US" altLang="ja-JP" sz="1846" b="1">
                    <a:latin typeface="+mn-lt"/>
                    <a:cs typeface="Arial" panose="020B0604020202020204" pitchFamily="34" charset="0"/>
                  </a:rPr>
                  <a:t>0,000</a:t>
                </a:r>
                <a:endParaRPr kumimoji="1" lang="ja-JP" altLang="en-US" sz="1846" b="1">
                  <a:latin typeface="+mn-lt"/>
                  <a:cs typeface="Arial" panose="020B0604020202020204" pitchFamily="34" charset="0"/>
                </a:endParaRPr>
              </a:p>
            </p:txBody>
          </p:sp>
          <p:grpSp>
            <p:nvGrpSpPr>
              <p:cNvPr id="41" name="Group 550">
                <a:extLst>
                  <a:ext uri="{FF2B5EF4-FFF2-40B4-BE49-F238E27FC236}">
                    <a16:creationId xmlns:a16="http://schemas.microsoft.com/office/drawing/2014/main" id="{0B34EFA2-ADC6-1F38-24F9-B7188CEDE7A7}"/>
                  </a:ext>
                </a:extLst>
              </p:cNvPr>
              <p:cNvGrpSpPr>
                <a:grpSpLocks noChangeAspect="1"/>
              </p:cNvGrpSpPr>
              <p:nvPr/>
            </p:nvGrpSpPr>
            <p:grpSpPr bwMode="gray">
              <a:xfrm>
                <a:off x="6269447" y="2649086"/>
                <a:ext cx="503865" cy="503865"/>
                <a:chOff x="1520" y="1938"/>
                <a:chExt cx="340" cy="340"/>
              </a:xfrm>
              <a:solidFill>
                <a:schemeClr val="accent5"/>
              </a:solidFill>
            </p:grpSpPr>
            <p:sp>
              <p:nvSpPr>
                <p:cNvPr id="45" name="Freeform 551">
                  <a:extLst>
                    <a:ext uri="{FF2B5EF4-FFF2-40B4-BE49-F238E27FC236}">
                      <a16:creationId xmlns:a16="http://schemas.microsoft.com/office/drawing/2014/main" id="{C56261E3-BB8D-567C-ED16-E1D2BB02BFA9}"/>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46" name="Freeform 552">
                  <a:extLst>
                    <a:ext uri="{FF2B5EF4-FFF2-40B4-BE49-F238E27FC236}">
                      <a16:creationId xmlns:a16="http://schemas.microsoft.com/office/drawing/2014/main" id="{1A416411-27C8-53EB-12F0-E50760CDF361}"/>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grpSp>
          <p:grpSp>
            <p:nvGrpSpPr>
              <p:cNvPr id="42" name="Group 550">
                <a:extLst>
                  <a:ext uri="{FF2B5EF4-FFF2-40B4-BE49-F238E27FC236}">
                    <a16:creationId xmlns:a16="http://schemas.microsoft.com/office/drawing/2014/main" id="{F514A9C0-26AA-C72D-514A-8D397DC6AB6B}"/>
                  </a:ext>
                </a:extLst>
              </p:cNvPr>
              <p:cNvGrpSpPr>
                <a:grpSpLocks noChangeAspect="1"/>
              </p:cNvGrpSpPr>
              <p:nvPr/>
            </p:nvGrpSpPr>
            <p:grpSpPr bwMode="gray">
              <a:xfrm>
                <a:off x="7887209" y="2649086"/>
                <a:ext cx="503865" cy="503865"/>
                <a:chOff x="1520" y="1938"/>
                <a:chExt cx="340" cy="340"/>
              </a:xfrm>
              <a:solidFill>
                <a:schemeClr val="accent5"/>
              </a:solidFill>
            </p:grpSpPr>
            <p:sp>
              <p:nvSpPr>
                <p:cNvPr id="43" name="Freeform 551">
                  <a:extLst>
                    <a:ext uri="{FF2B5EF4-FFF2-40B4-BE49-F238E27FC236}">
                      <a16:creationId xmlns:a16="http://schemas.microsoft.com/office/drawing/2014/main" id="{1D882A20-11FF-8203-4292-02A29DAD9592}"/>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44" name="Freeform 552">
                  <a:extLst>
                    <a:ext uri="{FF2B5EF4-FFF2-40B4-BE49-F238E27FC236}">
                      <a16:creationId xmlns:a16="http://schemas.microsoft.com/office/drawing/2014/main" id="{27EBE5B4-E5B9-1A39-B860-2EBD9F0C2B6E}"/>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grpSp>
        </p:grpSp>
        <p:sp>
          <p:nvSpPr>
            <p:cNvPr id="49" name="角丸四角形 43">
              <a:extLst>
                <a:ext uri="{FF2B5EF4-FFF2-40B4-BE49-F238E27FC236}">
                  <a16:creationId xmlns:a16="http://schemas.microsoft.com/office/drawing/2014/main" id="{FDC5D13D-CDEB-53C0-12C5-36E1F09218C3}"/>
                </a:ext>
              </a:extLst>
            </p:cNvPr>
            <p:cNvSpPr/>
            <p:nvPr/>
          </p:nvSpPr>
          <p:spPr bwMode="gray">
            <a:xfrm>
              <a:off x="8063109" y="1828996"/>
              <a:ext cx="1801316" cy="551052"/>
            </a:xfrm>
            <a:prstGeom prst="roundRect">
              <a:avLst/>
            </a:prstGeom>
            <a:ln/>
          </p:spPr>
          <p:style>
            <a:lnRef idx="3">
              <a:schemeClr val="lt1"/>
            </a:lnRef>
            <a:fillRef idx="1">
              <a:schemeClr val="accent2"/>
            </a:fillRef>
            <a:effectRef idx="1">
              <a:schemeClr val="accent2"/>
            </a:effectRef>
            <a:fontRef idx="minor">
              <a:schemeClr val="lt1"/>
            </a:fontRef>
          </p:style>
          <p:txBody>
            <a:bodyPr lIns="84404" tIns="42202" rIns="84404" bIns="42202" rtlCol="0" anchor="ctr"/>
            <a:lstStyle/>
            <a:p>
              <a:r>
                <a:rPr lang="ja-JP" altLang="en-US" sz="1200"/>
                <a:t>・</a:t>
              </a:r>
              <a:r>
                <a:rPr lang="en-US" altLang="ja-JP" sz="1200"/>
                <a:t>TV</a:t>
              </a:r>
              <a:r>
                <a:rPr lang="ja-JP" altLang="en-US" sz="1200"/>
                <a:t>の引き渡し</a:t>
              </a:r>
              <a:endParaRPr lang="en-US" altLang="ja-JP" sz="1200"/>
            </a:p>
            <a:p>
              <a:r>
                <a:rPr kumimoji="1" lang="ja-JP" altLang="en-US" sz="1200"/>
                <a:t>・</a:t>
              </a:r>
              <a:r>
                <a:rPr lang="ja-JP" altLang="en-US" sz="1200"/>
                <a:t>保証</a:t>
              </a:r>
              <a:r>
                <a:rPr kumimoji="1" lang="ja-JP" altLang="en-US" sz="1200"/>
                <a:t>サービス（</a:t>
              </a:r>
              <a:r>
                <a:rPr lang="en-US" altLang="ja-JP" sz="1200"/>
                <a:t>3</a:t>
              </a:r>
              <a:r>
                <a:rPr kumimoji="1" lang="ja-JP" altLang="en-US" sz="1200"/>
                <a:t>年間）</a:t>
              </a:r>
              <a:endParaRPr kumimoji="1" lang="en-US" altLang="ja-JP" sz="1200"/>
            </a:p>
          </p:txBody>
        </p:sp>
      </p:grpSp>
      <p:sp>
        <p:nvSpPr>
          <p:cNvPr id="50" name="正方形/長方形 49">
            <a:extLst>
              <a:ext uri="{FF2B5EF4-FFF2-40B4-BE49-F238E27FC236}">
                <a16:creationId xmlns:a16="http://schemas.microsoft.com/office/drawing/2014/main" id="{C76D06B5-25D0-C6E9-1A03-E5FDFACACA6E}"/>
              </a:ext>
            </a:extLst>
          </p:cNvPr>
          <p:cNvSpPr/>
          <p:nvPr/>
        </p:nvSpPr>
        <p:spPr bwMode="gray">
          <a:xfrm>
            <a:off x="7835676" y="3154402"/>
            <a:ext cx="1719010" cy="288234"/>
          </a:xfrm>
          <a:prstGeom prst="rect">
            <a:avLst/>
          </a:prstGeom>
          <a:solidFill>
            <a:schemeClr val="accent1"/>
          </a:solidFill>
          <a:ln w="12700" algn="ctr">
            <a:solidFill>
              <a:schemeClr val="bg1"/>
            </a:solidFill>
            <a:miter lim="800000"/>
            <a:headEnd/>
            <a:tailEnd/>
          </a:ln>
        </p:spPr>
        <p:txBody>
          <a:bodyPr wrap="square" lIns="36000" tIns="36000" rIns="36000" bIns="36000" rtlCol="0" anchor="ctr"/>
          <a:lstStyle/>
          <a:p>
            <a:pPr lvl="0" algn="ctr"/>
            <a:r>
              <a:rPr kumimoji="1" lang="en-US" altLang="ja-JP" sz="1600">
                <a:solidFill>
                  <a:schemeClr val="bg1"/>
                </a:solidFill>
                <a:latin typeface="+mn-lt"/>
              </a:rPr>
              <a:t>TV</a:t>
            </a:r>
            <a:r>
              <a:rPr lang="ja-JP" altLang="en-US" sz="1600">
                <a:solidFill>
                  <a:schemeClr val="bg1"/>
                </a:solidFill>
              </a:rPr>
              <a:t>の引き渡し</a:t>
            </a:r>
            <a:endParaRPr kumimoji="1" lang="ja-JP" altLang="en-US" sz="1600">
              <a:solidFill>
                <a:schemeClr val="bg1"/>
              </a:solidFill>
              <a:latin typeface="+mn-lt"/>
            </a:endParaRPr>
          </a:p>
        </p:txBody>
      </p:sp>
      <p:sp>
        <p:nvSpPr>
          <p:cNvPr id="55" name="角丸四角形 50">
            <a:extLst>
              <a:ext uri="{FF2B5EF4-FFF2-40B4-BE49-F238E27FC236}">
                <a16:creationId xmlns:a16="http://schemas.microsoft.com/office/drawing/2014/main" id="{9F6D1DC4-47CB-DD61-7E30-B6492967838C}"/>
              </a:ext>
            </a:extLst>
          </p:cNvPr>
          <p:cNvSpPr/>
          <p:nvPr/>
        </p:nvSpPr>
        <p:spPr bwMode="gray">
          <a:xfrm>
            <a:off x="10229588" y="4824396"/>
            <a:ext cx="1765244" cy="1838776"/>
          </a:xfrm>
          <a:prstGeom prst="roundRect">
            <a:avLst>
              <a:gd name="adj" fmla="val 10223"/>
            </a:avLst>
          </a:prstGeom>
          <a:solidFill>
            <a:schemeClr val="bg2"/>
          </a:solidFill>
          <a:ln w="12700" algn="ctr">
            <a:noFill/>
            <a:miter lim="800000"/>
            <a:headEnd/>
            <a:tailEnd/>
          </a:ln>
        </p:spPr>
        <p:txBody>
          <a:bodyPr wrap="square" lIns="36000" tIns="36000" rIns="36000" bIns="36000" rtlCol="0" anchor="t"/>
          <a:lstStyle/>
          <a:p>
            <a:pPr lvl="0" algn="ctr" defTabSz="711200">
              <a:lnSpc>
                <a:spcPct val="90000"/>
              </a:lnSpc>
              <a:spcAft>
                <a:spcPct val="35000"/>
              </a:spcAft>
            </a:pPr>
            <a:r>
              <a:rPr kumimoji="1" lang="ja-JP" altLang="en-US" sz="1600">
                <a:latin typeface="+mn-lt"/>
              </a:rPr>
              <a:t>当期の収益</a:t>
            </a:r>
            <a:endParaRPr kumimoji="1" lang="en-US" altLang="ja-JP" sz="1600">
              <a:latin typeface="+mn-lt"/>
            </a:endParaRPr>
          </a:p>
          <a:p>
            <a:pPr lvl="0" algn="ctr" defTabSz="711200">
              <a:lnSpc>
                <a:spcPct val="90000"/>
              </a:lnSpc>
              <a:spcAft>
                <a:spcPct val="35000"/>
              </a:spcAft>
            </a:pPr>
            <a:endParaRPr kumimoji="1" lang="en-US" altLang="ja-JP" sz="1600">
              <a:latin typeface="+mn-lt"/>
            </a:endParaRPr>
          </a:p>
          <a:p>
            <a:pPr algn="ctr" defTabSz="711200">
              <a:lnSpc>
                <a:spcPct val="90000"/>
              </a:lnSpc>
              <a:spcAft>
                <a:spcPct val="35000"/>
              </a:spcAft>
            </a:pPr>
            <a:r>
              <a:rPr kumimoji="1" lang="ja-JP" altLang="en-US" sz="1600">
                <a:latin typeface="+mn-lt"/>
              </a:rPr>
              <a:t>翌期の収益</a:t>
            </a:r>
            <a:endParaRPr kumimoji="1" lang="en-US" altLang="ja-JP" sz="1600">
              <a:latin typeface="+mn-lt"/>
            </a:endParaRPr>
          </a:p>
          <a:p>
            <a:pPr algn="ctr" defTabSz="711200">
              <a:lnSpc>
                <a:spcPct val="90000"/>
              </a:lnSpc>
              <a:spcAft>
                <a:spcPct val="35000"/>
              </a:spcAft>
            </a:pPr>
            <a:endParaRPr lang="en-US" altLang="ja-JP" sz="1600"/>
          </a:p>
          <a:p>
            <a:pPr algn="ctr" defTabSz="711200">
              <a:lnSpc>
                <a:spcPct val="90000"/>
              </a:lnSpc>
              <a:spcAft>
                <a:spcPct val="35000"/>
              </a:spcAft>
            </a:pPr>
            <a:r>
              <a:rPr kumimoji="1" lang="ja-JP" altLang="en-US" sz="1600">
                <a:latin typeface="+mn-lt"/>
              </a:rPr>
              <a:t>翌々期の収益</a:t>
            </a:r>
          </a:p>
        </p:txBody>
      </p:sp>
      <p:sp>
        <p:nvSpPr>
          <p:cNvPr id="56" name="正方形/長方形 55">
            <a:extLst>
              <a:ext uri="{FF2B5EF4-FFF2-40B4-BE49-F238E27FC236}">
                <a16:creationId xmlns:a16="http://schemas.microsoft.com/office/drawing/2014/main" id="{29AC0732-B7AA-C264-A20B-BC82657AA804}"/>
              </a:ext>
            </a:extLst>
          </p:cNvPr>
          <p:cNvSpPr/>
          <p:nvPr/>
        </p:nvSpPr>
        <p:spPr bwMode="gray">
          <a:xfrm>
            <a:off x="10422746" y="5168990"/>
            <a:ext cx="1378927" cy="320456"/>
          </a:xfrm>
          <a:prstGeom prst="rect">
            <a:avLst/>
          </a:prstGeom>
          <a:solidFill>
            <a:srgbClr val="00A3E0"/>
          </a:solidFill>
          <a:ln w="12700" algn="ctr">
            <a:noFill/>
            <a:miter lim="800000"/>
            <a:headEnd/>
            <a:tailEnd/>
          </a:ln>
        </p:spPr>
        <p:txBody>
          <a:bodyPr wrap="square" lIns="36000" tIns="36000" rIns="36000" bIns="36000" rtlCol="0" anchor="ctr"/>
          <a:lstStyle/>
          <a:p>
            <a:pPr lvl="0" algn="ctr" defTabSz="711200">
              <a:lnSpc>
                <a:spcPct val="90000"/>
              </a:lnSpc>
              <a:spcAft>
                <a:spcPct val="35000"/>
              </a:spcAft>
            </a:pPr>
            <a:r>
              <a:rPr lang="en-US" altLang="ja-JP" sz="1600">
                <a:solidFill>
                  <a:schemeClr val="bg1"/>
                </a:solidFill>
              </a:rPr>
              <a:t>6,0</a:t>
            </a:r>
            <a:r>
              <a:rPr kumimoji="1" lang="en-US" altLang="ja-JP" sz="1600">
                <a:solidFill>
                  <a:schemeClr val="bg1"/>
                </a:solidFill>
                <a:latin typeface="+mn-lt"/>
              </a:rPr>
              <a:t>00</a:t>
            </a:r>
            <a:r>
              <a:rPr kumimoji="1" lang="ja-JP" altLang="en-US" sz="1600">
                <a:solidFill>
                  <a:schemeClr val="bg1"/>
                </a:solidFill>
                <a:latin typeface="+mn-lt"/>
              </a:rPr>
              <a:t>円</a:t>
            </a:r>
          </a:p>
        </p:txBody>
      </p:sp>
      <p:sp>
        <p:nvSpPr>
          <p:cNvPr id="57" name="正方形/長方形 56">
            <a:extLst>
              <a:ext uri="{FF2B5EF4-FFF2-40B4-BE49-F238E27FC236}">
                <a16:creationId xmlns:a16="http://schemas.microsoft.com/office/drawing/2014/main" id="{FC35F93E-1919-7FFC-404F-F76792628EBA}"/>
              </a:ext>
            </a:extLst>
          </p:cNvPr>
          <p:cNvSpPr/>
          <p:nvPr/>
        </p:nvSpPr>
        <p:spPr bwMode="gray">
          <a:xfrm>
            <a:off x="10462989" y="6352351"/>
            <a:ext cx="1378927" cy="288234"/>
          </a:xfrm>
          <a:prstGeom prst="rect">
            <a:avLst/>
          </a:prstGeom>
          <a:solidFill>
            <a:srgbClr val="00A3E0"/>
          </a:solidFill>
          <a:ln w="12700" algn="ctr">
            <a:noFill/>
            <a:miter lim="800000"/>
            <a:headEnd/>
            <a:tailEnd/>
          </a:ln>
        </p:spPr>
        <p:txBody>
          <a:bodyPr wrap="square" lIns="36000" tIns="36000" rIns="36000" bIns="36000" rtlCol="0" anchor="ctr"/>
          <a:lstStyle/>
          <a:p>
            <a:pPr lvl="0" algn="ctr" defTabSz="711200">
              <a:lnSpc>
                <a:spcPct val="90000"/>
              </a:lnSpc>
              <a:spcAft>
                <a:spcPct val="35000"/>
              </a:spcAft>
            </a:pPr>
            <a:r>
              <a:rPr kumimoji="1" lang="en-US" altLang="ja-JP" sz="1600">
                <a:solidFill>
                  <a:schemeClr val="bg1"/>
                </a:solidFill>
                <a:latin typeface="+mn-lt"/>
              </a:rPr>
              <a:t>6,000</a:t>
            </a:r>
            <a:r>
              <a:rPr kumimoji="1" lang="ja-JP" altLang="en-US" sz="1600">
                <a:solidFill>
                  <a:schemeClr val="bg1"/>
                </a:solidFill>
                <a:latin typeface="+mn-lt"/>
              </a:rPr>
              <a:t>円</a:t>
            </a:r>
          </a:p>
        </p:txBody>
      </p:sp>
      <p:sp>
        <p:nvSpPr>
          <p:cNvPr id="58" name="円/楕円 18">
            <a:extLst>
              <a:ext uri="{FF2B5EF4-FFF2-40B4-BE49-F238E27FC236}">
                <a16:creationId xmlns:a16="http://schemas.microsoft.com/office/drawing/2014/main" id="{CA8CEDCB-3922-09BE-D2F7-74803E2D57B3}"/>
              </a:ext>
            </a:extLst>
          </p:cNvPr>
          <p:cNvSpPr/>
          <p:nvPr/>
        </p:nvSpPr>
        <p:spPr bwMode="gray">
          <a:xfrm>
            <a:off x="10321423" y="4416075"/>
            <a:ext cx="1438943" cy="366402"/>
          </a:xfrm>
          <a:prstGeom prst="ellipse">
            <a:avLst/>
          </a:prstGeom>
          <a:solidFill>
            <a:schemeClr val="accent4"/>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t" anchorCtr="0"/>
          <a:lstStyle/>
          <a:p>
            <a:pPr>
              <a:lnSpc>
                <a:spcPct val="85000"/>
              </a:lnSpc>
              <a:spcAft>
                <a:spcPts val="600"/>
              </a:spcAft>
              <a:buClr>
                <a:schemeClr val="accent2"/>
              </a:buClr>
              <a:buSzPct val="70000"/>
            </a:pPr>
            <a:r>
              <a:rPr lang="ja-JP" altLang="en-US" sz="1600">
                <a:solidFill>
                  <a:schemeClr val="bg1"/>
                </a:solidFill>
              </a:rPr>
              <a:t>一定期間</a:t>
            </a:r>
          </a:p>
        </p:txBody>
      </p:sp>
      <p:sp>
        <p:nvSpPr>
          <p:cNvPr id="61" name="正方形/長方形 60">
            <a:extLst>
              <a:ext uri="{FF2B5EF4-FFF2-40B4-BE49-F238E27FC236}">
                <a16:creationId xmlns:a16="http://schemas.microsoft.com/office/drawing/2014/main" id="{236D1CE0-92B0-26B5-469B-796A5992680D}"/>
              </a:ext>
            </a:extLst>
          </p:cNvPr>
          <p:cNvSpPr/>
          <p:nvPr/>
        </p:nvSpPr>
        <p:spPr bwMode="gray">
          <a:xfrm>
            <a:off x="10462989" y="5732505"/>
            <a:ext cx="1378927" cy="320456"/>
          </a:xfrm>
          <a:prstGeom prst="rect">
            <a:avLst/>
          </a:prstGeom>
          <a:solidFill>
            <a:srgbClr val="00A3E0"/>
          </a:solidFill>
          <a:ln w="12700" algn="ctr">
            <a:noFill/>
            <a:miter lim="800000"/>
            <a:headEnd/>
            <a:tailEnd/>
          </a:ln>
        </p:spPr>
        <p:txBody>
          <a:bodyPr wrap="square" lIns="36000" tIns="36000" rIns="36000" bIns="36000" rtlCol="0" anchor="ctr"/>
          <a:lstStyle/>
          <a:p>
            <a:pPr lvl="0" algn="ctr" defTabSz="711200">
              <a:lnSpc>
                <a:spcPct val="90000"/>
              </a:lnSpc>
              <a:spcAft>
                <a:spcPct val="35000"/>
              </a:spcAft>
            </a:pPr>
            <a:r>
              <a:rPr lang="en-US" altLang="ja-JP" sz="1600">
                <a:solidFill>
                  <a:schemeClr val="bg1"/>
                </a:solidFill>
              </a:rPr>
              <a:t>6,0</a:t>
            </a:r>
            <a:r>
              <a:rPr kumimoji="1" lang="en-US" altLang="ja-JP" sz="1600">
                <a:solidFill>
                  <a:schemeClr val="bg1"/>
                </a:solidFill>
                <a:latin typeface="+mn-lt"/>
              </a:rPr>
              <a:t>00</a:t>
            </a:r>
            <a:r>
              <a:rPr kumimoji="1" lang="ja-JP" altLang="en-US" sz="1600">
                <a:solidFill>
                  <a:schemeClr val="bg1"/>
                </a:solidFill>
                <a:latin typeface="+mn-lt"/>
              </a:rPr>
              <a:t>円</a:t>
            </a:r>
          </a:p>
        </p:txBody>
      </p:sp>
      <p:sp>
        <p:nvSpPr>
          <p:cNvPr id="11" name="テキスト ボックス 10">
            <a:extLst>
              <a:ext uri="{FF2B5EF4-FFF2-40B4-BE49-F238E27FC236}">
                <a16:creationId xmlns:a16="http://schemas.microsoft.com/office/drawing/2014/main" id="{AF406541-3988-627F-F85F-D59515912358}"/>
              </a:ext>
            </a:extLst>
          </p:cNvPr>
          <p:cNvSpPr txBox="1"/>
          <p:nvPr/>
        </p:nvSpPr>
        <p:spPr bwMode="gray">
          <a:xfrm>
            <a:off x="6804183" y="904462"/>
            <a:ext cx="1578000" cy="246221"/>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sz="1600">
                <a:solidFill>
                  <a:schemeClr val="bg1"/>
                </a:solidFill>
              </a:rPr>
              <a:t>契約</a:t>
            </a:r>
          </a:p>
        </p:txBody>
      </p:sp>
      <p:sp>
        <p:nvSpPr>
          <p:cNvPr id="72" name="角丸四角形 43">
            <a:extLst>
              <a:ext uri="{FF2B5EF4-FFF2-40B4-BE49-F238E27FC236}">
                <a16:creationId xmlns:a16="http://schemas.microsoft.com/office/drawing/2014/main" id="{AE6D1ED4-36A1-A087-8080-F190AF6EC13D}"/>
              </a:ext>
            </a:extLst>
          </p:cNvPr>
          <p:cNvSpPr/>
          <p:nvPr/>
        </p:nvSpPr>
        <p:spPr bwMode="gray">
          <a:xfrm>
            <a:off x="6874905" y="5618020"/>
            <a:ext cx="2619781" cy="1052311"/>
          </a:xfrm>
          <a:prstGeom prst="roundRect">
            <a:avLst/>
          </a:prstGeom>
          <a:solidFill>
            <a:schemeClr val="bg2"/>
          </a:solidFill>
          <a:ln w="12700" algn="ctr">
            <a:noFill/>
            <a:miter lim="800000"/>
            <a:headEnd/>
            <a:tailEnd/>
          </a:ln>
        </p:spPr>
        <p:txBody>
          <a:bodyPr wrap="square" lIns="36000" tIns="36000" rIns="36000" bIns="36000" rtlCol="0" anchor="t"/>
          <a:lstStyle/>
          <a:p>
            <a:r>
              <a:rPr lang="en-US" altLang="ja-JP" sz="1400"/>
              <a:t>※</a:t>
            </a:r>
            <a:r>
              <a:rPr lang="ja-JP" altLang="en-US" sz="1400"/>
              <a:t>セット売りでない別売りでの価格</a:t>
            </a:r>
            <a:r>
              <a:rPr kumimoji="1" lang="ja-JP" altLang="en-US" sz="1400">
                <a:latin typeface="+mn-lt"/>
              </a:rPr>
              <a:t>（</a:t>
            </a:r>
            <a:r>
              <a:rPr kumimoji="1" lang="ja-JP" altLang="en-US" sz="1400">
                <a:solidFill>
                  <a:srgbClr val="FF0000"/>
                </a:solidFill>
                <a:latin typeface="+mn-lt"/>
              </a:rPr>
              <a:t>独立販売価格</a:t>
            </a:r>
            <a:r>
              <a:rPr kumimoji="1" lang="ja-JP" altLang="en-US" sz="1400">
                <a:latin typeface="+mn-lt"/>
              </a:rPr>
              <a:t>）</a:t>
            </a:r>
            <a:endParaRPr kumimoji="1" lang="en-US" altLang="ja-JP" sz="1400">
              <a:latin typeface="+mn-lt"/>
            </a:endParaRPr>
          </a:p>
          <a:p>
            <a:r>
              <a:rPr kumimoji="1" lang="en-US" altLang="ja-JP" sz="1400">
                <a:latin typeface="+mn-lt"/>
              </a:rPr>
              <a:t>TV</a:t>
            </a:r>
            <a:r>
              <a:rPr kumimoji="1" lang="ja-JP" altLang="en-US" sz="1400">
                <a:latin typeface="+mn-lt"/>
              </a:rPr>
              <a:t>の価格：</a:t>
            </a:r>
            <a:r>
              <a:rPr kumimoji="1" lang="en-US" altLang="ja-JP" sz="1400">
                <a:latin typeface="+mn-lt"/>
              </a:rPr>
              <a:t>80,000</a:t>
            </a:r>
            <a:r>
              <a:rPr kumimoji="1" lang="ja-JP" altLang="en-US" sz="1400">
                <a:latin typeface="+mn-lt"/>
              </a:rPr>
              <a:t>円</a:t>
            </a:r>
            <a:endParaRPr kumimoji="1" lang="en-US" altLang="ja-JP" sz="1400">
              <a:latin typeface="+mn-lt"/>
            </a:endParaRPr>
          </a:p>
          <a:p>
            <a:r>
              <a:rPr lang="ja-JP" altLang="en-US" sz="1400"/>
              <a:t>保証サービスの価格：</a:t>
            </a:r>
            <a:r>
              <a:rPr lang="en-US" altLang="ja-JP" sz="1400"/>
              <a:t>20,000</a:t>
            </a:r>
            <a:r>
              <a:rPr lang="ja-JP" altLang="en-US" sz="1400"/>
              <a:t>円</a:t>
            </a:r>
            <a:endParaRPr kumimoji="1" lang="ja-JP" altLang="en-US" sz="1400">
              <a:latin typeface="+mn-lt"/>
            </a:endParaRPr>
          </a:p>
        </p:txBody>
      </p:sp>
      <p:sp>
        <p:nvSpPr>
          <p:cNvPr id="73" name="テキスト ボックス 72">
            <a:extLst>
              <a:ext uri="{FF2B5EF4-FFF2-40B4-BE49-F238E27FC236}">
                <a16:creationId xmlns:a16="http://schemas.microsoft.com/office/drawing/2014/main" id="{A7DA8990-B1CA-8D07-A744-0E1DF318FF0F}"/>
              </a:ext>
            </a:extLst>
          </p:cNvPr>
          <p:cNvSpPr txBox="1"/>
          <p:nvPr/>
        </p:nvSpPr>
        <p:spPr bwMode="gray">
          <a:xfrm>
            <a:off x="8760920" y="4242437"/>
            <a:ext cx="2371889" cy="272382"/>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a:solidFill>
                  <a:srgbClr val="FF0000"/>
                </a:solidFill>
              </a:rPr>
              <a:t>８　　：　　２</a:t>
            </a:r>
          </a:p>
        </p:txBody>
      </p:sp>
      <p:sp>
        <p:nvSpPr>
          <p:cNvPr id="81" name="タイトル 2">
            <a:extLst>
              <a:ext uri="{FF2B5EF4-FFF2-40B4-BE49-F238E27FC236}">
                <a16:creationId xmlns:a16="http://schemas.microsoft.com/office/drawing/2014/main" id="{F85800B1-360F-6976-39AA-3B4BF7346B1F}"/>
              </a:ext>
            </a:extLst>
          </p:cNvPr>
          <p:cNvSpPr txBox="1">
            <a:spLocks/>
          </p:cNvSpPr>
          <p:nvPr/>
        </p:nvSpPr>
        <p:spPr>
          <a:xfrm>
            <a:off x="459865" y="923511"/>
            <a:ext cx="6656939" cy="371961"/>
          </a:xfrm>
          <a:prstGeom prst="rect">
            <a:avLst/>
          </a:prstGeom>
        </p:spPr>
        <p:txBody>
          <a:bodyPr vert="horz" lIns="0" tIns="36000" rIns="0" bIns="0" rtlCol="0" anchor="ctr">
            <a:normAutofit fontScale="52500" lnSpcReduction="200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br>
              <a:rPr lang="ja-JP" altLang="en-US"/>
            </a:br>
            <a:endParaRPr lang="ja-JP" altLang="en-US"/>
          </a:p>
        </p:txBody>
      </p:sp>
      <p:sp>
        <p:nvSpPr>
          <p:cNvPr id="82" name="テキスト プレースホルダー 3">
            <a:extLst>
              <a:ext uri="{FF2B5EF4-FFF2-40B4-BE49-F238E27FC236}">
                <a16:creationId xmlns:a16="http://schemas.microsoft.com/office/drawing/2014/main" id="{17D2B33D-C271-9A75-5B5A-E06EBBD65095}"/>
              </a:ext>
            </a:extLst>
          </p:cNvPr>
          <p:cNvSpPr>
            <a:spLocks noGrp="1"/>
          </p:cNvSpPr>
          <p:nvPr>
            <p:ph type="body" sz="quarter" idx="10"/>
          </p:nvPr>
        </p:nvSpPr>
        <p:spPr>
          <a:xfrm>
            <a:off x="626763" y="808550"/>
            <a:ext cx="5443489" cy="723590"/>
          </a:xfrm>
        </p:spPr>
        <p:txBody>
          <a:bodyPr/>
          <a:lstStyle/>
          <a:p>
            <a:r>
              <a:rPr lang="ja-JP" altLang="en-US" sz="1800" b="0"/>
              <a:t>売上をいくらで、いつ計上するかは以下の</a:t>
            </a:r>
            <a:r>
              <a:rPr lang="en-US" altLang="ja-JP" sz="1800" b="0"/>
              <a:t>5</a:t>
            </a:r>
            <a:r>
              <a:rPr lang="ja-JP" altLang="en-US" sz="1800" b="0"/>
              <a:t>つのステップを経て判断します。</a:t>
            </a:r>
          </a:p>
        </p:txBody>
      </p:sp>
    </p:spTree>
    <p:extLst>
      <p:ext uri="{BB962C8B-B14F-4D97-AF65-F5344CB8AC3E}">
        <p14:creationId xmlns:p14="http://schemas.microsoft.com/office/powerpoint/2010/main" val="37349039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48008-C182-C87B-0164-0F2417B308C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EB495567-29B8-4EEF-615C-E9BF47FDEAF7}"/>
              </a:ext>
            </a:extLst>
          </p:cNvPr>
          <p:cNvSpPr>
            <a:spLocks noGrp="1"/>
          </p:cNvSpPr>
          <p:nvPr>
            <p:ph type="title"/>
          </p:nvPr>
        </p:nvSpPr>
        <p:spPr>
          <a:xfrm>
            <a:off x="660000" y="365508"/>
            <a:ext cx="8531708" cy="371961"/>
          </a:xfrm>
        </p:spPr>
        <p:txBody>
          <a:bodyPr>
            <a:normAutofit/>
          </a:bodyPr>
          <a:lstStyle/>
          <a:p>
            <a:r>
              <a:rPr lang="en-US" altLang="ja-JP"/>
              <a:t>Appendix.</a:t>
            </a:r>
            <a:r>
              <a:rPr lang="ja-JP" altLang="en-US"/>
              <a:t>収益認識基準ー全体像</a:t>
            </a:r>
            <a:r>
              <a:rPr lang="en-US" altLang="ja-JP"/>
              <a:t>(2/3)</a:t>
            </a:r>
            <a:r>
              <a:rPr lang="ja-JP" altLang="en-US"/>
              <a:t>ー</a:t>
            </a:r>
          </a:p>
        </p:txBody>
      </p:sp>
      <p:graphicFrame>
        <p:nvGraphicFramePr>
          <p:cNvPr id="26" name="表 25">
            <a:extLst>
              <a:ext uri="{FF2B5EF4-FFF2-40B4-BE49-F238E27FC236}">
                <a16:creationId xmlns:a16="http://schemas.microsoft.com/office/drawing/2014/main" id="{FD3A2E49-D71A-46E6-E3D0-6EE1396BB1B4}"/>
              </a:ext>
            </a:extLst>
          </p:cNvPr>
          <p:cNvGraphicFramePr>
            <a:graphicFrameLocks noGrp="1"/>
          </p:cNvGraphicFramePr>
          <p:nvPr/>
        </p:nvGraphicFramePr>
        <p:xfrm>
          <a:off x="660000" y="1264259"/>
          <a:ext cx="11155638" cy="5555727"/>
        </p:xfrm>
        <a:graphic>
          <a:graphicData uri="http://schemas.openxmlformats.org/drawingml/2006/table">
            <a:tbl>
              <a:tblPr firstRow="1" bandRow="1">
                <a:tableStyleId>{5C22544A-7EE6-4342-B048-85BDC9FD1C3A}</a:tableStyleId>
              </a:tblPr>
              <a:tblGrid>
                <a:gridCol w="609032">
                  <a:extLst>
                    <a:ext uri="{9D8B030D-6E8A-4147-A177-3AD203B41FA5}">
                      <a16:colId xmlns:a16="http://schemas.microsoft.com/office/drawing/2014/main" val="2062402288"/>
                    </a:ext>
                  </a:extLst>
                </a:gridCol>
                <a:gridCol w="1121979">
                  <a:extLst>
                    <a:ext uri="{9D8B030D-6E8A-4147-A177-3AD203B41FA5}">
                      <a16:colId xmlns:a16="http://schemas.microsoft.com/office/drawing/2014/main" val="2491377948"/>
                    </a:ext>
                  </a:extLst>
                </a:gridCol>
                <a:gridCol w="3145043">
                  <a:extLst>
                    <a:ext uri="{9D8B030D-6E8A-4147-A177-3AD203B41FA5}">
                      <a16:colId xmlns:a16="http://schemas.microsoft.com/office/drawing/2014/main" val="3878590817"/>
                    </a:ext>
                  </a:extLst>
                </a:gridCol>
                <a:gridCol w="6279584">
                  <a:extLst>
                    <a:ext uri="{9D8B030D-6E8A-4147-A177-3AD203B41FA5}">
                      <a16:colId xmlns:a16="http://schemas.microsoft.com/office/drawing/2014/main" val="1208986305"/>
                    </a:ext>
                  </a:extLst>
                </a:gridCol>
              </a:tblGrid>
              <a:tr h="557007">
                <a:tc>
                  <a:txBody>
                    <a:bodyPr/>
                    <a:lstStyle/>
                    <a:p>
                      <a:pPr algn="ctr"/>
                      <a:r>
                        <a:rPr kumimoji="1" lang="en-US" altLang="ja-JP"/>
                        <a:t>No.</a:t>
                      </a:r>
                      <a:endParaRPr kumimoji="1" lang="ja-JP" altLang="en-US"/>
                    </a:p>
                  </a:txBody>
                  <a:tcPr anchor="ctr"/>
                </a:tc>
                <a:tc>
                  <a:txBody>
                    <a:bodyPr/>
                    <a:lstStyle/>
                    <a:p>
                      <a:pPr algn="ctr"/>
                      <a:r>
                        <a:rPr kumimoji="1" lang="ja-JP" altLang="en-US"/>
                        <a:t>専門用語</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内容</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身近な例（マッサージ店を営むことを例）</a:t>
                      </a:r>
                    </a:p>
                  </a:txBody>
                  <a:tcPr anchor="ctr"/>
                </a:tc>
                <a:extLst>
                  <a:ext uri="{0D108BD9-81ED-4DB2-BD59-A6C34878D82A}">
                    <a16:rowId xmlns:a16="http://schemas.microsoft.com/office/drawing/2014/main" val="2899885730"/>
                  </a:ext>
                </a:extLst>
              </a:tr>
              <a:tr h="1264736">
                <a:tc>
                  <a:txBody>
                    <a:bodyPr/>
                    <a:lstStyle/>
                    <a:p>
                      <a:pPr algn="ctr"/>
                      <a:r>
                        <a:rPr kumimoji="1" lang="ja-JP" altLang="en-US"/>
                        <a:t>１</a:t>
                      </a:r>
                    </a:p>
                  </a:txBody>
                  <a:tcPr anchor="ctr"/>
                </a:tc>
                <a:tc>
                  <a:txBody>
                    <a:bodyPr/>
                    <a:lstStyle/>
                    <a:p>
                      <a:r>
                        <a:rPr kumimoji="1" lang="ja-JP" altLang="en-US" sz="1600"/>
                        <a:t>顧客との契約</a:t>
                      </a:r>
                    </a:p>
                  </a:txBody>
                  <a:tcPr anchor="ctr"/>
                </a:tc>
                <a:tc>
                  <a:txBody>
                    <a:bodyPr/>
                    <a:lstStyle/>
                    <a:p>
                      <a:r>
                        <a:rPr kumimoji="1" lang="ja-JP" altLang="en-US" sz="1600"/>
                        <a:t>・お客さん（取引先）との間で結ばれたお互いが果たす「約束事」を指します。</a:t>
                      </a:r>
                      <a:endParaRPr kumimoji="1" lang="en-US" altLang="ja-JP" sz="1600"/>
                    </a:p>
                    <a:p>
                      <a:endParaRPr kumimoji="1" lang="en-US" altLang="ja-JP" sz="1600"/>
                    </a:p>
                  </a:txBody>
                  <a:tcPr anchor="ctr"/>
                </a:tc>
                <a:tc>
                  <a:txBody>
                    <a:bodyPr/>
                    <a:lstStyle/>
                    <a:p>
                      <a:r>
                        <a:rPr kumimoji="1" lang="ja-JP" altLang="en-US" sz="1600"/>
                        <a:t>・お客さんとどのコースをするのか？を事前にカウンセリングを行い、両者の約束事を識別します。</a:t>
                      </a:r>
                      <a:endParaRPr kumimoji="1" lang="en-US" altLang="ja-JP" sz="1600"/>
                    </a:p>
                    <a:p>
                      <a:r>
                        <a:rPr kumimoji="1" lang="ja-JP" altLang="en-US" sz="1600"/>
                        <a:t>「お客さんに対して</a:t>
                      </a:r>
                      <a:r>
                        <a:rPr kumimoji="1" lang="en-US" altLang="ja-JP" sz="1600"/>
                        <a:t>90</a:t>
                      </a:r>
                      <a:r>
                        <a:rPr kumimoji="1" lang="ja-JP" altLang="en-US" sz="1600"/>
                        <a:t>分の全身マッサージ（</a:t>
                      </a:r>
                      <a:r>
                        <a:rPr kumimoji="1" lang="en-US" altLang="ja-JP" sz="1600"/>
                        <a:t>10,000</a:t>
                      </a:r>
                      <a:r>
                        <a:rPr kumimoji="1" lang="ja-JP" altLang="en-US" sz="1600"/>
                        <a:t>円）を提供をする一方で、お客さんは</a:t>
                      </a:r>
                      <a:r>
                        <a:rPr kumimoji="1" lang="en-US" altLang="ja-JP" sz="1600"/>
                        <a:t>10,000</a:t>
                      </a:r>
                      <a:r>
                        <a:rPr kumimoji="1" lang="ja-JP" altLang="en-US" sz="1600"/>
                        <a:t>円支払う」との両社の「約束事」が顧客との契約に該当します。</a:t>
                      </a:r>
                      <a:endParaRPr kumimoji="1" lang="en-US" altLang="ja-JP" sz="1600"/>
                    </a:p>
                  </a:txBody>
                  <a:tcPr anchor="ctr"/>
                </a:tc>
                <a:extLst>
                  <a:ext uri="{0D108BD9-81ED-4DB2-BD59-A6C34878D82A}">
                    <a16:rowId xmlns:a16="http://schemas.microsoft.com/office/drawing/2014/main" val="1310979366"/>
                  </a:ext>
                </a:extLst>
              </a:tr>
              <a:tr h="1029436">
                <a:tc>
                  <a:txBody>
                    <a:bodyPr/>
                    <a:lstStyle/>
                    <a:p>
                      <a:pPr algn="ctr"/>
                      <a:r>
                        <a:rPr kumimoji="1" lang="ja-JP" altLang="en-US"/>
                        <a:t>２</a:t>
                      </a:r>
                    </a:p>
                  </a:txBody>
                  <a:tcPr anchor="ctr"/>
                </a:tc>
                <a:tc>
                  <a:txBody>
                    <a:bodyPr/>
                    <a:lstStyle/>
                    <a:p>
                      <a:r>
                        <a:rPr kumimoji="1" lang="ja-JP" altLang="en-US" sz="1600"/>
                        <a:t>履行義務</a:t>
                      </a:r>
                    </a:p>
                  </a:txBody>
                  <a:tcPr anchor="ctr"/>
                </a:tc>
                <a:tc>
                  <a:txBody>
                    <a:bodyPr/>
                    <a:lstStyle/>
                    <a:p>
                      <a:r>
                        <a:rPr kumimoji="1" lang="ja-JP" altLang="en-US" sz="1600"/>
                        <a:t>・お客さんからお金をもらうために、お客さんに対して提供しなければならないサービス（義務）を意味します。</a:t>
                      </a:r>
                      <a:endParaRPr kumimoji="1" lang="en-US" altLang="ja-JP" sz="1600"/>
                    </a:p>
                  </a:txBody>
                  <a:tcPr anchor="ctr"/>
                </a:tc>
                <a:tc>
                  <a:txBody>
                    <a:bodyPr/>
                    <a:lstStyle/>
                    <a:p>
                      <a:r>
                        <a:rPr kumimoji="1" lang="ja-JP" altLang="en-US" sz="1600"/>
                        <a:t>・お客さんからお金を得るために、お客さんが選択した全身マッサージコース（</a:t>
                      </a:r>
                      <a:r>
                        <a:rPr kumimoji="1" lang="en-US" altLang="ja-JP" sz="1600"/>
                        <a:t>90</a:t>
                      </a:r>
                      <a:r>
                        <a:rPr kumimoji="1" lang="ja-JP" altLang="en-US" sz="1600"/>
                        <a:t>分）を提供する義務を負います。</a:t>
                      </a:r>
                      <a:endParaRPr kumimoji="1" lang="en-US" altLang="ja-JP" sz="1600"/>
                    </a:p>
                    <a:p>
                      <a:r>
                        <a:rPr kumimoji="1" lang="ja-JP" altLang="en-US" sz="1600"/>
                        <a:t>このマッサージ店が果たすべき義務こそが履行義務に該当します。</a:t>
                      </a:r>
                      <a:endParaRPr kumimoji="1" lang="en-US" altLang="ja-JP" sz="1600"/>
                    </a:p>
                  </a:txBody>
                  <a:tcPr anchor="ctr"/>
                </a:tc>
                <a:extLst>
                  <a:ext uri="{0D108BD9-81ED-4DB2-BD59-A6C34878D82A}">
                    <a16:rowId xmlns:a16="http://schemas.microsoft.com/office/drawing/2014/main" val="885145048"/>
                  </a:ext>
                </a:extLst>
              </a:tr>
              <a:tr h="1264736">
                <a:tc>
                  <a:txBody>
                    <a:bodyPr/>
                    <a:lstStyle/>
                    <a:p>
                      <a:pPr algn="ctr"/>
                      <a:r>
                        <a:rPr kumimoji="1" lang="ja-JP" altLang="en-US"/>
                        <a:t>３</a:t>
                      </a:r>
                    </a:p>
                  </a:txBody>
                  <a:tcPr anchor="ctr"/>
                </a:tc>
                <a:tc>
                  <a:txBody>
                    <a:bodyPr/>
                    <a:lstStyle/>
                    <a:p>
                      <a:r>
                        <a:rPr kumimoji="1" lang="ja-JP" altLang="en-US" sz="1600"/>
                        <a:t>取引価格</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・お客さんと識別した契約（＝約束）の全体の金額を指します。</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お客さんとの約束で支払ってもらう金額の総額を指します。</a:t>
                      </a:r>
                      <a:endParaRPr kumimoji="1" lang="en-US" altLang="ja-JP" sz="160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この場合、履行義務が全身マッサージ</a:t>
                      </a:r>
                      <a:r>
                        <a:rPr kumimoji="1" lang="en-US" altLang="ja-JP" sz="1600"/>
                        <a:t>90</a:t>
                      </a:r>
                      <a:r>
                        <a:rPr kumimoji="1" lang="ja-JP" altLang="en-US" sz="1600"/>
                        <a:t>分（</a:t>
                      </a:r>
                      <a:r>
                        <a:rPr kumimoji="1" lang="en-US" altLang="ja-JP" sz="1600"/>
                        <a:t>10,000</a:t>
                      </a:r>
                      <a:r>
                        <a:rPr kumimoji="1" lang="ja-JP" altLang="en-US" sz="1600"/>
                        <a:t>円）だけなので</a:t>
                      </a:r>
                      <a:r>
                        <a:rPr kumimoji="1" lang="en-US" altLang="ja-JP" sz="1600"/>
                        <a:t>10,000</a:t>
                      </a:r>
                      <a:r>
                        <a:rPr kumimoji="1" lang="ja-JP" altLang="en-US" sz="1600"/>
                        <a:t>円が取引価格に該当します。仮にお客さんがオプションでヘッドスパ</a:t>
                      </a:r>
                      <a:r>
                        <a:rPr kumimoji="1" lang="en-US" altLang="ja-JP" sz="1600"/>
                        <a:t>3,000</a:t>
                      </a:r>
                      <a:r>
                        <a:rPr kumimoji="1" lang="ja-JP" altLang="en-US" sz="1600"/>
                        <a:t>円を追加した場合は、履行義務がもう一つ追加されるので</a:t>
                      </a:r>
                      <a:r>
                        <a:rPr kumimoji="1" lang="en-US" altLang="ja-JP" sz="1600"/>
                        <a:t>13,000</a:t>
                      </a:r>
                      <a:r>
                        <a:rPr kumimoji="1" lang="ja-JP" altLang="en-US" sz="1600"/>
                        <a:t>円が取引価格に該当します。</a:t>
                      </a:r>
                      <a:endParaRPr kumimoji="1" lang="en-US" altLang="ja-JP" sz="1600"/>
                    </a:p>
                  </a:txBody>
                  <a:tcPr anchor="ctr"/>
                </a:tc>
                <a:extLst>
                  <a:ext uri="{0D108BD9-81ED-4DB2-BD59-A6C34878D82A}">
                    <a16:rowId xmlns:a16="http://schemas.microsoft.com/office/drawing/2014/main" val="958969292"/>
                  </a:ext>
                </a:extLst>
              </a:tr>
              <a:tr h="1093520">
                <a:tc>
                  <a:txBody>
                    <a:bodyPr/>
                    <a:lstStyle/>
                    <a:p>
                      <a:pPr algn="ctr"/>
                      <a:r>
                        <a:rPr kumimoji="1" lang="ja-JP" altLang="en-US"/>
                        <a:t>４</a:t>
                      </a:r>
                    </a:p>
                  </a:txBody>
                  <a:tcPr anchor="ctr"/>
                </a:tc>
                <a:tc>
                  <a:txBody>
                    <a:bodyPr/>
                    <a:lstStyle/>
                    <a:p>
                      <a:r>
                        <a:rPr kumimoji="1" lang="ja-JP" altLang="en-US" sz="1600"/>
                        <a:t>履行義務を充足する</a:t>
                      </a:r>
                    </a:p>
                  </a:txBody>
                  <a:tcPr anchor="ctr"/>
                </a:tc>
                <a:tc>
                  <a:txBody>
                    <a:bodyPr/>
                    <a:lstStyle/>
                    <a:p>
                      <a:r>
                        <a:rPr kumimoji="1" lang="ja-JP" altLang="en-US" sz="1600"/>
                        <a:t>・お客さんがサービスを提供を受け、サービスに対して便益を受け取れたことを意味し、充足した時点が売上計上のタイミングになります。</a:t>
                      </a:r>
                      <a:endParaRPr kumimoji="1" lang="ja-JP" altLang="en-US" sz="1600" kern="1200">
                        <a:solidFill>
                          <a:schemeClr val="dk1"/>
                        </a:solidFill>
                        <a:latin typeface="+mn-lt"/>
                        <a:ea typeface="+mn-ea"/>
                        <a:cs typeface="+mn-cs"/>
                      </a:endParaRPr>
                    </a:p>
                  </a:txBody>
                  <a:tcPr anchor="ctr"/>
                </a:tc>
                <a:tc>
                  <a:txBody>
                    <a:bodyPr/>
                    <a:lstStyle/>
                    <a:p>
                      <a:r>
                        <a:rPr kumimoji="1" lang="ja-JP" altLang="en-US" sz="1600" kern="1200">
                          <a:solidFill>
                            <a:schemeClr val="dk1"/>
                          </a:solidFill>
                          <a:latin typeface="+mn-lt"/>
                          <a:ea typeface="+mn-ea"/>
                          <a:cs typeface="+mn-cs"/>
                        </a:rPr>
                        <a:t>お客さんが</a:t>
                      </a:r>
                      <a:r>
                        <a:rPr kumimoji="1" lang="en-US" altLang="ja-JP" sz="1600"/>
                        <a:t>90</a:t>
                      </a:r>
                      <a:r>
                        <a:rPr kumimoji="1" lang="ja-JP" altLang="en-US" sz="1600"/>
                        <a:t>分の全身マッサージを受け終わり、お客さんが満足した時が「履行義務の充足」のタイミングであり、お店が</a:t>
                      </a:r>
                      <a:r>
                        <a:rPr kumimoji="1" lang="en-US" altLang="ja-JP" sz="1600"/>
                        <a:t>10,000</a:t>
                      </a:r>
                      <a:r>
                        <a:rPr kumimoji="1" lang="ja-JP" altLang="en-US" sz="1600"/>
                        <a:t>円を売上計上すべきタイミングになります。</a:t>
                      </a:r>
                      <a:endParaRPr kumimoji="1" lang="ja-JP" altLang="en-US" sz="1600" kern="1200">
                        <a:solidFill>
                          <a:schemeClr val="dk1"/>
                        </a:solidFill>
                        <a:latin typeface="+mn-lt"/>
                        <a:ea typeface="+mn-ea"/>
                        <a:cs typeface="+mn-cs"/>
                      </a:endParaRPr>
                    </a:p>
                  </a:txBody>
                  <a:tcPr anchor="ctr"/>
                </a:tc>
                <a:extLst>
                  <a:ext uri="{0D108BD9-81ED-4DB2-BD59-A6C34878D82A}">
                    <a16:rowId xmlns:a16="http://schemas.microsoft.com/office/drawing/2014/main" val="247751132"/>
                  </a:ext>
                </a:extLst>
              </a:tr>
            </a:tbl>
          </a:graphicData>
        </a:graphic>
      </p:graphicFrame>
      <p:sp>
        <p:nvSpPr>
          <p:cNvPr id="29" name="テキスト プレースホルダー 3">
            <a:extLst>
              <a:ext uri="{FF2B5EF4-FFF2-40B4-BE49-F238E27FC236}">
                <a16:creationId xmlns:a16="http://schemas.microsoft.com/office/drawing/2014/main" id="{9DFDAD3B-FD63-B965-5BAF-D33F83CD13FA}"/>
              </a:ext>
            </a:extLst>
          </p:cNvPr>
          <p:cNvSpPr txBox="1">
            <a:spLocks/>
          </p:cNvSpPr>
          <p:nvPr/>
        </p:nvSpPr>
        <p:spPr>
          <a:xfrm>
            <a:off x="614901" y="892772"/>
            <a:ext cx="10945455" cy="371961"/>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マッサージ店を例に会計専門用語を解説します。</a:t>
            </a:r>
          </a:p>
        </p:txBody>
      </p:sp>
    </p:spTree>
    <p:extLst>
      <p:ext uri="{BB962C8B-B14F-4D97-AF65-F5344CB8AC3E}">
        <p14:creationId xmlns:p14="http://schemas.microsoft.com/office/powerpoint/2010/main" val="1817769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541A1-4F83-2F1F-7A28-723BBC49527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38F185C-AB68-DA46-ECBA-0ED57722AADF}"/>
              </a:ext>
            </a:extLst>
          </p:cNvPr>
          <p:cNvSpPr>
            <a:spLocks noGrp="1"/>
          </p:cNvSpPr>
          <p:nvPr>
            <p:ph type="title"/>
          </p:nvPr>
        </p:nvSpPr>
        <p:spPr>
          <a:xfrm>
            <a:off x="658800" y="367200"/>
            <a:ext cx="9525621" cy="371961"/>
          </a:xfrm>
        </p:spPr>
        <p:txBody>
          <a:bodyPr>
            <a:normAutofit/>
          </a:bodyPr>
          <a:lstStyle/>
          <a:p>
            <a:r>
              <a:rPr lang="en-US" altLang="ja-JP"/>
              <a:t>Appendix.</a:t>
            </a:r>
            <a:r>
              <a:rPr lang="ja-JP" altLang="en-US"/>
              <a:t>収益認識基準ー全体像</a:t>
            </a:r>
            <a:r>
              <a:rPr lang="en-US" altLang="ja-JP"/>
              <a:t>(3/3)</a:t>
            </a:r>
            <a:r>
              <a:rPr lang="ja-JP" altLang="en-US"/>
              <a:t>ー</a:t>
            </a:r>
          </a:p>
        </p:txBody>
      </p:sp>
      <p:graphicFrame>
        <p:nvGraphicFramePr>
          <p:cNvPr id="2" name="表 1">
            <a:extLst>
              <a:ext uri="{FF2B5EF4-FFF2-40B4-BE49-F238E27FC236}">
                <a16:creationId xmlns:a16="http://schemas.microsoft.com/office/drawing/2014/main" id="{936C0300-0594-E8A7-1A1C-EC6F30F1AA0A}"/>
              </a:ext>
            </a:extLst>
          </p:cNvPr>
          <p:cNvGraphicFramePr>
            <a:graphicFrameLocks noGrp="1"/>
          </p:cNvGraphicFramePr>
          <p:nvPr/>
        </p:nvGraphicFramePr>
        <p:xfrm>
          <a:off x="670560" y="1290403"/>
          <a:ext cx="10917099" cy="4269830"/>
        </p:xfrm>
        <a:graphic>
          <a:graphicData uri="http://schemas.openxmlformats.org/drawingml/2006/table">
            <a:tbl>
              <a:tblPr firstRow="1" bandRow="1">
                <a:tableStyleId>{5C22544A-7EE6-4342-B048-85BDC9FD1C3A}</a:tableStyleId>
              </a:tblPr>
              <a:tblGrid>
                <a:gridCol w="1584685">
                  <a:extLst>
                    <a:ext uri="{9D8B030D-6E8A-4147-A177-3AD203B41FA5}">
                      <a16:colId xmlns:a16="http://schemas.microsoft.com/office/drawing/2014/main" val="2062402288"/>
                    </a:ext>
                  </a:extLst>
                </a:gridCol>
                <a:gridCol w="2518199">
                  <a:extLst>
                    <a:ext uri="{9D8B030D-6E8A-4147-A177-3AD203B41FA5}">
                      <a16:colId xmlns:a16="http://schemas.microsoft.com/office/drawing/2014/main" val="2491377948"/>
                    </a:ext>
                  </a:extLst>
                </a:gridCol>
                <a:gridCol w="6814215">
                  <a:extLst>
                    <a:ext uri="{9D8B030D-6E8A-4147-A177-3AD203B41FA5}">
                      <a16:colId xmlns:a16="http://schemas.microsoft.com/office/drawing/2014/main" val="3878590817"/>
                    </a:ext>
                  </a:extLst>
                </a:gridCol>
              </a:tblGrid>
              <a:tr h="551339">
                <a:tc>
                  <a:txBody>
                    <a:bodyPr/>
                    <a:lstStyle/>
                    <a:p>
                      <a:pPr algn="ctr"/>
                      <a:endParaRPr kumimoji="1" lang="ja-JP" altLang="en-US"/>
                    </a:p>
                  </a:txBody>
                  <a:tcPr anchor="ctr"/>
                </a:tc>
                <a:tc>
                  <a:txBody>
                    <a:bodyPr/>
                    <a:lstStyle/>
                    <a:p>
                      <a:pPr algn="ctr"/>
                      <a:r>
                        <a:rPr kumimoji="1" lang="ja-JP" altLang="en-US"/>
                        <a:t>各</a:t>
                      </a:r>
                      <a:r>
                        <a:rPr kumimoji="1" lang="en-US" altLang="ja-JP"/>
                        <a:t>STEP</a:t>
                      </a:r>
                      <a:r>
                        <a:rPr kumimoji="1" lang="ja-JP" altLang="en-US"/>
                        <a:t>項目</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a:t>留意事項</a:t>
                      </a:r>
                    </a:p>
                  </a:txBody>
                  <a:tcPr anchor="ctr"/>
                </a:tc>
                <a:extLst>
                  <a:ext uri="{0D108BD9-81ED-4DB2-BD59-A6C34878D82A}">
                    <a16:rowId xmlns:a16="http://schemas.microsoft.com/office/drawing/2014/main" val="2899885730"/>
                  </a:ext>
                </a:extLst>
              </a:tr>
              <a:tr h="841921">
                <a:tc>
                  <a:txBody>
                    <a:bodyPr/>
                    <a:lstStyle/>
                    <a:p>
                      <a:pPr algn="ctr"/>
                      <a:r>
                        <a:rPr kumimoji="1" lang="ja-JP" altLang="en-US"/>
                        <a:t>ステップ</a:t>
                      </a:r>
                      <a:r>
                        <a:rPr kumimoji="1" lang="en-US" altLang="ja-JP"/>
                        <a:t>1</a:t>
                      </a:r>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kern="1200">
                          <a:solidFill>
                            <a:schemeClr val="dk1"/>
                          </a:solidFill>
                          <a:latin typeface="+mn-lt"/>
                          <a:ea typeface="+mn-ea"/>
                          <a:cs typeface="+mn-cs"/>
                        </a:rPr>
                        <a:t>顧客との契</a:t>
                      </a:r>
                      <a:r>
                        <a:rPr kumimoji="1" lang="ja-JP" altLang="en-US" sz="1600"/>
                        <a:t>約を識別する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a:solidFill>
                            <a:srgbClr val="FF0000"/>
                          </a:solidFill>
                        </a:rPr>
                        <a:t>顧客と合意が取れていない契約を売上計上の基礎とすることはできない</a:t>
                      </a:r>
                      <a:r>
                        <a:rPr kumimoji="1" lang="ja-JP" altLang="en-US" sz="1600" b="0">
                          <a:solidFill>
                            <a:schemeClr val="tx1"/>
                          </a:solidFill>
                        </a:rPr>
                        <a:t>点に注意が必要です。（例：顧客からの注文書がないものは売上計上できない）</a:t>
                      </a:r>
                      <a:endParaRPr kumimoji="1" lang="en-US" altLang="ja-JP" sz="1600" b="0">
                        <a:solidFill>
                          <a:schemeClr val="tx1"/>
                        </a:solidFill>
                      </a:endParaRPr>
                    </a:p>
                  </a:txBody>
                  <a:tcPr anchor="ctr"/>
                </a:tc>
                <a:extLst>
                  <a:ext uri="{0D108BD9-81ED-4DB2-BD59-A6C34878D82A}">
                    <a16:rowId xmlns:a16="http://schemas.microsoft.com/office/drawing/2014/main" val="1310979366"/>
                  </a:ext>
                </a:extLst>
              </a:tr>
              <a:tr h="839386">
                <a:tc>
                  <a:txBody>
                    <a:bodyPr/>
                    <a:lstStyle/>
                    <a:p>
                      <a:pPr algn="ctr"/>
                      <a:r>
                        <a:rPr kumimoji="1" lang="ja-JP" altLang="en-US"/>
                        <a:t>ステップ</a:t>
                      </a:r>
                      <a:r>
                        <a:rPr kumimoji="1" lang="en-US" altLang="ja-JP"/>
                        <a:t>2</a:t>
                      </a:r>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契約における履行義務を識別する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企業がお金を得るために果たすべきサービス（履行義務）の単位は基本的には</a:t>
                      </a:r>
                      <a:r>
                        <a:rPr kumimoji="1" lang="ja-JP" altLang="en-US" sz="1600">
                          <a:solidFill>
                            <a:srgbClr val="FF0000"/>
                          </a:solidFill>
                        </a:rPr>
                        <a:t>注文単位（顧客が代金を支払ってもらえる単位）になる点</a:t>
                      </a:r>
                      <a:r>
                        <a:rPr kumimoji="1" lang="ja-JP" altLang="en-US" sz="1600" b="0" i="0" u="none" strike="noStrike" kern="1200" cap="none" spc="110" normalizeH="0" baseline="0" noProof="0">
                          <a:ln>
                            <a:noFill/>
                          </a:ln>
                          <a:solidFill>
                            <a:srgbClr val="262626"/>
                          </a:solidFill>
                          <a:effectLst/>
                          <a:uLnTx/>
                          <a:uFillTx/>
                          <a:latin typeface="+mn-lt"/>
                          <a:ea typeface="+mn-ea"/>
                          <a:cs typeface="+mn-cs"/>
                        </a:rPr>
                        <a:t>（詳細は</a:t>
                      </a:r>
                      <a:r>
                        <a:rPr kumimoji="1" lang="en-US" altLang="ja-JP" sz="1600" b="0" i="0" u="none" strike="noStrike" kern="1200" cap="none" spc="110" normalizeH="0" baseline="0" noProof="0">
                          <a:ln>
                            <a:noFill/>
                          </a:ln>
                          <a:solidFill>
                            <a:srgbClr val="262626"/>
                          </a:solidFill>
                          <a:effectLst/>
                          <a:uLnTx/>
                          <a:uFillTx/>
                          <a:latin typeface="+mn-lt"/>
                          <a:ea typeface="+mn-ea"/>
                          <a:cs typeface="+mn-cs"/>
                        </a:rPr>
                        <a:t>STEP2</a:t>
                      </a:r>
                      <a:r>
                        <a:rPr kumimoji="1" lang="ja-JP" altLang="en-US" sz="1600" b="0" i="0" u="none" strike="noStrike" kern="1200" cap="none" spc="110" normalizeH="0" baseline="0" noProof="0">
                          <a:ln>
                            <a:noFill/>
                          </a:ln>
                          <a:solidFill>
                            <a:srgbClr val="262626"/>
                          </a:solidFill>
                          <a:effectLst/>
                          <a:uLnTx/>
                          <a:uFillTx/>
                          <a:latin typeface="+mn-lt"/>
                          <a:ea typeface="+mn-ea"/>
                          <a:cs typeface="+mn-cs"/>
                        </a:rPr>
                        <a:t>にて後述）</a:t>
                      </a:r>
                      <a:r>
                        <a:rPr kumimoji="1" lang="ja-JP" altLang="en-US" sz="1600" b="0" i="0" u="none" strike="noStrike" kern="1200" cap="none" spc="110" normalizeH="0" baseline="0" noProof="0">
                          <a:ln>
                            <a:noFill/>
                          </a:ln>
                          <a:solidFill>
                            <a:schemeClr val="tx1"/>
                          </a:solidFill>
                          <a:effectLst/>
                          <a:uLnTx/>
                          <a:uFillTx/>
                          <a:latin typeface="+mn-lt"/>
                          <a:ea typeface="+mn-ea"/>
                          <a:cs typeface="+mn-cs"/>
                        </a:rPr>
                        <a:t>に注意が必要です。（</a:t>
                      </a:r>
                      <a:r>
                        <a:rPr kumimoji="1" lang="en-US" altLang="ja-JP" sz="1600" b="0" i="0" u="none" strike="noStrike" kern="1200" cap="none" spc="110" normalizeH="0" baseline="0" noProof="0">
                          <a:ln>
                            <a:noFill/>
                          </a:ln>
                          <a:solidFill>
                            <a:schemeClr val="tx1"/>
                          </a:solidFill>
                          <a:effectLst/>
                          <a:uLnTx/>
                          <a:uFillTx/>
                          <a:latin typeface="+mn-lt"/>
                          <a:ea typeface="+mn-ea"/>
                          <a:cs typeface="+mn-cs"/>
                        </a:rPr>
                        <a:t>※</a:t>
                      </a:r>
                      <a:r>
                        <a:rPr kumimoji="1" lang="ja-JP" altLang="en-US" sz="1600" b="0" i="0" u="none" strike="noStrike" kern="1200" cap="none" spc="110" normalizeH="0" baseline="0" noProof="0">
                          <a:ln>
                            <a:noFill/>
                          </a:ln>
                          <a:solidFill>
                            <a:schemeClr val="tx1"/>
                          </a:solidFill>
                          <a:effectLst/>
                          <a:uLnTx/>
                          <a:uFillTx/>
                          <a:latin typeface="+mn-lt"/>
                          <a:ea typeface="+mn-ea"/>
                          <a:cs typeface="+mn-cs"/>
                        </a:rPr>
                        <a:t>業界慣行で工事着手金として前受金が顧客から支払れることがありますが、その支払額は注文金額の一部にすぎず、前受金の受取額＝注文金額にはならない点留意ください。）</a:t>
                      </a:r>
                      <a:endParaRPr kumimoji="1" lang="en-US" altLang="ja-JP" sz="1600">
                        <a:solidFill>
                          <a:schemeClr val="tx1"/>
                        </a:solidFill>
                      </a:endParaRPr>
                    </a:p>
                  </a:txBody>
                  <a:tcPr anchor="ctr"/>
                </a:tc>
                <a:extLst>
                  <a:ext uri="{0D108BD9-81ED-4DB2-BD59-A6C34878D82A}">
                    <a16:rowId xmlns:a16="http://schemas.microsoft.com/office/drawing/2014/main" val="885145048"/>
                  </a:ext>
                </a:extLst>
              </a:tr>
              <a:tr h="742970">
                <a:tc>
                  <a:txBody>
                    <a:bodyPr/>
                    <a:lstStyle/>
                    <a:p>
                      <a:pPr algn="ctr"/>
                      <a:r>
                        <a:rPr kumimoji="1" lang="ja-JP" altLang="en-US"/>
                        <a:t>ステップ</a:t>
                      </a:r>
                      <a:r>
                        <a:rPr kumimoji="1" lang="en-US" altLang="ja-JP"/>
                        <a:t>3</a:t>
                      </a:r>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取引価格を算定する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a:t>顧客との約束の中で実際に</a:t>
                      </a:r>
                      <a:r>
                        <a:rPr lang="ja-JP" altLang="en-US" sz="1600">
                          <a:solidFill>
                            <a:srgbClr val="FF0000"/>
                          </a:solidFill>
                        </a:rPr>
                        <a:t>顧客から支払われる額を代価とする</a:t>
                      </a:r>
                      <a:r>
                        <a:rPr lang="ja-JP" altLang="en-US" sz="1600">
                          <a:solidFill>
                            <a:schemeClr val="tx1"/>
                          </a:solidFill>
                        </a:rPr>
                        <a:t>必要があります。</a:t>
                      </a:r>
                      <a:endParaRPr lang="en-US" altLang="ja-JP" sz="1600">
                        <a:solidFill>
                          <a:schemeClr val="tx1"/>
                        </a:solidFill>
                      </a:endParaRPr>
                    </a:p>
                  </a:txBody>
                  <a:tcPr anchor="ctr"/>
                </a:tc>
                <a:extLst>
                  <a:ext uri="{0D108BD9-81ED-4DB2-BD59-A6C34878D82A}">
                    <a16:rowId xmlns:a16="http://schemas.microsoft.com/office/drawing/2014/main" val="958969292"/>
                  </a:ext>
                </a:extLst>
              </a:tr>
              <a:tr h="807215">
                <a:tc>
                  <a:txBody>
                    <a:bodyPr/>
                    <a:lstStyle/>
                    <a:p>
                      <a:pPr algn="ctr"/>
                      <a:r>
                        <a:rPr kumimoji="1" lang="ja-JP" altLang="en-US"/>
                        <a:t>ステップ</a:t>
                      </a:r>
                      <a:r>
                        <a:rPr kumimoji="1" lang="en-US" altLang="ja-JP"/>
                        <a:t>5</a:t>
                      </a:r>
                      <a:endParaRPr kumimoji="1" lang="ja-JP" altLang="en-US"/>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a:t>履行義務が充足された時に又は充足につれて収益を認識する</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0" i="0" u="none" strike="noStrike" kern="1200" cap="none" spc="110" normalizeH="0" baseline="0" noProof="0">
                          <a:ln>
                            <a:noFill/>
                          </a:ln>
                          <a:solidFill>
                            <a:srgbClr val="FF0000"/>
                          </a:solidFill>
                          <a:effectLst/>
                          <a:uLnTx/>
                          <a:uFillTx/>
                          <a:latin typeface="+mn-lt"/>
                          <a:ea typeface="+mn-ea"/>
                          <a:cs typeface="+mn-cs"/>
                        </a:rPr>
                        <a:t>顧客が便益を享受できた時点で売上計上する必要があるため、顧客が便益を享受するタイミングを契約内容・サービスの性質から判断する</a:t>
                      </a:r>
                      <a:r>
                        <a:rPr kumimoji="1" lang="ja-JP" altLang="en-US" sz="1600" b="0" i="0" u="none" strike="noStrike" kern="1200" cap="none" spc="110" normalizeH="0" baseline="0" noProof="0">
                          <a:ln>
                            <a:noFill/>
                          </a:ln>
                          <a:solidFill>
                            <a:schemeClr val="tx1"/>
                          </a:solidFill>
                          <a:effectLst/>
                          <a:uLnTx/>
                          <a:uFillTx/>
                          <a:latin typeface="+mn-lt"/>
                          <a:ea typeface="+mn-ea"/>
                          <a:cs typeface="+mn-cs"/>
                        </a:rPr>
                        <a:t>必要があります。（詳細はステップ</a:t>
                      </a:r>
                      <a:r>
                        <a:rPr kumimoji="1" lang="en-US" altLang="ja-JP" sz="1600" b="0" i="0" u="none" strike="noStrike" kern="1200" cap="none" spc="110" normalizeH="0" baseline="0" noProof="0">
                          <a:ln>
                            <a:noFill/>
                          </a:ln>
                          <a:solidFill>
                            <a:schemeClr val="tx1"/>
                          </a:solidFill>
                          <a:effectLst/>
                          <a:uLnTx/>
                          <a:uFillTx/>
                          <a:latin typeface="+mn-lt"/>
                          <a:ea typeface="+mn-ea"/>
                          <a:cs typeface="+mn-cs"/>
                        </a:rPr>
                        <a:t>2</a:t>
                      </a:r>
                      <a:r>
                        <a:rPr kumimoji="1" lang="ja-JP" altLang="en-US" sz="1600" b="0" i="0" u="none" strike="noStrike" kern="1200" cap="none" spc="110" normalizeH="0" baseline="0" noProof="0">
                          <a:ln>
                            <a:noFill/>
                          </a:ln>
                          <a:solidFill>
                            <a:schemeClr val="tx1"/>
                          </a:solidFill>
                          <a:effectLst/>
                          <a:uLnTx/>
                          <a:uFillTx/>
                          <a:latin typeface="+mn-lt"/>
                          <a:ea typeface="+mn-ea"/>
                          <a:cs typeface="+mn-cs"/>
                        </a:rPr>
                        <a:t>・ステップ</a:t>
                      </a:r>
                      <a:r>
                        <a:rPr kumimoji="1" lang="en-US" altLang="ja-JP" sz="1600" b="0" i="0" u="none" strike="noStrike" kern="1200" cap="none" spc="110" normalizeH="0" baseline="0" noProof="0">
                          <a:ln>
                            <a:noFill/>
                          </a:ln>
                          <a:solidFill>
                            <a:schemeClr val="tx1"/>
                          </a:solidFill>
                          <a:effectLst/>
                          <a:uLnTx/>
                          <a:uFillTx/>
                          <a:latin typeface="+mn-lt"/>
                          <a:ea typeface="+mn-ea"/>
                          <a:cs typeface="+mn-cs"/>
                        </a:rPr>
                        <a:t>5</a:t>
                      </a:r>
                      <a:r>
                        <a:rPr kumimoji="1" lang="ja-JP" altLang="en-US" sz="1600" b="0" i="0" u="none" strike="noStrike" kern="1200" cap="none" spc="110" normalizeH="0" baseline="0" noProof="0">
                          <a:ln>
                            <a:noFill/>
                          </a:ln>
                          <a:solidFill>
                            <a:schemeClr val="tx1"/>
                          </a:solidFill>
                          <a:effectLst/>
                          <a:uLnTx/>
                          <a:uFillTx/>
                          <a:latin typeface="+mn-lt"/>
                          <a:ea typeface="+mn-ea"/>
                          <a:cs typeface="+mn-cs"/>
                        </a:rPr>
                        <a:t>にて後述）</a:t>
                      </a:r>
                      <a:endParaRPr kumimoji="1" lang="en-US" altLang="ja-JP" sz="1600" b="0" i="0" u="none" strike="noStrike" kern="1200" cap="none" spc="110" normalizeH="0" baseline="0" noProof="0">
                        <a:ln>
                          <a:noFill/>
                        </a:ln>
                        <a:solidFill>
                          <a:schemeClr val="tx1"/>
                        </a:solidFill>
                        <a:effectLst/>
                        <a:uLnTx/>
                        <a:uFillTx/>
                        <a:latin typeface="+mn-lt"/>
                        <a:ea typeface="+mn-ea"/>
                        <a:cs typeface="+mn-cs"/>
                      </a:endParaRPr>
                    </a:p>
                  </a:txBody>
                  <a:tcPr anchor="ctr"/>
                </a:tc>
                <a:extLst>
                  <a:ext uri="{0D108BD9-81ED-4DB2-BD59-A6C34878D82A}">
                    <a16:rowId xmlns:a16="http://schemas.microsoft.com/office/drawing/2014/main" val="247751132"/>
                  </a:ext>
                </a:extLst>
              </a:tr>
            </a:tbl>
          </a:graphicData>
        </a:graphic>
      </p:graphicFrame>
      <p:sp>
        <p:nvSpPr>
          <p:cNvPr id="6" name="矢印: 五方向 5">
            <a:extLst>
              <a:ext uri="{FF2B5EF4-FFF2-40B4-BE49-F238E27FC236}">
                <a16:creationId xmlns:a16="http://schemas.microsoft.com/office/drawing/2014/main" id="{F384398B-9E98-B7DF-1758-37DCAEAE26EC}"/>
              </a:ext>
            </a:extLst>
          </p:cNvPr>
          <p:cNvSpPr/>
          <p:nvPr/>
        </p:nvSpPr>
        <p:spPr>
          <a:xfrm rot="5400000">
            <a:off x="5721461" y="1483144"/>
            <a:ext cx="298421" cy="8651019"/>
          </a:xfrm>
          <a:prstGeom prst="homePlate">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chemeClr val="tx1"/>
              </a:solidFill>
              <a:effectLst/>
              <a:uLnTx/>
              <a:uFillTx/>
              <a:latin typeface="+mn-ea"/>
              <a:cs typeface="+mn-cs"/>
            </a:endParaRPr>
          </a:p>
        </p:txBody>
      </p:sp>
      <p:sp>
        <p:nvSpPr>
          <p:cNvPr id="9" name="テキスト プレースホルダー 3">
            <a:extLst>
              <a:ext uri="{FF2B5EF4-FFF2-40B4-BE49-F238E27FC236}">
                <a16:creationId xmlns:a16="http://schemas.microsoft.com/office/drawing/2014/main" id="{8D766A64-3675-5848-F557-B7D3E2F2FDAD}"/>
              </a:ext>
            </a:extLst>
          </p:cNvPr>
          <p:cNvSpPr>
            <a:spLocks noGrp="1"/>
          </p:cNvSpPr>
          <p:nvPr>
            <p:ph type="body" sz="quarter" idx="10"/>
          </p:nvPr>
        </p:nvSpPr>
        <p:spPr>
          <a:xfrm>
            <a:off x="1156200" y="6087515"/>
            <a:ext cx="10431459" cy="770485"/>
          </a:xfrm>
        </p:spPr>
        <p:txBody>
          <a:bodyPr/>
          <a:lstStyle/>
          <a:p>
            <a:r>
              <a:rPr lang="ja-JP" altLang="en-US" sz="1800" b="0"/>
              <a:t>顧客との契約条件・契約内容次第で会計処理に大きな影響を与えるので、契約時には留意が必要になります。</a:t>
            </a:r>
          </a:p>
        </p:txBody>
      </p:sp>
      <p:sp>
        <p:nvSpPr>
          <p:cNvPr id="10" name="テキスト プレースホルダー 3">
            <a:extLst>
              <a:ext uri="{FF2B5EF4-FFF2-40B4-BE49-F238E27FC236}">
                <a16:creationId xmlns:a16="http://schemas.microsoft.com/office/drawing/2014/main" id="{918EF72C-D0AF-11BC-5048-5538C3460098}"/>
              </a:ext>
            </a:extLst>
          </p:cNvPr>
          <p:cNvSpPr txBox="1">
            <a:spLocks/>
          </p:cNvSpPr>
          <p:nvPr/>
        </p:nvSpPr>
        <p:spPr>
          <a:xfrm>
            <a:off x="614901" y="892772"/>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収益認識基準は、客観性を保つために「顧客」目線で収益認識を図る会計基準になります。</a:t>
            </a:r>
          </a:p>
        </p:txBody>
      </p:sp>
    </p:spTree>
    <p:extLst>
      <p:ext uri="{BB962C8B-B14F-4D97-AF65-F5344CB8AC3E}">
        <p14:creationId xmlns:p14="http://schemas.microsoft.com/office/powerpoint/2010/main" val="3920244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B960-1AF1-025B-DD9C-E0F844184EE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FE8E954-96B6-98D8-87BF-EFB360D15703}"/>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1</a:t>
            </a:r>
            <a:endParaRPr lang="ja-JP" altLang="en-US"/>
          </a:p>
        </p:txBody>
      </p:sp>
      <p:sp>
        <p:nvSpPr>
          <p:cNvPr id="81" name="タイトル 2">
            <a:extLst>
              <a:ext uri="{FF2B5EF4-FFF2-40B4-BE49-F238E27FC236}">
                <a16:creationId xmlns:a16="http://schemas.microsoft.com/office/drawing/2014/main" id="{A158A75D-65D9-34E0-F053-58565E694777}"/>
              </a:ext>
            </a:extLst>
          </p:cNvPr>
          <p:cNvSpPr txBox="1">
            <a:spLocks/>
          </p:cNvSpPr>
          <p:nvPr/>
        </p:nvSpPr>
        <p:spPr>
          <a:xfrm>
            <a:off x="459865" y="923511"/>
            <a:ext cx="6656939" cy="371961"/>
          </a:xfrm>
          <a:prstGeom prst="rect">
            <a:avLst/>
          </a:prstGeom>
        </p:spPr>
        <p:txBody>
          <a:bodyPr vert="horz" lIns="0" tIns="36000" rIns="0" bIns="0" rtlCol="0" anchor="ctr">
            <a:normAutofit fontScale="52500" lnSpcReduction="200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br>
              <a:rPr lang="ja-JP" altLang="en-US"/>
            </a:br>
            <a:endParaRPr lang="ja-JP" altLang="en-US"/>
          </a:p>
        </p:txBody>
      </p:sp>
      <p:sp>
        <p:nvSpPr>
          <p:cNvPr id="79" name="テキスト ボックス 78">
            <a:extLst>
              <a:ext uri="{FF2B5EF4-FFF2-40B4-BE49-F238E27FC236}">
                <a16:creationId xmlns:a16="http://schemas.microsoft.com/office/drawing/2014/main" id="{49CC0421-3174-ED67-2647-2AEBCEED59B9}"/>
              </a:ext>
            </a:extLst>
          </p:cNvPr>
          <p:cNvSpPr txBox="1"/>
          <p:nvPr/>
        </p:nvSpPr>
        <p:spPr>
          <a:xfrm>
            <a:off x="4536393" y="4894628"/>
            <a:ext cx="383936" cy="330072"/>
          </a:xfrm>
          <a:prstGeom prst="rect">
            <a:avLst/>
          </a:prstGeom>
          <a:noFill/>
        </p:spPr>
        <p:txBody>
          <a:bodyPr wrap="square" lIns="72000" tIns="72000" rIns="72000" bIns="72000" rtlCol="0" anchor="ctr" anchorCtr="0">
            <a:spAutoFit/>
          </a:bodyPr>
          <a:lstStyle/>
          <a:p>
            <a:r>
              <a:rPr kumimoji="1" lang="en-US" altLang="ja-JP" sz="1200">
                <a:latin typeface="+mn-lt"/>
              </a:rPr>
              <a:t>NO</a:t>
            </a:r>
            <a:endParaRPr kumimoji="1" lang="ja-JP" altLang="en-US" sz="1200">
              <a:latin typeface="+mn-lt"/>
              <a:ea typeface="+mn-ea"/>
            </a:endParaRPr>
          </a:p>
        </p:txBody>
      </p:sp>
      <p:grpSp>
        <p:nvGrpSpPr>
          <p:cNvPr id="84" name="グループ化 83">
            <a:extLst>
              <a:ext uri="{FF2B5EF4-FFF2-40B4-BE49-F238E27FC236}">
                <a16:creationId xmlns:a16="http://schemas.microsoft.com/office/drawing/2014/main" id="{D7E2A48E-5C83-9488-309B-A78345150D1E}"/>
              </a:ext>
            </a:extLst>
          </p:cNvPr>
          <p:cNvGrpSpPr/>
          <p:nvPr/>
        </p:nvGrpSpPr>
        <p:grpSpPr>
          <a:xfrm>
            <a:off x="703248" y="923511"/>
            <a:ext cx="8179420" cy="1195006"/>
            <a:chOff x="422202" y="1302581"/>
            <a:chExt cx="8369189" cy="1830999"/>
          </a:xfrm>
        </p:grpSpPr>
        <p:sp>
          <p:nvSpPr>
            <p:cNvPr id="85" name="正方形/長方形 15">
              <a:extLst>
                <a:ext uri="{FF2B5EF4-FFF2-40B4-BE49-F238E27FC236}">
                  <a16:creationId xmlns:a16="http://schemas.microsoft.com/office/drawing/2014/main" id="{8F7EB4D5-2048-A9B6-AD84-F5ED407CFB74}"/>
                </a:ext>
              </a:extLst>
            </p:cNvPr>
            <p:cNvSpPr>
              <a:spLocks noChangeArrowheads="1"/>
            </p:cNvSpPr>
            <p:nvPr/>
          </p:nvSpPr>
          <p:spPr bwMode="gray">
            <a:xfrm>
              <a:off x="422202" y="1784205"/>
              <a:ext cx="8369189" cy="1349375"/>
            </a:xfrm>
            <a:prstGeom prst="rect">
              <a:avLst/>
            </a:prstGeom>
            <a:noFill/>
            <a:ln w="12700" algn="ctr">
              <a:solidFill>
                <a:schemeClr val="accent6"/>
              </a:solidFill>
              <a:round/>
              <a:headEnd/>
              <a:tailEnd/>
            </a:ln>
          </p:spPr>
          <p:txBody>
            <a:bodyPr lIns="35999" tIns="71998" rIns="35999" bIns="71998" anchor="t"/>
            <a:lstStyle/>
            <a:p>
              <a:pPr marL="1539875" indent="-226800">
                <a:buFont typeface="Wingdings" panose="05000000000000000000" pitchFamily="2" charset="2"/>
                <a:buChar char="n"/>
                <a:defRPr/>
              </a:pPr>
              <a:r>
                <a:rPr kumimoji="1" lang="ja-JP" altLang="en-US" sz="1600">
                  <a:latin typeface="+mn-ea"/>
                </a:rPr>
                <a:t>契約とは、</a:t>
              </a:r>
              <a:r>
                <a:rPr lang="ja-JP" altLang="en-US" sz="1600">
                  <a:latin typeface="+mn-ea"/>
                </a:rPr>
                <a:t>法的な強制力のある権利及び義務を生じさせる複数の当事者間</a:t>
              </a:r>
              <a:endParaRPr lang="en-US" altLang="ja-JP" sz="1600">
                <a:latin typeface="+mn-ea"/>
              </a:endParaRPr>
            </a:p>
            <a:p>
              <a:pPr marL="1254125" indent="298450">
                <a:defRPr/>
              </a:pPr>
              <a:r>
                <a:rPr lang="ja-JP" altLang="en-US" sz="1600">
                  <a:latin typeface="+mn-ea"/>
                </a:rPr>
                <a:t>における取決め</a:t>
              </a:r>
              <a:endParaRPr kumimoji="1" lang="ja-JP" altLang="en-US" sz="1600">
                <a:latin typeface="+mn-ea"/>
              </a:endParaRPr>
            </a:p>
            <a:p>
              <a:pPr marL="1539875" indent="-226800">
                <a:buFont typeface="Wingdings" panose="05000000000000000000" pitchFamily="2" charset="2"/>
                <a:buChar char="n"/>
                <a:defRPr/>
              </a:pPr>
              <a:r>
                <a:rPr kumimoji="1" lang="ja-JP" altLang="en-US" sz="1600">
                  <a:latin typeface="+mn-ea"/>
                </a:rPr>
                <a:t>契約は書面、口頭、取引慣行等により成立する</a:t>
              </a:r>
              <a:endParaRPr lang="en-US" altLang="ja-JP" sz="1600">
                <a:latin typeface="ＭＳ Ｐゴシック" charset="-128"/>
              </a:endParaRPr>
            </a:p>
          </p:txBody>
        </p:sp>
        <p:sp>
          <p:nvSpPr>
            <p:cNvPr id="86" name="Rectangle 22">
              <a:extLst>
                <a:ext uri="{FF2B5EF4-FFF2-40B4-BE49-F238E27FC236}">
                  <a16:creationId xmlns:a16="http://schemas.microsoft.com/office/drawing/2014/main" id="{28590859-F034-5927-70FC-A088F3BD6151}"/>
                </a:ext>
              </a:extLst>
            </p:cNvPr>
            <p:cNvSpPr>
              <a:spLocks noChangeArrowheads="1"/>
            </p:cNvSpPr>
            <p:nvPr/>
          </p:nvSpPr>
          <p:spPr bwMode="gray">
            <a:xfrm>
              <a:off x="422202" y="1302581"/>
              <a:ext cx="2934119" cy="476991"/>
            </a:xfrm>
            <a:prstGeom prst="rect">
              <a:avLst/>
            </a:prstGeom>
            <a:solidFill>
              <a:schemeClr val="accent6"/>
            </a:solidFill>
            <a:ln w="12700" algn="ctr">
              <a:solidFill>
                <a:schemeClr val="accent6"/>
              </a:solidFill>
              <a:miter lim="800000"/>
              <a:headEnd type="none" w="sm" len="sm"/>
              <a:tailEnd type="none" w="sm" len="sm"/>
            </a:ln>
          </p:spPr>
          <p:txBody>
            <a:bodyPr lIns="91438" tIns="91438" rIns="91438" bIns="91438" anchor="ctr"/>
            <a:lstStyle/>
            <a:p>
              <a:pPr algn="ctr">
                <a:spcBef>
                  <a:spcPts val="0"/>
                </a:spcBef>
              </a:pPr>
              <a:r>
                <a:rPr lang="ja-JP" altLang="en-US" sz="1600" b="1">
                  <a:solidFill>
                    <a:schemeClr val="bg1"/>
                  </a:solidFill>
                </a:rPr>
                <a:t>契約の定義</a:t>
              </a:r>
              <a:endParaRPr lang="en-US" altLang="ja-JP" sz="1600" b="1">
                <a:solidFill>
                  <a:schemeClr val="bg1"/>
                </a:solidFill>
              </a:endParaRPr>
            </a:p>
          </p:txBody>
        </p:sp>
        <p:sp>
          <p:nvSpPr>
            <p:cNvPr id="87" name="Rectangle 22">
              <a:extLst>
                <a:ext uri="{FF2B5EF4-FFF2-40B4-BE49-F238E27FC236}">
                  <a16:creationId xmlns:a16="http://schemas.microsoft.com/office/drawing/2014/main" id="{3C409180-2F21-7799-D4DD-DC467EC2D0D0}"/>
                </a:ext>
              </a:extLst>
            </p:cNvPr>
            <p:cNvSpPr>
              <a:spLocks noChangeArrowheads="1"/>
            </p:cNvSpPr>
            <p:nvPr/>
          </p:nvSpPr>
          <p:spPr bwMode="gray">
            <a:xfrm>
              <a:off x="580931" y="1903424"/>
              <a:ext cx="1040027" cy="73777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定義</a:t>
              </a:r>
              <a:endParaRPr kumimoji="1" lang="en-US" altLang="ja-JP" sz="1600" b="1">
                <a:solidFill>
                  <a:schemeClr val="bg1"/>
                </a:solidFill>
              </a:endParaRPr>
            </a:p>
          </p:txBody>
        </p:sp>
        <p:sp>
          <p:nvSpPr>
            <p:cNvPr id="88" name="Freeform 189">
              <a:extLst>
                <a:ext uri="{FF2B5EF4-FFF2-40B4-BE49-F238E27FC236}">
                  <a16:creationId xmlns:a16="http://schemas.microsoft.com/office/drawing/2014/main" id="{2D031AF2-573D-4FD7-FF17-86C132282A99}"/>
                </a:ext>
              </a:extLst>
            </p:cNvPr>
            <p:cNvSpPr>
              <a:spLocks noChangeAspect="1" noEditPoints="1"/>
            </p:cNvSpPr>
            <p:nvPr/>
          </p:nvSpPr>
          <p:spPr bwMode="gray">
            <a:xfrm>
              <a:off x="7915911" y="2410118"/>
              <a:ext cx="634774" cy="634774"/>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chemeClr val="accent5"/>
            </a:solidFill>
            <a:ln>
              <a:noFill/>
            </a:ln>
          </p:spPr>
          <p:txBody>
            <a:bodyPr vert="horz" wrap="none" lIns="0" tIns="0" rIns="0" bIns="0" numCol="1" anchor="ctr" anchorCtr="0" compatLnSpc="1">
              <a:prstTxWarp prst="textNoShape">
                <a:avLst/>
              </a:prstTxWarp>
            </a:bodyPr>
            <a:lstStyle/>
            <a:p>
              <a:pPr algn="ctr">
                <a:spcBef>
                  <a:spcPts val="0"/>
                </a:spcBef>
              </a:pPr>
              <a:endParaRPr lang="en-GB" sz="1200"/>
            </a:p>
          </p:txBody>
        </p:sp>
      </p:grpSp>
      <p:sp>
        <p:nvSpPr>
          <p:cNvPr id="90" name="正方形/長方形 89">
            <a:extLst>
              <a:ext uri="{FF2B5EF4-FFF2-40B4-BE49-F238E27FC236}">
                <a16:creationId xmlns:a16="http://schemas.microsoft.com/office/drawing/2014/main" id="{2258868F-D5D4-EDB5-80F6-92D2A3F1CFEA}"/>
              </a:ext>
            </a:extLst>
          </p:cNvPr>
          <p:cNvSpPr/>
          <p:nvPr/>
        </p:nvSpPr>
        <p:spPr bwMode="gray">
          <a:xfrm>
            <a:off x="703248" y="2550367"/>
            <a:ext cx="8183388" cy="2796652"/>
          </a:xfrm>
          <a:prstGeom prst="rect">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5999" tIns="45719" rIns="35999" bIns="45719" anchor="t" anchorCtr="0"/>
          <a:lstStyle/>
          <a:p>
            <a:pPr algn="ctr">
              <a:defRPr/>
            </a:pPr>
            <a:r>
              <a:rPr lang="ja-JP" altLang="en-US" sz="1600">
                <a:solidFill>
                  <a:schemeClr val="tx1"/>
                </a:solidFill>
              </a:rPr>
              <a:t>以下の要件の</a:t>
            </a:r>
            <a:r>
              <a:rPr lang="ja-JP" altLang="en-US" sz="1600" b="1" u="sng">
                <a:solidFill>
                  <a:schemeClr val="tx1"/>
                </a:solidFill>
              </a:rPr>
              <a:t>すべて</a:t>
            </a:r>
            <a:r>
              <a:rPr lang="ja-JP" altLang="en-US" sz="1600">
                <a:solidFill>
                  <a:schemeClr val="tx1"/>
                </a:solidFill>
              </a:rPr>
              <a:t>に該当する場合</a:t>
            </a:r>
            <a:endParaRPr lang="en-US" altLang="ja-JP" sz="1600">
              <a:solidFill>
                <a:schemeClr val="tx1"/>
              </a:solidFill>
            </a:endParaRPr>
          </a:p>
          <a:p>
            <a:pPr algn="ctr">
              <a:defRPr/>
            </a:pPr>
            <a:endParaRPr lang="ja-JP" altLang="en-US" sz="1400">
              <a:ea typeface="ＭＳ Ｐゴシック" pitchFamily="50" charset="-128"/>
              <a:cs typeface="Arial" pitchFamily="34" charset="0"/>
            </a:endParaRPr>
          </a:p>
        </p:txBody>
      </p:sp>
      <p:sp>
        <p:nvSpPr>
          <p:cNvPr id="91" name="角丸四角形 31">
            <a:extLst>
              <a:ext uri="{FF2B5EF4-FFF2-40B4-BE49-F238E27FC236}">
                <a16:creationId xmlns:a16="http://schemas.microsoft.com/office/drawing/2014/main" id="{EB0412D9-1787-BB6E-2431-4A86920544B4}"/>
              </a:ext>
            </a:extLst>
          </p:cNvPr>
          <p:cNvSpPr/>
          <p:nvPr/>
        </p:nvSpPr>
        <p:spPr bwMode="gray">
          <a:xfrm>
            <a:off x="2074796" y="2849934"/>
            <a:ext cx="6576223" cy="2363420"/>
          </a:xfrm>
          <a:prstGeom prst="roundRect">
            <a:avLst>
              <a:gd name="adj" fmla="val 5518"/>
            </a:avLst>
          </a:prstGeom>
          <a:noFill/>
          <a:ln w="19050" algn="ctr">
            <a:solidFill>
              <a:schemeClr val="accent1"/>
            </a:solidFill>
            <a:round/>
            <a:headEnd/>
            <a:tailEnd/>
          </a:ln>
        </p:spPr>
        <p:txBody>
          <a:bodyPr lIns="71998" tIns="71998" rIns="71998" bIns="71998" anchor="ctr"/>
          <a:lstStyle/>
          <a:p>
            <a:pPr marL="373063" indent="-373063">
              <a:spcBef>
                <a:spcPts val="300"/>
              </a:spcBef>
              <a:defRPr/>
            </a:pPr>
            <a:r>
              <a:rPr lang="ja-JP" altLang="en-US" sz="1600">
                <a:latin typeface="+mn-lt"/>
              </a:rPr>
              <a:t>（</a:t>
            </a:r>
            <a:r>
              <a:rPr lang="en-US" altLang="ja-JP" sz="1600">
                <a:latin typeface="+mn-lt"/>
              </a:rPr>
              <a:t>1</a:t>
            </a:r>
            <a:r>
              <a:rPr lang="ja-JP" altLang="en-US" sz="1600">
                <a:latin typeface="+mn-lt"/>
              </a:rPr>
              <a:t>） 当事者が契約を承認し、それぞれの権利と義務の履行を約束していること</a:t>
            </a:r>
            <a:r>
              <a:rPr lang="ja-JP" altLang="en-US" sz="1600" b="1"/>
              <a:t>（</a:t>
            </a:r>
            <a:r>
              <a:rPr lang="ja-JP" altLang="en-US" sz="1600" b="1">
                <a:latin typeface="+mn-lt"/>
              </a:rPr>
              <a:t>顧客は</a:t>
            </a:r>
            <a:r>
              <a:rPr lang="ja-JP" altLang="en-US" sz="1600" b="1"/>
              <a:t>サービスや資産を利用する権利と</a:t>
            </a:r>
            <a:r>
              <a:rPr lang="ja-JP" altLang="en-US" sz="1600" b="1">
                <a:latin typeface="+mn-lt"/>
              </a:rPr>
              <a:t>代金を支払う義務、企業は</a:t>
            </a:r>
            <a:r>
              <a:rPr lang="ja-JP" altLang="en-US" sz="1600" b="1"/>
              <a:t>企業はお金を回収する権利</a:t>
            </a:r>
            <a:r>
              <a:rPr lang="ja-JP" altLang="en-US" sz="1600" b="1">
                <a:latin typeface="+mn-lt"/>
              </a:rPr>
              <a:t>サービス提供を行う義務が約束されていること）</a:t>
            </a:r>
          </a:p>
          <a:p>
            <a:pPr marL="373063" indent="-373063">
              <a:spcBef>
                <a:spcPts val="300"/>
              </a:spcBef>
              <a:defRPr/>
            </a:pPr>
            <a:r>
              <a:rPr lang="ja-JP" altLang="en-US" sz="1600">
                <a:latin typeface="+mn-lt"/>
              </a:rPr>
              <a:t>（</a:t>
            </a:r>
            <a:r>
              <a:rPr lang="en-US" altLang="ja-JP" sz="1600">
                <a:latin typeface="+mn-lt"/>
              </a:rPr>
              <a:t>2</a:t>
            </a:r>
            <a:r>
              <a:rPr lang="ja-JP" altLang="en-US" sz="1600">
                <a:latin typeface="+mn-lt"/>
              </a:rPr>
              <a:t>） </a:t>
            </a:r>
            <a:r>
              <a:rPr lang="ja-JP" altLang="en-US" sz="1600" b="1">
                <a:latin typeface="+mn-lt"/>
              </a:rPr>
              <a:t>支払条件を識</a:t>
            </a:r>
            <a:r>
              <a:rPr lang="ja-JP" altLang="en-US" sz="1600">
                <a:latin typeface="+mn-lt"/>
              </a:rPr>
              <a:t>別できること</a:t>
            </a:r>
            <a:endParaRPr lang="en-US" altLang="ja-JP" sz="1600">
              <a:latin typeface="+mn-lt"/>
            </a:endParaRPr>
          </a:p>
          <a:p>
            <a:pPr marL="373063" indent="-373063">
              <a:spcBef>
                <a:spcPts val="300"/>
              </a:spcBef>
              <a:defRPr/>
            </a:pPr>
            <a:r>
              <a:rPr lang="ja-JP" altLang="en-US" sz="1600">
                <a:latin typeface="+mn-lt"/>
              </a:rPr>
              <a:t>（</a:t>
            </a:r>
            <a:r>
              <a:rPr lang="en-US" altLang="ja-JP" sz="1600"/>
              <a:t>3</a:t>
            </a:r>
            <a:r>
              <a:rPr lang="ja-JP" altLang="en-US" sz="1600">
                <a:latin typeface="+mn-lt"/>
              </a:rPr>
              <a:t>） 契約に経済的実質があること（</a:t>
            </a:r>
            <a:r>
              <a:rPr lang="ja-JP" altLang="en-US" sz="1600" b="1">
                <a:latin typeface="+mn-lt"/>
              </a:rPr>
              <a:t>お金の流入を伴うこと</a:t>
            </a:r>
            <a:r>
              <a:rPr lang="ja-JP" altLang="en-US" sz="1600">
                <a:latin typeface="+mn-lt"/>
              </a:rPr>
              <a:t>）</a:t>
            </a:r>
            <a:endParaRPr lang="en-US" altLang="ja-JP" sz="1600">
              <a:latin typeface="+mn-lt"/>
            </a:endParaRPr>
          </a:p>
          <a:p>
            <a:pPr marL="373063" indent="-373063">
              <a:spcBef>
                <a:spcPts val="300"/>
              </a:spcBef>
              <a:defRPr/>
            </a:pPr>
            <a:r>
              <a:rPr lang="ja-JP" altLang="en-US" sz="1600">
                <a:latin typeface="+mn-lt"/>
              </a:rPr>
              <a:t>（</a:t>
            </a:r>
            <a:r>
              <a:rPr lang="en-US" altLang="ja-JP" sz="1600"/>
              <a:t>4</a:t>
            </a:r>
            <a:r>
              <a:rPr lang="ja-JP" altLang="en-US" sz="1600">
                <a:latin typeface="+mn-lt"/>
              </a:rPr>
              <a:t>）</a:t>
            </a:r>
            <a:r>
              <a:rPr lang="ja-JP" altLang="en-US" sz="1600">
                <a:latin typeface="+mn-ea"/>
              </a:rPr>
              <a:t>顧客からお金を問題なく回収できること（顧客の信用情報が問題ないこと）</a:t>
            </a:r>
          </a:p>
        </p:txBody>
      </p:sp>
      <p:sp>
        <p:nvSpPr>
          <p:cNvPr id="92" name="Rectangle 22">
            <a:extLst>
              <a:ext uri="{FF2B5EF4-FFF2-40B4-BE49-F238E27FC236}">
                <a16:creationId xmlns:a16="http://schemas.microsoft.com/office/drawing/2014/main" id="{DD29BFAA-E577-063A-9D6B-B7515CF66353}"/>
              </a:ext>
            </a:extLst>
          </p:cNvPr>
          <p:cNvSpPr>
            <a:spLocks noChangeArrowheads="1"/>
          </p:cNvSpPr>
          <p:nvPr/>
        </p:nvSpPr>
        <p:spPr bwMode="gray">
          <a:xfrm>
            <a:off x="703248" y="2232266"/>
            <a:ext cx="2983330" cy="306612"/>
          </a:xfrm>
          <a:prstGeom prst="rect">
            <a:avLst/>
          </a:prstGeom>
          <a:solidFill>
            <a:schemeClr val="accent6"/>
          </a:solidFill>
          <a:ln w="12700" algn="ctr">
            <a:solidFill>
              <a:schemeClr val="accent6"/>
            </a:solidFill>
            <a:miter lim="800000"/>
            <a:headEnd type="none" w="sm" len="sm"/>
            <a:tailEnd type="none" w="sm" len="sm"/>
          </a:ln>
        </p:spPr>
        <p:txBody>
          <a:bodyPr lIns="91438" tIns="91438" rIns="91438" bIns="91438" anchor="ctr"/>
          <a:lstStyle/>
          <a:p>
            <a:pPr algn="ctr">
              <a:spcBef>
                <a:spcPts val="0"/>
              </a:spcBef>
            </a:pPr>
            <a:r>
              <a:rPr lang="ja-JP" altLang="en-US" sz="1600" b="1">
                <a:solidFill>
                  <a:schemeClr val="bg1"/>
                </a:solidFill>
              </a:rPr>
              <a:t>契約の識別要件</a:t>
            </a:r>
            <a:endParaRPr lang="en-US" altLang="ja-JP" sz="1600" b="1">
              <a:solidFill>
                <a:schemeClr val="bg1"/>
              </a:solidFill>
            </a:endParaRPr>
          </a:p>
        </p:txBody>
      </p:sp>
      <p:sp>
        <p:nvSpPr>
          <p:cNvPr id="93" name="Rectangle 22">
            <a:extLst>
              <a:ext uri="{FF2B5EF4-FFF2-40B4-BE49-F238E27FC236}">
                <a16:creationId xmlns:a16="http://schemas.microsoft.com/office/drawing/2014/main" id="{4DAAA3E5-A47B-8288-B289-BD99CED2068F}"/>
              </a:ext>
            </a:extLst>
          </p:cNvPr>
          <p:cNvSpPr>
            <a:spLocks noChangeArrowheads="1"/>
          </p:cNvSpPr>
          <p:nvPr/>
        </p:nvSpPr>
        <p:spPr bwMode="gray">
          <a:xfrm>
            <a:off x="862432" y="2939659"/>
            <a:ext cx="1057470" cy="2234508"/>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marL="177795" indent="-177795" algn="ctr">
              <a:spcBef>
                <a:spcPts val="331"/>
              </a:spcBef>
            </a:pPr>
            <a:r>
              <a:rPr kumimoji="1" lang="ja-JP" altLang="en-US" sz="1600" b="1">
                <a:solidFill>
                  <a:schemeClr val="bg1"/>
                </a:solidFill>
              </a:rPr>
              <a:t>要件</a:t>
            </a:r>
            <a:endParaRPr kumimoji="1" lang="en-US" altLang="ja-JP" sz="1600" b="1">
              <a:solidFill>
                <a:schemeClr val="bg1"/>
              </a:solidFill>
            </a:endParaRPr>
          </a:p>
        </p:txBody>
      </p:sp>
      <p:grpSp>
        <p:nvGrpSpPr>
          <p:cNvPr id="7" name="グループ化 6">
            <a:extLst>
              <a:ext uri="{FF2B5EF4-FFF2-40B4-BE49-F238E27FC236}">
                <a16:creationId xmlns:a16="http://schemas.microsoft.com/office/drawing/2014/main" id="{7C74BB0E-41E8-70E9-6C64-8EA73B635A30}"/>
              </a:ext>
            </a:extLst>
          </p:cNvPr>
          <p:cNvGrpSpPr/>
          <p:nvPr/>
        </p:nvGrpSpPr>
        <p:grpSpPr>
          <a:xfrm>
            <a:off x="9058226" y="950724"/>
            <a:ext cx="2983329" cy="2775005"/>
            <a:chOff x="9072436" y="1892411"/>
            <a:chExt cx="2983329" cy="2775005"/>
          </a:xfrm>
        </p:grpSpPr>
        <p:sp>
          <p:nvSpPr>
            <p:cNvPr id="4" name="スクロール: 縦 3">
              <a:extLst>
                <a:ext uri="{FF2B5EF4-FFF2-40B4-BE49-F238E27FC236}">
                  <a16:creationId xmlns:a16="http://schemas.microsoft.com/office/drawing/2014/main" id="{43B75561-83C8-FA1F-8581-4680AC81664E}"/>
                </a:ext>
              </a:extLst>
            </p:cNvPr>
            <p:cNvSpPr/>
            <p:nvPr/>
          </p:nvSpPr>
          <p:spPr>
            <a:xfrm>
              <a:off x="9072436" y="1892411"/>
              <a:ext cx="2983329" cy="2775005"/>
            </a:xfrm>
            <a:prstGeom prst="verticalScroll">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5" name="正方形/長方形 4">
              <a:extLst>
                <a:ext uri="{FF2B5EF4-FFF2-40B4-BE49-F238E27FC236}">
                  <a16:creationId xmlns:a16="http://schemas.microsoft.com/office/drawing/2014/main" id="{CCB4EEF6-4E9D-348B-ACE1-D6521568AEA6}"/>
                </a:ext>
              </a:extLst>
            </p:cNvPr>
            <p:cNvSpPr/>
            <p:nvPr/>
          </p:nvSpPr>
          <p:spPr>
            <a:xfrm>
              <a:off x="9815946" y="1918537"/>
              <a:ext cx="1594176" cy="28419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lang="ja-JP" altLang="en-US" sz="1400">
                  <a:solidFill>
                    <a:schemeClr val="tx1"/>
                  </a:solidFill>
                </a:rPr>
                <a:t>契約書・注文書</a:t>
              </a:r>
              <a:endParaRPr kumimoji="1" lang="en-US" altLang="ja-JP" sz="1400">
                <a:solidFill>
                  <a:schemeClr val="tx1"/>
                </a:solidFill>
              </a:endParaRPr>
            </a:p>
          </p:txBody>
        </p:sp>
        <p:sp>
          <p:nvSpPr>
            <p:cNvPr id="6" name="正方形/長方形 5">
              <a:extLst>
                <a:ext uri="{FF2B5EF4-FFF2-40B4-BE49-F238E27FC236}">
                  <a16:creationId xmlns:a16="http://schemas.microsoft.com/office/drawing/2014/main" id="{04B4D1CF-8A6A-7BAC-903C-DDF646A04783}"/>
                </a:ext>
              </a:extLst>
            </p:cNvPr>
            <p:cNvSpPr/>
            <p:nvPr/>
          </p:nvSpPr>
          <p:spPr>
            <a:xfrm>
              <a:off x="9542521" y="2413090"/>
              <a:ext cx="2087681" cy="217093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r>
                <a:rPr lang="en-US" altLang="ja-JP" sz="1400">
                  <a:solidFill>
                    <a:schemeClr val="tx1"/>
                  </a:solidFill>
                </a:rPr>
                <a:t>【</a:t>
              </a:r>
              <a:r>
                <a:rPr lang="ja-JP" altLang="en-US" sz="1400">
                  <a:solidFill>
                    <a:schemeClr val="tx1"/>
                  </a:solidFill>
                </a:rPr>
                <a:t>記載事項</a:t>
              </a:r>
              <a:r>
                <a:rPr lang="en-US" altLang="ja-JP" sz="1400">
                  <a:solidFill>
                    <a:schemeClr val="tx1"/>
                  </a:solidFill>
                </a:rPr>
                <a:t>】</a:t>
              </a:r>
            </a:p>
            <a:p>
              <a:r>
                <a:rPr lang="ja-JP" altLang="en-US" sz="1400">
                  <a:solidFill>
                    <a:schemeClr val="tx1"/>
                  </a:solidFill>
                </a:rPr>
                <a:t>・顧客名（社判あり）</a:t>
              </a:r>
              <a:endParaRPr lang="en-US" altLang="ja-JP" sz="1400">
                <a:solidFill>
                  <a:schemeClr val="tx1"/>
                </a:solidFill>
              </a:endParaRPr>
            </a:p>
            <a:p>
              <a:r>
                <a:rPr lang="ja-JP" altLang="en-US" sz="1400">
                  <a:solidFill>
                    <a:schemeClr val="tx1"/>
                  </a:solidFill>
                </a:rPr>
                <a:t>・契約日（注文日）</a:t>
              </a:r>
              <a:endParaRPr lang="en-US" altLang="ja-JP" sz="1400">
                <a:solidFill>
                  <a:schemeClr val="tx1"/>
                </a:solidFill>
              </a:endParaRPr>
            </a:p>
            <a:p>
              <a:r>
                <a:rPr lang="ja-JP" altLang="en-US" sz="1400">
                  <a:solidFill>
                    <a:schemeClr val="tx1"/>
                  </a:solidFill>
                </a:rPr>
                <a:t>・サービスの内容（</a:t>
              </a:r>
              <a:r>
                <a:rPr lang="en-US" altLang="ja-JP" sz="1400">
                  <a:solidFill>
                    <a:schemeClr val="tx1"/>
                  </a:solidFill>
                </a:rPr>
                <a:t>ex:</a:t>
              </a:r>
              <a:r>
                <a:rPr lang="ja-JP" altLang="en-US" sz="1400">
                  <a:solidFill>
                    <a:schemeClr val="tx1"/>
                  </a:solidFill>
                </a:rPr>
                <a:t>○○工事）</a:t>
              </a:r>
              <a:endParaRPr lang="en-US" altLang="ja-JP" sz="1400">
                <a:solidFill>
                  <a:schemeClr val="tx1"/>
                </a:solidFill>
              </a:endParaRPr>
            </a:p>
            <a:p>
              <a:r>
                <a:rPr lang="ja-JP" altLang="en-US" sz="1400">
                  <a:solidFill>
                    <a:schemeClr val="tx1"/>
                  </a:solidFill>
                </a:rPr>
                <a:t>・契約期間（納期）</a:t>
              </a:r>
              <a:endParaRPr lang="en-US" altLang="ja-JP" sz="1400">
                <a:solidFill>
                  <a:schemeClr val="tx1"/>
                </a:solidFill>
              </a:endParaRPr>
            </a:p>
            <a:p>
              <a:r>
                <a:rPr lang="ja-JP" altLang="en-US" sz="1400">
                  <a:solidFill>
                    <a:schemeClr val="tx1"/>
                  </a:solidFill>
                </a:rPr>
                <a:t>・契約金額（注文金額）</a:t>
              </a:r>
              <a:endParaRPr lang="en-US" altLang="ja-JP" sz="1400">
                <a:solidFill>
                  <a:schemeClr val="tx1"/>
                </a:solidFill>
              </a:endParaRPr>
            </a:p>
            <a:p>
              <a:r>
                <a:rPr lang="ja-JP" altLang="en-US" sz="1400">
                  <a:solidFill>
                    <a:schemeClr val="tx1"/>
                  </a:solidFill>
                </a:rPr>
                <a:t>・支払条件</a:t>
              </a:r>
              <a:endParaRPr lang="en-US" altLang="ja-JP" sz="1400">
                <a:solidFill>
                  <a:schemeClr val="tx1"/>
                </a:solidFill>
              </a:endParaRPr>
            </a:p>
            <a:p>
              <a:r>
                <a:rPr lang="ja-JP" altLang="en-US" sz="1400">
                  <a:solidFill>
                    <a:schemeClr val="tx1"/>
                  </a:solidFill>
                </a:rPr>
                <a:t>・その他</a:t>
              </a:r>
              <a:endParaRPr lang="en-US" altLang="ja-JP" sz="1400">
                <a:solidFill>
                  <a:schemeClr val="tx1"/>
                </a:solidFill>
              </a:endParaRPr>
            </a:p>
            <a:p>
              <a:endParaRPr kumimoji="1" lang="en-US" altLang="ja-JP" sz="1400">
                <a:solidFill>
                  <a:schemeClr val="tx1"/>
                </a:solidFill>
              </a:endParaRPr>
            </a:p>
          </p:txBody>
        </p:sp>
      </p:grpSp>
      <p:grpSp>
        <p:nvGrpSpPr>
          <p:cNvPr id="55" name="グループ化 54">
            <a:extLst>
              <a:ext uri="{FF2B5EF4-FFF2-40B4-BE49-F238E27FC236}">
                <a16:creationId xmlns:a16="http://schemas.microsoft.com/office/drawing/2014/main" id="{8C9DD461-26C4-DF9B-3755-61EB52749A4E}"/>
              </a:ext>
            </a:extLst>
          </p:cNvPr>
          <p:cNvGrpSpPr/>
          <p:nvPr/>
        </p:nvGrpSpPr>
        <p:grpSpPr>
          <a:xfrm>
            <a:off x="8999149" y="3905928"/>
            <a:ext cx="3042405" cy="2562879"/>
            <a:chOff x="8999149" y="3905928"/>
            <a:chExt cx="3042405" cy="2562879"/>
          </a:xfrm>
        </p:grpSpPr>
        <p:sp>
          <p:nvSpPr>
            <p:cNvPr id="8" name="角丸四角形 33">
              <a:extLst>
                <a:ext uri="{FF2B5EF4-FFF2-40B4-BE49-F238E27FC236}">
                  <a16:creationId xmlns:a16="http://schemas.microsoft.com/office/drawing/2014/main" id="{8759774A-FBEE-5AF4-A31C-9CF32C84B08B}"/>
                </a:ext>
              </a:extLst>
            </p:cNvPr>
            <p:cNvSpPr/>
            <p:nvPr/>
          </p:nvSpPr>
          <p:spPr bwMode="gray">
            <a:xfrm>
              <a:off x="8999149" y="3905928"/>
              <a:ext cx="3042405" cy="2562879"/>
            </a:xfrm>
            <a:prstGeom prst="roundRect">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11" name="Rectangle 34">
              <a:extLst>
                <a:ext uri="{FF2B5EF4-FFF2-40B4-BE49-F238E27FC236}">
                  <a16:creationId xmlns:a16="http://schemas.microsoft.com/office/drawing/2014/main" id="{3474BD26-B91E-8DAE-217E-5AB205A70412}"/>
                </a:ext>
              </a:extLst>
            </p:cNvPr>
            <p:cNvSpPr>
              <a:spLocks noChangeArrowheads="1"/>
            </p:cNvSpPr>
            <p:nvPr/>
          </p:nvSpPr>
          <p:spPr bwMode="gray">
            <a:xfrm>
              <a:off x="9287544" y="4794344"/>
              <a:ext cx="993096" cy="246221"/>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企業</a:t>
              </a:r>
              <a:endParaRPr lang="ja-JP" altLang="nl-NL" sz="1400" kern="0">
                <a:latin typeface="+mn-lt"/>
              </a:endParaRPr>
            </a:p>
          </p:txBody>
        </p:sp>
        <p:sp>
          <p:nvSpPr>
            <p:cNvPr id="14" name="Freeform 552">
              <a:extLst>
                <a:ext uri="{FF2B5EF4-FFF2-40B4-BE49-F238E27FC236}">
                  <a16:creationId xmlns:a16="http://schemas.microsoft.com/office/drawing/2014/main" id="{5570E548-E278-A564-04C4-139F0A65AC88}"/>
                </a:ext>
              </a:extLst>
            </p:cNvPr>
            <p:cNvSpPr>
              <a:spLocks noEditPoints="1"/>
            </p:cNvSpPr>
            <p:nvPr/>
          </p:nvSpPr>
          <p:spPr bwMode="gray">
            <a:xfrm>
              <a:off x="9397356" y="4159538"/>
              <a:ext cx="731814" cy="57032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16" name="角丸四角形 43">
              <a:extLst>
                <a:ext uri="{FF2B5EF4-FFF2-40B4-BE49-F238E27FC236}">
                  <a16:creationId xmlns:a16="http://schemas.microsoft.com/office/drawing/2014/main" id="{B19CCE51-A15D-DE72-FE71-F3A59E2830CB}"/>
                </a:ext>
              </a:extLst>
            </p:cNvPr>
            <p:cNvSpPr/>
            <p:nvPr/>
          </p:nvSpPr>
          <p:spPr bwMode="gray">
            <a:xfrm>
              <a:off x="9136074" y="5105042"/>
              <a:ext cx="1296037" cy="1184439"/>
            </a:xfrm>
            <a:prstGeom prst="roundRect">
              <a:avLst/>
            </a:prstGeom>
            <a:noFill/>
            <a:ln>
              <a:solidFill>
                <a:schemeClr val="tx1">
                  <a:lumMod val="25000"/>
                  <a:lumOff val="75000"/>
                </a:schemeClr>
              </a:solidFill>
              <a:prstDash val="sysDash"/>
            </a:ln>
          </p:spPr>
          <p:style>
            <a:lnRef idx="3">
              <a:schemeClr val="lt1"/>
            </a:lnRef>
            <a:fillRef idx="1">
              <a:schemeClr val="accent2"/>
            </a:fillRef>
            <a:effectRef idx="1">
              <a:schemeClr val="accent2"/>
            </a:effectRef>
            <a:fontRef idx="minor">
              <a:schemeClr val="lt1"/>
            </a:fontRef>
          </p:style>
          <p:txBody>
            <a:bodyPr lIns="84404" tIns="42202" rIns="84404" bIns="42202" rtlCol="0" anchor="ctr"/>
            <a:lstStyle/>
            <a:p>
              <a:r>
                <a:rPr lang="ja-JP" altLang="en-US" sz="1200"/>
                <a:t>・</a:t>
              </a:r>
              <a:endParaRPr lang="en-US" altLang="ja-JP" sz="1200"/>
            </a:p>
          </p:txBody>
        </p:sp>
        <p:sp>
          <p:nvSpPr>
            <p:cNvPr id="17" name="テキスト ボックス 16">
              <a:extLst>
                <a:ext uri="{FF2B5EF4-FFF2-40B4-BE49-F238E27FC236}">
                  <a16:creationId xmlns:a16="http://schemas.microsoft.com/office/drawing/2014/main" id="{694BAEA8-A93A-E39B-8F9D-1DC2F57D5BC3}"/>
                </a:ext>
              </a:extLst>
            </p:cNvPr>
            <p:cNvSpPr txBox="1"/>
            <p:nvPr/>
          </p:nvSpPr>
          <p:spPr bwMode="gray">
            <a:xfrm>
              <a:off x="9698578" y="3905928"/>
              <a:ext cx="1578000" cy="246221"/>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sz="1600">
                  <a:solidFill>
                    <a:schemeClr val="bg1"/>
                  </a:solidFill>
                </a:rPr>
                <a:t>契約</a:t>
              </a:r>
            </a:p>
          </p:txBody>
        </p:sp>
        <p:sp>
          <p:nvSpPr>
            <p:cNvPr id="35" name="Freeform 552">
              <a:extLst>
                <a:ext uri="{FF2B5EF4-FFF2-40B4-BE49-F238E27FC236}">
                  <a16:creationId xmlns:a16="http://schemas.microsoft.com/office/drawing/2014/main" id="{4BC87DC1-FE53-7862-DFD6-3A17DCA30A80}"/>
                </a:ext>
              </a:extLst>
            </p:cNvPr>
            <p:cNvSpPr>
              <a:spLocks noEditPoints="1"/>
            </p:cNvSpPr>
            <p:nvPr/>
          </p:nvSpPr>
          <p:spPr bwMode="gray">
            <a:xfrm>
              <a:off x="10963661" y="4175148"/>
              <a:ext cx="731814" cy="570329"/>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solidFill>
              <a:schemeClr val="accent5"/>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36" name="Rectangle 34">
              <a:extLst>
                <a:ext uri="{FF2B5EF4-FFF2-40B4-BE49-F238E27FC236}">
                  <a16:creationId xmlns:a16="http://schemas.microsoft.com/office/drawing/2014/main" id="{C4B8A5FC-B1C6-BF84-1B57-D90BF30A4861}"/>
                </a:ext>
              </a:extLst>
            </p:cNvPr>
            <p:cNvSpPr>
              <a:spLocks noChangeArrowheads="1"/>
            </p:cNvSpPr>
            <p:nvPr/>
          </p:nvSpPr>
          <p:spPr bwMode="gray">
            <a:xfrm>
              <a:off x="10899364" y="4813443"/>
              <a:ext cx="993096" cy="246221"/>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顧客</a:t>
              </a:r>
              <a:endParaRPr lang="ja-JP" altLang="nl-NL" sz="1400" kern="0">
                <a:latin typeface="+mn-lt"/>
              </a:endParaRPr>
            </a:p>
          </p:txBody>
        </p:sp>
        <p:sp>
          <p:nvSpPr>
            <p:cNvPr id="37" name="角丸四角形 43">
              <a:extLst>
                <a:ext uri="{FF2B5EF4-FFF2-40B4-BE49-F238E27FC236}">
                  <a16:creationId xmlns:a16="http://schemas.microsoft.com/office/drawing/2014/main" id="{4D94D5B3-B944-D045-BE24-6A1AAE6F65D4}"/>
                </a:ext>
              </a:extLst>
            </p:cNvPr>
            <p:cNvSpPr/>
            <p:nvPr/>
          </p:nvSpPr>
          <p:spPr bwMode="gray">
            <a:xfrm>
              <a:off x="10681549" y="5105042"/>
              <a:ext cx="1296037" cy="1184439"/>
            </a:xfrm>
            <a:prstGeom prst="roundRect">
              <a:avLst/>
            </a:prstGeom>
            <a:noFill/>
            <a:ln>
              <a:solidFill>
                <a:schemeClr val="tx1">
                  <a:lumMod val="25000"/>
                  <a:lumOff val="75000"/>
                </a:schemeClr>
              </a:solidFill>
              <a:prstDash val="sysDash"/>
            </a:ln>
          </p:spPr>
          <p:style>
            <a:lnRef idx="3">
              <a:schemeClr val="lt1"/>
            </a:lnRef>
            <a:fillRef idx="1">
              <a:schemeClr val="accent2"/>
            </a:fillRef>
            <a:effectRef idx="1">
              <a:schemeClr val="accent2"/>
            </a:effectRef>
            <a:fontRef idx="minor">
              <a:schemeClr val="lt1"/>
            </a:fontRef>
          </p:style>
          <p:txBody>
            <a:bodyPr lIns="84404" tIns="42202" rIns="84404" bIns="42202" rtlCol="0" anchor="ctr"/>
            <a:lstStyle/>
            <a:p>
              <a:r>
                <a:rPr lang="ja-JP" altLang="en-US" sz="1200"/>
                <a:t>・</a:t>
              </a:r>
              <a:endParaRPr lang="en-US" altLang="ja-JP" sz="1200"/>
            </a:p>
          </p:txBody>
        </p:sp>
        <p:sp>
          <p:nvSpPr>
            <p:cNvPr id="38" name="Rectangle 34">
              <a:extLst>
                <a:ext uri="{FF2B5EF4-FFF2-40B4-BE49-F238E27FC236}">
                  <a16:creationId xmlns:a16="http://schemas.microsoft.com/office/drawing/2014/main" id="{D760D9FC-FE57-AD0A-9F47-48B4C6D932BB}"/>
                </a:ext>
              </a:extLst>
            </p:cNvPr>
            <p:cNvSpPr>
              <a:spLocks noChangeArrowheads="1"/>
            </p:cNvSpPr>
            <p:nvPr/>
          </p:nvSpPr>
          <p:spPr bwMode="gray">
            <a:xfrm>
              <a:off x="9105128" y="5347019"/>
              <a:ext cx="1357928" cy="246221"/>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代金を回収する権利</a:t>
              </a:r>
              <a:endParaRPr lang="ja-JP" altLang="nl-NL" sz="1400" kern="0">
                <a:latin typeface="+mn-lt"/>
              </a:endParaRPr>
            </a:p>
          </p:txBody>
        </p:sp>
        <p:sp>
          <p:nvSpPr>
            <p:cNvPr id="39" name="Rectangle 34">
              <a:extLst>
                <a:ext uri="{FF2B5EF4-FFF2-40B4-BE49-F238E27FC236}">
                  <a16:creationId xmlns:a16="http://schemas.microsoft.com/office/drawing/2014/main" id="{5EE9D14F-97F4-12E7-EDDE-79930FB0196B}"/>
                </a:ext>
              </a:extLst>
            </p:cNvPr>
            <p:cNvSpPr>
              <a:spLocks noChangeArrowheads="1"/>
            </p:cNvSpPr>
            <p:nvPr/>
          </p:nvSpPr>
          <p:spPr bwMode="gray">
            <a:xfrm>
              <a:off x="10650603" y="5852443"/>
              <a:ext cx="1357928" cy="246221"/>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代金支払義務</a:t>
              </a:r>
              <a:endParaRPr lang="ja-JP" altLang="nl-NL" sz="1400" kern="0">
                <a:latin typeface="+mn-lt"/>
              </a:endParaRPr>
            </a:p>
          </p:txBody>
        </p:sp>
        <p:sp>
          <p:nvSpPr>
            <p:cNvPr id="40" name="Rectangle 34">
              <a:extLst>
                <a:ext uri="{FF2B5EF4-FFF2-40B4-BE49-F238E27FC236}">
                  <a16:creationId xmlns:a16="http://schemas.microsoft.com/office/drawing/2014/main" id="{97347810-9540-EDDB-5418-28307F40C8BD}"/>
                </a:ext>
              </a:extLst>
            </p:cNvPr>
            <p:cNvSpPr>
              <a:spLocks noChangeArrowheads="1"/>
            </p:cNvSpPr>
            <p:nvPr/>
          </p:nvSpPr>
          <p:spPr bwMode="gray">
            <a:xfrm>
              <a:off x="10632442" y="5347019"/>
              <a:ext cx="1357928" cy="351351"/>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サービス利用する権利</a:t>
              </a:r>
              <a:endParaRPr lang="ja-JP" altLang="nl-NL" sz="1400" kern="0">
                <a:latin typeface="+mn-lt"/>
              </a:endParaRPr>
            </a:p>
          </p:txBody>
        </p:sp>
        <p:sp>
          <p:nvSpPr>
            <p:cNvPr id="41" name="Rectangle 34">
              <a:extLst>
                <a:ext uri="{FF2B5EF4-FFF2-40B4-BE49-F238E27FC236}">
                  <a16:creationId xmlns:a16="http://schemas.microsoft.com/office/drawing/2014/main" id="{B69A3A4A-7F22-C066-2E0A-D816299655B5}"/>
                </a:ext>
              </a:extLst>
            </p:cNvPr>
            <p:cNvSpPr>
              <a:spLocks noChangeArrowheads="1"/>
            </p:cNvSpPr>
            <p:nvPr/>
          </p:nvSpPr>
          <p:spPr bwMode="gray">
            <a:xfrm>
              <a:off x="9136074" y="5747313"/>
              <a:ext cx="1357928" cy="351351"/>
            </a:xfrm>
            <a:prstGeom prst="roundRect">
              <a:avLst>
                <a:gd name="adj" fmla="val 16667"/>
              </a:avLst>
            </a:prstGeom>
            <a:noFill/>
            <a:ln w="19050" algn="ctr">
              <a:no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サービス提供する義務</a:t>
              </a:r>
              <a:endParaRPr lang="ja-JP" altLang="nl-NL" sz="1400" kern="0">
                <a:latin typeface="+mn-lt"/>
              </a:endParaRPr>
            </a:p>
          </p:txBody>
        </p:sp>
        <p:cxnSp>
          <p:nvCxnSpPr>
            <p:cNvPr id="42" name="直線矢印コネクタ 70">
              <a:extLst>
                <a:ext uri="{FF2B5EF4-FFF2-40B4-BE49-F238E27FC236}">
                  <a16:creationId xmlns:a16="http://schemas.microsoft.com/office/drawing/2014/main" id="{3F86467F-B4CA-5A0E-69F8-B6C68F3E8C3C}"/>
                </a:ext>
              </a:extLst>
            </p:cNvPr>
            <p:cNvCxnSpPr>
              <a:cxnSpLocks noChangeShapeType="1"/>
            </p:cNvCxnSpPr>
            <p:nvPr/>
          </p:nvCxnSpPr>
          <p:spPr bwMode="gray">
            <a:xfrm>
              <a:off x="10180598" y="4412775"/>
              <a:ext cx="732399" cy="0"/>
            </a:xfrm>
            <a:prstGeom prst="straightConnector1">
              <a:avLst/>
            </a:prstGeom>
            <a:noFill/>
            <a:ln w="25400" algn="ctr">
              <a:solidFill>
                <a:schemeClr val="tx2"/>
              </a:solidFill>
              <a:round/>
              <a:headEnd type="arrow" w="med" len="med"/>
              <a:tailEnd type="none" w="med" len="med"/>
            </a:ln>
          </p:spPr>
        </p:cxnSp>
        <p:cxnSp>
          <p:nvCxnSpPr>
            <p:cNvPr id="43" name="直線矢印コネクタ 98">
              <a:extLst>
                <a:ext uri="{FF2B5EF4-FFF2-40B4-BE49-F238E27FC236}">
                  <a16:creationId xmlns:a16="http://schemas.microsoft.com/office/drawing/2014/main" id="{A3333F89-C450-F00E-6C17-69B12C96A1AE}"/>
                </a:ext>
              </a:extLst>
            </p:cNvPr>
            <p:cNvCxnSpPr>
              <a:cxnSpLocks noChangeShapeType="1"/>
            </p:cNvCxnSpPr>
            <p:nvPr/>
          </p:nvCxnSpPr>
          <p:spPr bwMode="gray">
            <a:xfrm>
              <a:off x="10180598" y="4611770"/>
              <a:ext cx="740350" cy="0"/>
            </a:xfrm>
            <a:prstGeom prst="straightConnector1">
              <a:avLst/>
            </a:prstGeom>
            <a:noFill/>
            <a:ln w="25400" algn="ctr">
              <a:solidFill>
                <a:schemeClr val="tx2"/>
              </a:solidFill>
              <a:round/>
              <a:headEnd/>
              <a:tailEnd type="arrow" w="med" len="med"/>
            </a:ln>
          </p:spPr>
        </p:cxnSp>
      </p:grpSp>
      <p:sp>
        <p:nvSpPr>
          <p:cNvPr id="54" name="テキスト プレースホルダー 3">
            <a:extLst>
              <a:ext uri="{FF2B5EF4-FFF2-40B4-BE49-F238E27FC236}">
                <a16:creationId xmlns:a16="http://schemas.microsoft.com/office/drawing/2014/main" id="{D3F800CE-4E96-9F60-00A6-6C0C37858DBF}"/>
              </a:ext>
            </a:extLst>
          </p:cNvPr>
          <p:cNvSpPr>
            <a:spLocks noGrp="1"/>
          </p:cNvSpPr>
          <p:nvPr>
            <p:ph type="body" sz="quarter" idx="10"/>
          </p:nvPr>
        </p:nvSpPr>
        <p:spPr>
          <a:xfrm>
            <a:off x="739033" y="5358508"/>
            <a:ext cx="7978655" cy="1378721"/>
          </a:xfrm>
        </p:spPr>
        <p:txBody>
          <a:bodyPr/>
          <a:lstStyle/>
          <a:p>
            <a:pPr>
              <a:lnSpc>
                <a:spcPct val="100000"/>
              </a:lnSpc>
              <a:spcBef>
                <a:spcPts val="600"/>
              </a:spcBef>
            </a:pPr>
            <a:r>
              <a:rPr lang="ja-JP" altLang="en-US" sz="1800" b="0"/>
              <a:t>契約書・注文書に必要な記載事項があれば必然的に要件を満たすため、契約書・注文書の有無で契約を識別できるかを判断します。契約書、注文書がない場合は、契約の要件を識別できず、売上計上はできなくなりますので、注文書・契約書の管理（保管を含む）を徹底する必要があります。</a:t>
            </a:r>
            <a:endParaRPr lang="en-US" altLang="ja-JP" sz="1800" b="0"/>
          </a:p>
          <a:p>
            <a:pPr>
              <a:lnSpc>
                <a:spcPct val="100000"/>
              </a:lnSpc>
            </a:pPr>
            <a:endParaRPr lang="ja-JP" altLang="en-US" sz="1800" b="0"/>
          </a:p>
        </p:txBody>
      </p:sp>
    </p:spTree>
    <p:extLst>
      <p:ext uri="{BB962C8B-B14F-4D97-AF65-F5344CB8AC3E}">
        <p14:creationId xmlns:p14="http://schemas.microsoft.com/office/powerpoint/2010/main" val="38057642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00535-ED19-833E-4B6B-4B8D0F8D620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1B0CBA9-BFC1-7F62-BCDB-08FADA88A612}"/>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1(</a:t>
            </a:r>
            <a:r>
              <a:rPr lang="ja-JP" altLang="en-US"/>
              <a:t>契約の結合</a:t>
            </a:r>
            <a:r>
              <a:rPr lang="en-US" altLang="ja-JP"/>
              <a:t>)</a:t>
            </a:r>
            <a:endParaRPr lang="ja-JP" altLang="en-US"/>
          </a:p>
        </p:txBody>
      </p:sp>
      <p:sp>
        <p:nvSpPr>
          <p:cNvPr id="81" name="タイトル 2">
            <a:extLst>
              <a:ext uri="{FF2B5EF4-FFF2-40B4-BE49-F238E27FC236}">
                <a16:creationId xmlns:a16="http://schemas.microsoft.com/office/drawing/2014/main" id="{92A02C31-5841-64CD-A69F-615B5241D3F0}"/>
              </a:ext>
            </a:extLst>
          </p:cNvPr>
          <p:cNvSpPr txBox="1">
            <a:spLocks/>
          </p:cNvSpPr>
          <p:nvPr/>
        </p:nvSpPr>
        <p:spPr>
          <a:xfrm>
            <a:off x="459865" y="923511"/>
            <a:ext cx="6656939" cy="371961"/>
          </a:xfrm>
          <a:prstGeom prst="rect">
            <a:avLst/>
          </a:prstGeom>
        </p:spPr>
        <p:txBody>
          <a:bodyPr vert="horz" lIns="0" tIns="36000" rIns="0" bIns="0" rtlCol="0" anchor="ctr">
            <a:normAutofit fontScale="975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endParaRPr lang="ja-JP" altLang="en-US"/>
          </a:p>
        </p:txBody>
      </p:sp>
      <p:grpSp>
        <p:nvGrpSpPr>
          <p:cNvPr id="12" name="グループ化 11">
            <a:extLst>
              <a:ext uri="{FF2B5EF4-FFF2-40B4-BE49-F238E27FC236}">
                <a16:creationId xmlns:a16="http://schemas.microsoft.com/office/drawing/2014/main" id="{EFF4DDC6-5C2E-C266-5A03-0D1A1B7A8851}"/>
              </a:ext>
            </a:extLst>
          </p:cNvPr>
          <p:cNvGrpSpPr/>
          <p:nvPr/>
        </p:nvGrpSpPr>
        <p:grpSpPr>
          <a:xfrm>
            <a:off x="1104039" y="2959236"/>
            <a:ext cx="8458708" cy="3643940"/>
            <a:chOff x="642667" y="856000"/>
            <a:chExt cx="9072000" cy="3364881"/>
          </a:xfrm>
        </p:grpSpPr>
        <p:sp>
          <p:nvSpPr>
            <p:cNvPr id="7" name="正方形/長方形 6">
              <a:extLst>
                <a:ext uri="{FF2B5EF4-FFF2-40B4-BE49-F238E27FC236}">
                  <a16:creationId xmlns:a16="http://schemas.microsoft.com/office/drawing/2014/main" id="{CA51EB64-92E7-8E95-D688-E674FB4EB2D5}"/>
                </a:ext>
              </a:extLst>
            </p:cNvPr>
            <p:cNvSpPr/>
            <p:nvPr/>
          </p:nvSpPr>
          <p:spPr bwMode="gray">
            <a:xfrm>
              <a:off x="3451808" y="1784640"/>
              <a:ext cx="6192930" cy="2346933"/>
            </a:xfrm>
            <a:prstGeom prst="rect">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5999" tIns="45719" rIns="35999" bIns="45719" anchor="t" anchorCtr="0"/>
            <a:lstStyle/>
            <a:p>
              <a:pPr algn="ctr">
                <a:defRPr/>
              </a:pPr>
              <a:r>
                <a:rPr lang="ja-JP" altLang="en-US" sz="1600">
                  <a:solidFill>
                    <a:schemeClr val="tx1"/>
                  </a:solidFill>
                </a:rPr>
                <a:t>以下の要件の</a:t>
              </a:r>
              <a:r>
                <a:rPr lang="ja-JP" altLang="en-US" sz="1600" b="1" u="sng">
                  <a:solidFill>
                    <a:schemeClr val="tx1"/>
                  </a:solidFill>
                </a:rPr>
                <a:t>いずれか</a:t>
              </a:r>
              <a:r>
                <a:rPr lang="ja-JP" altLang="en-US" sz="1600">
                  <a:solidFill>
                    <a:schemeClr val="tx1"/>
                  </a:solidFill>
                </a:rPr>
                <a:t>に該当する場合</a:t>
              </a:r>
              <a:endParaRPr lang="en-US" altLang="ja-JP" sz="1600">
                <a:solidFill>
                  <a:schemeClr val="tx1"/>
                </a:solidFill>
              </a:endParaRPr>
            </a:p>
            <a:p>
              <a:pPr algn="ctr">
                <a:defRPr/>
              </a:pPr>
              <a:endParaRPr lang="ja-JP" altLang="en-US" sz="1400">
                <a:cs typeface="Arial" pitchFamily="34" charset="0"/>
              </a:endParaRPr>
            </a:p>
          </p:txBody>
        </p:sp>
        <p:grpSp>
          <p:nvGrpSpPr>
            <p:cNvPr id="11" name="グループ化 10">
              <a:extLst>
                <a:ext uri="{FF2B5EF4-FFF2-40B4-BE49-F238E27FC236}">
                  <a16:creationId xmlns:a16="http://schemas.microsoft.com/office/drawing/2014/main" id="{2472FAB0-8A3A-9D3C-A2EA-C4D21F54CC21}"/>
                </a:ext>
              </a:extLst>
            </p:cNvPr>
            <p:cNvGrpSpPr/>
            <p:nvPr/>
          </p:nvGrpSpPr>
          <p:grpSpPr>
            <a:xfrm>
              <a:off x="642667" y="856000"/>
              <a:ext cx="9072000" cy="3364881"/>
              <a:chOff x="563154" y="993016"/>
              <a:chExt cx="9072000" cy="3364881"/>
            </a:xfrm>
          </p:grpSpPr>
          <p:sp>
            <p:nvSpPr>
              <p:cNvPr id="5" name="Rectangle 22">
                <a:extLst>
                  <a:ext uri="{FF2B5EF4-FFF2-40B4-BE49-F238E27FC236}">
                    <a16:creationId xmlns:a16="http://schemas.microsoft.com/office/drawing/2014/main" id="{FD64A5D0-BE02-D272-E10E-86BDE888CFAC}"/>
                  </a:ext>
                </a:extLst>
              </p:cNvPr>
              <p:cNvSpPr>
                <a:spLocks noChangeArrowheads="1"/>
              </p:cNvSpPr>
              <p:nvPr/>
            </p:nvSpPr>
            <p:spPr bwMode="gray">
              <a:xfrm>
                <a:off x="571206" y="993016"/>
                <a:ext cx="2934119" cy="288000"/>
              </a:xfrm>
              <a:prstGeom prst="rect">
                <a:avLst/>
              </a:prstGeom>
              <a:solidFill>
                <a:schemeClr val="accent6"/>
              </a:solidFill>
              <a:ln w="12700" algn="ctr">
                <a:solidFill>
                  <a:schemeClr val="accent6"/>
                </a:solidFill>
                <a:miter lim="800000"/>
                <a:headEnd type="none" w="sm" len="sm"/>
                <a:tailEnd type="none" w="sm" len="sm"/>
              </a:ln>
            </p:spPr>
            <p:txBody>
              <a:bodyPr lIns="91438" tIns="91438" rIns="91438" bIns="91438" anchor="ctr"/>
              <a:lstStyle/>
              <a:p>
                <a:pPr algn="ctr">
                  <a:spcBef>
                    <a:spcPts val="0"/>
                  </a:spcBef>
                </a:pPr>
                <a:r>
                  <a:rPr lang="ja-JP" altLang="en-US" sz="1600" b="1">
                    <a:solidFill>
                      <a:schemeClr val="bg1"/>
                    </a:solidFill>
                    <a:latin typeface="+mn-lt"/>
                  </a:rPr>
                  <a:t>契約の結合</a:t>
                </a:r>
                <a:endParaRPr lang="en-US" altLang="ja-JP" sz="1600" b="1">
                  <a:solidFill>
                    <a:schemeClr val="bg1"/>
                  </a:solidFill>
                  <a:latin typeface="+mn-lt"/>
                </a:endParaRPr>
              </a:p>
            </p:txBody>
          </p:sp>
          <p:sp>
            <p:nvSpPr>
              <p:cNvPr id="6" name="正方形/長方形 5">
                <a:extLst>
                  <a:ext uri="{FF2B5EF4-FFF2-40B4-BE49-F238E27FC236}">
                    <a16:creationId xmlns:a16="http://schemas.microsoft.com/office/drawing/2014/main" id="{3DF7B581-636E-B455-0C89-6B9E2598D91D}"/>
                  </a:ext>
                </a:extLst>
              </p:cNvPr>
              <p:cNvSpPr/>
              <p:nvPr/>
            </p:nvSpPr>
            <p:spPr bwMode="gray">
              <a:xfrm>
                <a:off x="807363" y="1921656"/>
                <a:ext cx="1785991" cy="2271750"/>
              </a:xfrm>
              <a:prstGeom prst="rect">
                <a:avLst/>
              </a:prstGeom>
              <a:solidFill>
                <a:schemeClr val="bg1"/>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35999" tIns="45719" rIns="35999" bIns="45719" anchor="ctr"/>
              <a:lstStyle/>
              <a:p>
                <a:pPr algn="ctr">
                  <a:defRPr/>
                </a:pPr>
                <a:r>
                  <a:rPr lang="ja-JP" altLang="en-US" sz="1600" b="1" u="sng">
                    <a:solidFill>
                      <a:srgbClr val="FF0000"/>
                    </a:solidFill>
                    <a:cs typeface="Arial" pitchFamily="34" charset="0"/>
                  </a:rPr>
                  <a:t>同一の顧客</a:t>
                </a:r>
                <a:r>
                  <a:rPr lang="ja-JP" altLang="en-US" sz="1600">
                    <a:solidFill>
                      <a:schemeClr val="tx1"/>
                    </a:solidFill>
                    <a:cs typeface="Arial" pitchFamily="34" charset="0"/>
                  </a:rPr>
                  <a:t>（当該顧客の関連当事者を含む。）と</a:t>
                </a:r>
                <a:r>
                  <a:rPr lang="ja-JP" altLang="en-US" sz="1600" b="1" u="sng">
                    <a:solidFill>
                      <a:srgbClr val="FF0000"/>
                    </a:solidFill>
                    <a:cs typeface="Arial" pitchFamily="34" charset="0"/>
                  </a:rPr>
                  <a:t>同時又はほぼ同時に</a:t>
                </a:r>
                <a:r>
                  <a:rPr lang="ja-JP" altLang="en-US" sz="1600">
                    <a:solidFill>
                      <a:schemeClr val="tx1"/>
                    </a:solidFill>
                    <a:cs typeface="Arial" pitchFamily="34" charset="0"/>
                  </a:rPr>
                  <a:t>締結</a:t>
                </a:r>
              </a:p>
            </p:txBody>
          </p:sp>
          <p:sp>
            <p:nvSpPr>
              <p:cNvPr id="8" name="角丸四角形 22">
                <a:extLst>
                  <a:ext uri="{FF2B5EF4-FFF2-40B4-BE49-F238E27FC236}">
                    <a16:creationId xmlns:a16="http://schemas.microsoft.com/office/drawing/2014/main" id="{E53959B3-668A-189E-555B-C6F796A3DC3E}"/>
                  </a:ext>
                </a:extLst>
              </p:cNvPr>
              <p:cNvSpPr/>
              <p:nvPr/>
            </p:nvSpPr>
            <p:spPr bwMode="gray">
              <a:xfrm>
                <a:off x="3505326" y="2230963"/>
                <a:ext cx="5921221" cy="1852832"/>
              </a:xfrm>
              <a:prstGeom prst="roundRect">
                <a:avLst>
                  <a:gd name="adj" fmla="val 5518"/>
                </a:avLst>
              </a:prstGeom>
              <a:noFill/>
              <a:ln w="19050" algn="ctr">
                <a:solidFill>
                  <a:schemeClr val="accent1"/>
                </a:solidFill>
                <a:round/>
                <a:headEnd/>
                <a:tailEnd/>
              </a:ln>
            </p:spPr>
            <p:txBody>
              <a:bodyPr lIns="71998" tIns="71998" rIns="71998" bIns="71998" anchor="ctr"/>
              <a:lstStyle/>
              <a:p>
                <a:pPr marL="373063" indent="-373063">
                  <a:spcBef>
                    <a:spcPts val="300"/>
                  </a:spcBef>
                  <a:defRPr/>
                </a:pPr>
                <a:r>
                  <a:rPr lang="ja-JP" altLang="en-US" sz="1600">
                    <a:latin typeface="+mn-lt"/>
                  </a:rPr>
                  <a:t>（</a:t>
                </a:r>
                <a:r>
                  <a:rPr lang="en-US" altLang="ja-JP" sz="1600">
                    <a:latin typeface="+mn-lt"/>
                  </a:rPr>
                  <a:t>1</a:t>
                </a:r>
                <a:r>
                  <a:rPr lang="ja-JP" altLang="en-US" sz="1600">
                    <a:latin typeface="+mn-lt"/>
                  </a:rPr>
                  <a:t>）複数の契約が</a:t>
                </a:r>
                <a:r>
                  <a:rPr lang="ja-JP" altLang="en-US" sz="1600" b="1">
                    <a:solidFill>
                      <a:srgbClr val="FF0000"/>
                    </a:solidFill>
                    <a:latin typeface="+mn-lt"/>
                  </a:rPr>
                  <a:t>同一の商業的目的</a:t>
                </a:r>
                <a:r>
                  <a:rPr lang="ja-JP" altLang="en-US" sz="1600">
                    <a:latin typeface="+mn-lt"/>
                  </a:rPr>
                  <a:t>を有する</a:t>
                </a:r>
                <a:r>
                  <a:rPr lang="ja-JP" altLang="en-US" sz="1600"/>
                  <a:t>場合</a:t>
                </a:r>
                <a:endParaRPr lang="en-US" altLang="ja-JP" sz="1600"/>
              </a:p>
              <a:p>
                <a:pPr marL="373063" indent="-373063">
                  <a:spcBef>
                    <a:spcPts val="300"/>
                  </a:spcBef>
                  <a:defRPr/>
                </a:pPr>
                <a:r>
                  <a:rPr lang="ja-JP" altLang="en-US" sz="1600">
                    <a:latin typeface="+mn-lt"/>
                  </a:rPr>
                  <a:t>（</a:t>
                </a:r>
                <a:r>
                  <a:rPr lang="en-US" altLang="ja-JP" sz="1600">
                    <a:latin typeface="+mn-lt"/>
                  </a:rPr>
                  <a:t>2</a:t>
                </a:r>
                <a:r>
                  <a:rPr lang="ja-JP" altLang="en-US" sz="1600">
                    <a:latin typeface="+mn-lt"/>
                  </a:rPr>
                  <a:t>）</a:t>
                </a:r>
                <a:r>
                  <a:rPr lang="en-US" altLang="ja-JP" sz="1600">
                    <a:latin typeface="+mn-lt"/>
                  </a:rPr>
                  <a:t>1</a:t>
                </a:r>
                <a:r>
                  <a:rPr lang="ja-JP" altLang="en-US" sz="1600">
                    <a:latin typeface="+mn-lt"/>
                  </a:rPr>
                  <a:t>つの契約で支払われる対価の額が、他の契約の価格又は履行により影響を受けること（</a:t>
                </a:r>
                <a:r>
                  <a:rPr lang="en-US" altLang="ja-JP" sz="1600">
                    <a:latin typeface="+mn-lt"/>
                  </a:rPr>
                  <a:t>ex:</a:t>
                </a:r>
                <a:r>
                  <a:rPr lang="ja-JP" altLang="en-US" sz="1600"/>
                  <a:t>オプションを付けた場合に、セット販売価格が適用されるケース</a:t>
                </a:r>
                <a:r>
                  <a:rPr lang="ja-JP" altLang="en-US" sz="1600">
                    <a:latin typeface="+mn-lt"/>
                  </a:rPr>
                  <a:t>）</a:t>
                </a:r>
              </a:p>
              <a:p>
                <a:pPr marL="373063" indent="-373063">
                  <a:spcBef>
                    <a:spcPts val="300"/>
                  </a:spcBef>
                  <a:defRPr/>
                </a:pPr>
                <a:r>
                  <a:rPr lang="ja-JP" altLang="en-US" sz="1600">
                    <a:latin typeface="+mn-lt"/>
                  </a:rPr>
                  <a:t>（</a:t>
                </a:r>
                <a:r>
                  <a:rPr lang="en-US" altLang="ja-JP" sz="1600">
                    <a:latin typeface="+mn-lt"/>
                  </a:rPr>
                  <a:t>3</a:t>
                </a:r>
                <a:r>
                  <a:rPr lang="ja-JP" altLang="en-US" sz="1600">
                    <a:latin typeface="+mn-lt"/>
                  </a:rPr>
                  <a:t>）複数の契約で約束した財又はサービスが、履行義務の識別の要件に従うと単一の履行義務となること（</a:t>
                </a:r>
                <a:r>
                  <a:rPr lang="ja-JP" altLang="en-US" sz="1600" b="1">
                    <a:solidFill>
                      <a:srgbClr val="FF0000"/>
                    </a:solidFill>
                    <a:latin typeface="+mn-lt"/>
                  </a:rPr>
                  <a:t>契約間の相互関連性が高い</a:t>
                </a:r>
                <a:r>
                  <a:rPr lang="ja-JP" altLang="en-US" sz="1600">
                    <a:latin typeface="+mn-lt"/>
                  </a:rPr>
                  <a:t>ケース）</a:t>
                </a:r>
              </a:p>
            </p:txBody>
          </p:sp>
          <p:sp>
            <p:nvSpPr>
              <p:cNvPr id="9" name="加算記号 8">
                <a:extLst>
                  <a:ext uri="{FF2B5EF4-FFF2-40B4-BE49-F238E27FC236}">
                    <a16:creationId xmlns:a16="http://schemas.microsoft.com/office/drawing/2014/main" id="{F5C875C0-DC87-A2CD-C945-0AD09370A5EA}"/>
                  </a:ext>
                </a:extLst>
              </p:cNvPr>
              <p:cNvSpPr>
                <a:spLocks/>
              </p:cNvSpPr>
              <p:nvPr/>
            </p:nvSpPr>
            <p:spPr bwMode="gray">
              <a:xfrm>
                <a:off x="2537220" y="2497048"/>
                <a:ext cx="901591" cy="954118"/>
              </a:xfrm>
              <a:prstGeom prst="mathPlus">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kumimoji="1" lang="ja-JP" altLang="en-US" sz="1400" b="1">
                    <a:solidFill>
                      <a:schemeClr val="bg1"/>
                    </a:solidFill>
                  </a:rPr>
                  <a:t>かつ</a:t>
                </a:r>
              </a:p>
            </p:txBody>
          </p:sp>
          <p:sp>
            <p:nvSpPr>
              <p:cNvPr id="10" name="正方形/長方形 15">
                <a:extLst>
                  <a:ext uri="{FF2B5EF4-FFF2-40B4-BE49-F238E27FC236}">
                    <a16:creationId xmlns:a16="http://schemas.microsoft.com/office/drawing/2014/main" id="{E8AB8901-8477-4509-7FA3-7F4ED215FF20}"/>
                  </a:ext>
                </a:extLst>
              </p:cNvPr>
              <p:cNvSpPr>
                <a:spLocks noChangeArrowheads="1"/>
              </p:cNvSpPr>
              <p:nvPr/>
            </p:nvSpPr>
            <p:spPr bwMode="gray">
              <a:xfrm>
                <a:off x="563154" y="1283562"/>
                <a:ext cx="9072000" cy="3074335"/>
              </a:xfrm>
              <a:prstGeom prst="rect">
                <a:avLst/>
              </a:prstGeom>
              <a:noFill/>
              <a:ln w="12700" algn="ctr">
                <a:solidFill>
                  <a:schemeClr val="accent6"/>
                </a:solidFill>
                <a:round/>
                <a:headEnd/>
                <a:tailEnd/>
              </a:ln>
            </p:spPr>
            <p:txBody>
              <a:bodyPr lIns="72000" tIns="71998" rIns="72000" bIns="71998" anchor="t"/>
              <a:lstStyle/>
              <a:p>
                <a:pPr marL="226800" lvl="1" indent="-226800" eaLnBrk="0" hangingPunct="0">
                  <a:buFont typeface="Wingdings" panose="05000000000000000000" pitchFamily="2" charset="2"/>
                  <a:buChar char="n"/>
                </a:pPr>
                <a:r>
                  <a:rPr lang="ja-JP" altLang="en-US" sz="1600">
                    <a:latin typeface="+mn-lt"/>
                  </a:rPr>
                  <a:t>通常は、それぞれの契約は別個に会計処理される</a:t>
                </a:r>
              </a:p>
              <a:p>
                <a:pPr marL="226800" lvl="1" indent="-226800" eaLnBrk="0" hangingPunct="0">
                  <a:buFont typeface="Wingdings" panose="05000000000000000000" pitchFamily="2" charset="2"/>
                  <a:buChar char="n"/>
                </a:pPr>
                <a:r>
                  <a:rPr lang="ja-JP" altLang="en-US" sz="1600">
                    <a:latin typeface="+mn-lt"/>
                  </a:rPr>
                  <a:t>以下の場合、</a:t>
                </a:r>
                <a:r>
                  <a:rPr lang="ja-JP" altLang="en-US" sz="1600" b="1" u="sng">
                    <a:latin typeface="+mn-lt"/>
                  </a:rPr>
                  <a:t>複数の契約を結合して、単一の契約として</a:t>
                </a:r>
                <a:r>
                  <a:rPr lang="ja-JP" altLang="en-US" sz="1600">
                    <a:latin typeface="+mn-lt"/>
                  </a:rPr>
                  <a:t>会計処理（基準</a:t>
                </a:r>
                <a:r>
                  <a:rPr lang="en-US" altLang="ja-JP" sz="1600">
                    <a:latin typeface="+mn-lt"/>
                  </a:rPr>
                  <a:t>27</a:t>
                </a:r>
                <a:r>
                  <a:rPr lang="ja-JP" altLang="en-US" sz="1600">
                    <a:latin typeface="+mn-lt"/>
                  </a:rPr>
                  <a:t>項）</a:t>
                </a:r>
                <a:br>
                  <a:rPr lang="ja-JP" altLang="en-US" sz="1600">
                    <a:latin typeface="+mn-lt"/>
                  </a:rPr>
                </a:br>
                <a:endParaRPr lang="ja-JP" altLang="en-US" sz="1600">
                  <a:latin typeface="+mn-lt"/>
                </a:endParaRPr>
              </a:p>
            </p:txBody>
          </p:sp>
        </p:grpSp>
      </p:grpSp>
      <p:sp>
        <p:nvSpPr>
          <p:cNvPr id="13" name="テキスト プレースホルダー 3">
            <a:extLst>
              <a:ext uri="{FF2B5EF4-FFF2-40B4-BE49-F238E27FC236}">
                <a16:creationId xmlns:a16="http://schemas.microsoft.com/office/drawing/2014/main" id="{9610B01C-F640-3D89-035B-79AA42B57C15}"/>
              </a:ext>
            </a:extLst>
          </p:cNvPr>
          <p:cNvSpPr txBox="1">
            <a:spLocks/>
          </p:cNvSpPr>
          <p:nvPr/>
        </p:nvSpPr>
        <p:spPr>
          <a:xfrm>
            <a:off x="623272" y="952639"/>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法形式上は契約が複数に分かれていても、収益認識上では１つの契約として結合しなければならないケースもあります。その場合、契約の結合の論点を考慮する必要があります。</a:t>
            </a:r>
          </a:p>
        </p:txBody>
      </p:sp>
      <p:grpSp>
        <p:nvGrpSpPr>
          <p:cNvPr id="15" name="グループ化 14">
            <a:extLst>
              <a:ext uri="{FF2B5EF4-FFF2-40B4-BE49-F238E27FC236}">
                <a16:creationId xmlns:a16="http://schemas.microsoft.com/office/drawing/2014/main" id="{A47047F2-7EAA-0262-9ACA-17ADF24CA484}"/>
              </a:ext>
            </a:extLst>
          </p:cNvPr>
          <p:cNvGrpSpPr/>
          <p:nvPr/>
        </p:nvGrpSpPr>
        <p:grpSpPr>
          <a:xfrm>
            <a:off x="6153056" y="1636559"/>
            <a:ext cx="2833314" cy="1437199"/>
            <a:chOff x="10891691" y="3741366"/>
            <a:chExt cx="2447585" cy="1873449"/>
          </a:xfrm>
        </p:grpSpPr>
        <p:sp>
          <p:nvSpPr>
            <p:cNvPr id="16" name="角丸四角形 33">
              <a:extLst>
                <a:ext uri="{FF2B5EF4-FFF2-40B4-BE49-F238E27FC236}">
                  <a16:creationId xmlns:a16="http://schemas.microsoft.com/office/drawing/2014/main" id="{AC018AE9-9418-3FF6-0A96-F0C628E9B77D}"/>
                </a:ext>
              </a:extLst>
            </p:cNvPr>
            <p:cNvSpPr/>
            <p:nvPr/>
          </p:nvSpPr>
          <p:spPr bwMode="gray">
            <a:xfrm>
              <a:off x="10891691" y="3844063"/>
              <a:ext cx="2447585" cy="1770752"/>
            </a:xfrm>
            <a:prstGeom prst="roundRect">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20" name="テキスト ボックス 19">
              <a:extLst>
                <a:ext uri="{FF2B5EF4-FFF2-40B4-BE49-F238E27FC236}">
                  <a16:creationId xmlns:a16="http://schemas.microsoft.com/office/drawing/2014/main" id="{FB9199C5-17BC-DABB-CDFA-89D326470189}"/>
                </a:ext>
              </a:extLst>
            </p:cNvPr>
            <p:cNvSpPr txBox="1"/>
            <p:nvPr/>
          </p:nvSpPr>
          <p:spPr bwMode="gray">
            <a:xfrm>
              <a:off x="11373885" y="3741366"/>
              <a:ext cx="1510676" cy="348749"/>
            </a:xfrm>
            <a:prstGeom prst="rect">
              <a:avLst/>
            </a:prstGeom>
            <a:solidFill>
              <a:schemeClr val="accent6"/>
            </a:solidFill>
            <a:ln>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sz="1600">
                  <a:solidFill>
                    <a:schemeClr val="bg1"/>
                  </a:solidFill>
                </a:rPr>
                <a:t>契約</a:t>
              </a:r>
            </a:p>
          </p:txBody>
        </p:sp>
      </p:grpSp>
      <p:sp>
        <p:nvSpPr>
          <p:cNvPr id="30" name="Rectangle 34">
            <a:extLst>
              <a:ext uri="{FF2B5EF4-FFF2-40B4-BE49-F238E27FC236}">
                <a16:creationId xmlns:a16="http://schemas.microsoft.com/office/drawing/2014/main" id="{1C7AA15F-C4B6-1726-F361-EC89A6B39151}"/>
              </a:ext>
            </a:extLst>
          </p:cNvPr>
          <p:cNvSpPr>
            <a:spLocks noChangeArrowheads="1"/>
          </p:cNvSpPr>
          <p:nvPr/>
        </p:nvSpPr>
        <p:spPr bwMode="gray">
          <a:xfrm>
            <a:off x="1865049" y="1697910"/>
            <a:ext cx="837487" cy="213978"/>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契約</a:t>
            </a:r>
            <a:r>
              <a:rPr lang="en-US" altLang="ja-JP" sz="1400" kern="0">
                <a:latin typeface="+mn-lt"/>
              </a:rPr>
              <a:t>A</a:t>
            </a:r>
            <a:endParaRPr lang="ja-JP" altLang="nl-NL" sz="1400" kern="0">
              <a:latin typeface="+mn-lt"/>
            </a:endParaRPr>
          </a:p>
        </p:txBody>
      </p:sp>
      <p:sp>
        <p:nvSpPr>
          <p:cNvPr id="31" name="Rectangle 34">
            <a:extLst>
              <a:ext uri="{FF2B5EF4-FFF2-40B4-BE49-F238E27FC236}">
                <a16:creationId xmlns:a16="http://schemas.microsoft.com/office/drawing/2014/main" id="{6DDA5A2F-936D-5C1F-F712-1F5FF63FA83F}"/>
              </a:ext>
            </a:extLst>
          </p:cNvPr>
          <p:cNvSpPr>
            <a:spLocks noChangeArrowheads="1"/>
          </p:cNvSpPr>
          <p:nvPr/>
        </p:nvSpPr>
        <p:spPr bwMode="gray">
          <a:xfrm>
            <a:off x="3009825" y="1716104"/>
            <a:ext cx="837487" cy="177589"/>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契約</a:t>
            </a:r>
            <a:r>
              <a:rPr lang="en-US" altLang="ja-JP" sz="1400" kern="0">
                <a:latin typeface="+mn-lt"/>
              </a:rPr>
              <a:t>B</a:t>
            </a:r>
            <a:endParaRPr lang="ja-JP" altLang="nl-NL" sz="1400" kern="0">
              <a:latin typeface="+mn-lt"/>
            </a:endParaRPr>
          </a:p>
        </p:txBody>
      </p:sp>
      <p:sp>
        <p:nvSpPr>
          <p:cNvPr id="32" name="矢印: 右 31">
            <a:extLst>
              <a:ext uri="{FF2B5EF4-FFF2-40B4-BE49-F238E27FC236}">
                <a16:creationId xmlns:a16="http://schemas.microsoft.com/office/drawing/2014/main" id="{2F7E0E84-2A08-BF3E-8BB6-7AC837E9867C}"/>
              </a:ext>
            </a:extLst>
          </p:cNvPr>
          <p:cNvSpPr/>
          <p:nvPr/>
        </p:nvSpPr>
        <p:spPr>
          <a:xfrm>
            <a:off x="4604458" y="2152065"/>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33" name="Rectangle 34">
            <a:extLst>
              <a:ext uri="{FF2B5EF4-FFF2-40B4-BE49-F238E27FC236}">
                <a16:creationId xmlns:a16="http://schemas.microsoft.com/office/drawing/2014/main" id="{EEBE7A71-ED02-2677-C006-568F6759FC90}"/>
              </a:ext>
            </a:extLst>
          </p:cNvPr>
          <p:cNvSpPr>
            <a:spLocks noChangeArrowheads="1"/>
          </p:cNvSpPr>
          <p:nvPr/>
        </p:nvSpPr>
        <p:spPr bwMode="gray">
          <a:xfrm>
            <a:off x="6557673" y="1938087"/>
            <a:ext cx="837487" cy="174834"/>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契約</a:t>
            </a:r>
            <a:r>
              <a:rPr lang="en-US" altLang="ja-JP" sz="1400" kern="0">
                <a:latin typeface="+mn-lt"/>
              </a:rPr>
              <a:t>A</a:t>
            </a:r>
            <a:endParaRPr lang="ja-JP" altLang="nl-NL" sz="1400" kern="0">
              <a:latin typeface="+mn-lt"/>
            </a:endParaRPr>
          </a:p>
        </p:txBody>
      </p:sp>
      <p:sp>
        <p:nvSpPr>
          <p:cNvPr id="34" name="Rectangle 34">
            <a:extLst>
              <a:ext uri="{FF2B5EF4-FFF2-40B4-BE49-F238E27FC236}">
                <a16:creationId xmlns:a16="http://schemas.microsoft.com/office/drawing/2014/main" id="{9369E4B7-64ED-B600-10DA-AF570BA0895C}"/>
              </a:ext>
            </a:extLst>
          </p:cNvPr>
          <p:cNvSpPr>
            <a:spLocks noChangeArrowheads="1"/>
          </p:cNvSpPr>
          <p:nvPr/>
        </p:nvSpPr>
        <p:spPr bwMode="gray">
          <a:xfrm>
            <a:off x="7897642" y="1935333"/>
            <a:ext cx="837487" cy="174834"/>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契約</a:t>
            </a:r>
            <a:r>
              <a:rPr lang="en-US" altLang="ja-JP" sz="1400" kern="0">
                <a:latin typeface="+mn-lt"/>
              </a:rPr>
              <a:t>B</a:t>
            </a:r>
            <a:endParaRPr lang="ja-JP" altLang="nl-NL" sz="1400" kern="0">
              <a:latin typeface="+mn-lt"/>
            </a:endParaRPr>
          </a:p>
        </p:txBody>
      </p:sp>
      <p:sp>
        <p:nvSpPr>
          <p:cNvPr id="35" name="テキスト ボックス 34">
            <a:extLst>
              <a:ext uri="{FF2B5EF4-FFF2-40B4-BE49-F238E27FC236}">
                <a16:creationId xmlns:a16="http://schemas.microsoft.com/office/drawing/2014/main" id="{FDF68238-FC81-4B50-8DC0-5109FFD875B7}"/>
              </a:ext>
            </a:extLst>
          </p:cNvPr>
          <p:cNvSpPr txBox="1"/>
          <p:nvPr/>
        </p:nvSpPr>
        <p:spPr>
          <a:xfrm>
            <a:off x="9237610" y="1852639"/>
            <a:ext cx="2696723" cy="963021"/>
          </a:xfrm>
          <a:prstGeom prst="rect">
            <a:avLst/>
          </a:prstGeom>
          <a:noFill/>
        </p:spPr>
        <p:txBody>
          <a:bodyPr wrap="square" lIns="0" tIns="0" rIns="0" bIns="0" rtlCol="0">
            <a:spAutoFit/>
          </a:bodyPr>
          <a:lstStyle/>
          <a:p>
            <a:pPr algn="l">
              <a:lnSpc>
                <a:spcPct val="120000"/>
              </a:lnSpc>
            </a:pPr>
            <a:r>
              <a:rPr lang="ja-JP" altLang="en-US" spc="110"/>
              <a:t>複数の契約であっても</a:t>
            </a:r>
            <a:endParaRPr lang="en-US" altLang="ja-JP" spc="110"/>
          </a:p>
          <a:p>
            <a:pPr algn="l">
              <a:lnSpc>
                <a:spcPct val="120000"/>
              </a:lnSpc>
            </a:pPr>
            <a:r>
              <a:rPr kumimoji="1" lang="ja-JP" altLang="en-US" spc="110" baseline="0"/>
              <a:t>会計上一つの契約とされる場合もある。</a:t>
            </a:r>
          </a:p>
        </p:txBody>
      </p:sp>
      <p:pic>
        <p:nvPicPr>
          <p:cNvPr id="2" name="図 1">
            <a:extLst>
              <a:ext uri="{FF2B5EF4-FFF2-40B4-BE49-F238E27FC236}">
                <a16:creationId xmlns:a16="http://schemas.microsoft.com/office/drawing/2014/main" id="{410B3152-BBA4-AC8B-E9F1-FF55B0501FB0}"/>
              </a:ext>
            </a:extLst>
          </p:cNvPr>
          <p:cNvPicPr>
            <a:picLocks noChangeAspect="1"/>
          </p:cNvPicPr>
          <p:nvPr/>
        </p:nvPicPr>
        <p:blipFill>
          <a:blip r:embed="rId3"/>
          <a:stretch>
            <a:fillRect/>
          </a:stretch>
        </p:blipFill>
        <p:spPr>
          <a:xfrm>
            <a:off x="1896928" y="1929346"/>
            <a:ext cx="714475" cy="895475"/>
          </a:xfrm>
          <a:prstGeom prst="rect">
            <a:avLst/>
          </a:prstGeom>
        </p:spPr>
      </p:pic>
      <p:pic>
        <p:nvPicPr>
          <p:cNvPr id="4" name="図 3">
            <a:extLst>
              <a:ext uri="{FF2B5EF4-FFF2-40B4-BE49-F238E27FC236}">
                <a16:creationId xmlns:a16="http://schemas.microsoft.com/office/drawing/2014/main" id="{D6239089-0F6D-115C-BEB1-D34A76CCF666}"/>
              </a:ext>
            </a:extLst>
          </p:cNvPr>
          <p:cNvPicPr>
            <a:picLocks noChangeAspect="1"/>
          </p:cNvPicPr>
          <p:nvPr/>
        </p:nvPicPr>
        <p:blipFill>
          <a:blip r:embed="rId3"/>
          <a:stretch>
            <a:fillRect/>
          </a:stretch>
        </p:blipFill>
        <p:spPr>
          <a:xfrm>
            <a:off x="3107153" y="1921078"/>
            <a:ext cx="714475" cy="895475"/>
          </a:xfrm>
          <a:prstGeom prst="rect">
            <a:avLst/>
          </a:prstGeom>
        </p:spPr>
      </p:pic>
      <p:pic>
        <p:nvPicPr>
          <p:cNvPr id="14" name="図 13">
            <a:extLst>
              <a:ext uri="{FF2B5EF4-FFF2-40B4-BE49-F238E27FC236}">
                <a16:creationId xmlns:a16="http://schemas.microsoft.com/office/drawing/2014/main" id="{9929F91D-BB81-734A-AECE-C1D32E82A8F1}"/>
              </a:ext>
            </a:extLst>
          </p:cNvPr>
          <p:cNvPicPr>
            <a:picLocks noChangeAspect="1"/>
          </p:cNvPicPr>
          <p:nvPr/>
        </p:nvPicPr>
        <p:blipFill>
          <a:blip r:embed="rId3"/>
          <a:stretch>
            <a:fillRect/>
          </a:stretch>
        </p:blipFill>
        <p:spPr>
          <a:xfrm>
            <a:off x="6711242" y="2127230"/>
            <a:ext cx="714475" cy="895475"/>
          </a:xfrm>
          <a:prstGeom prst="rect">
            <a:avLst/>
          </a:prstGeom>
        </p:spPr>
      </p:pic>
      <p:pic>
        <p:nvPicPr>
          <p:cNvPr id="17" name="図 16">
            <a:extLst>
              <a:ext uri="{FF2B5EF4-FFF2-40B4-BE49-F238E27FC236}">
                <a16:creationId xmlns:a16="http://schemas.microsoft.com/office/drawing/2014/main" id="{541F2A5E-6160-A225-6BDD-0DF99C37C1F1}"/>
              </a:ext>
            </a:extLst>
          </p:cNvPr>
          <p:cNvPicPr>
            <a:picLocks noChangeAspect="1"/>
          </p:cNvPicPr>
          <p:nvPr/>
        </p:nvPicPr>
        <p:blipFill>
          <a:blip r:embed="rId3"/>
          <a:stretch>
            <a:fillRect/>
          </a:stretch>
        </p:blipFill>
        <p:spPr>
          <a:xfrm>
            <a:off x="7921467" y="2118962"/>
            <a:ext cx="714475" cy="895475"/>
          </a:xfrm>
          <a:prstGeom prst="rect">
            <a:avLst/>
          </a:prstGeom>
        </p:spPr>
      </p:pic>
    </p:spTree>
    <p:extLst>
      <p:ext uri="{BB962C8B-B14F-4D97-AF65-F5344CB8AC3E}">
        <p14:creationId xmlns:p14="http://schemas.microsoft.com/office/powerpoint/2010/main" val="344257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ED56-B74B-C42B-25F8-6926AFA47F1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E2533FC-7625-4CBF-A281-3D6943BD0B3D}"/>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1(</a:t>
            </a:r>
            <a:r>
              <a:rPr lang="ja-JP" altLang="en-US"/>
              <a:t>契約の結合の例</a:t>
            </a:r>
            <a:r>
              <a:rPr lang="en-US" altLang="ja-JP"/>
              <a:t>)</a:t>
            </a:r>
            <a:endParaRPr lang="ja-JP" altLang="en-US"/>
          </a:p>
        </p:txBody>
      </p:sp>
      <p:sp>
        <p:nvSpPr>
          <p:cNvPr id="81" name="タイトル 2">
            <a:extLst>
              <a:ext uri="{FF2B5EF4-FFF2-40B4-BE49-F238E27FC236}">
                <a16:creationId xmlns:a16="http://schemas.microsoft.com/office/drawing/2014/main" id="{75BCAB2A-3D03-6CE4-C5D7-050965408771}"/>
              </a:ext>
            </a:extLst>
          </p:cNvPr>
          <p:cNvSpPr txBox="1">
            <a:spLocks/>
          </p:cNvSpPr>
          <p:nvPr/>
        </p:nvSpPr>
        <p:spPr>
          <a:xfrm>
            <a:off x="459865" y="923511"/>
            <a:ext cx="6656939" cy="371961"/>
          </a:xfrm>
          <a:prstGeom prst="rect">
            <a:avLst/>
          </a:prstGeom>
        </p:spPr>
        <p:txBody>
          <a:bodyPr vert="horz" lIns="0" tIns="36000" rIns="0" bIns="0" rtlCol="0" anchor="ctr">
            <a:normAutofit fontScale="975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endParaRPr lang="ja-JP" altLang="en-US"/>
          </a:p>
        </p:txBody>
      </p:sp>
      <p:sp>
        <p:nvSpPr>
          <p:cNvPr id="13" name="テキスト プレースホルダー 3">
            <a:extLst>
              <a:ext uri="{FF2B5EF4-FFF2-40B4-BE49-F238E27FC236}">
                <a16:creationId xmlns:a16="http://schemas.microsoft.com/office/drawing/2014/main" id="{0B074A59-6F6E-5FFA-35EF-ECAAC00E673D}"/>
              </a:ext>
            </a:extLst>
          </p:cNvPr>
          <p:cNvSpPr txBox="1">
            <a:spLocks/>
          </p:cNvSpPr>
          <p:nvPr/>
        </p:nvSpPr>
        <p:spPr>
          <a:xfrm>
            <a:off x="623272" y="952639"/>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ja-JP" altLang="en-US"/>
          </a:p>
        </p:txBody>
      </p:sp>
      <p:sp>
        <p:nvSpPr>
          <p:cNvPr id="30" name="Rectangle 34">
            <a:extLst>
              <a:ext uri="{FF2B5EF4-FFF2-40B4-BE49-F238E27FC236}">
                <a16:creationId xmlns:a16="http://schemas.microsoft.com/office/drawing/2014/main" id="{C9052A45-BE10-0FE0-8530-D66474D2FD64}"/>
              </a:ext>
            </a:extLst>
          </p:cNvPr>
          <p:cNvSpPr>
            <a:spLocks noChangeArrowheads="1"/>
          </p:cNvSpPr>
          <p:nvPr/>
        </p:nvSpPr>
        <p:spPr bwMode="gray">
          <a:xfrm>
            <a:off x="1002518" y="1765920"/>
            <a:ext cx="1676007" cy="3471741"/>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t" anchorCtr="0"/>
          <a:lstStyle/>
          <a:p>
            <a:pPr algn="ctr" eaLnBrk="0" fontAlgn="auto" hangingPunct="0">
              <a:spcBef>
                <a:spcPts val="0"/>
              </a:spcBef>
              <a:spcAft>
                <a:spcPts val="0"/>
              </a:spcAft>
              <a:defRPr/>
            </a:pPr>
            <a:r>
              <a:rPr lang="ja-JP" altLang="en-US" sz="1400" kern="0"/>
              <a:t>注文書</a:t>
            </a:r>
            <a:r>
              <a:rPr lang="en-US" altLang="ja-JP" sz="1400" kern="0">
                <a:latin typeface="+mn-lt"/>
              </a:rPr>
              <a:t>A</a:t>
            </a:r>
          </a:p>
          <a:p>
            <a:pPr algn="ctr" eaLnBrk="0" fontAlgn="auto" hangingPunct="0">
              <a:spcBef>
                <a:spcPts val="0"/>
              </a:spcBef>
              <a:spcAft>
                <a:spcPts val="0"/>
              </a:spcAft>
              <a:defRPr/>
            </a:pPr>
            <a:endParaRPr lang="en-US" altLang="ja-JP" sz="1400" kern="0">
              <a:latin typeface="+mn-lt"/>
            </a:endParaRPr>
          </a:p>
          <a:p>
            <a:pPr algn="ctr" eaLnBrk="0" fontAlgn="auto" hangingPunct="0">
              <a:spcBef>
                <a:spcPts val="0"/>
              </a:spcBef>
              <a:spcAft>
                <a:spcPts val="0"/>
              </a:spcAft>
              <a:defRPr/>
            </a:pPr>
            <a:r>
              <a:rPr lang="ja-JP" altLang="en-US" sz="1400" kern="0"/>
              <a:t>注文日：</a:t>
            </a:r>
            <a:r>
              <a:rPr lang="en-US" altLang="ja-JP" sz="1400" kern="0"/>
              <a:t>4/1</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顧客：○</a:t>
            </a:r>
            <a:r>
              <a:rPr lang="en-US" altLang="ja-JP" sz="1400" kern="0"/>
              <a:t>×</a:t>
            </a:r>
            <a:r>
              <a:rPr lang="ja-JP" altLang="en-US" sz="1400" kern="0"/>
              <a:t>重工</a:t>
            </a: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内容：建屋</a:t>
            </a:r>
            <a:r>
              <a:rPr lang="en-US" altLang="ja-JP" sz="1400" kern="0"/>
              <a:t>A</a:t>
            </a:r>
            <a:r>
              <a:rPr lang="ja-JP" altLang="en-US" sz="1400" kern="0"/>
              <a:t>に関する工事①</a:t>
            </a:r>
            <a:endParaRPr lang="en-US" altLang="ja-JP" sz="1400" kern="0"/>
          </a:p>
          <a:p>
            <a:pPr algn="ctr" eaLnBrk="0" fontAlgn="auto" hangingPunct="0">
              <a:spcBef>
                <a:spcPts val="0"/>
              </a:spcBef>
              <a:spcAft>
                <a:spcPts val="0"/>
              </a:spcAft>
              <a:defRPr/>
            </a:pPr>
            <a:r>
              <a:rPr lang="ja-JP" altLang="en-US" sz="1400" kern="0"/>
              <a:t>納入場所：</a:t>
            </a:r>
            <a:r>
              <a:rPr lang="en-US" altLang="ja-JP" sz="1400" kern="0"/>
              <a:t>A</a:t>
            </a:r>
            <a:r>
              <a:rPr lang="ja-JP" altLang="en-US" sz="1400" kern="0"/>
              <a:t>原発</a:t>
            </a: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工期：</a:t>
            </a:r>
            <a:r>
              <a:rPr lang="en-US" altLang="ja-JP" sz="1400" kern="0"/>
              <a:t>4/1</a:t>
            </a:r>
            <a:r>
              <a:rPr lang="ja-JP" altLang="en-US" sz="1400" kern="0"/>
              <a:t>～</a:t>
            </a:r>
            <a:r>
              <a:rPr lang="en-US" altLang="ja-JP" sz="1400" kern="0"/>
              <a:t>9/30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注文金額：</a:t>
            </a:r>
            <a:r>
              <a:rPr lang="en-US" altLang="ja-JP" sz="1400" kern="0"/>
              <a:t>1,000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latin typeface="+mn-lt"/>
            </a:endParaRPr>
          </a:p>
          <a:p>
            <a:pPr algn="ctr" eaLnBrk="0" fontAlgn="auto" hangingPunct="0">
              <a:spcBef>
                <a:spcPts val="0"/>
              </a:spcBef>
              <a:spcAft>
                <a:spcPts val="0"/>
              </a:spcAft>
              <a:defRPr/>
            </a:pPr>
            <a:endParaRPr lang="en-US" altLang="ja-JP" sz="1400" kern="0"/>
          </a:p>
        </p:txBody>
      </p:sp>
      <p:sp>
        <p:nvSpPr>
          <p:cNvPr id="31" name="Rectangle 34">
            <a:extLst>
              <a:ext uri="{FF2B5EF4-FFF2-40B4-BE49-F238E27FC236}">
                <a16:creationId xmlns:a16="http://schemas.microsoft.com/office/drawing/2014/main" id="{92550ADD-C1AD-518F-6D59-8080F192A39D}"/>
              </a:ext>
            </a:extLst>
          </p:cNvPr>
          <p:cNvSpPr>
            <a:spLocks noChangeArrowheads="1"/>
          </p:cNvSpPr>
          <p:nvPr/>
        </p:nvSpPr>
        <p:spPr bwMode="gray">
          <a:xfrm>
            <a:off x="2979110" y="1779052"/>
            <a:ext cx="1676007" cy="3455355"/>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t" anchorCtr="0"/>
          <a:lstStyle/>
          <a:p>
            <a:pPr algn="ctr" eaLnBrk="0" fontAlgn="auto" hangingPunct="0">
              <a:spcBef>
                <a:spcPts val="0"/>
              </a:spcBef>
              <a:spcAft>
                <a:spcPts val="0"/>
              </a:spcAft>
              <a:defRPr/>
            </a:pPr>
            <a:r>
              <a:rPr lang="ja-JP" altLang="en-US" sz="1400" kern="0"/>
              <a:t>注文書</a:t>
            </a:r>
            <a:r>
              <a:rPr lang="en-US" altLang="ja-JP" sz="1400" kern="0">
                <a:latin typeface="+mn-lt"/>
              </a:rPr>
              <a:t>B</a:t>
            </a:r>
          </a:p>
          <a:p>
            <a:pPr algn="ctr" eaLnBrk="0" hangingPunct="0">
              <a:defRPr/>
            </a:pPr>
            <a:endParaRPr lang="en-US" altLang="ja-JP" sz="1400" kern="0"/>
          </a:p>
          <a:p>
            <a:pPr algn="ctr" eaLnBrk="0" hangingPunct="0">
              <a:defRPr/>
            </a:pPr>
            <a:r>
              <a:rPr lang="ja-JP" altLang="en-US" sz="1400" kern="0"/>
              <a:t>注文日</a:t>
            </a:r>
            <a:r>
              <a:rPr lang="en-US" altLang="ja-JP" sz="1400" kern="0"/>
              <a:t>:4/1</a:t>
            </a:r>
          </a:p>
          <a:p>
            <a:pPr algn="ctr" eaLnBrk="0" hangingPunct="0">
              <a:defRPr/>
            </a:pPr>
            <a:endParaRPr lang="en-US" altLang="ja-JP" sz="1400" kern="0"/>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顧客：○</a:t>
            </a:r>
            <a:r>
              <a:rPr lang="en-US" altLang="ja-JP" sz="1400" kern="0"/>
              <a:t>×</a:t>
            </a:r>
            <a:r>
              <a:rPr lang="ja-JP" altLang="en-US" sz="1400" kern="0"/>
              <a:t>重工</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内容：建屋</a:t>
            </a:r>
            <a:r>
              <a:rPr lang="en-US" altLang="ja-JP" sz="1400" kern="0"/>
              <a:t>A</a:t>
            </a:r>
            <a:r>
              <a:rPr lang="ja-JP" altLang="en-US" sz="1400" kern="0"/>
              <a:t>に関する工事②</a:t>
            </a:r>
            <a:endParaRPr lang="en-US" altLang="ja-JP" sz="1400" kern="0"/>
          </a:p>
          <a:p>
            <a:pPr algn="ctr" eaLnBrk="0" hangingPunct="0">
              <a:defRPr/>
            </a:pPr>
            <a:r>
              <a:rPr lang="ja-JP" altLang="en-US" sz="1400" kern="0"/>
              <a:t>納入場所：</a:t>
            </a:r>
            <a:r>
              <a:rPr lang="en-US" altLang="ja-JP" sz="1400" kern="0"/>
              <a:t>A</a:t>
            </a:r>
            <a:r>
              <a:rPr lang="ja-JP" altLang="en-US" sz="1400" kern="0"/>
              <a:t>原発</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fontAlgn="auto" hangingPunct="0">
              <a:spcBef>
                <a:spcPts val="0"/>
              </a:spcBef>
              <a:spcAft>
                <a:spcPts val="0"/>
              </a:spcAft>
              <a:defRPr/>
            </a:pPr>
            <a:r>
              <a:rPr lang="ja-JP" altLang="en-US" sz="1400" kern="0"/>
              <a:t>工期：</a:t>
            </a:r>
            <a:r>
              <a:rPr lang="en-US" altLang="ja-JP" sz="1400" kern="0"/>
              <a:t>4/1</a:t>
            </a:r>
            <a:r>
              <a:rPr lang="ja-JP" altLang="en-US" sz="1400" kern="0"/>
              <a:t>～</a:t>
            </a:r>
            <a:r>
              <a:rPr lang="en-US" altLang="ja-JP" sz="1400" kern="0"/>
              <a:t>9/30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注文金額：</a:t>
            </a:r>
            <a:r>
              <a:rPr lang="en-US" altLang="ja-JP" sz="1400" kern="0"/>
              <a:t>200</a:t>
            </a:r>
          </a:p>
          <a:p>
            <a:pPr algn="ctr" eaLnBrk="0" fontAlgn="auto" hangingPunct="0">
              <a:spcBef>
                <a:spcPts val="0"/>
              </a:spcBef>
              <a:spcAft>
                <a:spcPts val="0"/>
              </a:spcAft>
              <a:defRPr/>
            </a:pPr>
            <a:endParaRPr lang="ja-JP" altLang="nl-NL" sz="1400" kern="0">
              <a:latin typeface="+mn-lt"/>
            </a:endParaRPr>
          </a:p>
        </p:txBody>
      </p:sp>
      <p:sp>
        <p:nvSpPr>
          <p:cNvPr id="32" name="矢印: 右 31">
            <a:extLst>
              <a:ext uri="{FF2B5EF4-FFF2-40B4-BE49-F238E27FC236}">
                <a16:creationId xmlns:a16="http://schemas.microsoft.com/office/drawing/2014/main" id="{71E41C4E-D800-0EB6-F135-74BBB859EC8A}"/>
              </a:ext>
            </a:extLst>
          </p:cNvPr>
          <p:cNvSpPr/>
          <p:nvPr/>
        </p:nvSpPr>
        <p:spPr>
          <a:xfrm>
            <a:off x="7370918" y="2217244"/>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2" name="Rectangle 34">
            <a:extLst>
              <a:ext uri="{FF2B5EF4-FFF2-40B4-BE49-F238E27FC236}">
                <a16:creationId xmlns:a16="http://schemas.microsoft.com/office/drawing/2014/main" id="{51D4D332-7FB9-BF74-C86F-B2AA19E5E7D0}"/>
              </a:ext>
            </a:extLst>
          </p:cNvPr>
          <p:cNvSpPr>
            <a:spLocks noChangeArrowheads="1"/>
          </p:cNvSpPr>
          <p:nvPr/>
        </p:nvSpPr>
        <p:spPr bwMode="gray">
          <a:xfrm>
            <a:off x="5048065" y="1772487"/>
            <a:ext cx="1676007" cy="3471739"/>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t" anchorCtr="0"/>
          <a:lstStyle/>
          <a:p>
            <a:pPr algn="ctr" eaLnBrk="0" fontAlgn="auto" hangingPunct="0">
              <a:spcBef>
                <a:spcPts val="0"/>
              </a:spcBef>
              <a:spcAft>
                <a:spcPts val="0"/>
              </a:spcAft>
              <a:defRPr/>
            </a:pPr>
            <a:r>
              <a:rPr lang="ja-JP" altLang="en-US" sz="1400" kern="0"/>
              <a:t>注文書</a:t>
            </a:r>
            <a:r>
              <a:rPr lang="en-US" altLang="ja-JP" sz="1400" kern="0"/>
              <a:t>C</a:t>
            </a:r>
          </a:p>
          <a:p>
            <a:pPr algn="ctr" eaLnBrk="0" fontAlgn="auto" hangingPunct="0">
              <a:spcBef>
                <a:spcPts val="0"/>
              </a:spcBef>
              <a:spcAft>
                <a:spcPts val="0"/>
              </a:spcAft>
              <a:defRPr/>
            </a:pPr>
            <a:endParaRPr lang="en-US" altLang="ja-JP" sz="1400" kern="0">
              <a:latin typeface="+mn-lt"/>
            </a:endParaRPr>
          </a:p>
          <a:p>
            <a:pPr algn="ctr" eaLnBrk="0" fontAlgn="auto" hangingPunct="0">
              <a:spcBef>
                <a:spcPts val="0"/>
              </a:spcBef>
              <a:spcAft>
                <a:spcPts val="0"/>
              </a:spcAft>
              <a:defRPr/>
            </a:pPr>
            <a:r>
              <a:rPr lang="ja-JP" altLang="en-US" sz="1400" kern="0"/>
              <a:t>注文日：</a:t>
            </a:r>
            <a:r>
              <a:rPr lang="en-US" altLang="ja-JP" sz="1400" kern="0"/>
              <a:t>4/2</a:t>
            </a:r>
            <a:endParaRPr lang="en-US" altLang="ja-JP" sz="1400" kern="0">
              <a:latin typeface="+mn-lt"/>
            </a:endParaRPr>
          </a:p>
          <a:p>
            <a:pPr algn="ctr" eaLnBrk="0" hangingPunct="0">
              <a:defRPr/>
            </a:pPr>
            <a:endParaRPr lang="en-US" altLang="ja-JP" sz="1400" kern="0"/>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顧客：○</a:t>
            </a:r>
            <a:r>
              <a:rPr lang="en-US" altLang="ja-JP" sz="1400" kern="0"/>
              <a:t>×</a:t>
            </a:r>
            <a:r>
              <a:rPr lang="ja-JP" altLang="en-US" sz="1400" kern="0"/>
              <a:t>重工</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内容：建屋</a:t>
            </a:r>
            <a:r>
              <a:rPr lang="en-US" altLang="ja-JP" sz="1400" kern="0"/>
              <a:t>A</a:t>
            </a:r>
            <a:r>
              <a:rPr lang="ja-JP" altLang="en-US" sz="1400" kern="0"/>
              <a:t>に関する工事③</a:t>
            </a:r>
            <a:endParaRPr lang="en-US" altLang="ja-JP" sz="1400" kern="0"/>
          </a:p>
          <a:p>
            <a:pPr algn="ctr" eaLnBrk="0" hangingPunct="0">
              <a:defRPr/>
            </a:pPr>
            <a:r>
              <a:rPr lang="ja-JP" altLang="en-US" sz="1400" kern="0"/>
              <a:t>納入場所：</a:t>
            </a:r>
            <a:r>
              <a:rPr lang="en-US" altLang="ja-JP" sz="1400" kern="0"/>
              <a:t>A</a:t>
            </a:r>
            <a:r>
              <a:rPr lang="ja-JP" altLang="en-US" sz="1400" kern="0"/>
              <a:t>原発</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fontAlgn="auto" hangingPunct="0">
              <a:spcBef>
                <a:spcPts val="0"/>
              </a:spcBef>
              <a:spcAft>
                <a:spcPts val="0"/>
              </a:spcAft>
              <a:defRPr/>
            </a:pPr>
            <a:r>
              <a:rPr lang="ja-JP" altLang="en-US" sz="1400" kern="0"/>
              <a:t>工期：</a:t>
            </a:r>
            <a:r>
              <a:rPr lang="en-US" altLang="ja-JP" sz="1400" kern="0"/>
              <a:t>4/1</a:t>
            </a:r>
            <a:r>
              <a:rPr lang="ja-JP" altLang="en-US" sz="1400" kern="0"/>
              <a:t>～</a:t>
            </a:r>
            <a:r>
              <a:rPr lang="en-US" altLang="ja-JP" sz="1400" kern="0"/>
              <a:t>9/30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注文金額：</a:t>
            </a:r>
            <a:r>
              <a:rPr lang="en-US" altLang="ja-JP" sz="1400" kern="0"/>
              <a:t>300</a:t>
            </a:r>
          </a:p>
          <a:p>
            <a:pPr algn="ctr" eaLnBrk="0" fontAlgn="auto" hangingPunct="0">
              <a:spcBef>
                <a:spcPts val="0"/>
              </a:spcBef>
              <a:spcAft>
                <a:spcPts val="0"/>
              </a:spcAft>
              <a:defRPr/>
            </a:pPr>
            <a:endParaRPr lang="en-US" altLang="ja-JP" sz="1400" kern="0">
              <a:latin typeface="+mn-lt"/>
            </a:endParaRPr>
          </a:p>
        </p:txBody>
      </p:sp>
      <p:sp>
        <p:nvSpPr>
          <p:cNvPr id="14" name="角丸四角形 33">
            <a:extLst>
              <a:ext uri="{FF2B5EF4-FFF2-40B4-BE49-F238E27FC236}">
                <a16:creationId xmlns:a16="http://schemas.microsoft.com/office/drawing/2014/main" id="{5BA4B92D-F869-6315-DF36-0ECAEF921933}"/>
              </a:ext>
            </a:extLst>
          </p:cNvPr>
          <p:cNvSpPr/>
          <p:nvPr/>
        </p:nvSpPr>
        <p:spPr bwMode="gray">
          <a:xfrm>
            <a:off x="833082" y="3078823"/>
            <a:ext cx="6386428" cy="440968"/>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18" name="角丸四角形 33">
            <a:extLst>
              <a:ext uri="{FF2B5EF4-FFF2-40B4-BE49-F238E27FC236}">
                <a16:creationId xmlns:a16="http://schemas.microsoft.com/office/drawing/2014/main" id="{CC9E1FA0-4877-DCD7-4E0E-12B4981BC4A9}"/>
              </a:ext>
            </a:extLst>
          </p:cNvPr>
          <p:cNvSpPr/>
          <p:nvPr/>
        </p:nvSpPr>
        <p:spPr bwMode="gray">
          <a:xfrm>
            <a:off x="833082" y="2274342"/>
            <a:ext cx="6386428" cy="335844"/>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19" name="角丸四角形 33">
            <a:extLst>
              <a:ext uri="{FF2B5EF4-FFF2-40B4-BE49-F238E27FC236}">
                <a16:creationId xmlns:a16="http://schemas.microsoft.com/office/drawing/2014/main" id="{289899FA-35F7-6619-2F2C-0EC4E1805E46}"/>
              </a:ext>
            </a:extLst>
          </p:cNvPr>
          <p:cNvSpPr/>
          <p:nvPr/>
        </p:nvSpPr>
        <p:spPr bwMode="gray">
          <a:xfrm>
            <a:off x="833082" y="3843612"/>
            <a:ext cx="6382443" cy="1296131"/>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21" name="矢印: 右 20">
            <a:extLst>
              <a:ext uri="{FF2B5EF4-FFF2-40B4-BE49-F238E27FC236}">
                <a16:creationId xmlns:a16="http://schemas.microsoft.com/office/drawing/2014/main" id="{05A829BE-BDDB-7ECE-EA32-96366656C444}"/>
              </a:ext>
            </a:extLst>
          </p:cNvPr>
          <p:cNvSpPr/>
          <p:nvPr/>
        </p:nvSpPr>
        <p:spPr>
          <a:xfrm>
            <a:off x="7375196" y="3019417"/>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22" name="矢印: 右 21">
            <a:extLst>
              <a:ext uri="{FF2B5EF4-FFF2-40B4-BE49-F238E27FC236}">
                <a16:creationId xmlns:a16="http://schemas.microsoft.com/office/drawing/2014/main" id="{6D310957-DBB9-5E58-155D-A4EEEDD8C8A7}"/>
              </a:ext>
            </a:extLst>
          </p:cNvPr>
          <p:cNvSpPr/>
          <p:nvPr/>
        </p:nvSpPr>
        <p:spPr>
          <a:xfrm>
            <a:off x="7331443" y="3856094"/>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grpSp>
        <p:nvGrpSpPr>
          <p:cNvPr id="24" name="グループ化 23">
            <a:extLst>
              <a:ext uri="{FF2B5EF4-FFF2-40B4-BE49-F238E27FC236}">
                <a16:creationId xmlns:a16="http://schemas.microsoft.com/office/drawing/2014/main" id="{C1A02A7F-3CC3-2ABD-4AAB-9C280DE72A78}"/>
              </a:ext>
            </a:extLst>
          </p:cNvPr>
          <p:cNvGrpSpPr/>
          <p:nvPr/>
        </p:nvGrpSpPr>
        <p:grpSpPr>
          <a:xfrm>
            <a:off x="8013733" y="1683831"/>
            <a:ext cx="3901759" cy="3550576"/>
            <a:chOff x="9072436" y="1892411"/>
            <a:chExt cx="2983329" cy="2775005"/>
          </a:xfrm>
        </p:grpSpPr>
        <p:sp>
          <p:nvSpPr>
            <p:cNvPr id="25" name="スクロール: 縦 24">
              <a:extLst>
                <a:ext uri="{FF2B5EF4-FFF2-40B4-BE49-F238E27FC236}">
                  <a16:creationId xmlns:a16="http://schemas.microsoft.com/office/drawing/2014/main" id="{C005B66D-6041-1CE5-6510-B5D95CC2FB3B}"/>
                </a:ext>
              </a:extLst>
            </p:cNvPr>
            <p:cNvSpPr/>
            <p:nvPr/>
          </p:nvSpPr>
          <p:spPr>
            <a:xfrm>
              <a:off x="9072436" y="1892411"/>
              <a:ext cx="2983329" cy="2775005"/>
            </a:xfrm>
            <a:prstGeom prst="verticalScroll">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26" name="正方形/長方形 25">
              <a:extLst>
                <a:ext uri="{FF2B5EF4-FFF2-40B4-BE49-F238E27FC236}">
                  <a16:creationId xmlns:a16="http://schemas.microsoft.com/office/drawing/2014/main" id="{1C3716F4-8C83-6ECE-505F-D883DC7D4D40}"/>
                </a:ext>
              </a:extLst>
            </p:cNvPr>
            <p:cNvSpPr/>
            <p:nvPr/>
          </p:nvSpPr>
          <p:spPr>
            <a:xfrm>
              <a:off x="9815946" y="1918537"/>
              <a:ext cx="1594176" cy="28419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endParaRPr kumimoji="1" lang="en-US" altLang="ja-JP" sz="1400">
                <a:solidFill>
                  <a:schemeClr val="tx1"/>
                </a:solidFill>
              </a:endParaRPr>
            </a:p>
          </p:txBody>
        </p:sp>
        <p:sp>
          <p:nvSpPr>
            <p:cNvPr id="27" name="正方形/長方形 26">
              <a:extLst>
                <a:ext uri="{FF2B5EF4-FFF2-40B4-BE49-F238E27FC236}">
                  <a16:creationId xmlns:a16="http://schemas.microsoft.com/office/drawing/2014/main" id="{CA9C79ED-8A8F-F40B-2F12-6AB20688685C}"/>
                </a:ext>
              </a:extLst>
            </p:cNvPr>
            <p:cNvSpPr/>
            <p:nvPr/>
          </p:nvSpPr>
          <p:spPr>
            <a:xfrm>
              <a:off x="9542521" y="2413090"/>
              <a:ext cx="2087681" cy="217093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kumimoji="1" lang="en-US" altLang="ja-JP" sz="1400">
                <a:solidFill>
                  <a:schemeClr val="tx1"/>
                </a:solidFill>
              </a:endParaRPr>
            </a:p>
          </p:txBody>
        </p:sp>
      </p:grpSp>
      <p:sp>
        <p:nvSpPr>
          <p:cNvPr id="28" name="正方形/長方形 27">
            <a:extLst>
              <a:ext uri="{FF2B5EF4-FFF2-40B4-BE49-F238E27FC236}">
                <a16:creationId xmlns:a16="http://schemas.microsoft.com/office/drawing/2014/main" id="{A8E976D7-C739-A1ED-7D7A-B89B6B07A3E6}"/>
              </a:ext>
            </a:extLst>
          </p:cNvPr>
          <p:cNvSpPr/>
          <p:nvPr/>
        </p:nvSpPr>
        <p:spPr>
          <a:xfrm>
            <a:off x="8965164" y="1899071"/>
            <a:ext cx="1954407" cy="1136564"/>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r>
              <a:rPr lang="en-US" altLang="ja-JP" sz="1600">
                <a:solidFill>
                  <a:schemeClr val="tx1"/>
                </a:solidFill>
              </a:rPr>
              <a:t>【</a:t>
            </a:r>
            <a:r>
              <a:rPr lang="ja-JP" altLang="en-US" sz="1600">
                <a:solidFill>
                  <a:schemeClr val="tx1"/>
                </a:solidFill>
              </a:rPr>
              <a:t>確認事項</a:t>
            </a:r>
            <a:r>
              <a:rPr lang="en-US" altLang="ja-JP" sz="1600">
                <a:solidFill>
                  <a:schemeClr val="tx1"/>
                </a:solidFill>
              </a:rPr>
              <a:t>】</a:t>
            </a:r>
          </a:p>
          <a:p>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29" name="正方形/長方形 28">
            <a:extLst>
              <a:ext uri="{FF2B5EF4-FFF2-40B4-BE49-F238E27FC236}">
                <a16:creationId xmlns:a16="http://schemas.microsoft.com/office/drawing/2014/main" id="{B018D825-D6E9-5DC4-FC5D-6D10E712E31F}"/>
              </a:ext>
            </a:extLst>
          </p:cNvPr>
          <p:cNvSpPr/>
          <p:nvPr/>
        </p:nvSpPr>
        <p:spPr>
          <a:xfrm>
            <a:off x="8598966" y="2834910"/>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注文日が同一またはほぼ同一に該当</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6" name="正方形/長方形 35">
            <a:extLst>
              <a:ext uri="{FF2B5EF4-FFF2-40B4-BE49-F238E27FC236}">
                <a16:creationId xmlns:a16="http://schemas.microsoft.com/office/drawing/2014/main" id="{A07BE30C-2E94-C209-2983-E3857F6B572A}"/>
              </a:ext>
            </a:extLst>
          </p:cNvPr>
          <p:cNvSpPr/>
          <p:nvPr/>
        </p:nvSpPr>
        <p:spPr>
          <a:xfrm>
            <a:off x="8598966" y="3680975"/>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同一の顧客に該当</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7" name="正方形/長方形 36">
            <a:extLst>
              <a:ext uri="{FF2B5EF4-FFF2-40B4-BE49-F238E27FC236}">
                <a16:creationId xmlns:a16="http://schemas.microsoft.com/office/drawing/2014/main" id="{6F0CDC02-A27B-5932-1B0E-EB9DCA765F27}"/>
              </a:ext>
            </a:extLst>
          </p:cNvPr>
          <p:cNvSpPr/>
          <p:nvPr/>
        </p:nvSpPr>
        <p:spPr>
          <a:xfrm>
            <a:off x="8628536" y="4936217"/>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契約間に相互関連性があるに該当</a:t>
            </a:r>
            <a:endParaRPr lang="en-US" altLang="ja-JP" sz="1600">
              <a:solidFill>
                <a:schemeClr val="tx1"/>
              </a:solidFill>
            </a:endParaRPr>
          </a:p>
          <a:p>
            <a:r>
              <a:rPr lang="ja-JP" altLang="en-US" sz="1400">
                <a:solidFill>
                  <a:schemeClr val="tx1"/>
                </a:solidFill>
              </a:rPr>
              <a:t>　</a:t>
            </a: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8" name="テキスト ボックス 37">
            <a:extLst>
              <a:ext uri="{FF2B5EF4-FFF2-40B4-BE49-F238E27FC236}">
                <a16:creationId xmlns:a16="http://schemas.microsoft.com/office/drawing/2014/main" id="{41287AAE-2EB2-25B5-7F2A-22F301151A53}"/>
              </a:ext>
            </a:extLst>
          </p:cNvPr>
          <p:cNvSpPr txBox="1"/>
          <p:nvPr/>
        </p:nvSpPr>
        <p:spPr>
          <a:xfrm>
            <a:off x="8668011" y="2199253"/>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39" name="テキスト ボックス 38">
            <a:extLst>
              <a:ext uri="{FF2B5EF4-FFF2-40B4-BE49-F238E27FC236}">
                <a16:creationId xmlns:a16="http://schemas.microsoft.com/office/drawing/2014/main" id="{F877F726-C7DB-33FD-AF33-880652D41A52}"/>
              </a:ext>
            </a:extLst>
          </p:cNvPr>
          <p:cNvSpPr txBox="1"/>
          <p:nvPr/>
        </p:nvSpPr>
        <p:spPr>
          <a:xfrm>
            <a:off x="8707610" y="4196355"/>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40" name="テキスト ボックス 39">
            <a:extLst>
              <a:ext uri="{FF2B5EF4-FFF2-40B4-BE49-F238E27FC236}">
                <a16:creationId xmlns:a16="http://schemas.microsoft.com/office/drawing/2014/main" id="{A88DC7DF-11CF-AFF2-5DB4-9674A1C7FF74}"/>
              </a:ext>
            </a:extLst>
          </p:cNvPr>
          <p:cNvSpPr txBox="1"/>
          <p:nvPr/>
        </p:nvSpPr>
        <p:spPr>
          <a:xfrm>
            <a:off x="8673907" y="3163298"/>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42" name="矢印: 五方向 41">
            <a:extLst>
              <a:ext uri="{FF2B5EF4-FFF2-40B4-BE49-F238E27FC236}">
                <a16:creationId xmlns:a16="http://schemas.microsoft.com/office/drawing/2014/main" id="{BC62F010-3389-1882-50F2-B93EA079ABA8}"/>
              </a:ext>
            </a:extLst>
          </p:cNvPr>
          <p:cNvSpPr/>
          <p:nvPr/>
        </p:nvSpPr>
        <p:spPr>
          <a:xfrm rot="5400000">
            <a:off x="3578563" y="3263723"/>
            <a:ext cx="261776" cy="4902407"/>
          </a:xfrm>
          <a:prstGeom prst="homePlate">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chemeClr val="tx1"/>
              </a:solidFill>
              <a:effectLst/>
              <a:uLnTx/>
              <a:uFillTx/>
              <a:latin typeface="+mn-ea"/>
              <a:cs typeface="+mn-cs"/>
            </a:endParaRPr>
          </a:p>
        </p:txBody>
      </p:sp>
      <p:sp>
        <p:nvSpPr>
          <p:cNvPr id="43" name="テキスト プレースホルダー 3">
            <a:extLst>
              <a:ext uri="{FF2B5EF4-FFF2-40B4-BE49-F238E27FC236}">
                <a16:creationId xmlns:a16="http://schemas.microsoft.com/office/drawing/2014/main" id="{5B20C58E-29CF-3FCE-FAAA-42F6B5A46A89}"/>
              </a:ext>
            </a:extLst>
          </p:cNvPr>
          <p:cNvSpPr>
            <a:spLocks noGrp="1"/>
          </p:cNvSpPr>
          <p:nvPr>
            <p:ph type="body" sz="quarter" idx="10"/>
          </p:nvPr>
        </p:nvSpPr>
        <p:spPr>
          <a:xfrm>
            <a:off x="1085646" y="5967280"/>
            <a:ext cx="5924754" cy="514169"/>
          </a:xfrm>
        </p:spPr>
        <p:txBody>
          <a:bodyPr/>
          <a:lstStyle/>
          <a:p>
            <a:r>
              <a:rPr lang="ja-JP" altLang="en-US" sz="1800" b="0"/>
              <a:t>契約の結合として、一つの契約として扱う必要がある</a:t>
            </a:r>
          </a:p>
        </p:txBody>
      </p:sp>
      <p:sp>
        <p:nvSpPr>
          <p:cNvPr id="44" name="テキスト プレースホルダー 3">
            <a:extLst>
              <a:ext uri="{FF2B5EF4-FFF2-40B4-BE49-F238E27FC236}">
                <a16:creationId xmlns:a16="http://schemas.microsoft.com/office/drawing/2014/main" id="{3DB96583-E0A8-ADF2-40E6-CB21DB58E6C1}"/>
              </a:ext>
            </a:extLst>
          </p:cNvPr>
          <p:cNvSpPr txBox="1">
            <a:spLocks/>
          </p:cNvSpPr>
          <p:nvPr/>
        </p:nvSpPr>
        <p:spPr>
          <a:xfrm>
            <a:off x="623272" y="1002693"/>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同一顧客から同時に注文書を分けて発注された場合において、契約の結合を考慮する必要があります。</a:t>
            </a:r>
          </a:p>
        </p:txBody>
      </p:sp>
      <p:sp>
        <p:nvSpPr>
          <p:cNvPr id="45" name="正方形/長方形 44">
            <a:extLst>
              <a:ext uri="{FF2B5EF4-FFF2-40B4-BE49-F238E27FC236}">
                <a16:creationId xmlns:a16="http://schemas.microsoft.com/office/drawing/2014/main" id="{1FE01102-F3D1-9207-E00A-14B6349267CF}"/>
              </a:ext>
            </a:extLst>
          </p:cNvPr>
          <p:cNvSpPr/>
          <p:nvPr/>
        </p:nvSpPr>
        <p:spPr>
          <a:xfrm>
            <a:off x="8628536" y="3295216"/>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Arial" panose="020B0604020202020204" pitchFamily="34" charset="0"/>
              <a:buChar char="•"/>
            </a:pPr>
            <a:r>
              <a:rPr lang="ja-JP" altLang="en-US" sz="1600">
                <a:solidFill>
                  <a:schemeClr val="tx1"/>
                </a:solidFill>
              </a:rPr>
              <a:t>最初の注文日から</a:t>
            </a:r>
            <a:r>
              <a:rPr lang="en-US" altLang="ja-JP" sz="1600">
                <a:solidFill>
                  <a:schemeClr val="tx1"/>
                </a:solidFill>
              </a:rPr>
              <a:t>2</a:t>
            </a:r>
            <a:r>
              <a:rPr lang="ja-JP" altLang="en-US" sz="1600">
                <a:solidFill>
                  <a:schemeClr val="tx1"/>
                </a:solidFill>
              </a:rPr>
              <a:t>・</a:t>
            </a:r>
            <a:r>
              <a:rPr lang="en-US" altLang="ja-JP" sz="1600">
                <a:solidFill>
                  <a:schemeClr val="tx1"/>
                </a:solidFill>
              </a:rPr>
              <a:t>3</a:t>
            </a:r>
            <a:r>
              <a:rPr lang="ja-JP" altLang="en-US" sz="1600">
                <a:solidFill>
                  <a:schemeClr val="tx1"/>
                </a:solidFill>
              </a:rPr>
              <a:t>日以内に注文　</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Tree>
    <p:extLst>
      <p:ext uri="{BB962C8B-B14F-4D97-AF65-F5344CB8AC3E}">
        <p14:creationId xmlns:p14="http://schemas.microsoft.com/office/powerpoint/2010/main" val="2704130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B01B-4898-F988-1E28-DA3879835FA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3FA33E0-0E75-9D4B-AF84-BEF4A68DE328}"/>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1(</a:t>
            </a:r>
            <a:r>
              <a:rPr lang="ja-JP" altLang="en-US"/>
              <a:t>契約の変更</a:t>
            </a:r>
            <a:r>
              <a:rPr lang="en-US" altLang="ja-JP"/>
              <a:t>)</a:t>
            </a:r>
            <a:endParaRPr lang="ja-JP" altLang="en-US"/>
          </a:p>
        </p:txBody>
      </p:sp>
      <p:sp>
        <p:nvSpPr>
          <p:cNvPr id="81" name="タイトル 2">
            <a:extLst>
              <a:ext uri="{FF2B5EF4-FFF2-40B4-BE49-F238E27FC236}">
                <a16:creationId xmlns:a16="http://schemas.microsoft.com/office/drawing/2014/main" id="{BA443E3A-E920-14B2-0C01-49F9375D6F76}"/>
              </a:ext>
            </a:extLst>
          </p:cNvPr>
          <p:cNvSpPr txBox="1">
            <a:spLocks/>
          </p:cNvSpPr>
          <p:nvPr/>
        </p:nvSpPr>
        <p:spPr>
          <a:xfrm>
            <a:off x="459865" y="923511"/>
            <a:ext cx="6656939" cy="371961"/>
          </a:xfrm>
          <a:prstGeom prst="rect">
            <a:avLst/>
          </a:prstGeom>
        </p:spPr>
        <p:txBody>
          <a:bodyPr vert="horz" lIns="0" tIns="36000" rIns="0" bIns="0" rtlCol="0" anchor="ctr">
            <a:normAutofit fontScale="52500" lnSpcReduction="200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br>
              <a:rPr lang="ja-JP" altLang="en-US"/>
            </a:br>
            <a:endParaRPr lang="ja-JP" altLang="en-US"/>
          </a:p>
        </p:txBody>
      </p:sp>
      <p:sp>
        <p:nvSpPr>
          <p:cNvPr id="2" name="正方形/長方形 9">
            <a:extLst>
              <a:ext uri="{FF2B5EF4-FFF2-40B4-BE49-F238E27FC236}">
                <a16:creationId xmlns:a16="http://schemas.microsoft.com/office/drawing/2014/main" id="{60534FD5-2AD5-DE52-E4D9-7400CA0B7883}"/>
              </a:ext>
            </a:extLst>
          </p:cNvPr>
          <p:cNvSpPr>
            <a:spLocks noChangeArrowheads="1"/>
          </p:cNvSpPr>
          <p:nvPr/>
        </p:nvSpPr>
        <p:spPr bwMode="gray">
          <a:xfrm>
            <a:off x="626763" y="1966489"/>
            <a:ext cx="7098884" cy="1601179"/>
          </a:xfrm>
          <a:prstGeom prst="rect">
            <a:avLst/>
          </a:prstGeom>
          <a:noFill/>
          <a:ln w="12700" algn="ctr">
            <a:solidFill>
              <a:schemeClr val="accent6"/>
            </a:solidFill>
            <a:round/>
            <a:headEnd/>
            <a:tailEnd/>
          </a:ln>
        </p:spPr>
        <p:txBody>
          <a:bodyPr lIns="71998" tIns="71998" rIns="71998" bIns="71998" anchor="t"/>
          <a:lstStyle/>
          <a:p>
            <a:pPr>
              <a:defRPr/>
            </a:pPr>
            <a:r>
              <a:rPr lang="ja-JP" altLang="en-US" sz="1600">
                <a:latin typeface="+mn-lt"/>
              </a:rPr>
              <a:t>契約変更について、次の（</a:t>
            </a:r>
            <a:r>
              <a:rPr lang="en-US" altLang="ja-JP" sz="1600">
                <a:latin typeface="+mn-lt"/>
              </a:rPr>
              <a:t>1</a:t>
            </a:r>
            <a:r>
              <a:rPr lang="ja-JP" altLang="en-US" sz="1600">
                <a:latin typeface="+mn-lt"/>
              </a:rPr>
              <a:t>）及び（</a:t>
            </a:r>
            <a:r>
              <a:rPr lang="en-US" altLang="ja-JP" sz="1600">
                <a:latin typeface="+mn-lt"/>
              </a:rPr>
              <a:t>2</a:t>
            </a:r>
            <a:r>
              <a:rPr lang="ja-JP" altLang="en-US" sz="1600">
                <a:latin typeface="+mn-lt"/>
              </a:rPr>
              <a:t>）の要件の</a:t>
            </a:r>
            <a:r>
              <a:rPr lang="ja-JP" altLang="en-US" sz="1600" b="1" u="sng">
                <a:latin typeface="+mn-lt"/>
              </a:rPr>
              <a:t>いずれも満たす</a:t>
            </a:r>
            <a:r>
              <a:rPr lang="ja-JP" altLang="en-US" sz="1600">
                <a:latin typeface="+mn-lt"/>
              </a:rPr>
              <a:t>場合、当該契約変更を独立した契約として処理する</a:t>
            </a:r>
            <a:endParaRPr lang="en-US" altLang="ja-JP" sz="1600">
              <a:latin typeface="+mn-lt"/>
            </a:endParaRPr>
          </a:p>
          <a:p>
            <a:pPr>
              <a:defRPr/>
            </a:pPr>
            <a:r>
              <a:rPr lang="ja-JP" altLang="en-US" sz="1600">
                <a:latin typeface="+mn-lt"/>
              </a:rPr>
              <a:t>（</a:t>
            </a:r>
            <a:r>
              <a:rPr lang="en-US" altLang="ja-JP" sz="1600">
                <a:latin typeface="+mn-lt"/>
              </a:rPr>
              <a:t>1</a:t>
            </a:r>
            <a:r>
              <a:rPr lang="ja-JP" altLang="en-US" sz="1600">
                <a:latin typeface="+mn-lt"/>
              </a:rPr>
              <a:t>）</a:t>
            </a:r>
            <a:r>
              <a:rPr lang="ja-JP" altLang="en-US" sz="1600" b="1" u="sng">
                <a:solidFill>
                  <a:srgbClr val="FF0000"/>
                </a:solidFill>
                <a:latin typeface="+mn-lt"/>
              </a:rPr>
              <a:t>従前の契約内容には関連しない</a:t>
            </a:r>
            <a:r>
              <a:rPr lang="ja-JP" altLang="en-US" sz="1600" b="1" u="sng">
                <a:latin typeface="+mn-lt"/>
              </a:rPr>
              <a:t>別個の財又はサービスの追加</a:t>
            </a:r>
            <a:r>
              <a:rPr lang="ja-JP" altLang="en-US" sz="1600">
                <a:latin typeface="+mn-lt"/>
              </a:rPr>
              <a:t>により、契約の範囲が拡大されること</a:t>
            </a:r>
            <a:endParaRPr lang="en-US" altLang="ja-JP" sz="1600">
              <a:latin typeface="+mn-lt"/>
            </a:endParaRPr>
          </a:p>
          <a:p>
            <a:pPr marL="331788" indent="-331788">
              <a:defRPr/>
            </a:pPr>
            <a:r>
              <a:rPr lang="ja-JP" altLang="en-US" sz="1600">
                <a:latin typeface="+mn-lt"/>
              </a:rPr>
              <a:t>（</a:t>
            </a:r>
            <a:r>
              <a:rPr lang="en-US" altLang="ja-JP" sz="1600">
                <a:latin typeface="+mn-lt"/>
              </a:rPr>
              <a:t>2</a:t>
            </a:r>
            <a:r>
              <a:rPr lang="ja-JP" altLang="en-US" sz="1600">
                <a:latin typeface="+mn-lt"/>
              </a:rPr>
              <a:t>）</a:t>
            </a:r>
            <a:r>
              <a:rPr lang="ja-JP" altLang="en-US" sz="1600" b="1" u="sng">
                <a:solidFill>
                  <a:srgbClr val="FF0000"/>
                </a:solidFill>
                <a:latin typeface="+mn-lt"/>
              </a:rPr>
              <a:t>変更される契約の価格</a:t>
            </a:r>
            <a:r>
              <a:rPr lang="ja-JP" altLang="en-US" sz="1600">
                <a:latin typeface="+mn-lt"/>
              </a:rPr>
              <a:t>が、追加的に約束した財又はサービスに対する</a:t>
            </a:r>
            <a:r>
              <a:rPr lang="ja-JP" altLang="en-US" sz="1600" b="1">
                <a:solidFill>
                  <a:srgbClr val="FF0000"/>
                </a:solidFill>
              </a:rPr>
              <a:t>独立販売価格</a:t>
            </a:r>
            <a:r>
              <a:rPr lang="ja-JP" altLang="en-US" sz="1600" b="1">
                <a:solidFill>
                  <a:srgbClr val="FF0000"/>
                </a:solidFill>
                <a:latin typeface="+mn-lt"/>
              </a:rPr>
              <a:t>を加えた金額分だけ増額</a:t>
            </a:r>
            <a:r>
              <a:rPr lang="ja-JP" altLang="en-US" sz="1600">
                <a:latin typeface="+mn-lt"/>
              </a:rPr>
              <a:t>されること</a:t>
            </a:r>
          </a:p>
        </p:txBody>
      </p:sp>
      <p:sp>
        <p:nvSpPr>
          <p:cNvPr id="11" name="下矢印 22">
            <a:extLst>
              <a:ext uri="{FF2B5EF4-FFF2-40B4-BE49-F238E27FC236}">
                <a16:creationId xmlns:a16="http://schemas.microsoft.com/office/drawing/2014/main" id="{1CC2F02E-9952-3E29-9764-8D3413D2B6F6}"/>
              </a:ext>
            </a:extLst>
          </p:cNvPr>
          <p:cNvSpPr/>
          <p:nvPr/>
        </p:nvSpPr>
        <p:spPr bwMode="gray">
          <a:xfrm>
            <a:off x="2871003" y="3606489"/>
            <a:ext cx="1402219" cy="277739"/>
          </a:xfrm>
          <a:prstGeom prst="downArrow">
            <a:avLst>
              <a:gd name="adj1" fmla="val 56877"/>
              <a:gd name="adj2" fmla="val 58002"/>
            </a:avLst>
          </a:prstGeom>
          <a:solidFill>
            <a:srgbClr val="97999B"/>
          </a:solidFill>
          <a:ln>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lIns="97274" tIns="48637" rIns="97274" bIns="48637" rtlCol="0" anchor="ctr"/>
          <a:lstStyle/>
          <a:p>
            <a:pPr algn="ctr"/>
            <a:r>
              <a:rPr kumimoji="1" lang="en-US" altLang="ja-JP" sz="1600">
                <a:solidFill>
                  <a:schemeClr val="bg1"/>
                </a:solidFill>
              </a:rPr>
              <a:t>No</a:t>
            </a:r>
            <a:endParaRPr kumimoji="1" lang="ja-JP" altLang="en-US" sz="1600">
              <a:solidFill>
                <a:schemeClr val="bg1"/>
              </a:solidFill>
            </a:endParaRPr>
          </a:p>
        </p:txBody>
      </p:sp>
      <p:sp>
        <p:nvSpPr>
          <p:cNvPr id="12" name="正方形/長方形 11">
            <a:extLst>
              <a:ext uri="{FF2B5EF4-FFF2-40B4-BE49-F238E27FC236}">
                <a16:creationId xmlns:a16="http://schemas.microsoft.com/office/drawing/2014/main" id="{2B2BD32A-1427-B3AF-7812-B779E641DB54}"/>
              </a:ext>
            </a:extLst>
          </p:cNvPr>
          <p:cNvSpPr/>
          <p:nvPr/>
        </p:nvSpPr>
        <p:spPr bwMode="gray">
          <a:xfrm>
            <a:off x="8304538" y="2052002"/>
            <a:ext cx="1697301" cy="1587858"/>
          </a:xfrm>
          <a:prstGeom prst="rect">
            <a:avLst/>
          </a:prstGeom>
          <a:solidFill>
            <a:schemeClr val="accent1"/>
          </a:solidFill>
          <a:ln w="12700" algn="ctr">
            <a:solidFill>
              <a:srgbClr val="FFFFFF"/>
            </a:solidFill>
            <a:round/>
            <a:headEnd/>
            <a:tailEnd/>
          </a:ln>
        </p:spPr>
        <p:txBody>
          <a:bodyPr lIns="71998" tIns="71998" rIns="72000" bIns="71998" anchor="ctr"/>
          <a:lstStyle/>
          <a:p>
            <a:pPr algn="ctr" defTabSz="761979">
              <a:lnSpc>
                <a:spcPct val="95000"/>
              </a:lnSpc>
              <a:defRPr/>
            </a:pPr>
            <a:r>
              <a:rPr lang="ja-JP" altLang="en-US" b="1">
                <a:solidFill>
                  <a:srgbClr val="FFFFFF"/>
                </a:solidFill>
              </a:rPr>
              <a:t>別個の新しい契約</a:t>
            </a:r>
            <a:r>
              <a:rPr lang="ja-JP" altLang="en-US">
                <a:solidFill>
                  <a:srgbClr val="FFFFFF"/>
                </a:solidFill>
              </a:rPr>
              <a:t>としてみなす</a:t>
            </a:r>
            <a:endParaRPr lang="en-US" altLang="ja-JP" sz="1600">
              <a:solidFill>
                <a:srgbClr val="FFFFFF"/>
              </a:solidFill>
              <a:latin typeface="+mn-lt"/>
            </a:endParaRPr>
          </a:p>
        </p:txBody>
      </p:sp>
      <p:sp>
        <p:nvSpPr>
          <p:cNvPr id="13" name="右矢印 25">
            <a:extLst>
              <a:ext uri="{FF2B5EF4-FFF2-40B4-BE49-F238E27FC236}">
                <a16:creationId xmlns:a16="http://schemas.microsoft.com/office/drawing/2014/main" id="{CC683C60-42EC-AEF6-D7C1-C334B7B2D85A}"/>
              </a:ext>
            </a:extLst>
          </p:cNvPr>
          <p:cNvSpPr/>
          <p:nvPr/>
        </p:nvSpPr>
        <p:spPr bwMode="gray">
          <a:xfrm>
            <a:off x="7767184" y="2206708"/>
            <a:ext cx="504056" cy="1265124"/>
          </a:xfrm>
          <a:prstGeom prst="rightArrow">
            <a:avLst/>
          </a:prstGeom>
          <a:solidFill>
            <a:srgbClr val="97999B"/>
          </a:solidFill>
          <a:ln w="12700">
            <a:solidFill>
              <a:srgbClr val="97999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ja-JP" sz="1600">
                <a:solidFill>
                  <a:schemeClr val="bg1"/>
                </a:solidFill>
              </a:rPr>
              <a:t>Yes</a:t>
            </a:r>
          </a:p>
        </p:txBody>
      </p:sp>
      <p:sp>
        <p:nvSpPr>
          <p:cNvPr id="14" name="Rectangle 22">
            <a:extLst>
              <a:ext uri="{FF2B5EF4-FFF2-40B4-BE49-F238E27FC236}">
                <a16:creationId xmlns:a16="http://schemas.microsoft.com/office/drawing/2014/main" id="{4AD29612-DA6A-0E60-B434-B877E218C9AC}"/>
              </a:ext>
            </a:extLst>
          </p:cNvPr>
          <p:cNvSpPr>
            <a:spLocks noChangeArrowheads="1"/>
          </p:cNvSpPr>
          <p:nvPr/>
        </p:nvSpPr>
        <p:spPr bwMode="gray">
          <a:xfrm>
            <a:off x="624283" y="1674111"/>
            <a:ext cx="2934119" cy="288000"/>
          </a:xfrm>
          <a:prstGeom prst="rect">
            <a:avLst/>
          </a:prstGeom>
          <a:solidFill>
            <a:schemeClr val="accent6"/>
          </a:solidFill>
          <a:ln w="12700" algn="ctr">
            <a:solidFill>
              <a:schemeClr val="accent6"/>
            </a:solidFill>
            <a:miter lim="800000"/>
            <a:headEnd type="none" w="sm" len="sm"/>
            <a:tailEnd type="none" w="sm" len="sm"/>
          </a:ln>
        </p:spPr>
        <p:txBody>
          <a:bodyPr lIns="91438" tIns="91438" rIns="91438" bIns="91438" anchor="ctr"/>
          <a:lstStyle/>
          <a:p>
            <a:pPr algn="ctr">
              <a:spcBef>
                <a:spcPts val="0"/>
              </a:spcBef>
            </a:pPr>
            <a:r>
              <a:rPr lang="ja-JP" altLang="en-US" sz="1600" b="1">
                <a:solidFill>
                  <a:schemeClr val="bg1"/>
                </a:solidFill>
                <a:latin typeface="+mn-lt"/>
              </a:rPr>
              <a:t>契約変更の会計処理</a:t>
            </a:r>
            <a:endParaRPr lang="en-US" altLang="ja-JP" sz="1600" b="1">
              <a:solidFill>
                <a:schemeClr val="bg1"/>
              </a:solidFill>
              <a:latin typeface="+mn-lt"/>
            </a:endParaRPr>
          </a:p>
        </p:txBody>
      </p:sp>
      <p:sp>
        <p:nvSpPr>
          <p:cNvPr id="18" name="正方形/長方形 17">
            <a:extLst>
              <a:ext uri="{FF2B5EF4-FFF2-40B4-BE49-F238E27FC236}">
                <a16:creationId xmlns:a16="http://schemas.microsoft.com/office/drawing/2014/main" id="{F7AB42BB-D08A-D67C-344A-D7483D205CD4}"/>
              </a:ext>
            </a:extLst>
          </p:cNvPr>
          <p:cNvSpPr/>
          <p:nvPr/>
        </p:nvSpPr>
        <p:spPr bwMode="gray">
          <a:xfrm>
            <a:off x="1394691" y="3906672"/>
            <a:ext cx="4402794" cy="982745"/>
          </a:xfrm>
          <a:prstGeom prst="rect">
            <a:avLst/>
          </a:prstGeom>
          <a:noFill/>
          <a:ln w="12700" algn="ctr">
            <a:solidFill>
              <a:schemeClr val="accent2"/>
            </a:solidFill>
            <a:round/>
            <a:headEnd/>
            <a:tailEnd/>
          </a:ln>
        </p:spPr>
        <p:txBody>
          <a:bodyPr lIns="71998" tIns="71998" rIns="72000" bIns="71998" anchor="ctr"/>
          <a:lstStyle/>
          <a:p>
            <a:pPr algn="ctr" defTabSz="761979">
              <a:defRPr/>
            </a:pPr>
            <a:r>
              <a:rPr lang="ja-JP" altLang="en-US" sz="1600" b="1">
                <a:latin typeface="+mn-lt"/>
              </a:rPr>
              <a:t>契約変更を既存の</a:t>
            </a:r>
            <a:endParaRPr lang="en-US" altLang="ja-JP" sz="1600" b="1">
              <a:latin typeface="+mn-lt"/>
            </a:endParaRPr>
          </a:p>
          <a:p>
            <a:pPr algn="ctr" defTabSz="761979">
              <a:defRPr/>
            </a:pPr>
            <a:r>
              <a:rPr lang="ja-JP" altLang="en-US" sz="1600" b="1">
                <a:latin typeface="+mn-lt"/>
              </a:rPr>
              <a:t>契約の一部であると</a:t>
            </a:r>
            <a:endParaRPr lang="en-US" altLang="ja-JP" sz="1600" b="1">
              <a:latin typeface="+mn-lt"/>
            </a:endParaRPr>
          </a:p>
          <a:p>
            <a:pPr algn="ctr" defTabSz="761979">
              <a:defRPr/>
            </a:pPr>
            <a:r>
              <a:rPr lang="ja-JP" altLang="en-US" sz="1600" b="1">
                <a:latin typeface="+mn-lt"/>
              </a:rPr>
              <a:t>仮定して処理</a:t>
            </a:r>
            <a:endParaRPr lang="en-US" altLang="ja-JP" sz="1600" b="1">
              <a:latin typeface="+mn-lt"/>
            </a:endParaRPr>
          </a:p>
        </p:txBody>
      </p:sp>
      <p:sp>
        <p:nvSpPr>
          <p:cNvPr id="22" name="テキスト プレースホルダー 3">
            <a:extLst>
              <a:ext uri="{FF2B5EF4-FFF2-40B4-BE49-F238E27FC236}">
                <a16:creationId xmlns:a16="http://schemas.microsoft.com/office/drawing/2014/main" id="{9F2A52FE-6879-74D7-8F72-6DDA49218151}"/>
              </a:ext>
            </a:extLst>
          </p:cNvPr>
          <p:cNvSpPr txBox="1">
            <a:spLocks/>
          </p:cNvSpPr>
          <p:nvPr/>
        </p:nvSpPr>
        <p:spPr>
          <a:xfrm>
            <a:off x="623272" y="1002693"/>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契約の変更とは既存の契約内容の範囲または価格の変更のこといいます。</a:t>
            </a:r>
          </a:p>
        </p:txBody>
      </p:sp>
      <p:sp>
        <p:nvSpPr>
          <p:cNvPr id="23" name="角丸四角形吹き出し 30">
            <a:extLst>
              <a:ext uri="{FF2B5EF4-FFF2-40B4-BE49-F238E27FC236}">
                <a16:creationId xmlns:a16="http://schemas.microsoft.com/office/drawing/2014/main" id="{BC3302C6-A23B-8CBA-362A-25AD16F5429E}"/>
              </a:ext>
            </a:extLst>
          </p:cNvPr>
          <p:cNvSpPr/>
          <p:nvPr/>
        </p:nvSpPr>
        <p:spPr bwMode="gray">
          <a:xfrm>
            <a:off x="6655324" y="4069619"/>
            <a:ext cx="5185852" cy="2322128"/>
          </a:xfrm>
          <a:prstGeom prst="wedgeRoundRectCallout">
            <a:avLst>
              <a:gd name="adj1" fmla="val -54881"/>
              <a:gd name="adj2" fmla="val -81729"/>
              <a:gd name="adj3" fmla="val 16667"/>
            </a:avLst>
          </a:prstGeom>
          <a:solidFill>
            <a:schemeClr val="bg2"/>
          </a:solidFill>
          <a:ln w="12700" algn="ctr">
            <a:solidFill>
              <a:srgbClr val="BBBCBC"/>
            </a:solidFill>
            <a:miter lim="800000"/>
            <a:headEnd/>
            <a:tailEnd/>
          </a:ln>
        </p:spPr>
        <p:txBody>
          <a:bodyPr wrap="square" lIns="33231" tIns="33231" rIns="33231" bIns="33231" rtlCol="0" anchor="ctr"/>
          <a:lstStyle/>
          <a:p>
            <a:pPr marL="0" lvl="1" algn="just" defTabSz="844060" eaLnBrk="0" hangingPunct="0">
              <a:spcBef>
                <a:spcPts val="0"/>
              </a:spcBef>
              <a:spcAft>
                <a:spcPts val="0"/>
              </a:spcAft>
              <a:defRPr/>
            </a:pPr>
            <a:r>
              <a:rPr lang="ja-JP" altLang="en-US" sz="1600">
                <a:latin typeface="+mn-ea"/>
              </a:rPr>
              <a:t>既存のオーダーに、追加オーダーが入った場合、追加オーダー分の価格増加額が、別売りの価格（単品での価格）と一致するケース。</a:t>
            </a:r>
            <a:endParaRPr lang="en-US" altLang="ja-JP" sz="1600">
              <a:latin typeface="+mn-ea"/>
            </a:endParaRPr>
          </a:p>
          <a:p>
            <a:pPr marL="0" lvl="1" algn="just" defTabSz="844060" eaLnBrk="0" hangingPunct="0">
              <a:spcBef>
                <a:spcPts val="0"/>
              </a:spcBef>
              <a:spcAft>
                <a:spcPts val="0"/>
              </a:spcAft>
              <a:defRPr/>
            </a:pPr>
            <a:r>
              <a:rPr lang="ja-JP" altLang="en-US" sz="1600">
                <a:latin typeface="+mn-ea"/>
              </a:rPr>
              <a:t>（例）ハンバーガー</a:t>
            </a:r>
            <a:r>
              <a:rPr lang="en-US" altLang="ja-JP" sz="1600">
                <a:latin typeface="+mn-ea"/>
              </a:rPr>
              <a:t>1</a:t>
            </a:r>
            <a:r>
              <a:rPr lang="ja-JP" altLang="en-US" sz="1600">
                <a:latin typeface="+mn-ea"/>
              </a:rPr>
              <a:t>個</a:t>
            </a:r>
            <a:r>
              <a:rPr lang="en-US" altLang="ja-JP" sz="1600">
                <a:latin typeface="+mn-ea"/>
              </a:rPr>
              <a:t>500</a:t>
            </a:r>
            <a:r>
              <a:rPr lang="ja-JP" altLang="en-US" sz="1600">
                <a:latin typeface="+mn-ea"/>
              </a:rPr>
              <a:t>円で元々注文されていたが、追加でもう一個（ハンバーガー</a:t>
            </a:r>
            <a:r>
              <a:rPr lang="en-US" altLang="ja-JP" sz="1600">
                <a:latin typeface="+mn-ea"/>
              </a:rPr>
              <a:t>1</a:t>
            </a:r>
            <a:r>
              <a:rPr lang="ja-JP" altLang="en-US" sz="1600">
                <a:latin typeface="+mn-ea"/>
              </a:rPr>
              <a:t>個</a:t>
            </a:r>
            <a:r>
              <a:rPr lang="en-US" altLang="ja-JP" sz="1600">
                <a:latin typeface="+mn-ea"/>
              </a:rPr>
              <a:t>500</a:t>
            </a:r>
            <a:r>
              <a:rPr lang="ja-JP" altLang="en-US" sz="1600">
                <a:latin typeface="+mn-ea"/>
              </a:rPr>
              <a:t>円）を注文が入り、合計ハンバーガー</a:t>
            </a:r>
            <a:r>
              <a:rPr lang="en-US" altLang="ja-JP" sz="1600">
                <a:latin typeface="+mn-ea"/>
              </a:rPr>
              <a:t>2</a:t>
            </a:r>
            <a:r>
              <a:rPr lang="ja-JP" altLang="en-US" sz="1600">
                <a:latin typeface="+mn-ea"/>
              </a:rPr>
              <a:t>個</a:t>
            </a:r>
            <a:r>
              <a:rPr lang="en-US" altLang="ja-JP" sz="1600">
                <a:latin typeface="+mn-ea"/>
              </a:rPr>
              <a:t>1000</a:t>
            </a:r>
            <a:r>
              <a:rPr lang="ja-JP" altLang="en-US" sz="1600">
                <a:latin typeface="+mn-ea"/>
              </a:rPr>
              <a:t>円注文されたとき。</a:t>
            </a:r>
            <a:r>
              <a:rPr lang="en-US" altLang="ja-JP" sz="1600">
                <a:latin typeface="+mn-ea"/>
              </a:rPr>
              <a:t>1000</a:t>
            </a:r>
            <a:r>
              <a:rPr lang="ja-JP" altLang="en-US" sz="1600">
                <a:latin typeface="+mn-ea"/>
              </a:rPr>
              <a:t>円から</a:t>
            </a:r>
            <a:r>
              <a:rPr lang="en-US" altLang="ja-JP" sz="1600">
                <a:latin typeface="+mn-ea"/>
              </a:rPr>
              <a:t>500</a:t>
            </a:r>
            <a:r>
              <a:rPr lang="ja-JP" altLang="en-US" sz="1600">
                <a:latin typeface="+mn-ea"/>
              </a:rPr>
              <a:t>円の差額が</a:t>
            </a:r>
            <a:r>
              <a:rPr lang="en-US" altLang="ja-JP" sz="1600">
                <a:latin typeface="+mn-ea"/>
              </a:rPr>
              <a:t>500</a:t>
            </a:r>
            <a:r>
              <a:rPr lang="ja-JP" altLang="en-US" sz="1600">
                <a:latin typeface="+mn-ea"/>
              </a:rPr>
              <a:t>円でちょうどハンバーガー単品１個に該当する場合。</a:t>
            </a:r>
            <a:endParaRPr lang="en-US" altLang="ja-JP" sz="1600">
              <a:latin typeface="+mn-ea"/>
            </a:endParaRPr>
          </a:p>
        </p:txBody>
      </p:sp>
      <p:sp>
        <p:nvSpPr>
          <p:cNvPr id="24" name="角丸四角形 43">
            <a:extLst>
              <a:ext uri="{FF2B5EF4-FFF2-40B4-BE49-F238E27FC236}">
                <a16:creationId xmlns:a16="http://schemas.microsoft.com/office/drawing/2014/main" id="{5784CB2A-0EA6-5172-EF27-CF598A8E6488}"/>
              </a:ext>
            </a:extLst>
          </p:cNvPr>
          <p:cNvSpPr/>
          <p:nvPr/>
        </p:nvSpPr>
        <p:spPr bwMode="gray">
          <a:xfrm>
            <a:off x="734192" y="5050274"/>
            <a:ext cx="5921132" cy="1807726"/>
          </a:xfrm>
          <a:prstGeom prst="roundRect">
            <a:avLst/>
          </a:prstGeom>
          <a:noFill/>
          <a:ln w="12700" algn="ctr">
            <a:noFill/>
            <a:miter lim="800000"/>
            <a:headEnd/>
            <a:tailEnd/>
          </a:ln>
        </p:spPr>
        <p:txBody>
          <a:bodyPr wrap="square" lIns="36000" tIns="36000" rIns="36000" bIns="36000" rtlCol="0" anchor="t"/>
          <a:lstStyle/>
          <a:p>
            <a:r>
              <a:rPr lang="en-US" altLang="ja-JP" sz="1400"/>
              <a:t>※</a:t>
            </a:r>
            <a:r>
              <a:rPr lang="ja-JP" altLang="en-US" sz="1400">
                <a:solidFill>
                  <a:srgbClr val="FF0000"/>
                </a:solidFill>
              </a:rPr>
              <a:t>独立販売価格：</a:t>
            </a:r>
            <a:r>
              <a:rPr lang="ja-JP" altLang="en-US" sz="1400"/>
              <a:t>セット売りでない別売での価格</a:t>
            </a:r>
            <a:r>
              <a:rPr lang="en-US" altLang="ja-JP" sz="1400"/>
              <a:t>(</a:t>
            </a:r>
            <a:r>
              <a:rPr lang="ja-JP" altLang="en-US" sz="1400"/>
              <a:t>一個当たりの単品金額）</a:t>
            </a:r>
            <a:endParaRPr lang="en-US" altLang="ja-JP" sz="1400"/>
          </a:p>
          <a:p>
            <a:r>
              <a:rPr lang="ja-JP" altLang="en-US" sz="1400"/>
              <a:t>（例）ハンバーガーセット（ハンバーガー＋ポテトのセット</a:t>
            </a:r>
            <a:r>
              <a:rPr lang="en-US" altLang="ja-JP" sz="1400"/>
              <a:t>+</a:t>
            </a:r>
            <a:r>
              <a:rPr lang="ja-JP" altLang="en-US" sz="1400"/>
              <a:t>飲み物）のセット販売を例にする。ハンバーガーセット金額が</a:t>
            </a:r>
            <a:r>
              <a:rPr lang="en-US" altLang="ja-JP" sz="1400"/>
              <a:t>800</a:t>
            </a:r>
            <a:r>
              <a:rPr lang="ja-JP" altLang="en-US" sz="1400"/>
              <a:t>円だった場合において、独立販売価格は単品で場合の価格を指す。</a:t>
            </a:r>
            <a:endParaRPr lang="en-US" altLang="ja-JP" sz="1400"/>
          </a:p>
          <a:p>
            <a:r>
              <a:rPr lang="ja-JP" altLang="en-US" sz="1400"/>
              <a:t>この場合、ハンバーガー単品</a:t>
            </a:r>
            <a:r>
              <a:rPr lang="en-US" altLang="ja-JP" sz="1400"/>
              <a:t>500</a:t>
            </a:r>
            <a:r>
              <a:rPr lang="ja-JP" altLang="en-US" sz="1400"/>
              <a:t>円、ポテト単品</a:t>
            </a:r>
            <a:r>
              <a:rPr lang="en-US" altLang="ja-JP" sz="1400"/>
              <a:t>300</a:t>
            </a:r>
            <a:r>
              <a:rPr lang="ja-JP" altLang="en-US" sz="1400"/>
              <a:t>円、ドリンク単品</a:t>
            </a:r>
            <a:r>
              <a:rPr lang="en-US" altLang="ja-JP" sz="1400"/>
              <a:t>150</a:t>
            </a:r>
            <a:r>
              <a:rPr lang="ja-JP" altLang="en-US" sz="1400"/>
              <a:t>円の各単品金額を独立販売価格という。</a:t>
            </a:r>
            <a:endParaRPr lang="en-US" altLang="ja-JP" sz="1400"/>
          </a:p>
          <a:p>
            <a:endParaRPr kumimoji="1" lang="en-US" altLang="ja-JP" sz="1400">
              <a:latin typeface="+mn-lt"/>
            </a:endParaRPr>
          </a:p>
          <a:p>
            <a:endParaRPr kumimoji="1" lang="ja-JP" altLang="en-US" sz="1400">
              <a:latin typeface="+mn-lt"/>
            </a:endParaRPr>
          </a:p>
        </p:txBody>
      </p:sp>
    </p:spTree>
    <p:extLst>
      <p:ext uri="{BB962C8B-B14F-4D97-AF65-F5344CB8AC3E}">
        <p14:creationId xmlns:p14="http://schemas.microsoft.com/office/powerpoint/2010/main" val="33333787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4E439-FAC6-C4ED-9A57-DBD76518155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F183591-8695-2C12-3468-CABE0B013AFE}"/>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1(</a:t>
            </a:r>
            <a:r>
              <a:rPr lang="ja-JP" altLang="en-US"/>
              <a:t>契約の変更の例</a:t>
            </a:r>
            <a:r>
              <a:rPr lang="en-US" altLang="ja-JP"/>
              <a:t>)</a:t>
            </a:r>
            <a:endParaRPr lang="ja-JP" altLang="en-US"/>
          </a:p>
        </p:txBody>
      </p:sp>
      <p:sp>
        <p:nvSpPr>
          <p:cNvPr id="81" name="タイトル 2">
            <a:extLst>
              <a:ext uri="{FF2B5EF4-FFF2-40B4-BE49-F238E27FC236}">
                <a16:creationId xmlns:a16="http://schemas.microsoft.com/office/drawing/2014/main" id="{FC2A807D-D87B-029E-600E-C35A3B2AF921}"/>
              </a:ext>
            </a:extLst>
          </p:cNvPr>
          <p:cNvSpPr txBox="1">
            <a:spLocks/>
          </p:cNvSpPr>
          <p:nvPr/>
        </p:nvSpPr>
        <p:spPr>
          <a:xfrm>
            <a:off x="459865" y="923511"/>
            <a:ext cx="6656939" cy="371961"/>
          </a:xfrm>
          <a:prstGeom prst="rect">
            <a:avLst/>
          </a:prstGeom>
        </p:spPr>
        <p:txBody>
          <a:bodyPr vert="horz" lIns="0" tIns="36000" rIns="0" bIns="0" rtlCol="0" anchor="ctr">
            <a:normAutofit fontScale="975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endParaRPr lang="ja-JP" altLang="en-US"/>
          </a:p>
        </p:txBody>
      </p:sp>
      <p:sp>
        <p:nvSpPr>
          <p:cNvPr id="13" name="テキスト プレースホルダー 3">
            <a:extLst>
              <a:ext uri="{FF2B5EF4-FFF2-40B4-BE49-F238E27FC236}">
                <a16:creationId xmlns:a16="http://schemas.microsoft.com/office/drawing/2014/main" id="{A7124B63-4AC4-ABAB-AFF9-B77B80314CFD}"/>
              </a:ext>
            </a:extLst>
          </p:cNvPr>
          <p:cNvSpPr txBox="1">
            <a:spLocks/>
          </p:cNvSpPr>
          <p:nvPr/>
        </p:nvSpPr>
        <p:spPr>
          <a:xfrm>
            <a:off x="623272" y="952639"/>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endParaRPr lang="ja-JP" altLang="en-US"/>
          </a:p>
        </p:txBody>
      </p:sp>
      <p:sp>
        <p:nvSpPr>
          <p:cNvPr id="30" name="Rectangle 34">
            <a:extLst>
              <a:ext uri="{FF2B5EF4-FFF2-40B4-BE49-F238E27FC236}">
                <a16:creationId xmlns:a16="http://schemas.microsoft.com/office/drawing/2014/main" id="{BF1E31CC-E8D9-BE46-9F05-B786C19D2F27}"/>
              </a:ext>
            </a:extLst>
          </p:cNvPr>
          <p:cNvSpPr>
            <a:spLocks noChangeArrowheads="1"/>
          </p:cNvSpPr>
          <p:nvPr/>
        </p:nvSpPr>
        <p:spPr bwMode="gray">
          <a:xfrm>
            <a:off x="905701" y="1826222"/>
            <a:ext cx="2677936" cy="3471741"/>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t" anchorCtr="0"/>
          <a:lstStyle/>
          <a:p>
            <a:pPr algn="ctr" eaLnBrk="0" fontAlgn="auto" hangingPunct="0">
              <a:spcBef>
                <a:spcPts val="0"/>
              </a:spcBef>
              <a:spcAft>
                <a:spcPts val="0"/>
              </a:spcAft>
              <a:defRPr/>
            </a:pPr>
            <a:r>
              <a:rPr lang="ja-JP" altLang="en-US" sz="1400" kern="0"/>
              <a:t>注文書</a:t>
            </a:r>
            <a:r>
              <a:rPr lang="en-US" altLang="ja-JP" sz="1400" kern="0">
                <a:latin typeface="+mn-lt"/>
              </a:rPr>
              <a:t>A</a:t>
            </a:r>
          </a:p>
          <a:p>
            <a:pPr algn="ctr" eaLnBrk="0" fontAlgn="auto" hangingPunct="0">
              <a:spcBef>
                <a:spcPts val="0"/>
              </a:spcBef>
              <a:spcAft>
                <a:spcPts val="0"/>
              </a:spcAft>
              <a:defRPr/>
            </a:pPr>
            <a:endParaRPr lang="en-US" altLang="ja-JP" sz="1400" kern="0">
              <a:latin typeface="+mn-lt"/>
            </a:endParaRPr>
          </a:p>
          <a:p>
            <a:pPr algn="ctr" eaLnBrk="0" fontAlgn="auto" hangingPunct="0">
              <a:spcBef>
                <a:spcPts val="0"/>
              </a:spcBef>
              <a:spcAft>
                <a:spcPts val="0"/>
              </a:spcAft>
              <a:defRPr/>
            </a:pPr>
            <a:r>
              <a:rPr lang="ja-JP" altLang="en-US" sz="1400" kern="0"/>
              <a:t>注文日：</a:t>
            </a:r>
            <a:r>
              <a:rPr lang="en-US" altLang="ja-JP" sz="1400" kern="0"/>
              <a:t>4/1</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顧客：○</a:t>
            </a:r>
            <a:r>
              <a:rPr lang="en-US" altLang="ja-JP" sz="1400" kern="0"/>
              <a:t>×</a:t>
            </a:r>
            <a:r>
              <a:rPr lang="ja-JP" altLang="en-US" sz="1400" kern="0"/>
              <a:t>重工</a:t>
            </a: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内容：建屋</a:t>
            </a:r>
            <a:r>
              <a:rPr lang="en-US" altLang="ja-JP" sz="1400" kern="0"/>
              <a:t>A</a:t>
            </a:r>
            <a:r>
              <a:rPr lang="ja-JP" altLang="en-US" sz="1400" kern="0"/>
              <a:t>に関する工事①</a:t>
            </a:r>
            <a:endParaRPr lang="en-US" altLang="ja-JP" sz="1400" kern="0"/>
          </a:p>
          <a:p>
            <a:pPr algn="ctr" eaLnBrk="0" fontAlgn="auto" hangingPunct="0">
              <a:spcBef>
                <a:spcPts val="0"/>
              </a:spcBef>
              <a:spcAft>
                <a:spcPts val="0"/>
              </a:spcAft>
              <a:defRPr/>
            </a:pPr>
            <a:r>
              <a:rPr lang="ja-JP" altLang="en-US" sz="1400" kern="0"/>
              <a:t>納入場所：</a:t>
            </a:r>
            <a:r>
              <a:rPr lang="en-US" altLang="ja-JP" sz="1400" kern="0"/>
              <a:t>A</a:t>
            </a:r>
            <a:r>
              <a:rPr lang="ja-JP" altLang="en-US" sz="1400" kern="0"/>
              <a:t>原発</a:t>
            </a: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工期：</a:t>
            </a:r>
            <a:r>
              <a:rPr lang="en-US" altLang="ja-JP" sz="1400" kern="0"/>
              <a:t>4/1</a:t>
            </a:r>
            <a:r>
              <a:rPr lang="ja-JP" altLang="en-US" sz="1400" kern="0"/>
              <a:t>～</a:t>
            </a:r>
            <a:r>
              <a:rPr lang="en-US" altLang="ja-JP" sz="1400" kern="0"/>
              <a:t>9/30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注文金額：</a:t>
            </a:r>
            <a:r>
              <a:rPr lang="en-US" altLang="ja-JP" sz="1400" kern="0"/>
              <a:t>1,000</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endParaRPr lang="en-US" altLang="ja-JP" sz="1400" kern="0">
              <a:latin typeface="+mn-lt"/>
            </a:endParaRPr>
          </a:p>
          <a:p>
            <a:pPr algn="ctr" eaLnBrk="0" fontAlgn="auto" hangingPunct="0">
              <a:spcBef>
                <a:spcPts val="0"/>
              </a:spcBef>
              <a:spcAft>
                <a:spcPts val="0"/>
              </a:spcAft>
              <a:defRPr/>
            </a:pPr>
            <a:endParaRPr lang="en-US" altLang="ja-JP" sz="1400" kern="0"/>
          </a:p>
        </p:txBody>
      </p:sp>
      <p:sp>
        <p:nvSpPr>
          <p:cNvPr id="31" name="Rectangle 34">
            <a:extLst>
              <a:ext uri="{FF2B5EF4-FFF2-40B4-BE49-F238E27FC236}">
                <a16:creationId xmlns:a16="http://schemas.microsoft.com/office/drawing/2014/main" id="{D583F74A-6FC5-1DFB-EAC4-1E190A7A3C63}"/>
              </a:ext>
            </a:extLst>
          </p:cNvPr>
          <p:cNvSpPr>
            <a:spLocks noChangeArrowheads="1"/>
          </p:cNvSpPr>
          <p:nvPr/>
        </p:nvSpPr>
        <p:spPr bwMode="gray">
          <a:xfrm>
            <a:off x="4043041" y="1776168"/>
            <a:ext cx="2585345" cy="3529650"/>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t" anchorCtr="0"/>
          <a:lstStyle/>
          <a:p>
            <a:pPr algn="ctr" eaLnBrk="0" fontAlgn="auto" hangingPunct="0">
              <a:spcBef>
                <a:spcPts val="0"/>
              </a:spcBef>
              <a:spcAft>
                <a:spcPts val="0"/>
              </a:spcAft>
              <a:defRPr/>
            </a:pPr>
            <a:r>
              <a:rPr lang="ja-JP" altLang="en-US" sz="1400" kern="0"/>
              <a:t>注文書</a:t>
            </a:r>
            <a:r>
              <a:rPr lang="en-US" altLang="ja-JP" sz="1400" kern="0"/>
              <a:t>A</a:t>
            </a:r>
            <a:r>
              <a:rPr lang="ja-JP" altLang="en-US" sz="1400" kern="0"/>
              <a:t>（変更通知書）</a:t>
            </a:r>
            <a:endParaRPr lang="en-US" altLang="ja-JP" sz="1400" kern="0">
              <a:latin typeface="+mn-lt"/>
            </a:endParaRPr>
          </a:p>
          <a:p>
            <a:pPr algn="ctr" eaLnBrk="0" hangingPunct="0">
              <a:defRPr/>
            </a:pPr>
            <a:endParaRPr lang="en-US" altLang="ja-JP" sz="1400" kern="0"/>
          </a:p>
          <a:p>
            <a:pPr algn="ctr" eaLnBrk="0" hangingPunct="0">
              <a:defRPr/>
            </a:pPr>
            <a:r>
              <a:rPr lang="ja-JP" altLang="en-US" sz="1400" kern="0"/>
              <a:t>注文日</a:t>
            </a:r>
            <a:r>
              <a:rPr lang="en-US" altLang="ja-JP" sz="1400" kern="0"/>
              <a:t>:9/1</a:t>
            </a:r>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顧客：○</a:t>
            </a:r>
            <a:r>
              <a:rPr lang="en-US" altLang="ja-JP" sz="1400" kern="0"/>
              <a:t>×</a:t>
            </a:r>
            <a:r>
              <a:rPr lang="ja-JP" altLang="en-US" sz="1400" kern="0"/>
              <a:t>重工</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hangingPunct="0">
              <a:defRPr/>
            </a:pPr>
            <a:r>
              <a:rPr lang="ja-JP" altLang="en-US" sz="1400" kern="0"/>
              <a:t>内容：建屋</a:t>
            </a:r>
            <a:r>
              <a:rPr lang="en-US" altLang="ja-JP" sz="1400" kern="0"/>
              <a:t>A</a:t>
            </a:r>
            <a:r>
              <a:rPr lang="ja-JP" altLang="en-US" sz="1400" kern="0"/>
              <a:t>に関する工事①</a:t>
            </a:r>
            <a:endParaRPr lang="en-US" altLang="ja-JP" sz="1400" kern="0"/>
          </a:p>
          <a:p>
            <a:pPr algn="ctr" eaLnBrk="0" hangingPunct="0">
              <a:defRPr/>
            </a:pPr>
            <a:r>
              <a:rPr lang="ja-JP" altLang="en-US" sz="1400" kern="0"/>
              <a:t>納入場所：</a:t>
            </a:r>
            <a:r>
              <a:rPr lang="en-US" altLang="ja-JP" sz="1400" kern="0"/>
              <a:t>A</a:t>
            </a:r>
            <a:r>
              <a:rPr lang="ja-JP" altLang="en-US" sz="1400" kern="0"/>
              <a:t>原発</a:t>
            </a:r>
            <a:endParaRPr lang="en-US" altLang="ja-JP" sz="1400" kern="0"/>
          </a:p>
          <a:p>
            <a:pPr algn="ctr" eaLnBrk="0" hangingPunct="0">
              <a:defRPr/>
            </a:pPr>
            <a:endParaRPr lang="en-US" altLang="ja-JP" sz="1400" kern="0"/>
          </a:p>
          <a:p>
            <a:pPr algn="ctr" eaLnBrk="0" hangingPunct="0">
              <a:defRPr/>
            </a:pPr>
            <a:endParaRPr lang="en-US" altLang="ja-JP" sz="1400" kern="0"/>
          </a:p>
          <a:p>
            <a:pPr algn="ctr" eaLnBrk="0" fontAlgn="auto" hangingPunct="0">
              <a:spcBef>
                <a:spcPts val="0"/>
              </a:spcBef>
              <a:spcAft>
                <a:spcPts val="0"/>
              </a:spcAft>
              <a:defRPr/>
            </a:pPr>
            <a:r>
              <a:rPr lang="ja-JP" altLang="en-US" sz="1400" kern="0"/>
              <a:t>工期：</a:t>
            </a:r>
            <a:r>
              <a:rPr lang="en-US" altLang="ja-JP" sz="1400" kern="0"/>
              <a:t>4/1</a:t>
            </a:r>
            <a:r>
              <a:rPr lang="ja-JP" altLang="en-US" sz="1400" kern="0"/>
              <a:t>～</a:t>
            </a:r>
            <a:r>
              <a:rPr lang="en-US" altLang="ja-JP" sz="1400" kern="0"/>
              <a:t>12/31</a:t>
            </a:r>
          </a:p>
          <a:p>
            <a:pPr algn="ctr" eaLnBrk="0" fontAlgn="auto" hangingPunct="0">
              <a:spcBef>
                <a:spcPts val="0"/>
              </a:spcBef>
              <a:spcAft>
                <a:spcPts val="0"/>
              </a:spcAft>
              <a:defRPr/>
            </a:pPr>
            <a:endParaRPr lang="en-US" altLang="ja-JP" sz="1400" kern="0"/>
          </a:p>
          <a:p>
            <a:pPr algn="ctr" eaLnBrk="0" fontAlgn="auto" hangingPunct="0">
              <a:spcBef>
                <a:spcPts val="0"/>
              </a:spcBef>
              <a:spcAft>
                <a:spcPts val="0"/>
              </a:spcAft>
              <a:defRPr/>
            </a:pPr>
            <a:r>
              <a:rPr lang="ja-JP" altLang="en-US" sz="1400" kern="0"/>
              <a:t>追加注文金額：</a:t>
            </a:r>
            <a:r>
              <a:rPr lang="en-US" altLang="ja-JP" sz="1400" kern="0"/>
              <a:t>+200</a:t>
            </a:r>
          </a:p>
          <a:p>
            <a:pPr algn="ctr" eaLnBrk="0" fontAlgn="auto" hangingPunct="0">
              <a:spcBef>
                <a:spcPts val="0"/>
              </a:spcBef>
              <a:spcAft>
                <a:spcPts val="0"/>
              </a:spcAft>
              <a:defRPr/>
            </a:pPr>
            <a:endParaRPr lang="ja-JP" altLang="nl-NL" sz="1400" kern="0">
              <a:latin typeface="+mn-lt"/>
            </a:endParaRPr>
          </a:p>
        </p:txBody>
      </p:sp>
      <p:sp>
        <p:nvSpPr>
          <p:cNvPr id="32" name="矢印: 右 31">
            <a:extLst>
              <a:ext uri="{FF2B5EF4-FFF2-40B4-BE49-F238E27FC236}">
                <a16:creationId xmlns:a16="http://schemas.microsoft.com/office/drawing/2014/main" id="{AC629E84-3FE6-49EF-A4D0-DB4180676FD8}"/>
              </a:ext>
            </a:extLst>
          </p:cNvPr>
          <p:cNvSpPr/>
          <p:nvPr/>
        </p:nvSpPr>
        <p:spPr>
          <a:xfrm>
            <a:off x="7370918" y="2217244"/>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14" name="角丸四角形 33">
            <a:extLst>
              <a:ext uri="{FF2B5EF4-FFF2-40B4-BE49-F238E27FC236}">
                <a16:creationId xmlns:a16="http://schemas.microsoft.com/office/drawing/2014/main" id="{BE76DE56-3A6F-60C4-0D1C-BED4A2873B44}"/>
              </a:ext>
            </a:extLst>
          </p:cNvPr>
          <p:cNvSpPr/>
          <p:nvPr/>
        </p:nvSpPr>
        <p:spPr bwMode="gray">
          <a:xfrm>
            <a:off x="732296" y="2960620"/>
            <a:ext cx="6386428" cy="440968"/>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18" name="角丸四角形 33">
            <a:extLst>
              <a:ext uri="{FF2B5EF4-FFF2-40B4-BE49-F238E27FC236}">
                <a16:creationId xmlns:a16="http://schemas.microsoft.com/office/drawing/2014/main" id="{8B88629E-301B-8BDB-75D9-5AD1B5EDDA9A}"/>
              </a:ext>
            </a:extLst>
          </p:cNvPr>
          <p:cNvSpPr/>
          <p:nvPr/>
        </p:nvSpPr>
        <p:spPr bwMode="gray">
          <a:xfrm>
            <a:off x="732296" y="2350032"/>
            <a:ext cx="6423247" cy="335844"/>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21" name="矢印: 右 20">
            <a:extLst>
              <a:ext uri="{FF2B5EF4-FFF2-40B4-BE49-F238E27FC236}">
                <a16:creationId xmlns:a16="http://schemas.microsoft.com/office/drawing/2014/main" id="{BF3E62AC-5D88-AEC9-09C9-B91FB096CEF8}"/>
              </a:ext>
            </a:extLst>
          </p:cNvPr>
          <p:cNvSpPr/>
          <p:nvPr/>
        </p:nvSpPr>
        <p:spPr>
          <a:xfrm>
            <a:off x="7375196" y="3019417"/>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22" name="矢印: 右 21">
            <a:extLst>
              <a:ext uri="{FF2B5EF4-FFF2-40B4-BE49-F238E27FC236}">
                <a16:creationId xmlns:a16="http://schemas.microsoft.com/office/drawing/2014/main" id="{016A559B-E42A-AE03-12F5-531F768035CA}"/>
              </a:ext>
            </a:extLst>
          </p:cNvPr>
          <p:cNvSpPr/>
          <p:nvPr/>
        </p:nvSpPr>
        <p:spPr>
          <a:xfrm>
            <a:off x="7370918" y="3786432"/>
            <a:ext cx="826868" cy="450039"/>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grpSp>
        <p:nvGrpSpPr>
          <p:cNvPr id="24" name="グループ化 23">
            <a:extLst>
              <a:ext uri="{FF2B5EF4-FFF2-40B4-BE49-F238E27FC236}">
                <a16:creationId xmlns:a16="http://schemas.microsoft.com/office/drawing/2014/main" id="{1E9802FD-D931-D78C-B9DE-DFCF2F5E1B4A}"/>
              </a:ext>
            </a:extLst>
          </p:cNvPr>
          <p:cNvGrpSpPr/>
          <p:nvPr/>
        </p:nvGrpSpPr>
        <p:grpSpPr>
          <a:xfrm>
            <a:off x="7858600" y="1654703"/>
            <a:ext cx="4178267" cy="4283449"/>
            <a:chOff x="9072436" y="1892411"/>
            <a:chExt cx="2983329" cy="2775005"/>
          </a:xfrm>
        </p:grpSpPr>
        <p:sp>
          <p:nvSpPr>
            <p:cNvPr id="25" name="スクロール: 縦 24">
              <a:extLst>
                <a:ext uri="{FF2B5EF4-FFF2-40B4-BE49-F238E27FC236}">
                  <a16:creationId xmlns:a16="http://schemas.microsoft.com/office/drawing/2014/main" id="{CADC0208-3E03-1F7F-2F45-452BA2F8EC51}"/>
                </a:ext>
              </a:extLst>
            </p:cNvPr>
            <p:cNvSpPr/>
            <p:nvPr/>
          </p:nvSpPr>
          <p:spPr>
            <a:xfrm>
              <a:off x="9072436" y="1892411"/>
              <a:ext cx="2983329" cy="2775005"/>
            </a:xfrm>
            <a:prstGeom prst="verticalScroll">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26" name="正方形/長方形 25">
              <a:extLst>
                <a:ext uri="{FF2B5EF4-FFF2-40B4-BE49-F238E27FC236}">
                  <a16:creationId xmlns:a16="http://schemas.microsoft.com/office/drawing/2014/main" id="{EC708D5B-E502-9D09-6D5D-0D8C5EB6DB96}"/>
                </a:ext>
              </a:extLst>
            </p:cNvPr>
            <p:cNvSpPr/>
            <p:nvPr/>
          </p:nvSpPr>
          <p:spPr>
            <a:xfrm>
              <a:off x="9815946" y="1918537"/>
              <a:ext cx="1594176" cy="28419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endParaRPr kumimoji="1" lang="en-US" altLang="ja-JP" sz="1400">
                <a:solidFill>
                  <a:schemeClr val="tx1"/>
                </a:solidFill>
              </a:endParaRPr>
            </a:p>
          </p:txBody>
        </p:sp>
        <p:sp>
          <p:nvSpPr>
            <p:cNvPr id="27" name="正方形/長方形 26">
              <a:extLst>
                <a:ext uri="{FF2B5EF4-FFF2-40B4-BE49-F238E27FC236}">
                  <a16:creationId xmlns:a16="http://schemas.microsoft.com/office/drawing/2014/main" id="{7C3D9162-137E-7771-E1D6-0FD86B58C652}"/>
                </a:ext>
              </a:extLst>
            </p:cNvPr>
            <p:cNvSpPr/>
            <p:nvPr/>
          </p:nvSpPr>
          <p:spPr>
            <a:xfrm>
              <a:off x="9542521" y="2413090"/>
              <a:ext cx="2087681" cy="217093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kumimoji="1" lang="en-US" altLang="ja-JP" sz="1400">
                <a:solidFill>
                  <a:schemeClr val="tx1"/>
                </a:solidFill>
              </a:endParaRPr>
            </a:p>
          </p:txBody>
        </p:sp>
      </p:grpSp>
      <p:sp>
        <p:nvSpPr>
          <p:cNvPr id="28" name="正方形/長方形 27">
            <a:extLst>
              <a:ext uri="{FF2B5EF4-FFF2-40B4-BE49-F238E27FC236}">
                <a16:creationId xmlns:a16="http://schemas.microsoft.com/office/drawing/2014/main" id="{9951A3B1-36FA-348C-0598-81E9EC9CC788}"/>
              </a:ext>
            </a:extLst>
          </p:cNvPr>
          <p:cNvSpPr/>
          <p:nvPr/>
        </p:nvSpPr>
        <p:spPr>
          <a:xfrm>
            <a:off x="8942506" y="1844687"/>
            <a:ext cx="1954407" cy="1136564"/>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lang="en-US" altLang="ja-JP" sz="1600">
              <a:solidFill>
                <a:schemeClr val="tx1"/>
              </a:solidFill>
            </a:endParaRPr>
          </a:p>
          <a:p>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29" name="正方形/長方形 28">
            <a:extLst>
              <a:ext uri="{FF2B5EF4-FFF2-40B4-BE49-F238E27FC236}">
                <a16:creationId xmlns:a16="http://schemas.microsoft.com/office/drawing/2014/main" id="{3384DA45-0106-F101-9EF3-C8BA770DB3D1}"/>
              </a:ext>
            </a:extLst>
          </p:cNvPr>
          <p:cNvSpPr/>
          <p:nvPr/>
        </p:nvSpPr>
        <p:spPr>
          <a:xfrm>
            <a:off x="8542087" y="2760907"/>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後日注文</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6" name="正方形/長方形 35">
            <a:extLst>
              <a:ext uri="{FF2B5EF4-FFF2-40B4-BE49-F238E27FC236}">
                <a16:creationId xmlns:a16="http://schemas.microsoft.com/office/drawing/2014/main" id="{89731A8F-307F-B21E-27F6-F2464291EEDC}"/>
              </a:ext>
            </a:extLst>
          </p:cNvPr>
          <p:cNvSpPr/>
          <p:nvPr/>
        </p:nvSpPr>
        <p:spPr>
          <a:xfrm>
            <a:off x="8542087" y="3488788"/>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同一の顧客に該当</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7" name="正方形/長方形 36">
            <a:extLst>
              <a:ext uri="{FF2B5EF4-FFF2-40B4-BE49-F238E27FC236}">
                <a16:creationId xmlns:a16="http://schemas.microsoft.com/office/drawing/2014/main" id="{AF37791B-F07C-4654-3224-86603C3C539A}"/>
              </a:ext>
            </a:extLst>
          </p:cNvPr>
          <p:cNvSpPr/>
          <p:nvPr/>
        </p:nvSpPr>
        <p:spPr>
          <a:xfrm>
            <a:off x="8531488" y="4107243"/>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marL="285750" indent="-285750">
              <a:buFont typeface="Wingdings" panose="05000000000000000000" pitchFamily="2" charset="2"/>
              <a:buChar char="p"/>
            </a:pPr>
            <a:r>
              <a:rPr lang="ja-JP" altLang="en-US" sz="1600">
                <a:solidFill>
                  <a:schemeClr val="tx1"/>
                </a:solidFill>
              </a:rPr>
              <a:t>従前の注文内容と関連性があり</a:t>
            </a:r>
            <a:endParaRPr lang="en-US" altLang="ja-JP" sz="1600">
              <a:solidFill>
                <a:schemeClr val="tx1"/>
              </a:solidFill>
            </a:endParaRPr>
          </a:p>
          <a:p>
            <a:r>
              <a:rPr lang="ja-JP" altLang="en-US" sz="1400">
                <a:solidFill>
                  <a:schemeClr val="tx1"/>
                </a:solidFill>
              </a:rPr>
              <a:t>　</a:t>
            </a: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38" name="テキスト ボックス 37">
            <a:extLst>
              <a:ext uri="{FF2B5EF4-FFF2-40B4-BE49-F238E27FC236}">
                <a16:creationId xmlns:a16="http://schemas.microsoft.com/office/drawing/2014/main" id="{7C0DFEB8-4DCB-332A-FEA7-F255E70B1310}"/>
              </a:ext>
            </a:extLst>
          </p:cNvPr>
          <p:cNvSpPr txBox="1"/>
          <p:nvPr/>
        </p:nvSpPr>
        <p:spPr>
          <a:xfrm>
            <a:off x="8627598" y="2217216"/>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39" name="テキスト ボックス 38">
            <a:extLst>
              <a:ext uri="{FF2B5EF4-FFF2-40B4-BE49-F238E27FC236}">
                <a16:creationId xmlns:a16="http://schemas.microsoft.com/office/drawing/2014/main" id="{38E8F9E5-838F-6442-C1A2-392E509AE53B}"/>
              </a:ext>
            </a:extLst>
          </p:cNvPr>
          <p:cNvSpPr txBox="1"/>
          <p:nvPr/>
        </p:nvSpPr>
        <p:spPr>
          <a:xfrm>
            <a:off x="8627598" y="2930631"/>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40" name="テキスト ボックス 39">
            <a:extLst>
              <a:ext uri="{FF2B5EF4-FFF2-40B4-BE49-F238E27FC236}">
                <a16:creationId xmlns:a16="http://schemas.microsoft.com/office/drawing/2014/main" id="{C174CC49-FFF4-6B70-C846-EB8E3DE57FD4}"/>
              </a:ext>
            </a:extLst>
          </p:cNvPr>
          <p:cNvSpPr txBox="1"/>
          <p:nvPr/>
        </p:nvSpPr>
        <p:spPr>
          <a:xfrm>
            <a:off x="8602459" y="3540677"/>
            <a:ext cx="877455" cy="301557"/>
          </a:xfrm>
          <a:prstGeom prst="rect">
            <a:avLst/>
          </a:prstGeom>
          <a:noFill/>
          <a:ln>
            <a:noFill/>
          </a:ln>
        </p:spPr>
        <p:txBody>
          <a:bodyPr wrap="square" lIns="0" tIns="0" rIns="0" bIns="0" rtlCol="0">
            <a:spAutoFit/>
          </a:bodyPr>
          <a:lstStyle/>
          <a:p>
            <a:pPr algn="l">
              <a:lnSpc>
                <a:spcPct val="120000"/>
              </a:lnSpc>
            </a:pPr>
            <a:r>
              <a:rPr lang="ja-JP" altLang="en-US" spc="110">
                <a:solidFill>
                  <a:srgbClr val="FF0000"/>
                </a:solidFill>
              </a:rPr>
              <a:t>✔</a:t>
            </a:r>
            <a:endParaRPr kumimoji="1" lang="en-US" altLang="ja-JP" spc="110" baseline="0">
              <a:solidFill>
                <a:srgbClr val="FF0000"/>
              </a:solidFill>
            </a:endParaRPr>
          </a:p>
        </p:txBody>
      </p:sp>
      <p:sp>
        <p:nvSpPr>
          <p:cNvPr id="41" name="正方形/長方形 40">
            <a:extLst>
              <a:ext uri="{FF2B5EF4-FFF2-40B4-BE49-F238E27FC236}">
                <a16:creationId xmlns:a16="http://schemas.microsoft.com/office/drawing/2014/main" id="{4B4D577E-EA86-587B-A583-BB68B117854C}"/>
              </a:ext>
            </a:extLst>
          </p:cNvPr>
          <p:cNvSpPr/>
          <p:nvPr/>
        </p:nvSpPr>
        <p:spPr>
          <a:xfrm>
            <a:off x="8608000" y="5076858"/>
            <a:ext cx="2875870" cy="54041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lang="en-US" altLang="ja-JP" sz="1400">
              <a:solidFill>
                <a:schemeClr val="tx1"/>
              </a:solidFill>
            </a:endParaRPr>
          </a:p>
          <a:p>
            <a:r>
              <a:rPr lang="ja-JP" altLang="en-US" sz="1400">
                <a:solidFill>
                  <a:schemeClr val="tx1"/>
                </a:solidFill>
              </a:rPr>
              <a:t>　</a:t>
            </a: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r>
              <a:rPr lang="ja-JP" altLang="en-US" sz="1600">
                <a:solidFill>
                  <a:schemeClr val="tx1"/>
                </a:solidFill>
              </a:rPr>
              <a:t>⇒別個の新しい契約には該当しない</a:t>
            </a:r>
            <a:endParaRPr lang="en-US" altLang="ja-JP" sz="16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42" name="矢印: 五方向 41">
            <a:extLst>
              <a:ext uri="{FF2B5EF4-FFF2-40B4-BE49-F238E27FC236}">
                <a16:creationId xmlns:a16="http://schemas.microsoft.com/office/drawing/2014/main" id="{3EA41E07-B05F-4726-42EA-18286F066EE5}"/>
              </a:ext>
            </a:extLst>
          </p:cNvPr>
          <p:cNvSpPr/>
          <p:nvPr/>
        </p:nvSpPr>
        <p:spPr>
          <a:xfrm rot="5400000">
            <a:off x="3578563" y="3263723"/>
            <a:ext cx="261776" cy="4902407"/>
          </a:xfrm>
          <a:prstGeom prst="homePlate">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vert270"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800" b="0" i="0" u="none" strike="noStrike" kern="1200" cap="none" spc="0" normalizeH="0" baseline="0" noProof="0">
              <a:ln>
                <a:noFill/>
              </a:ln>
              <a:solidFill>
                <a:schemeClr val="tx1"/>
              </a:solidFill>
              <a:effectLst/>
              <a:uLnTx/>
              <a:uFillTx/>
              <a:latin typeface="+mn-ea"/>
              <a:cs typeface="+mn-cs"/>
            </a:endParaRPr>
          </a:p>
        </p:txBody>
      </p:sp>
      <p:sp>
        <p:nvSpPr>
          <p:cNvPr id="43" name="テキスト プレースホルダー 3">
            <a:extLst>
              <a:ext uri="{FF2B5EF4-FFF2-40B4-BE49-F238E27FC236}">
                <a16:creationId xmlns:a16="http://schemas.microsoft.com/office/drawing/2014/main" id="{02B1DE5D-18C5-4B23-D970-8745AE837229}"/>
              </a:ext>
            </a:extLst>
          </p:cNvPr>
          <p:cNvSpPr>
            <a:spLocks noGrp="1"/>
          </p:cNvSpPr>
          <p:nvPr>
            <p:ph type="body" sz="quarter" idx="10"/>
          </p:nvPr>
        </p:nvSpPr>
        <p:spPr>
          <a:xfrm>
            <a:off x="582671" y="5955811"/>
            <a:ext cx="7275929" cy="514169"/>
          </a:xfrm>
        </p:spPr>
        <p:txBody>
          <a:bodyPr/>
          <a:lstStyle/>
          <a:p>
            <a:r>
              <a:rPr lang="ja-JP" altLang="en-US" sz="1800" b="0"/>
              <a:t>契約の変更として、従前の契約の一部としてとして扱う必要がある</a:t>
            </a:r>
          </a:p>
        </p:txBody>
      </p:sp>
      <p:sp>
        <p:nvSpPr>
          <p:cNvPr id="44" name="テキスト プレースホルダー 3">
            <a:extLst>
              <a:ext uri="{FF2B5EF4-FFF2-40B4-BE49-F238E27FC236}">
                <a16:creationId xmlns:a16="http://schemas.microsoft.com/office/drawing/2014/main" id="{9C0C4353-D4A2-1ECC-99CE-D6DCFECC2BE9}"/>
              </a:ext>
            </a:extLst>
          </p:cNvPr>
          <p:cNvSpPr txBox="1">
            <a:spLocks/>
          </p:cNvSpPr>
          <p:nvPr/>
        </p:nvSpPr>
        <p:spPr>
          <a:xfrm>
            <a:off x="623272" y="1002693"/>
            <a:ext cx="10945455" cy="702064"/>
          </a:xfrm>
          <a:prstGeom prst="rect">
            <a:avLst/>
          </a:prstGeom>
        </p:spPr>
        <p:txBody>
          <a:bodyPr vert="horz" lIns="91440" tIns="45720" rIns="91440" bIns="45720" rtlCol="0">
            <a:noAutofit/>
          </a:bodyPr>
          <a:lstStyle>
            <a:defPPr>
              <a:defRPr lang="ja-JP"/>
            </a:defPPr>
            <a:lvl1pPr indent="0">
              <a:lnSpc>
                <a:spcPct val="120000"/>
              </a:lnSpc>
              <a:spcBef>
                <a:spcPts val="1000"/>
              </a:spcBef>
              <a:buFont typeface="Arial" panose="020B0604020202020204" pitchFamily="34" charset="0"/>
              <a:buNone/>
              <a:defRPr b="0" spc="110" baseline="0">
                <a:solidFill>
                  <a:srgbClr val="22237D"/>
                </a:solidFill>
              </a:defRPr>
            </a:lvl1pPr>
            <a:lvl2pPr indent="0">
              <a:lnSpc>
                <a:spcPct val="120000"/>
              </a:lnSpc>
              <a:spcBef>
                <a:spcPts val="500"/>
              </a:spcBef>
              <a:buFont typeface="Arial" panose="020B0604020202020204" pitchFamily="34" charset="0"/>
              <a:buNone/>
              <a:defRPr sz="1600" spc="110" baseline="0"/>
            </a:lvl2pPr>
            <a:lvl3pPr indent="0">
              <a:lnSpc>
                <a:spcPct val="120000"/>
              </a:lnSpc>
              <a:spcBef>
                <a:spcPts val="500"/>
              </a:spcBef>
              <a:buFont typeface="Arial" panose="020B0604020202020204" pitchFamily="34" charset="0"/>
              <a:buNone/>
              <a:defRPr sz="1600" spc="110" baseline="0"/>
            </a:lvl3pPr>
            <a:lvl4pPr marL="1600200" indent="-228600">
              <a:lnSpc>
                <a:spcPct val="120000"/>
              </a:lnSpc>
              <a:spcBef>
                <a:spcPts val="500"/>
              </a:spcBef>
              <a:buFont typeface="Arial" panose="020B0604020202020204" pitchFamily="34" charset="0"/>
              <a:buChar char="•"/>
              <a:defRPr spc="-90" baseline="0"/>
            </a:lvl4pPr>
            <a:lvl5pPr marL="2057400" indent="-228600">
              <a:lnSpc>
                <a:spcPct val="120000"/>
              </a:lnSpc>
              <a:spcBef>
                <a:spcPts val="500"/>
              </a:spcBef>
              <a:buFont typeface="Arial" panose="020B0604020202020204" pitchFamily="34" charset="0"/>
              <a:buChar char="•"/>
              <a:defRPr spc="-90" baseline="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ja-JP" altLang="en-US"/>
              <a:t>同一顧客から後日、従前に注文に内容に関連する発注があった場合において、契約の変更に該当するかを考慮する必要があります。</a:t>
            </a:r>
          </a:p>
        </p:txBody>
      </p:sp>
      <p:sp>
        <p:nvSpPr>
          <p:cNvPr id="45" name="正方形/長方形 44">
            <a:extLst>
              <a:ext uri="{FF2B5EF4-FFF2-40B4-BE49-F238E27FC236}">
                <a16:creationId xmlns:a16="http://schemas.microsoft.com/office/drawing/2014/main" id="{644054BF-BA3A-B46C-5D34-4026543FE03E}"/>
              </a:ext>
            </a:extLst>
          </p:cNvPr>
          <p:cNvSpPr/>
          <p:nvPr/>
        </p:nvSpPr>
        <p:spPr>
          <a:xfrm>
            <a:off x="8499067" y="3244436"/>
            <a:ext cx="2875870" cy="450039"/>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pPr marL="285750" indent="-285750">
              <a:buFont typeface="Wingdings" panose="05000000000000000000" pitchFamily="2" charset="2"/>
              <a:buChar char="p"/>
            </a:pPr>
            <a:endParaRPr lang="en-US" altLang="ja-JP" sz="1400">
              <a:solidFill>
                <a:schemeClr val="tx1"/>
              </a:solidFill>
            </a:endParaRPr>
          </a:p>
          <a:p>
            <a:endParaRPr kumimoji="1" lang="en-US" altLang="ja-JP" sz="1400">
              <a:solidFill>
                <a:schemeClr val="tx1"/>
              </a:solidFill>
            </a:endParaRPr>
          </a:p>
        </p:txBody>
      </p:sp>
      <p:sp>
        <p:nvSpPr>
          <p:cNvPr id="4" name="角丸四角形 33">
            <a:extLst>
              <a:ext uri="{FF2B5EF4-FFF2-40B4-BE49-F238E27FC236}">
                <a16:creationId xmlns:a16="http://schemas.microsoft.com/office/drawing/2014/main" id="{7206DE24-F610-A669-1161-F988B8EEC7E8}"/>
              </a:ext>
            </a:extLst>
          </p:cNvPr>
          <p:cNvSpPr/>
          <p:nvPr/>
        </p:nvSpPr>
        <p:spPr bwMode="gray">
          <a:xfrm>
            <a:off x="717954" y="3632787"/>
            <a:ext cx="6423247" cy="1618782"/>
          </a:xfrm>
          <a:prstGeom prst="roundRect">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sp>
        <p:nvSpPr>
          <p:cNvPr id="5" name="正方形/長方形 4">
            <a:extLst>
              <a:ext uri="{FF2B5EF4-FFF2-40B4-BE49-F238E27FC236}">
                <a16:creationId xmlns:a16="http://schemas.microsoft.com/office/drawing/2014/main" id="{BAE7E28D-E208-D2B6-8364-984E9FFD49CA}"/>
              </a:ext>
            </a:extLst>
          </p:cNvPr>
          <p:cNvSpPr/>
          <p:nvPr/>
        </p:nvSpPr>
        <p:spPr>
          <a:xfrm>
            <a:off x="8578331" y="5197868"/>
            <a:ext cx="2875870" cy="184596"/>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r>
              <a:rPr lang="ja-JP" altLang="en-US" sz="1600">
                <a:solidFill>
                  <a:schemeClr val="tx1"/>
                </a:solidFill>
              </a:rPr>
              <a:t>今回のケースは注文内容から工期の延長に伴う、代価の追加であり、工事内容も既存契約に関連性がしている</a:t>
            </a:r>
            <a:endParaRPr lang="en-US" altLang="ja-JP" sz="1600">
              <a:solidFill>
                <a:schemeClr val="tx1"/>
              </a:solidFill>
            </a:endParaRPr>
          </a:p>
          <a:p>
            <a:endParaRPr lang="en-US" altLang="ja-JP" sz="1600">
              <a:solidFill>
                <a:schemeClr val="tx1"/>
              </a:solidFill>
            </a:endParaRPr>
          </a:p>
          <a:p>
            <a:r>
              <a:rPr lang="ja-JP" altLang="en-US" sz="1600">
                <a:solidFill>
                  <a:schemeClr val="tx1"/>
                </a:solidFill>
              </a:rPr>
              <a:t>　</a:t>
            </a:r>
            <a:endParaRPr lang="en-US" altLang="ja-JP" sz="1600">
              <a:solidFill>
                <a:schemeClr val="tx1"/>
              </a:solidFill>
            </a:endParaRPr>
          </a:p>
          <a:p>
            <a:pPr marL="285750" indent="-285750">
              <a:buFont typeface="Wingdings" panose="05000000000000000000" pitchFamily="2" charset="2"/>
              <a:buChar char="p"/>
            </a:pPr>
            <a:endParaRPr lang="en-US" altLang="ja-JP" sz="1600">
              <a:solidFill>
                <a:schemeClr val="tx1"/>
              </a:solidFill>
            </a:endParaRPr>
          </a:p>
          <a:p>
            <a:pPr marL="285750" indent="-285750">
              <a:buFont typeface="Wingdings" panose="05000000000000000000" pitchFamily="2" charset="2"/>
              <a:buChar char="p"/>
            </a:pPr>
            <a:endParaRPr lang="en-US" altLang="ja-JP" sz="1600">
              <a:solidFill>
                <a:schemeClr val="tx1"/>
              </a:solidFill>
            </a:endParaRPr>
          </a:p>
          <a:p>
            <a:pPr marL="285750" indent="-285750">
              <a:buFont typeface="Wingdings" panose="05000000000000000000" pitchFamily="2" charset="2"/>
              <a:buChar char="p"/>
            </a:pPr>
            <a:endParaRPr lang="en-US" altLang="ja-JP" sz="1600">
              <a:solidFill>
                <a:schemeClr val="tx1"/>
              </a:solidFill>
            </a:endParaRPr>
          </a:p>
          <a:p>
            <a:endParaRPr kumimoji="1" lang="en-US" altLang="ja-JP" sz="1600">
              <a:solidFill>
                <a:schemeClr val="tx1"/>
              </a:solidFill>
            </a:endParaRPr>
          </a:p>
        </p:txBody>
      </p:sp>
    </p:spTree>
    <p:extLst>
      <p:ext uri="{BB962C8B-B14F-4D97-AF65-F5344CB8AC3E}">
        <p14:creationId xmlns:p14="http://schemas.microsoft.com/office/powerpoint/2010/main" val="38830749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9D4E8-56E2-99C0-9C05-F8884486C2A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3AEA37DA-8ABC-39BC-0CC2-62128142615B}"/>
              </a:ext>
            </a:extLst>
          </p:cNvPr>
          <p:cNvSpPr>
            <a:spLocks noGrp="1"/>
          </p:cNvSpPr>
          <p:nvPr>
            <p:ph type="title"/>
          </p:nvPr>
        </p:nvSpPr>
        <p:spPr>
          <a:xfrm>
            <a:off x="658800" y="364193"/>
            <a:ext cx="10592527" cy="371961"/>
          </a:xfrm>
        </p:spPr>
        <p:txBody>
          <a:bodyPr>
            <a:normAutofit/>
          </a:bodyPr>
          <a:lstStyle/>
          <a:p>
            <a:r>
              <a:rPr lang="en-US" altLang="ja-JP"/>
              <a:t>Appendix.</a:t>
            </a:r>
            <a:r>
              <a:rPr lang="ja-JP" altLang="en-US"/>
              <a:t>収益認識基準ーステップ</a:t>
            </a:r>
            <a:r>
              <a:rPr lang="en-US" altLang="ja-JP"/>
              <a:t>2(1/3)</a:t>
            </a:r>
            <a:endParaRPr lang="ja-JP" altLang="en-US"/>
          </a:p>
        </p:txBody>
      </p:sp>
      <p:sp>
        <p:nvSpPr>
          <p:cNvPr id="64" name="テキスト プレースホルダー 3">
            <a:extLst>
              <a:ext uri="{FF2B5EF4-FFF2-40B4-BE49-F238E27FC236}">
                <a16:creationId xmlns:a16="http://schemas.microsoft.com/office/drawing/2014/main" id="{51DE11BD-8882-F875-1C09-C7387D5BCF95}"/>
              </a:ext>
            </a:extLst>
          </p:cNvPr>
          <p:cNvSpPr>
            <a:spLocks noGrp="1"/>
          </p:cNvSpPr>
          <p:nvPr>
            <p:ph type="body" sz="quarter" idx="10"/>
          </p:nvPr>
        </p:nvSpPr>
        <p:spPr>
          <a:xfrm>
            <a:off x="626763" y="808550"/>
            <a:ext cx="5469237" cy="371961"/>
          </a:xfrm>
        </p:spPr>
        <p:txBody>
          <a:bodyPr/>
          <a:lstStyle/>
          <a:p>
            <a:r>
              <a:rPr lang="ja-JP" altLang="en-US" sz="1800" b="0"/>
              <a:t>①契約から「履行義務」を識別します</a:t>
            </a:r>
          </a:p>
        </p:txBody>
      </p:sp>
      <p:graphicFrame>
        <p:nvGraphicFramePr>
          <p:cNvPr id="65" name="表 64">
            <a:extLst>
              <a:ext uri="{FF2B5EF4-FFF2-40B4-BE49-F238E27FC236}">
                <a16:creationId xmlns:a16="http://schemas.microsoft.com/office/drawing/2014/main" id="{CA530F05-BCE7-32EE-8D98-6539000633C6}"/>
              </a:ext>
            </a:extLst>
          </p:cNvPr>
          <p:cNvGraphicFramePr>
            <a:graphicFrameLocks noGrp="1"/>
          </p:cNvGraphicFramePr>
          <p:nvPr/>
        </p:nvGraphicFramePr>
        <p:xfrm>
          <a:off x="626762" y="1180511"/>
          <a:ext cx="11058732" cy="5427023"/>
        </p:xfrm>
        <a:graphic>
          <a:graphicData uri="http://schemas.openxmlformats.org/drawingml/2006/table">
            <a:tbl>
              <a:tblPr bandRow="1">
                <a:tableStyleId>{F2DE63D5-997A-4646-A377-4702673A728D}</a:tableStyleId>
              </a:tblPr>
              <a:tblGrid>
                <a:gridCol w="11058732">
                  <a:extLst>
                    <a:ext uri="{9D8B030D-6E8A-4147-A177-3AD203B41FA5}">
                      <a16:colId xmlns:a16="http://schemas.microsoft.com/office/drawing/2014/main" val="20000"/>
                    </a:ext>
                  </a:extLst>
                </a:gridCol>
              </a:tblGrid>
              <a:tr h="5427023">
                <a:tc>
                  <a:txBody>
                    <a:bodyPr/>
                    <a:lstStyle/>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ja-JP" altLang="en-US" sz="1600" b="1"/>
                        <a:t>＜履行義務の識別＞</a:t>
                      </a:r>
                      <a:endParaRPr kumimoji="1" lang="en-US" altLang="ja-JP" sz="1600" b="1"/>
                    </a:p>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r>
                        <a:rPr lang="ja-JP" altLang="en-US" sz="1600">
                          <a:ea typeface="+mn-ea"/>
                        </a:rPr>
                        <a:t>顧客との契約から</a:t>
                      </a:r>
                      <a:r>
                        <a:rPr lang="ja-JP" altLang="en-US" sz="1600">
                          <a:solidFill>
                            <a:srgbClr val="FF0000"/>
                          </a:solidFill>
                          <a:ea typeface="+mn-ea"/>
                        </a:rPr>
                        <a:t>「履行義務」</a:t>
                      </a:r>
                      <a:r>
                        <a:rPr lang="ja-JP" altLang="en-US" sz="1600">
                          <a:ea typeface="+mn-ea"/>
                        </a:rPr>
                        <a:t>を識別する。</a:t>
                      </a:r>
                      <a:endParaRPr lang="en-US" altLang="ja-JP" sz="1600">
                        <a:ea typeface="+mn-ea"/>
                      </a:endParaRPr>
                    </a:p>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r>
                        <a:rPr lang="ja-JP" altLang="en-US" sz="1600">
                          <a:ea typeface="+mn-ea"/>
                        </a:rPr>
                        <a:t>→</a:t>
                      </a:r>
                      <a:r>
                        <a:rPr kumimoji="1" lang="ja-JP" altLang="en-US" sz="1600"/>
                        <a:t>業務内容の性質に応じて収益認識パターン（完成基準や進行基準等の区別、詳細はステップ５参照）が異なるため</a:t>
                      </a:r>
                      <a:r>
                        <a:rPr kumimoji="1" lang="ja-JP" altLang="en-US" sz="1600">
                          <a:solidFill>
                            <a:schemeClr val="tx1"/>
                          </a:solidFill>
                        </a:rPr>
                        <a:t>、業務内容（履行義務）の性質を</a:t>
                      </a:r>
                      <a:r>
                        <a:rPr kumimoji="1" lang="en-US" altLang="ja-JP" sz="1600"/>
                        <a:t>STEP2</a:t>
                      </a:r>
                      <a:r>
                        <a:rPr kumimoji="1" lang="ja-JP" altLang="en-US" sz="1600"/>
                        <a:t>で把握する必要があります。</a:t>
                      </a:r>
                      <a:endParaRPr kumimoji="1" lang="en-US" altLang="ja-JP" sz="1600" b="1"/>
                    </a:p>
                    <a:p>
                      <a:pPr marL="342900" marR="0" lvl="0" indent="-342900" algn="l" defTabSz="990564" rtl="0" eaLnBrk="1" fontAlgn="auto" latinLnBrk="0" hangingPunct="1">
                        <a:lnSpc>
                          <a:spcPct val="100000"/>
                        </a:lnSpc>
                        <a:spcBef>
                          <a:spcPts val="0"/>
                        </a:spcBef>
                        <a:spcAft>
                          <a:spcPts val="0"/>
                        </a:spcAft>
                        <a:buClrTx/>
                        <a:buSzTx/>
                        <a:buFont typeface="+mj-lt"/>
                        <a:buAutoNum type="arabicPeriod"/>
                        <a:tabLst/>
                        <a:defRPr/>
                      </a:pPr>
                      <a:r>
                        <a:rPr lang="ja-JP" altLang="en-US" sz="1600" b="1">
                          <a:ea typeface="+mn-ea"/>
                        </a:rPr>
                        <a:t>顧客との契約から「履行義務」を識別する</a:t>
                      </a:r>
                      <a:endParaRPr kumimoji="1" lang="en-US" altLang="ja-JP" sz="1600">
                        <a:solidFill>
                          <a:srgbClr val="FF0000"/>
                        </a:solidFill>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ja-JP" altLang="en-US" sz="1600"/>
                        <a:t>履行義務とは顧客との契約において移転する約束（顧客が受けるサービス）をいいます。</a:t>
                      </a:r>
                      <a:endParaRPr kumimoji="1" lang="en-US" altLang="ja-JP" sz="1600">
                        <a:solidFill>
                          <a:srgbClr val="FF0000"/>
                        </a:solidFill>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600"/>
                        <a:t>AW</a:t>
                      </a:r>
                      <a:r>
                        <a:rPr kumimoji="1" lang="ja-JP" altLang="en-US" sz="1600"/>
                        <a:t>防災における履行義務の識別の単位は以下の通りとなっています。</a:t>
                      </a:r>
                      <a:endParaRPr kumimoji="1" lang="en-US" altLang="ja-JP" sz="1600"/>
                    </a:p>
                    <a:p>
                      <a:pPr marL="285750" marR="0" lvl="0" indent="-2857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a:t>移転する約束は基本的には</a:t>
                      </a:r>
                      <a:r>
                        <a:rPr kumimoji="1" lang="ja-JP" altLang="en-US" sz="1600">
                          <a:solidFill>
                            <a:srgbClr val="FF0000"/>
                          </a:solidFill>
                        </a:rPr>
                        <a:t>各注文単位ごと</a:t>
                      </a:r>
                      <a:r>
                        <a:rPr kumimoji="1" lang="ja-JP" altLang="en-US" sz="1600"/>
                        <a:t>で識別する。</a:t>
                      </a:r>
                      <a:endParaRPr kumimoji="1" lang="en-US" altLang="ja-JP" sz="1600"/>
                    </a:p>
                    <a:p>
                      <a:pPr marL="285750" marR="0" lvl="0" indent="-285750" algn="l" defTabSz="990564"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a:t>一つの注文書、契約書であっても</a:t>
                      </a:r>
                      <a:r>
                        <a:rPr kumimoji="1" lang="zh-TW" altLang="en-US" sz="1600"/>
                        <a:t>「履行義務」</a:t>
                      </a:r>
                      <a:r>
                        <a:rPr kumimoji="1" lang="ja-JP" altLang="en-US" sz="1600"/>
                        <a:t>が分かれている場合、</a:t>
                      </a:r>
                      <a:r>
                        <a:rPr kumimoji="1" lang="zh-TW" altLang="en-US" sz="1600">
                          <a:solidFill>
                            <a:srgbClr val="FF0000"/>
                          </a:solidFill>
                        </a:rPr>
                        <a:t>「履行義務」</a:t>
                      </a:r>
                      <a:r>
                        <a:rPr kumimoji="1" lang="ja-JP" altLang="en-US" sz="1600">
                          <a:solidFill>
                            <a:srgbClr val="FF0000"/>
                          </a:solidFill>
                        </a:rPr>
                        <a:t>毎に分割検収を設定</a:t>
                      </a:r>
                      <a:r>
                        <a:rPr kumimoji="1" lang="ja-JP" altLang="en-US" sz="1600">
                          <a:solidFill>
                            <a:schemeClr val="tx1"/>
                          </a:solidFill>
                        </a:rPr>
                        <a:t>し、分割検収単位で識別する。</a:t>
                      </a:r>
                      <a:endParaRPr kumimoji="1" lang="en-US" altLang="ja-JP"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3016796"/>
                  </a:ext>
                </a:extLst>
              </a:tr>
            </a:tbl>
          </a:graphicData>
        </a:graphic>
      </p:graphicFrame>
      <p:sp>
        <p:nvSpPr>
          <p:cNvPr id="66" name="角丸四角形 22">
            <a:extLst>
              <a:ext uri="{FF2B5EF4-FFF2-40B4-BE49-F238E27FC236}">
                <a16:creationId xmlns:a16="http://schemas.microsoft.com/office/drawing/2014/main" id="{8EE63BCC-B93C-A287-8FA9-0FCD0B7A57FB}"/>
              </a:ext>
            </a:extLst>
          </p:cNvPr>
          <p:cNvSpPr/>
          <p:nvPr/>
        </p:nvSpPr>
        <p:spPr>
          <a:xfrm>
            <a:off x="1251670" y="4235326"/>
            <a:ext cx="3342926" cy="2128214"/>
          </a:xfrm>
          <a:prstGeom prst="round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lvl="0" defTabSz="990564" fontAlgn="auto">
              <a:spcBef>
                <a:spcPts val="0"/>
              </a:spcBef>
              <a:spcAft>
                <a:spcPts val="0"/>
              </a:spcAft>
              <a:defRPr/>
            </a:pPr>
            <a:r>
              <a:rPr kumimoji="1" lang="en-US" altLang="ja-JP" sz="1400"/>
              <a:t>【</a:t>
            </a:r>
            <a:r>
              <a:rPr kumimoji="1" lang="ja-JP" altLang="en-US" sz="1400"/>
              <a:t>一時点の履行義務</a:t>
            </a:r>
            <a:r>
              <a:rPr kumimoji="1" lang="en-US" altLang="ja-JP" sz="1400"/>
              <a:t>】</a:t>
            </a:r>
          </a:p>
          <a:p>
            <a:pPr marL="342900" lvl="0" indent="-342900" defTabSz="990564" fontAlgn="auto">
              <a:spcBef>
                <a:spcPts val="0"/>
              </a:spcBef>
              <a:spcAft>
                <a:spcPts val="0"/>
              </a:spcAft>
              <a:buFont typeface="+mj-ea"/>
              <a:buAutoNum type="circleNumDbPlain"/>
              <a:defRPr/>
            </a:pPr>
            <a:r>
              <a:rPr kumimoji="1" lang="ja-JP" altLang="en-US" sz="1400"/>
              <a:t>純粋な物販（</a:t>
            </a:r>
            <a:r>
              <a:rPr kumimoji="1" lang="en-US" altLang="ja-JP" sz="1400"/>
              <a:t>SV</a:t>
            </a:r>
            <a:r>
              <a:rPr kumimoji="1" lang="ja-JP" altLang="en-US" sz="1400"/>
              <a:t>なし）：資産の引き渡し時点において顧客がサービスを受けるため。</a:t>
            </a:r>
            <a:endParaRPr kumimoji="1" lang="en-US" altLang="ja-JP" sz="1400"/>
          </a:p>
        </p:txBody>
      </p:sp>
      <p:sp>
        <p:nvSpPr>
          <p:cNvPr id="67" name="角丸四角形 22">
            <a:extLst>
              <a:ext uri="{FF2B5EF4-FFF2-40B4-BE49-F238E27FC236}">
                <a16:creationId xmlns:a16="http://schemas.microsoft.com/office/drawing/2014/main" id="{981E8369-4B17-2898-DFBF-B82E63DDF3AB}"/>
              </a:ext>
            </a:extLst>
          </p:cNvPr>
          <p:cNvSpPr/>
          <p:nvPr/>
        </p:nvSpPr>
        <p:spPr>
          <a:xfrm>
            <a:off x="4844914" y="4193219"/>
            <a:ext cx="4183535" cy="2170321"/>
          </a:xfrm>
          <a:prstGeom prst="round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lvl="0" defTabSz="990564" fontAlgn="auto">
              <a:spcBef>
                <a:spcPts val="0"/>
              </a:spcBef>
              <a:spcAft>
                <a:spcPts val="0"/>
              </a:spcAft>
              <a:defRPr/>
            </a:pPr>
            <a:r>
              <a:rPr kumimoji="1" lang="en-US" altLang="ja-JP" sz="1400"/>
              <a:t>【</a:t>
            </a:r>
            <a:r>
              <a:rPr kumimoji="1" lang="ja-JP" altLang="en-US" sz="1400"/>
              <a:t>一定期間の履行義務</a:t>
            </a:r>
            <a:r>
              <a:rPr kumimoji="1" lang="en-US" altLang="ja-JP" sz="1400"/>
              <a:t>】</a:t>
            </a:r>
          </a:p>
          <a:p>
            <a:pPr marL="342900" lvl="0" indent="-342900" defTabSz="990564" fontAlgn="auto">
              <a:spcBef>
                <a:spcPts val="0"/>
              </a:spcBef>
              <a:spcAft>
                <a:spcPts val="0"/>
              </a:spcAft>
              <a:buFont typeface="+mj-ea"/>
              <a:buAutoNum type="circleNumDbPlain" startAt="2"/>
              <a:defRPr/>
            </a:pPr>
            <a:r>
              <a:rPr kumimoji="1" lang="ja-JP" altLang="en-US" sz="1400"/>
              <a:t>試験調整：試験期間にわたって顧客は</a:t>
            </a:r>
            <a:r>
              <a:rPr lang="ja-JP" altLang="en-US" sz="1400"/>
              <a:t>サービス</a:t>
            </a:r>
            <a:r>
              <a:rPr kumimoji="1" lang="ja-JP" altLang="en-US" sz="1400"/>
              <a:t>を受けるため。</a:t>
            </a:r>
            <a:endParaRPr kumimoji="1" lang="en-US" altLang="ja-JP" sz="1400"/>
          </a:p>
          <a:p>
            <a:pPr marL="342900" lvl="0" indent="-342900" defTabSz="990564" fontAlgn="auto">
              <a:spcBef>
                <a:spcPts val="0"/>
              </a:spcBef>
              <a:spcAft>
                <a:spcPts val="0"/>
              </a:spcAft>
              <a:buFont typeface="+mj-ea"/>
              <a:buAutoNum type="circleNumDbPlain" startAt="3"/>
              <a:defRPr/>
            </a:pPr>
            <a:r>
              <a:rPr kumimoji="1" lang="ja-JP" altLang="en-US" sz="1400"/>
              <a:t>物販＋</a:t>
            </a:r>
            <a:r>
              <a:rPr kumimoji="1" lang="en-US" altLang="ja-JP" sz="1400"/>
              <a:t>SV</a:t>
            </a:r>
            <a:r>
              <a:rPr kumimoji="1" lang="ja-JP" altLang="en-US" sz="1400"/>
              <a:t>（据付込み）：期間にわたって</a:t>
            </a:r>
            <a:r>
              <a:rPr lang="ja-JP" altLang="en-US" sz="1400"/>
              <a:t>顧客はサービスを受ける</a:t>
            </a:r>
            <a:r>
              <a:rPr kumimoji="1" lang="ja-JP" altLang="en-US" sz="1400"/>
              <a:t>と考えられるため。</a:t>
            </a:r>
            <a:endParaRPr kumimoji="1" lang="en-US" altLang="ja-JP" sz="1400"/>
          </a:p>
          <a:p>
            <a:pPr marL="342900" lvl="0" indent="-342900" defTabSz="990564" fontAlgn="auto">
              <a:spcBef>
                <a:spcPts val="0"/>
              </a:spcBef>
              <a:spcAft>
                <a:spcPts val="0"/>
              </a:spcAft>
              <a:buFont typeface="+mj-ea"/>
              <a:buAutoNum type="circleNumDbPlain" startAt="3"/>
              <a:defRPr/>
            </a:pPr>
            <a:r>
              <a:rPr kumimoji="1" lang="ja-JP" altLang="en-US" sz="1400"/>
              <a:t>工事：顧客の資産価値が工事期間にわたって増加するため。</a:t>
            </a:r>
            <a:endParaRPr kumimoji="1" lang="en-US" altLang="ja-JP" sz="1400"/>
          </a:p>
          <a:p>
            <a:pPr marL="342900" lvl="0" indent="-342900" defTabSz="990564" fontAlgn="auto">
              <a:spcBef>
                <a:spcPts val="0"/>
              </a:spcBef>
              <a:spcAft>
                <a:spcPts val="0"/>
              </a:spcAft>
              <a:buFont typeface="+mj-ea"/>
              <a:buAutoNum type="circleNumDbPlain" startAt="3"/>
              <a:defRPr/>
            </a:pPr>
            <a:r>
              <a:rPr kumimoji="1" lang="ja-JP" altLang="en-US" sz="1400"/>
              <a:t>設計業務：一定期間にわたって</a:t>
            </a:r>
            <a:r>
              <a:rPr lang="ja-JP" altLang="en-US" sz="1400"/>
              <a:t>顧客はサービスを受けることが</a:t>
            </a:r>
            <a:r>
              <a:rPr kumimoji="1" lang="ja-JP" altLang="en-US" sz="1400"/>
              <a:t>できると考えられるため。</a:t>
            </a:r>
            <a:endParaRPr kumimoji="1" lang="en-US" altLang="ja-JP" sz="1400"/>
          </a:p>
        </p:txBody>
      </p:sp>
      <p:sp>
        <p:nvSpPr>
          <p:cNvPr id="68" name="角丸四角形 22">
            <a:extLst>
              <a:ext uri="{FF2B5EF4-FFF2-40B4-BE49-F238E27FC236}">
                <a16:creationId xmlns:a16="http://schemas.microsoft.com/office/drawing/2014/main" id="{9FF82112-CEAA-8288-6009-B87D52DC7CFC}"/>
              </a:ext>
            </a:extLst>
          </p:cNvPr>
          <p:cNvSpPr/>
          <p:nvPr/>
        </p:nvSpPr>
        <p:spPr>
          <a:xfrm>
            <a:off x="859770" y="3699066"/>
            <a:ext cx="8435875" cy="2752695"/>
          </a:xfrm>
          <a:prstGeom prst="roundRect">
            <a:avLst/>
          </a:prstGeom>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kumimoji="1" lang="en-US" altLang="ja-JP" sz="1400" b="1">
              <a:solidFill>
                <a:schemeClr val="tx1"/>
              </a:solidFill>
            </a:endParaRPr>
          </a:p>
          <a:p>
            <a:br>
              <a:rPr kumimoji="1" lang="en-US" altLang="ja-JP" sz="1200">
                <a:solidFill>
                  <a:schemeClr val="tx1"/>
                </a:solidFill>
              </a:rPr>
            </a:br>
            <a:endParaRPr kumimoji="1" lang="ja-JP" altLang="en-US" sz="1200">
              <a:solidFill>
                <a:schemeClr val="tx1"/>
              </a:solidFill>
            </a:endParaRPr>
          </a:p>
        </p:txBody>
      </p:sp>
      <p:sp>
        <p:nvSpPr>
          <p:cNvPr id="69" name="正方形/長方形 68">
            <a:extLst>
              <a:ext uri="{FF2B5EF4-FFF2-40B4-BE49-F238E27FC236}">
                <a16:creationId xmlns:a16="http://schemas.microsoft.com/office/drawing/2014/main" id="{320DB4C4-C904-4B21-1BA0-A9E745D23BA3}"/>
              </a:ext>
            </a:extLst>
          </p:cNvPr>
          <p:cNvSpPr/>
          <p:nvPr/>
        </p:nvSpPr>
        <p:spPr>
          <a:xfrm>
            <a:off x="984929" y="3814713"/>
            <a:ext cx="7469653" cy="433867"/>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en-US" altLang="ja-JP" sz="1400"/>
              <a:t>AW</a:t>
            </a:r>
            <a:r>
              <a:rPr kumimoji="1" lang="ja-JP" altLang="en-US" sz="1400"/>
              <a:t>防災の主な履行義務は以下の通りであり、以下のように整理しています。</a:t>
            </a:r>
            <a:endParaRPr kumimoji="1" lang="en-US" altLang="ja-JP" sz="1400"/>
          </a:p>
          <a:p>
            <a:pPr algn="ctr"/>
            <a:r>
              <a:rPr kumimoji="1" lang="ja-JP" altLang="en-US" sz="1400"/>
              <a:t>（各履行義務の性質分類（一時点</a:t>
            </a:r>
            <a:r>
              <a:rPr kumimoji="1" lang="en-US" altLang="ja-JP" sz="1400"/>
              <a:t>or</a:t>
            </a:r>
            <a:r>
              <a:rPr kumimoji="1" lang="ja-JP" altLang="en-US" sz="1400"/>
              <a:t>一定期間かの判断はステップ</a:t>
            </a:r>
            <a:r>
              <a:rPr kumimoji="1" lang="en-US" altLang="ja-JP" sz="1400"/>
              <a:t>5</a:t>
            </a:r>
            <a:r>
              <a:rPr kumimoji="1" lang="ja-JP" altLang="en-US" sz="1400"/>
              <a:t>判断①のページを参照）</a:t>
            </a:r>
            <a:endParaRPr kumimoji="1" lang="en-US" altLang="ja-JP" sz="1400"/>
          </a:p>
          <a:p>
            <a:pPr algn="ctr"/>
            <a:endParaRPr kumimoji="1" lang="en-US" altLang="ja-JP" sz="1400">
              <a:solidFill>
                <a:schemeClr val="tx1"/>
              </a:solidFill>
            </a:endParaRPr>
          </a:p>
        </p:txBody>
      </p:sp>
    </p:spTree>
    <p:extLst>
      <p:ext uri="{BB962C8B-B14F-4D97-AF65-F5344CB8AC3E}">
        <p14:creationId xmlns:p14="http://schemas.microsoft.com/office/powerpoint/2010/main" val="21200813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956E4-940A-8035-E999-C83D0BAB959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D8FFB14-AEBF-468A-5F52-F3CDE4AF8618}"/>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2(2/3)</a:t>
            </a:r>
            <a:endParaRPr lang="ja-JP" altLang="en-US"/>
          </a:p>
        </p:txBody>
      </p:sp>
      <p:sp>
        <p:nvSpPr>
          <p:cNvPr id="64" name="テキスト プレースホルダー 3">
            <a:extLst>
              <a:ext uri="{FF2B5EF4-FFF2-40B4-BE49-F238E27FC236}">
                <a16:creationId xmlns:a16="http://schemas.microsoft.com/office/drawing/2014/main" id="{E9268FB8-3E12-C9D7-B425-F8695631C319}"/>
              </a:ext>
            </a:extLst>
          </p:cNvPr>
          <p:cNvSpPr>
            <a:spLocks noGrp="1"/>
          </p:cNvSpPr>
          <p:nvPr>
            <p:ph type="body" sz="quarter" idx="10"/>
          </p:nvPr>
        </p:nvSpPr>
        <p:spPr>
          <a:xfrm>
            <a:off x="626763" y="808550"/>
            <a:ext cx="9940792" cy="371961"/>
          </a:xfrm>
        </p:spPr>
        <p:txBody>
          <a:bodyPr/>
          <a:lstStyle/>
          <a:p>
            <a:r>
              <a:rPr lang="ja-JP" altLang="en-US" sz="1800" b="0"/>
              <a:t>分割検収があるときの例示（一つの契約から複数の履行義務が識別されるケース）</a:t>
            </a:r>
          </a:p>
        </p:txBody>
      </p:sp>
      <p:graphicFrame>
        <p:nvGraphicFramePr>
          <p:cNvPr id="65" name="表 64">
            <a:extLst>
              <a:ext uri="{FF2B5EF4-FFF2-40B4-BE49-F238E27FC236}">
                <a16:creationId xmlns:a16="http://schemas.microsoft.com/office/drawing/2014/main" id="{868B154B-F44A-9DB6-044D-7876A62901AD}"/>
              </a:ext>
            </a:extLst>
          </p:cNvPr>
          <p:cNvGraphicFramePr>
            <a:graphicFrameLocks noGrp="1"/>
          </p:cNvGraphicFramePr>
          <p:nvPr/>
        </p:nvGraphicFramePr>
        <p:xfrm>
          <a:off x="626762" y="1180511"/>
          <a:ext cx="11058732" cy="5427023"/>
        </p:xfrm>
        <a:graphic>
          <a:graphicData uri="http://schemas.openxmlformats.org/drawingml/2006/table">
            <a:tbl>
              <a:tblPr bandRow="1">
                <a:tableStyleId>{F2DE63D5-997A-4646-A377-4702673A728D}</a:tableStyleId>
              </a:tblPr>
              <a:tblGrid>
                <a:gridCol w="11058732">
                  <a:extLst>
                    <a:ext uri="{9D8B030D-6E8A-4147-A177-3AD203B41FA5}">
                      <a16:colId xmlns:a16="http://schemas.microsoft.com/office/drawing/2014/main" val="20000"/>
                    </a:ext>
                  </a:extLst>
                </a:gridCol>
              </a:tblGrid>
              <a:tr h="5427023">
                <a:tc>
                  <a:txBody>
                    <a:bodyPr/>
                    <a:lstStyle/>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16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3016796"/>
                  </a:ext>
                </a:extLst>
              </a:tr>
            </a:tbl>
          </a:graphicData>
        </a:graphic>
      </p:graphicFrame>
      <p:sp>
        <p:nvSpPr>
          <p:cNvPr id="67" name="角丸四角形 22">
            <a:extLst>
              <a:ext uri="{FF2B5EF4-FFF2-40B4-BE49-F238E27FC236}">
                <a16:creationId xmlns:a16="http://schemas.microsoft.com/office/drawing/2014/main" id="{7F87D5F3-9A37-1098-3891-B15935CA2FDB}"/>
              </a:ext>
            </a:extLst>
          </p:cNvPr>
          <p:cNvSpPr/>
          <p:nvPr/>
        </p:nvSpPr>
        <p:spPr>
          <a:xfrm>
            <a:off x="6924233" y="1337481"/>
            <a:ext cx="4641006" cy="5252970"/>
          </a:xfrm>
          <a:prstGeom prst="round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lvl="0" defTabSz="990564" fontAlgn="auto">
              <a:spcBef>
                <a:spcPts val="0"/>
              </a:spcBef>
              <a:spcAft>
                <a:spcPts val="0"/>
              </a:spcAft>
              <a:defRPr/>
            </a:pPr>
            <a:endParaRPr kumimoji="1" lang="en-US" altLang="ja-JP" sz="1600"/>
          </a:p>
          <a:p>
            <a:pPr marL="285750" lvl="0" indent="-285750" defTabSz="990564" fontAlgn="auto">
              <a:spcBef>
                <a:spcPts val="0"/>
              </a:spcBef>
              <a:spcAft>
                <a:spcPts val="0"/>
              </a:spcAft>
              <a:buFont typeface="Wingdings" panose="05000000000000000000" pitchFamily="2" charset="2"/>
              <a:buChar char="p"/>
              <a:defRPr/>
            </a:pPr>
            <a:r>
              <a:rPr kumimoji="1" lang="ja-JP" altLang="en-US" sz="1600"/>
              <a:t>同じプロジェクトに該当する場合でも、サービスの内容がそれぞれ違っていて、独立しているため（物販とそれ以外に関連するサービスで契約上明確に区分されているため）</a:t>
            </a:r>
            <a:endParaRPr kumimoji="1" lang="en-US" altLang="ja-JP" sz="1600"/>
          </a:p>
          <a:p>
            <a:pPr marL="285750" lvl="0" indent="-285750" defTabSz="990564" fontAlgn="auto">
              <a:spcBef>
                <a:spcPts val="0"/>
              </a:spcBef>
              <a:spcAft>
                <a:spcPts val="0"/>
              </a:spcAft>
              <a:buFont typeface="Wingdings" panose="05000000000000000000" pitchFamily="2" charset="2"/>
              <a:buChar char="p"/>
              <a:defRPr/>
            </a:pPr>
            <a:r>
              <a:rPr lang="ja-JP" altLang="en-US" sz="1600">
                <a:solidFill>
                  <a:schemeClr val="tx1"/>
                </a:solidFill>
              </a:rPr>
              <a:t>検収分割単位が、顧客が代金を支払ってもらえる単位になるため</a:t>
            </a:r>
            <a:endParaRPr lang="en-US" altLang="ja-JP" sz="1600"/>
          </a:p>
          <a:p>
            <a:pPr lvl="0" defTabSz="990564" fontAlgn="auto">
              <a:spcBef>
                <a:spcPts val="0"/>
              </a:spcBef>
              <a:spcAft>
                <a:spcPts val="0"/>
              </a:spcAft>
              <a:defRPr/>
            </a:pPr>
            <a:endParaRPr lang="en-US" altLang="ja-JP" sz="1600"/>
          </a:p>
          <a:p>
            <a:pPr lvl="0" defTabSz="990564" fontAlgn="auto">
              <a:spcBef>
                <a:spcPts val="0"/>
              </a:spcBef>
              <a:spcAft>
                <a:spcPts val="0"/>
              </a:spcAft>
              <a:defRPr/>
            </a:pPr>
            <a:r>
              <a:rPr lang="ja-JP" altLang="en-US" sz="1600"/>
              <a:t>⇒事前に顧客との約束で、サービス全体のうちどこまで完了できればお金を支払うとの取り決めがなされている場合には、その取り決めに従い履行義務を識別することになります。</a:t>
            </a:r>
            <a:endParaRPr lang="en-US" altLang="ja-JP" sz="1600"/>
          </a:p>
          <a:p>
            <a:pPr lvl="0" defTabSz="990564" fontAlgn="auto">
              <a:spcBef>
                <a:spcPts val="0"/>
              </a:spcBef>
              <a:spcAft>
                <a:spcPts val="0"/>
              </a:spcAft>
              <a:defRPr/>
            </a:pPr>
            <a:r>
              <a:rPr lang="ja-JP" altLang="en-US" sz="1600"/>
              <a:t>一方で、顧客との間にそのような事前の取り決めがない場合は、</a:t>
            </a:r>
            <a:r>
              <a:rPr lang="ja-JP" altLang="en-US" sz="1600">
                <a:solidFill>
                  <a:srgbClr val="FF0000"/>
                </a:solidFill>
              </a:rPr>
              <a:t>社内都合で自由に履行義務を分割することはできない点に留意が必要になります。</a:t>
            </a:r>
            <a:r>
              <a:rPr lang="ja-JP" altLang="en-US" sz="1600"/>
              <a:t>（例：</a:t>
            </a:r>
            <a:r>
              <a:rPr lang="ja-JP" altLang="en-US" sz="1600">
                <a:solidFill>
                  <a:schemeClr val="tx1"/>
                </a:solidFill>
              </a:rPr>
              <a:t>一つの注文書につき、注文内容が「○○工事」</a:t>
            </a:r>
            <a:r>
              <a:rPr lang="en-US" altLang="ja-JP" sz="1600">
                <a:solidFill>
                  <a:schemeClr val="tx1"/>
                </a:solidFill>
              </a:rPr>
              <a:t>1</a:t>
            </a:r>
            <a:r>
              <a:rPr lang="ja-JP" altLang="en-US" sz="1600">
                <a:solidFill>
                  <a:schemeClr val="tx1"/>
                </a:solidFill>
              </a:rPr>
              <a:t>つだけの場合、社内管理目的で外装工事と内装工事等、自由に履行義務を分けることはできない点に留意が必要です。）</a:t>
            </a:r>
            <a:endParaRPr lang="en-US" altLang="ja-JP" sz="1600">
              <a:solidFill>
                <a:schemeClr val="tx1"/>
              </a:solidFill>
            </a:endParaRPr>
          </a:p>
          <a:p>
            <a:pPr marL="285750" lvl="0" indent="-285750" defTabSz="990564" fontAlgn="auto">
              <a:spcBef>
                <a:spcPts val="0"/>
              </a:spcBef>
              <a:spcAft>
                <a:spcPts val="0"/>
              </a:spcAft>
              <a:buFont typeface="Wingdings" panose="05000000000000000000" pitchFamily="2" charset="2"/>
              <a:buChar char="p"/>
              <a:defRPr/>
            </a:pPr>
            <a:endParaRPr kumimoji="1" lang="en-US" altLang="ja-JP" sz="1400"/>
          </a:p>
        </p:txBody>
      </p:sp>
      <p:sp>
        <p:nvSpPr>
          <p:cNvPr id="68" name="角丸四角形 22">
            <a:extLst>
              <a:ext uri="{FF2B5EF4-FFF2-40B4-BE49-F238E27FC236}">
                <a16:creationId xmlns:a16="http://schemas.microsoft.com/office/drawing/2014/main" id="{97BF5B62-9028-93E8-F567-B80F156C1AE4}"/>
              </a:ext>
            </a:extLst>
          </p:cNvPr>
          <p:cNvSpPr/>
          <p:nvPr/>
        </p:nvSpPr>
        <p:spPr>
          <a:xfrm>
            <a:off x="809811" y="3741113"/>
            <a:ext cx="6053462" cy="2425772"/>
          </a:xfrm>
          <a:prstGeom prst="roundRect">
            <a:avLst/>
          </a:prstGeom>
          <a:noFill/>
          <a:ln w="57150"/>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endParaRPr kumimoji="1" lang="en-US" altLang="ja-JP" sz="1400" b="1">
              <a:solidFill>
                <a:schemeClr val="tx1"/>
              </a:solidFill>
            </a:endParaRPr>
          </a:p>
          <a:p>
            <a:br>
              <a:rPr kumimoji="1" lang="en-US" altLang="ja-JP" sz="1200">
                <a:solidFill>
                  <a:schemeClr val="tx1"/>
                </a:solidFill>
              </a:rPr>
            </a:br>
            <a:endParaRPr kumimoji="1" lang="ja-JP" altLang="en-US" sz="1200">
              <a:solidFill>
                <a:schemeClr val="tx1"/>
              </a:solidFill>
            </a:endParaRPr>
          </a:p>
        </p:txBody>
      </p:sp>
      <p:sp>
        <p:nvSpPr>
          <p:cNvPr id="69" name="正方形/長方形 68">
            <a:extLst>
              <a:ext uri="{FF2B5EF4-FFF2-40B4-BE49-F238E27FC236}">
                <a16:creationId xmlns:a16="http://schemas.microsoft.com/office/drawing/2014/main" id="{42695BA0-0BFD-487E-994C-0483C203FB89}"/>
              </a:ext>
            </a:extLst>
          </p:cNvPr>
          <p:cNvSpPr/>
          <p:nvPr/>
        </p:nvSpPr>
        <p:spPr>
          <a:xfrm>
            <a:off x="-2056345" y="3826456"/>
            <a:ext cx="7469653" cy="433867"/>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lang="en-US" altLang="ja-JP" sz="1400"/>
              <a:t>【</a:t>
            </a:r>
            <a:r>
              <a:rPr lang="ja-JP" altLang="en-US" sz="1400"/>
              <a:t>契約</a:t>
            </a:r>
            <a:r>
              <a:rPr lang="ja-JP" altLang="en-US" sz="1600"/>
              <a:t>内容</a:t>
            </a:r>
            <a:r>
              <a:rPr lang="en-US" altLang="ja-JP" sz="1400"/>
              <a:t>】</a:t>
            </a:r>
            <a:endParaRPr kumimoji="1" lang="en-US" altLang="ja-JP" sz="1400"/>
          </a:p>
          <a:p>
            <a:pPr algn="ctr"/>
            <a:endParaRPr kumimoji="1" lang="en-US" altLang="ja-JP" sz="1400">
              <a:solidFill>
                <a:schemeClr val="tx1"/>
              </a:solidFill>
            </a:endParaRPr>
          </a:p>
        </p:txBody>
      </p:sp>
      <p:sp>
        <p:nvSpPr>
          <p:cNvPr id="2" name="Rectangle 34">
            <a:extLst>
              <a:ext uri="{FF2B5EF4-FFF2-40B4-BE49-F238E27FC236}">
                <a16:creationId xmlns:a16="http://schemas.microsoft.com/office/drawing/2014/main" id="{88C2D90B-6F93-90E7-1ECD-6FA24A16EC54}"/>
              </a:ext>
            </a:extLst>
          </p:cNvPr>
          <p:cNvSpPr>
            <a:spLocks noChangeArrowheads="1"/>
          </p:cNvSpPr>
          <p:nvPr/>
        </p:nvSpPr>
        <p:spPr bwMode="gray">
          <a:xfrm>
            <a:off x="1865049" y="1697910"/>
            <a:ext cx="837487" cy="213978"/>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契約</a:t>
            </a:r>
            <a:endParaRPr lang="ja-JP" altLang="nl-NL" sz="1400" kern="0">
              <a:latin typeface="+mn-lt"/>
            </a:endParaRPr>
          </a:p>
        </p:txBody>
      </p:sp>
      <p:sp>
        <p:nvSpPr>
          <p:cNvPr id="4" name="矢印: 右 3">
            <a:extLst>
              <a:ext uri="{FF2B5EF4-FFF2-40B4-BE49-F238E27FC236}">
                <a16:creationId xmlns:a16="http://schemas.microsoft.com/office/drawing/2014/main" id="{6D5CD1AE-0FA1-EB40-979B-C20F9EEEB3A4}"/>
              </a:ext>
            </a:extLst>
          </p:cNvPr>
          <p:cNvSpPr/>
          <p:nvPr/>
        </p:nvSpPr>
        <p:spPr>
          <a:xfrm rot="20404013">
            <a:off x="3222051" y="1928281"/>
            <a:ext cx="872690" cy="538353"/>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pic>
        <p:nvPicPr>
          <p:cNvPr id="5" name="図 4">
            <a:extLst>
              <a:ext uri="{FF2B5EF4-FFF2-40B4-BE49-F238E27FC236}">
                <a16:creationId xmlns:a16="http://schemas.microsoft.com/office/drawing/2014/main" id="{343913FE-B535-8E34-7371-2E59DF20A384}"/>
              </a:ext>
            </a:extLst>
          </p:cNvPr>
          <p:cNvPicPr>
            <a:picLocks noChangeAspect="1"/>
          </p:cNvPicPr>
          <p:nvPr/>
        </p:nvPicPr>
        <p:blipFill>
          <a:blip r:embed="rId3"/>
          <a:stretch>
            <a:fillRect/>
          </a:stretch>
        </p:blipFill>
        <p:spPr>
          <a:xfrm>
            <a:off x="1896928" y="1929346"/>
            <a:ext cx="714475" cy="895475"/>
          </a:xfrm>
          <a:prstGeom prst="rect">
            <a:avLst/>
          </a:prstGeom>
        </p:spPr>
      </p:pic>
      <p:sp>
        <p:nvSpPr>
          <p:cNvPr id="9" name="Rectangle 34">
            <a:extLst>
              <a:ext uri="{FF2B5EF4-FFF2-40B4-BE49-F238E27FC236}">
                <a16:creationId xmlns:a16="http://schemas.microsoft.com/office/drawing/2014/main" id="{09F66F67-91C2-3CE6-E741-49461630EAEC}"/>
              </a:ext>
            </a:extLst>
          </p:cNvPr>
          <p:cNvSpPr>
            <a:spLocks noChangeArrowheads="1"/>
          </p:cNvSpPr>
          <p:nvPr/>
        </p:nvSpPr>
        <p:spPr bwMode="gray">
          <a:xfrm>
            <a:off x="4306179" y="1337481"/>
            <a:ext cx="1333234" cy="267540"/>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物販</a:t>
            </a:r>
            <a:endParaRPr lang="ja-JP" altLang="nl-NL" sz="1400" kern="0">
              <a:latin typeface="+mn-lt"/>
            </a:endParaRPr>
          </a:p>
        </p:txBody>
      </p:sp>
      <p:pic>
        <p:nvPicPr>
          <p:cNvPr id="10" name="図 9">
            <a:extLst>
              <a:ext uri="{FF2B5EF4-FFF2-40B4-BE49-F238E27FC236}">
                <a16:creationId xmlns:a16="http://schemas.microsoft.com/office/drawing/2014/main" id="{1F613BB8-F81E-03E4-4FEB-AFB2EA93D750}"/>
              </a:ext>
            </a:extLst>
          </p:cNvPr>
          <p:cNvPicPr>
            <a:picLocks noChangeAspect="1"/>
          </p:cNvPicPr>
          <p:nvPr/>
        </p:nvPicPr>
        <p:blipFill>
          <a:blip r:embed="rId3"/>
          <a:stretch>
            <a:fillRect/>
          </a:stretch>
        </p:blipFill>
        <p:spPr>
          <a:xfrm>
            <a:off x="4614255" y="1608479"/>
            <a:ext cx="714475" cy="895475"/>
          </a:xfrm>
          <a:prstGeom prst="rect">
            <a:avLst/>
          </a:prstGeom>
        </p:spPr>
      </p:pic>
      <p:pic>
        <p:nvPicPr>
          <p:cNvPr id="11" name="図 10">
            <a:extLst>
              <a:ext uri="{FF2B5EF4-FFF2-40B4-BE49-F238E27FC236}">
                <a16:creationId xmlns:a16="http://schemas.microsoft.com/office/drawing/2014/main" id="{531C684C-4E46-4309-225C-78C2AD1B074A}"/>
              </a:ext>
            </a:extLst>
          </p:cNvPr>
          <p:cNvPicPr>
            <a:picLocks noChangeAspect="1"/>
          </p:cNvPicPr>
          <p:nvPr/>
        </p:nvPicPr>
        <p:blipFill>
          <a:blip r:embed="rId3"/>
          <a:stretch>
            <a:fillRect/>
          </a:stretch>
        </p:blipFill>
        <p:spPr>
          <a:xfrm>
            <a:off x="4614254" y="2794661"/>
            <a:ext cx="714475" cy="895475"/>
          </a:xfrm>
          <a:prstGeom prst="rect">
            <a:avLst/>
          </a:prstGeom>
        </p:spPr>
      </p:pic>
      <p:sp>
        <p:nvSpPr>
          <p:cNvPr id="12" name="Rectangle 34">
            <a:extLst>
              <a:ext uri="{FF2B5EF4-FFF2-40B4-BE49-F238E27FC236}">
                <a16:creationId xmlns:a16="http://schemas.microsoft.com/office/drawing/2014/main" id="{83C70C4F-3A44-1078-D1F7-42383C83DC95}"/>
              </a:ext>
            </a:extLst>
          </p:cNvPr>
          <p:cNvSpPr>
            <a:spLocks noChangeArrowheads="1"/>
          </p:cNvSpPr>
          <p:nvPr/>
        </p:nvSpPr>
        <p:spPr bwMode="gray">
          <a:xfrm>
            <a:off x="4249719" y="2544646"/>
            <a:ext cx="1716565" cy="246557"/>
          </a:xfrm>
          <a:prstGeom prst="roundRect">
            <a:avLst>
              <a:gd name="adj" fmla="val 16667"/>
            </a:avLst>
          </a:prstGeom>
          <a:solidFill>
            <a:srgbClr val="FFFFFF"/>
          </a:solidFill>
          <a:ln w="19050" algn="ctr">
            <a:solidFill>
              <a:schemeClr val="accent2"/>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その他設計等</a:t>
            </a:r>
            <a:endParaRPr lang="ja-JP" altLang="nl-NL" sz="1400" kern="0">
              <a:latin typeface="+mn-lt"/>
            </a:endParaRPr>
          </a:p>
        </p:txBody>
      </p:sp>
      <p:graphicFrame>
        <p:nvGraphicFramePr>
          <p:cNvPr id="13" name="表 12">
            <a:extLst>
              <a:ext uri="{FF2B5EF4-FFF2-40B4-BE49-F238E27FC236}">
                <a16:creationId xmlns:a16="http://schemas.microsoft.com/office/drawing/2014/main" id="{A223A708-6768-D486-747A-C0748968D9B9}"/>
              </a:ext>
            </a:extLst>
          </p:cNvPr>
          <p:cNvGraphicFramePr>
            <a:graphicFrameLocks noGrp="1"/>
          </p:cNvGraphicFramePr>
          <p:nvPr/>
        </p:nvGraphicFramePr>
        <p:xfrm>
          <a:off x="870770" y="4155338"/>
          <a:ext cx="5816703" cy="1815825"/>
        </p:xfrm>
        <a:graphic>
          <a:graphicData uri="http://schemas.openxmlformats.org/drawingml/2006/table">
            <a:tbl>
              <a:tblPr firstRow="1" bandRow="1">
                <a:tableStyleId>{5C22544A-7EE6-4342-B048-85BDC9FD1C3A}</a:tableStyleId>
              </a:tblPr>
              <a:tblGrid>
                <a:gridCol w="591579">
                  <a:extLst>
                    <a:ext uri="{9D8B030D-6E8A-4147-A177-3AD203B41FA5}">
                      <a16:colId xmlns:a16="http://schemas.microsoft.com/office/drawing/2014/main" val="2141865437"/>
                    </a:ext>
                  </a:extLst>
                </a:gridCol>
                <a:gridCol w="1382154">
                  <a:extLst>
                    <a:ext uri="{9D8B030D-6E8A-4147-A177-3AD203B41FA5}">
                      <a16:colId xmlns:a16="http://schemas.microsoft.com/office/drawing/2014/main" val="3895695809"/>
                    </a:ext>
                  </a:extLst>
                </a:gridCol>
                <a:gridCol w="1290079">
                  <a:extLst>
                    <a:ext uri="{9D8B030D-6E8A-4147-A177-3AD203B41FA5}">
                      <a16:colId xmlns:a16="http://schemas.microsoft.com/office/drawing/2014/main" val="954483036"/>
                    </a:ext>
                  </a:extLst>
                </a:gridCol>
                <a:gridCol w="2552891">
                  <a:extLst>
                    <a:ext uri="{9D8B030D-6E8A-4147-A177-3AD203B41FA5}">
                      <a16:colId xmlns:a16="http://schemas.microsoft.com/office/drawing/2014/main" val="4194914693"/>
                    </a:ext>
                  </a:extLst>
                </a:gridCol>
              </a:tblGrid>
              <a:tr h="523514">
                <a:tc>
                  <a:txBody>
                    <a:bodyPr/>
                    <a:lstStyle/>
                    <a:p>
                      <a:r>
                        <a:rPr kumimoji="1" lang="ja-JP" altLang="en-US" sz="1300"/>
                        <a:t>回数</a:t>
                      </a:r>
                    </a:p>
                  </a:txBody>
                  <a:tcPr marL="64808" marR="64808" marT="32405" marB="32405"/>
                </a:tc>
                <a:tc>
                  <a:txBody>
                    <a:bodyPr/>
                    <a:lstStyle/>
                    <a:p>
                      <a:r>
                        <a:rPr kumimoji="1" lang="ja-JP" altLang="en-US" sz="1300"/>
                        <a:t>分割検収</a:t>
                      </a:r>
                      <a:endParaRPr kumimoji="1" lang="en-US" altLang="ja-JP" sz="1300"/>
                    </a:p>
                    <a:p>
                      <a:r>
                        <a:rPr kumimoji="1" lang="ja-JP" altLang="en-US" sz="1300"/>
                        <a:t>予定日</a:t>
                      </a:r>
                    </a:p>
                  </a:txBody>
                  <a:tcPr marL="64808" marR="64808" marT="32405" marB="32405"/>
                </a:tc>
                <a:tc>
                  <a:txBody>
                    <a:bodyPr/>
                    <a:lstStyle/>
                    <a:p>
                      <a:r>
                        <a:rPr kumimoji="1" lang="ja-JP" altLang="en-US" sz="1300"/>
                        <a:t>支払金額</a:t>
                      </a:r>
                    </a:p>
                  </a:txBody>
                  <a:tcPr marL="64808" marR="64808" marT="32405" marB="32405"/>
                </a:tc>
                <a:tc>
                  <a:txBody>
                    <a:bodyPr/>
                    <a:lstStyle/>
                    <a:p>
                      <a:r>
                        <a:rPr kumimoji="1" lang="ja-JP" altLang="en-US" sz="1300"/>
                        <a:t>内容</a:t>
                      </a:r>
                    </a:p>
                  </a:txBody>
                  <a:tcPr marL="64808" marR="64808" marT="32405" marB="32405"/>
                </a:tc>
                <a:extLst>
                  <a:ext uri="{0D108BD9-81ED-4DB2-BD59-A6C34878D82A}">
                    <a16:rowId xmlns:a16="http://schemas.microsoft.com/office/drawing/2014/main" val="3423663608"/>
                  </a:ext>
                </a:extLst>
              </a:tr>
              <a:tr h="380066">
                <a:tc>
                  <a:txBody>
                    <a:bodyPr/>
                    <a:lstStyle/>
                    <a:p>
                      <a:r>
                        <a:rPr kumimoji="1" lang="en-US" altLang="ja-JP" sz="1600" b="1"/>
                        <a:t>1</a:t>
                      </a:r>
                      <a:endParaRPr kumimoji="1" lang="ja-JP" altLang="en-US" sz="1600" b="1"/>
                    </a:p>
                  </a:txBody>
                  <a:tcPr marL="64808" marR="64808" marT="32405" marB="32405"/>
                </a:tc>
                <a:tc>
                  <a:txBody>
                    <a:bodyPr/>
                    <a:lstStyle/>
                    <a:p>
                      <a:r>
                        <a:rPr kumimoji="1" lang="en-US" altLang="ja-JP" sz="1600" b="1"/>
                        <a:t>29</a:t>
                      </a:r>
                      <a:r>
                        <a:rPr kumimoji="1" lang="ja-JP" altLang="en-US" sz="1600" b="1"/>
                        <a:t>年</a:t>
                      </a:r>
                      <a:r>
                        <a:rPr kumimoji="1" lang="en-US" altLang="ja-JP" sz="1600" b="1"/>
                        <a:t>3</a:t>
                      </a:r>
                      <a:r>
                        <a:rPr kumimoji="1" lang="ja-JP" altLang="en-US" sz="1600" b="1"/>
                        <a:t>月</a:t>
                      </a:r>
                      <a:r>
                        <a:rPr kumimoji="1" lang="en-US" altLang="ja-JP" sz="1600" b="1"/>
                        <a:t>31</a:t>
                      </a:r>
                      <a:r>
                        <a:rPr kumimoji="1" lang="ja-JP" altLang="en-US" sz="1600" b="1"/>
                        <a:t>日</a:t>
                      </a:r>
                    </a:p>
                  </a:txBody>
                  <a:tcPr marL="64808" marR="64808" marT="32405" marB="32405"/>
                </a:tc>
                <a:tc>
                  <a:txBody>
                    <a:bodyPr/>
                    <a:lstStyle/>
                    <a:p>
                      <a:r>
                        <a:rPr kumimoji="1" lang="en-US" altLang="ja-JP" sz="1600" b="1"/>
                        <a:t>50,000</a:t>
                      </a:r>
                      <a:r>
                        <a:rPr kumimoji="1" lang="ja-JP" altLang="en-US" sz="1600" b="1"/>
                        <a:t>千円</a:t>
                      </a:r>
                    </a:p>
                  </a:txBody>
                  <a:tcPr marL="64808" marR="64808" marT="32405" marB="32405"/>
                </a:tc>
                <a:tc>
                  <a:txBody>
                    <a:bodyPr/>
                    <a:lstStyle/>
                    <a:p>
                      <a:r>
                        <a:rPr kumimoji="1" lang="ja-JP" altLang="en-US" sz="1600" b="1"/>
                        <a:t>物販</a:t>
                      </a:r>
                    </a:p>
                  </a:txBody>
                  <a:tcPr marL="64808" marR="64808" marT="32405" marB="32405"/>
                </a:tc>
                <a:extLst>
                  <a:ext uri="{0D108BD9-81ED-4DB2-BD59-A6C34878D82A}">
                    <a16:rowId xmlns:a16="http://schemas.microsoft.com/office/drawing/2014/main" val="1291701420"/>
                  </a:ext>
                </a:extLst>
              </a:tr>
              <a:tr h="388731">
                <a:tc>
                  <a:txBody>
                    <a:bodyPr/>
                    <a:lstStyle/>
                    <a:p>
                      <a:r>
                        <a:rPr kumimoji="1" lang="en-US" altLang="ja-JP" sz="1600" b="1"/>
                        <a:t>2</a:t>
                      </a:r>
                      <a:endParaRPr kumimoji="1" lang="ja-JP" altLang="en-US" sz="1600" b="1"/>
                    </a:p>
                  </a:txBody>
                  <a:tcPr marL="64808" marR="64808" marT="32405" marB="3240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600" b="1"/>
                        <a:t>30</a:t>
                      </a:r>
                      <a:r>
                        <a:rPr kumimoji="1" lang="ja-JP" altLang="en-US" sz="1600" b="1"/>
                        <a:t>年</a:t>
                      </a:r>
                      <a:r>
                        <a:rPr kumimoji="1" lang="en-US" altLang="ja-JP" sz="1600" b="1"/>
                        <a:t>3</a:t>
                      </a:r>
                      <a:r>
                        <a:rPr kumimoji="1" lang="ja-JP" altLang="en-US" sz="1600" b="1"/>
                        <a:t>月</a:t>
                      </a:r>
                      <a:r>
                        <a:rPr kumimoji="1" lang="en-US" altLang="ja-JP" sz="1600" b="1"/>
                        <a:t>31</a:t>
                      </a:r>
                      <a:r>
                        <a:rPr kumimoji="1" lang="ja-JP" altLang="en-US" sz="1600" b="1"/>
                        <a:t>日</a:t>
                      </a:r>
                    </a:p>
                  </a:txBody>
                  <a:tcPr marL="64808" marR="64808" marT="32405" marB="32405"/>
                </a:tc>
                <a:tc>
                  <a:txBody>
                    <a:bodyPr/>
                    <a:lstStyle/>
                    <a:p>
                      <a:r>
                        <a:rPr kumimoji="1" lang="en-US" altLang="ja-JP" sz="1600" b="1"/>
                        <a:t>10,000</a:t>
                      </a:r>
                      <a:r>
                        <a:rPr kumimoji="1" lang="ja-JP" altLang="en-US" sz="1600" b="1"/>
                        <a:t>千円</a:t>
                      </a:r>
                    </a:p>
                  </a:txBody>
                  <a:tcPr marL="64808" marR="64808" marT="32405" marB="32405"/>
                </a:tc>
                <a:tc>
                  <a:txBody>
                    <a:bodyPr/>
                    <a:lstStyle/>
                    <a:p>
                      <a:r>
                        <a:rPr kumimoji="1" lang="ja-JP" altLang="en-US" sz="1600" b="1"/>
                        <a:t>その他の設計、製作、検査</a:t>
                      </a:r>
                    </a:p>
                  </a:txBody>
                  <a:tcPr marL="64808" marR="64808" marT="32405" marB="32405"/>
                </a:tc>
                <a:extLst>
                  <a:ext uri="{0D108BD9-81ED-4DB2-BD59-A6C34878D82A}">
                    <a16:rowId xmlns:a16="http://schemas.microsoft.com/office/drawing/2014/main" val="4251594909"/>
                  </a:ext>
                </a:extLst>
              </a:tr>
              <a:tr h="523514">
                <a:tc>
                  <a:txBody>
                    <a:bodyPr/>
                    <a:lstStyle/>
                    <a:p>
                      <a:r>
                        <a:rPr kumimoji="1" lang="ja-JP" altLang="en-US" sz="1600" b="1"/>
                        <a:t>合計</a:t>
                      </a:r>
                    </a:p>
                  </a:txBody>
                  <a:tcPr marL="64808" marR="64808" marT="32405" marB="3240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600" b="1"/>
                    </a:p>
                  </a:txBody>
                  <a:tcPr marL="64808" marR="64808" marT="32405" marB="32405"/>
                </a:tc>
                <a:tc>
                  <a:txBody>
                    <a:bodyPr/>
                    <a:lstStyle/>
                    <a:p>
                      <a:r>
                        <a:rPr kumimoji="1" lang="en-US" altLang="ja-JP" sz="1600" b="1"/>
                        <a:t>60,000</a:t>
                      </a:r>
                      <a:r>
                        <a:rPr kumimoji="1" lang="ja-JP" altLang="en-US" sz="1600" b="1"/>
                        <a:t>千円</a:t>
                      </a:r>
                    </a:p>
                  </a:txBody>
                  <a:tcPr marL="64808" marR="64808" marT="32405" marB="32405"/>
                </a:tc>
                <a:tc>
                  <a:txBody>
                    <a:bodyPr/>
                    <a:lstStyle/>
                    <a:p>
                      <a:endParaRPr kumimoji="1" lang="ja-JP" altLang="en-US" sz="1600" b="1"/>
                    </a:p>
                  </a:txBody>
                  <a:tcPr marL="64808" marR="64808" marT="32405" marB="32405"/>
                </a:tc>
                <a:extLst>
                  <a:ext uri="{0D108BD9-81ED-4DB2-BD59-A6C34878D82A}">
                    <a16:rowId xmlns:a16="http://schemas.microsoft.com/office/drawing/2014/main" val="2560780175"/>
                  </a:ext>
                </a:extLst>
              </a:tr>
            </a:tbl>
          </a:graphicData>
        </a:graphic>
      </p:graphicFrame>
      <p:sp>
        <p:nvSpPr>
          <p:cNvPr id="14" name="正方形/長方形 13">
            <a:extLst>
              <a:ext uri="{FF2B5EF4-FFF2-40B4-BE49-F238E27FC236}">
                <a16:creationId xmlns:a16="http://schemas.microsoft.com/office/drawing/2014/main" id="{0C9F842D-9BD1-2120-6F26-1999B9407B81}"/>
              </a:ext>
            </a:extLst>
          </p:cNvPr>
          <p:cNvSpPr/>
          <p:nvPr/>
        </p:nvSpPr>
        <p:spPr>
          <a:xfrm>
            <a:off x="1602911" y="2943307"/>
            <a:ext cx="1361761" cy="433867"/>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400"/>
              <a:t>６０，０００千円</a:t>
            </a:r>
            <a:endParaRPr kumimoji="1" lang="en-US" altLang="ja-JP" sz="1400"/>
          </a:p>
          <a:p>
            <a:pPr algn="ctr"/>
            <a:endParaRPr kumimoji="1" lang="en-US" altLang="ja-JP" sz="1400">
              <a:solidFill>
                <a:schemeClr val="tx1"/>
              </a:solidFill>
            </a:endParaRPr>
          </a:p>
        </p:txBody>
      </p:sp>
      <p:sp>
        <p:nvSpPr>
          <p:cNvPr id="15" name="矢印: 右 14">
            <a:extLst>
              <a:ext uri="{FF2B5EF4-FFF2-40B4-BE49-F238E27FC236}">
                <a16:creationId xmlns:a16="http://schemas.microsoft.com/office/drawing/2014/main" id="{6B4498E5-F7A7-9D59-4D3D-56A9B10FE4E3}"/>
              </a:ext>
            </a:extLst>
          </p:cNvPr>
          <p:cNvSpPr/>
          <p:nvPr/>
        </p:nvSpPr>
        <p:spPr>
          <a:xfrm rot="1007788">
            <a:off x="3317859" y="2794141"/>
            <a:ext cx="872690" cy="538353"/>
          </a:xfrm>
          <a:prstGeom prst="rightArrow">
            <a:avLst/>
          </a:prstGeom>
          <a:solidFill>
            <a:srgbClr val="0070C0"/>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algn="ctr" defTabSz="914400" rtl="0" eaLnBrk="1" fontAlgn="auto" latinLnBrk="0" hangingPunct="1">
              <a:lnSpc>
                <a:spcPct val="100000"/>
              </a:lnSpc>
              <a:spcBef>
                <a:spcPts val="0"/>
              </a:spcBef>
              <a:spcAft>
                <a:spcPts val="0"/>
              </a:spcAft>
              <a:buClrTx/>
              <a:buSzTx/>
              <a:buFontTx/>
              <a:buNone/>
              <a:tabLst/>
            </a:pPr>
            <a:endParaRPr kumimoji="1" lang="ja-JP" altLang="en-US" sz="1400" b="0" i="0" u="none" strike="noStrike" kern="1200" cap="none" spc="0" normalizeH="0" baseline="0" noProof="0">
              <a:ln>
                <a:noFill/>
              </a:ln>
              <a:solidFill>
                <a:schemeClr val="tx1"/>
              </a:solidFill>
              <a:effectLst/>
              <a:uLnTx/>
              <a:uFillTx/>
              <a:latin typeface="+mn-ea"/>
              <a:cs typeface="+mn-cs"/>
            </a:endParaRPr>
          </a:p>
        </p:txBody>
      </p:sp>
      <p:sp>
        <p:nvSpPr>
          <p:cNvPr id="16" name="正方形/長方形 15">
            <a:extLst>
              <a:ext uri="{FF2B5EF4-FFF2-40B4-BE49-F238E27FC236}">
                <a16:creationId xmlns:a16="http://schemas.microsoft.com/office/drawing/2014/main" id="{F322C496-352A-61CC-0904-E8BB95B056F3}"/>
              </a:ext>
            </a:extLst>
          </p:cNvPr>
          <p:cNvSpPr/>
          <p:nvPr/>
        </p:nvSpPr>
        <p:spPr>
          <a:xfrm>
            <a:off x="5469331" y="1997052"/>
            <a:ext cx="1361761" cy="433867"/>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400"/>
              <a:t>５０，０００千円</a:t>
            </a:r>
            <a:endParaRPr kumimoji="1" lang="en-US" altLang="ja-JP" sz="1400"/>
          </a:p>
          <a:p>
            <a:pPr algn="ctr"/>
            <a:endParaRPr kumimoji="1" lang="en-US" altLang="ja-JP" sz="1400">
              <a:solidFill>
                <a:schemeClr val="tx1"/>
              </a:solidFill>
            </a:endParaRPr>
          </a:p>
        </p:txBody>
      </p:sp>
      <p:sp>
        <p:nvSpPr>
          <p:cNvPr id="17" name="正方形/長方形 16">
            <a:extLst>
              <a:ext uri="{FF2B5EF4-FFF2-40B4-BE49-F238E27FC236}">
                <a16:creationId xmlns:a16="http://schemas.microsoft.com/office/drawing/2014/main" id="{C3C9B705-FD70-A8CD-42C6-0A259BFBD789}"/>
              </a:ext>
            </a:extLst>
          </p:cNvPr>
          <p:cNvSpPr/>
          <p:nvPr/>
        </p:nvSpPr>
        <p:spPr>
          <a:xfrm>
            <a:off x="5501512" y="3193518"/>
            <a:ext cx="1361761" cy="433867"/>
          </a:xfrm>
          <a:prstGeom prst="rect">
            <a:avLst/>
          </a:prstGeom>
          <a:noFill/>
          <a:ln>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lang="ja-JP" altLang="en-US" sz="1400"/>
              <a:t>１</a:t>
            </a:r>
            <a:r>
              <a:rPr kumimoji="1" lang="ja-JP" altLang="en-US" sz="1400"/>
              <a:t>０，０００千円</a:t>
            </a:r>
            <a:endParaRPr kumimoji="1" lang="en-US" altLang="ja-JP" sz="1400"/>
          </a:p>
          <a:p>
            <a:pPr algn="ctr"/>
            <a:endParaRPr kumimoji="1" lang="en-US" altLang="ja-JP" sz="1400">
              <a:solidFill>
                <a:schemeClr val="tx1"/>
              </a:solidFill>
            </a:endParaRPr>
          </a:p>
        </p:txBody>
      </p:sp>
    </p:spTree>
    <p:extLst>
      <p:ext uri="{BB962C8B-B14F-4D97-AF65-F5344CB8AC3E}">
        <p14:creationId xmlns:p14="http://schemas.microsoft.com/office/powerpoint/2010/main" val="33104974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D530-DD36-6CC7-DF2A-5AAFA241BDC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CE64BAE-3A64-EEA1-537E-8B375D8B4D85}"/>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2(3/3)</a:t>
            </a:r>
            <a:endParaRPr lang="ja-JP" altLang="en-US"/>
          </a:p>
        </p:txBody>
      </p:sp>
      <p:sp>
        <p:nvSpPr>
          <p:cNvPr id="64" name="テキスト プレースホルダー 3">
            <a:extLst>
              <a:ext uri="{FF2B5EF4-FFF2-40B4-BE49-F238E27FC236}">
                <a16:creationId xmlns:a16="http://schemas.microsoft.com/office/drawing/2014/main" id="{B624D950-5B20-3C40-BCE0-58B0E9EDE57C}"/>
              </a:ext>
            </a:extLst>
          </p:cNvPr>
          <p:cNvSpPr>
            <a:spLocks noGrp="1"/>
          </p:cNvSpPr>
          <p:nvPr>
            <p:ph type="body" sz="quarter" idx="10"/>
          </p:nvPr>
        </p:nvSpPr>
        <p:spPr>
          <a:xfrm>
            <a:off x="626763" y="808550"/>
            <a:ext cx="5469237" cy="371961"/>
          </a:xfrm>
        </p:spPr>
        <p:txBody>
          <a:bodyPr/>
          <a:lstStyle/>
          <a:p>
            <a:r>
              <a:rPr lang="ja-JP" altLang="en-US" sz="1800" b="0"/>
              <a:t>②「履行義務」のうち「別個のもの」を識別します</a:t>
            </a:r>
          </a:p>
        </p:txBody>
      </p:sp>
      <p:graphicFrame>
        <p:nvGraphicFramePr>
          <p:cNvPr id="4" name="表 3">
            <a:extLst>
              <a:ext uri="{FF2B5EF4-FFF2-40B4-BE49-F238E27FC236}">
                <a16:creationId xmlns:a16="http://schemas.microsoft.com/office/drawing/2014/main" id="{75613C39-89E5-582D-425F-07A0CFF57C54}"/>
              </a:ext>
            </a:extLst>
          </p:cNvPr>
          <p:cNvGraphicFramePr>
            <a:graphicFrameLocks noGrp="1"/>
          </p:cNvGraphicFramePr>
          <p:nvPr/>
        </p:nvGraphicFramePr>
        <p:xfrm>
          <a:off x="626763" y="1180511"/>
          <a:ext cx="11148677" cy="5313296"/>
        </p:xfrm>
        <a:graphic>
          <a:graphicData uri="http://schemas.openxmlformats.org/drawingml/2006/table">
            <a:tbl>
              <a:tblPr bandRow="1">
                <a:tableStyleId>{F2DE63D5-997A-4646-A377-4702673A728D}</a:tableStyleId>
              </a:tblPr>
              <a:tblGrid>
                <a:gridCol w="11148677">
                  <a:extLst>
                    <a:ext uri="{9D8B030D-6E8A-4147-A177-3AD203B41FA5}">
                      <a16:colId xmlns:a16="http://schemas.microsoft.com/office/drawing/2014/main" val="20000"/>
                    </a:ext>
                  </a:extLst>
                </a:gridCol>
              </a:tblGrid>
              <a:tr h="5313296">
                <a:tc>
                  <a:txBody>
                    <a:bodyPr/>
                    <a:lstStyle/>
                    <a:p>
                      <a:pPr marL="342900" marR="0" lvl="0" indent="-342900" algn="l" defTabSz="990564" rtl="0" eaLnBrk="1" fontAlgn="auto" latinLnBrk="0" hangingPunct="1">
                        <a:lnSpc>
                          <a:spcPct val="100000"/>
                        </a:lnSpc>
                        <a:spcBef>
                          <a:spcPts val="0"/>
                        </a:spcBef>
                        <a:spcAft>
                          <a:spcPts val="0"/>
                        </a:spcAft>
                        <a:buClrTx/>
                        <a:buSzTx/>
                        <a:buFont typeface="+mj-lt"/>
                        <a:buAutoNum type="arabicPeriod" startAt="2"/>
                        <a:tabLst/>
                        <a:defRPr/>
                      </a:pPr>
                      <a:r>
                        <a:rPr lang="ja-JP" altLang="en-US" sz="1600" b="1">
                          <a:ea typeface="+mn-ea"/>
                        </a:rPr>
                        <a:t>「履行義務」のうち「別個のもの」を識別する（履行義務を結合するか否かの判断）</a:t>
                      </a:r>
                      <a:endParaRPr lang="en-US" altLang="ja-JP" sz="1600" b="1">
                        <a:ea typeface="+mn-ea"/>
                      </a:endParaRPr>
                    </a:p>
                    <a:p>
                      <a:pPr marL="342900" marR="0" lvl="0" indent="-342900" algn="l" defTabSz="990564" rtl="0" eaLnBrk="1" fontAlgn="auto" latinLnBrk="0" hangingPunct="1">
                        <a:lnSpc>
                          <a:spcPct val="100000"/>
                        </a:lnSpc>
                        <a:spcBef>
                          <a:spcPts val="0"/>
                        </a:spcBef>
                        <a:spcAft>
                          <a:spcPts val="0"/>
                        </a:spcAft>
                        <a:buClrTx/>
                        <a:buSzTx/>
                        <a:buFont typeface="+mj-lt"/>
                        <a:buAutoNum type="arabicPeriod" startAt="2"/>
                        <a:tabLst/>
                        <a:defRPr/>
                      </a:pPr>
                      <a:endParaRPr lang="en-US" altLang="ja-JP" sz="1600" b="1">
                        <a:ea typeface="+mn-ea"/>
                      </a:endParaRPr>
                    </a:p>
                    <a:p>
                      <a:pPr marL="342900" marR="0" lvl="0" indent="-342900" algn="l" defTabSz="990564" rtl="0" eaLnBrk="1" fontAlgn="auto" latinLnBrk="0" hangingPunct="1">
                        <a:lnSpc>
                          <a:spcPct val="100000"/>
                        </a:lnSpc>
                        <a:spcBef>
                          <a:spcPts val="0"/>
                        </a:spcBef>
                        <a:spcAft>
                          <a:spcPts val="0"/>
                        </a:spcAft>
                        <a:buClrTx/>
                        <a:buSzTx/>
                        <a:buFont typeface="+mj-lt"/>
                        <a:buAutoNum type="arabicPeriod" startAt="2"/>
                        <a:tabLst/>
                        <a:defRPr/>
                      </a:pPr>
                      <a:endParaRPr lang="en-US" altLang="ja-JP" sz="1600" b="1">
                        <a:ea typeface="+mn-ea"/>
                      </a:endParaRPr>
                    </a:p>
                    <a:p>
                      <a:pPr marL="342900" marR="0" lvl="0" indent="-342900" algn="l" defTabSz="990564" rtl="0" eaLnBrk="1" fontAlgn="auto" latinLnBrk="0" hangingPunct="1">
                        <a:lnSpc>
                          <a:spcPct val="100000"/>
                        </a:lnSpc>
                        <a:spcBef>
                          <a:spcPts val="0"/>
                        </a:spcBef>
                        <a:spcAft>
                          <a:spcPts val="0"/>
                        </a:spcAft>
                        <a:buClrTx/>
                        <a:buSzTx/>
                        <a:buFont typeface="+mj-lt"/>
                        <a:buAutoNum type="arabicPeriod" startAt="2"/>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0" marR="0" lvl="0" indent="0" algn="l" defTabSz="990564" rtl="0" eaLnBrk="1" fontAlgn="auto" latinLnBrk="0" hangingPunct="1">
                        <a:lnSpc>
                          <a:spcPct val="100000"/>
                        </a:lnSpc>
                        <a:spcBef>
                          <a:spcPts val="0"/>
                        </a:spcBef>
                        <a:spcAft>
                          <a:spcPts val="0"/>
                        </a:spcAft>
                        <a:buClrTx/>
                        <a:buSzTx/>
                        <a:buFont typeface="+mj-lt"/>
                        <a:buNone/>
                        <a:tabLst/>
                        <a:defRPr/>
                      </a:pPr>
                      <a:endParaRPr lang="en-US" altLang="ja-JP" sz="1600" b="1">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ja-JP" altLang="en-US" sz="1600">
                          <a:ea typeface="+mn-ea"/>
                        </a:rPr>
                        <a:t>会社の実務上は以下の内容を総合的に考慮して判断します。</a:t>
                      </a:r>
                      <a:endParaRPr kumimoji="1" lang="en-US" altLang="ja-JP" sz="1600">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p"/>
                        <a:tabLst/>
                        <a:defRPr/>
                      </a:pPr>
                      <a:r>
                        <a:rPr kumimoji="1" lang="ja-JP" altLang="en-US" sz="1600">
                          <a:ea typeface="+mn-ea"/>
                        </a:rPr>
                        <a:t>以下の点で</a:t>
                      </a:r>
                      <a:r>
                        <a:rPr kumimoji="1" lang="ja-JP" altLang="en-US" sz="1600">
                          <a:solidFill>
                            <a:srgbClr val="FF0000"/>
                          </a:solidFill>
                          <a:ea typeface="+mn-ea"/>
                        </a:rPr>
                        <a:t>相互依存性、相互関連性</a:t>
                      </a:r>
                      <a:r>
                        <a:rPr kumimoji="1" lang="ja-JP" altLang="en-US" sz="1600">
                          <a:ea typeface="+mn-ea"/>
                        </a:rPr>
                        <a:t>が認められるか（</a:t>
                      </a:r>
                      <a:r>
                        <a:rPr kumimoji="1" lang="ja-JP" altLang="en-US" sz="1600">
                          <a:solidFill>
                            <a:schemeClr val="tx1"/>
                          </a:solidFill>
                          <a:ea typeface="+mn-ea"/>
                        </a:rPr>
                        <a:t>認められる場合は</a:t>
                      </a:r>
                      <a:r>
                        <a:rPr kumimoji="1" lang="ja-JP" altLang="en-US" sz="1600">
                          <a:solidFill>
                            <a:srgbClr val="FF0000"/>
                          </a:solidFill>
                          <a:ea typeface="+mn-ea"/>
                        </a:rPr>
                        <a:t>区分識別しない</a:t>
                      </a:r>
                      <a:r>
                        <a:rPr kumimoji="1" lang="en-US" altLang="ja-JP" sz="1600">
                          <a:solidFill>
                            <a:srgbClr val="FF0000"/>
                          </a:solidFill>
                          <a:ea typeface="+mn-ea"/>
                        </a:rPr>
                        <a:t>=</a:t>
                      </a:r>
                      <a:r>
                        <a:rPr kumimoji="1" lang="ja-JP" altLang="en-US" sz="1600">
                          <a:solidFill>
                            <a:srgbClr val="FF0000"/>
                          </a:solidFill>
                          <a:ea typeface="+mn-ea"/>
                        </a:rPr>
                        <a:t>履行義務の結合</a:t>
                      </a:r>
                      <a:r>
                        <a:rPr kumimoji="1" lang="ja-JP" altLang="en-US" sz="1600">
                          <a:solidFill>
                            <a:schemeClr val="tx1"/>
                          </a:solidFill>
                          <a:ea typeface="+mn-ea"/>
                        </a:rPr>
                        <a:t>となります）</a:t>
                      </a:r>
                      <a:endParaRPr kumimoji="1" lang="en-US" altLang="ja-JP" sz="1600">
                        <a:solidFill>
                          <a:schemeClr val="tx1"/>
                        </a:solidFill>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600">
                          <a:ea typeface="+mn-ea"/>
                        </a:rPr>
                        <a:t>顧客からの注文書の内容（同一の建物に対する工事、当該工事に関連する機器の納入など）</a:t>
                      </a:r>
                      <a:endParaRPr kumimoji="1" lang="en-US" altLang="ja-JP" sz="1600">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600">
                          <a:ea typeface="+mn-ea"/>
                        </a:rPr>
                        <a:t>他の注文書と注文時期や納期（工期、納入時期が概ね同じタイミングである）</a:t>
                      </a:r>
                      <a:endParaRPr kumimoji="1" lang="en-US" altLang="ja-JP" sz="1600">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600">
                          <a:ea typeface="+mn-ea"/>
                        </a:rPr>
                        <a:t>顧客の検収日・工事完了日（完工日、納入時期が概ね同じタイミングである）</a:t>
                      </a:r>
                      <a:endParaRPr kumimoji="1" lang="en-US" altLang="ja-JP" sz="1600">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600">
                          <a:ea typeface="+mn-ea"/>
                        </a:rPr>
                        <a:t>顧客からの資金回収日（概ね同一のタイミングで支払が行われる）</a:t>
                      </a:r>
                      <a:endParaRPr kumimoji="1" lang="en-US" altLang="ja-JP" sz="1600">
                        <a:ea typeface="+mn-ea"/>
                      </a:endParaRPr>
                    </a:p>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1600">
                        <a:ea typeface="+mn-ea"/>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1" lang="en-US" altLang="ja-JP" sz="16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3016796"/>
                  </a:ext>
                </a:extLst>
              </a:tr>
            </a:tbl>
          </a:graphicData>
        </a:graphic>
      </p:graphicFrame>
      <p:sp>
        <p:nvSpPr>
          <p:cNvPr id="5" name="正方形/長方形 4">
            <a:extLst>
              <a:ext uri="{FF2B5EF4-FFF2-40B4-BE49-F238E27FC236}">
                <a16:creationId xmlns:a16="http://schemas.microsoft.com/office/drawing/2014/main" id="{776903B4-CECB-EBE5-BBD2-336FF371B7AD}"/>
              </a:ext>
            </a:extLst>
          </p:cNvPr>
          <p:cNvSpPr/>
          <p:nvPr/>
        </p:nvSpPr>
        <p:spPr bwMode="gray">
          <a:xfrm>
            <a:off x="793994" y="1548893"/>
            <a:ext cx="6978405" cy="221030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t" anchorCtr="0"/>
          <a:lstStyle/>
          <a:p>
            <a:pPr marL="226800" indent="-226800">
              <a:spcBef>
                <a:spcPts val="0"/>
              </a:spcBef>
              <a:buFont typeface="Wingdings" panose="05000000000000000000" pitchFamily="2" charset="2"/>
              <a:buChar char="n"/>
              <a:defRPr/>
            </a:pPr>
            <a:r>
              <a:rPr lang="ja-JP" altLang="en-US" sz="1600">
                <a:solidFill>
                  <a:schemeClr val="tx1"/>
                </a:solidFill>
                <a:cs typeface="Arial" pitchFamily="34" charset="0"/>
              </a:rPr>
              <a:t>顧客に約束した財又はサービスは、以下の要件を</a:t>
            </a:r>
            <a:r>
              <a:rPr lang="ja-JP" altLang="en-US" sz="1600" b="1" u="sng">
                <a:solidFill>
                  <a:schemeClr val="tx1"/>
                </a:solidFill>
                <a:cs typeface="Arial" pitchFamily="34" charset="0"/>
              </a:rPr>
              <a:t>いずれも満たす</a:t>
            </a:r>
            <a:r>
              <a:rPr lang="ja-JP" altLang="en-US" sz="1600">
                <a:solidFill>
                  <a:schemeClr val="tx1"/>
                </a:solidFill>
                <a:cs typeface="Arial" pitchFamily="34" charset="0"/>
              </a:rPr>
              <a:t>場合には、別個のものとします。</a:t>
            </a:r>
            <a:endParaRPr lang="en-US" altLang="ja-JP" sz="1600">
              <a:solidFill>
                <a:schemeClr val="tx1"/>
              </a:solidFill>
              <a:cs typeface="Arial" pitchFamily="34" charset="0"/>
            </a:endParaRPr>
          </a:p>
          <a:p>
            <a:pPr marL="554038" lvl="1" indent="-325438">
              <a:spcBef>
                <a:spcPts val="0"/>
              </a:spcBef>
              <a:defRPr/>
            </a:pPr>
            <a:r>
              <a:rPr lang="ja-JP" altLang="en-US" sz="1600">
                <a:solidFill>
                  <a:schemeClr val="tx1"/>
                </a:solidFill>
              </a:rPr>
              <a:t>（</a:t>
            </a:r>
            <a:r>
              <a:rPr lang="en-US" altLang="ja-JP" sz="1600">
                <a:solidFill>
                  <a:schemeClr val="tx1"/>
                </a:solidFill>
              </a:rPr>
              <a:t>1</a:t>
            </a:r>
            <a:r>
              <a:rPr lang="ja-JP" altLang="en-US" sz="1600">
                <a:solidFill>
                  <a:schemeClr val="tx1"/>
                </a:solidFill>
              </a:rPr>
              <a:t>）会社が提供した財又はサービスから</a:t>
            </a:r>
            <a:r>
              <a:rPr lang="ja-JP" altLang="en-US" sz="1600" b="1" u="sng">
                <a:solidFill>
                  <a:schemeClr val="tx1"/>
                </a:solidFill>
              </a:rPr>
              <a:t>単独で顧客が便益を享受することができる</a:t>
            </a:r>
            <a:r>
              <a:rPr lang="ja-JP" altLang="en-US" sz="1600">
                <a:solidFill>
                  <a:schemeClr val="tx1"/>
                </a:solidFill>
              </a:rPr>
              <a:t>、又は顧客が容易に利用できる他の資源を組み合わせて顧客が便益を享受することができること（＝別個のものとなる可能性があること）</a:t>
            </a:r>
            <a:endParaRPr lang="en-US" altLang="ja-JP" sz="1600">
              <a:solidFill>
                <a:schemeClr val="tx1"/>
              </a:solidFill>
            </a:endParaRPr>
          </a:p>
          <a:p>
            <a:pPr marL="554038" lvl="1" indent="-325438">
              <a:spcBef>
                <a:spcPts val="0"/>
              </a:spcBef>
              <a:defRPr/>
            </a:pPr>
            <a:r>
              <a:rPr lang="ja-JP" altLang="en-US" sz="1600">
                <a:solidFill>
                  <a:schemeClr val="tx1"/>
                </a:solidFill>
              </a:rPr>
              <a:t>（</a:t>
            </a:r>
            <a:r>
              <a:rPr lang="en-US" altLang="ja-JP" sz="1600">
                <a:solidFill>
                  <a:schemeClr val="tx1"/>
                </a:solidFill>
              </a:rPr>
              <a:t>2</a:t>
            </a:r>
            <a:r>
              <a:rPr lang="ja-JP" altLang="en-US" sz="1600">
                <a:solidFill>
                  <a:schemeClr val="tx1"/>
                </a:solidFill>
              </a:rPr>
              <a:t>）財又はサービスを顧客に移転する約束が、契約に含まれる他の約束と</a:t>
            </a:r>
            <a:r>
              <a:rPr lang="ja-JP" altLang="en-US" sz="1600" b="1" u="sng">
                <a:solidFill>
                  <a:schemeClr val="tx1"/>
                </a:solidFill>
              </a:rPr>
              <a:t>区分して識別できる</a:t>
            </a:r>
            <a:r>
              <a:rPr lang="ja-JP" altLang="en-US" sz="1600">
                <a:solidFill>
                  <a:schemeClr val="tx1"/>
                </a:solidFill>
              </a:rPr>
              <a:t>こと（＝契約の観点において別個のものとなる）</a:t>
            </a:r>
            <a:endParaRPr lang="ja-JP" altLang="en-US" sz="1600">
              <a:solidFill>
                <a:schemeClr val="tx1"/>
              </a:solidFill>
              <a:cs typeface="Arial" pitchFamily="34" charset="0"/>
            </a:endParaRPr>
          </a:p>
        </p:txBody>
      </p:sp>
      <p:sp>
        <p:nvSpPr>
          <p:cNvPr id="6" name="Rectangle 34">
            <a:extLst>
              <a:ext uri="{FF2B5EF4-FFF2-40B4-BE49-F238E27FC236}">
                <a16:creationId xmlns:a16="http://schemas.microsoft.com/office/drawing/2014/main" id="{FADE62F0-D480-2E75-1EBD-C57ED7D3F028}"/>
              </a:ext>
            </a:extLst>
          </p:cNvPr>
          <p:cNvSpPr>
            <a:spLocks noChangeArrowheads="1"/>
          </p:cNvSpPr>
          <p:nvPr/>
        </p:nvSpPr>
        <p:spPr bwMode="gray">
          <a:xfrm>
            <a:off x="8502909" y="1911206"/>
            <a:ext cx="2879187" cy="489086"/>
          </a:xfrm>
          <a:prstGeom prst="roundRect">
            <a:avLst>
              <a:gd name="adj" fmla="val 16667"/>
            </a:avLst>
          </a:prstGeom>
          <a:solidFill>
            <a:schemeClr val="accent4"/>
          </a:solidFill>
          <a:ln w="12700" algn="ctr">
            <a:noFill/>
            <a:miter lim="800000"/>
            <a:headEnd type="none" w="sm" len="sm"/>
            <a:tailEnd type="none" w="sm" len="sm"/>
          </a:ln>
        </p:spPr>
        <p:txBody>
          <a:bodyPr lIns="35999" tIns="91438" rIns="35999" bIns="91438" anchor="ctr"/>
          <a:lstStyle/>
          <a:p>
            <a:pPr algn="ctr" eaLnBrk="0" fontAlgn="auto" hangingPunct="0">
              <a:spcBef>
                <a:spcPts val="0"/>
              </a:spcBef>
              <a:spcAft>
                <a:spcPts val="0"/>
              </a:spcAft>
              <a:defRPr/>
            </a:pPr>
            <a:r>
              <a:rPr lang="ja-JP" altLang="en-US" sz="1400" b="1" kern="0">
                <a:solidFill>
                  <a:schemeClr val="bg1"/>
                </a:solidFill>
                <a:latin typeface="+mn-lt"/>
              </a:rPr>
              <a:t>別個の履行義務とする</a:t>
            </a:r>
            <a:endParaRPr lang="en-US" altLang="ja-JP" sz="1400" b="1" kern="0">
              <a:solidFill>
                <a:schemeClr val="bg1"/>
              </a:solidFill>
              <a:latin typeface="+mn-lt"/>
            </a:endParaRPr>
          </a:p>
        </p:txBody>
      </p:sp>
      <p:sp>
        <p:nvSpPr>
          <p:cNvPr id="7" name="Rectangle 34">
            <a:extLst>
              <a:ext uri="{FF2B5EF4-FFF2-40B4-BE49-F238E27FC236}">
                <a16:creationId xmlns:a16="http://schemas.microsoft.com/office/drawing/2014/main" id="{B1C075AD-FC06-C981-DF60-817BE6E74FDB}"/>
              </a:ext>
            </a:extLst>
          </p:cNvPr>
          <p:cNvSpPr>
            <a:spLocks noChangeArrowheads="1"/>
          </p:cNvSpPr>
          <p:nvPr/>
        </p:nvSpPr>
        <p:spPr bwMode="gray">
          <a:xfrm>
            <a:off x="8524033" y="2834094"/>
            <a:ext cx="2858063" cy="594906"/>
          </a:xfrm>
          <a:prstGeom prst="roundRect">
            <a:avLst>
              <a:gd name="adj" fmla="val 7286"/>
            </a:avLst>
          </a:prstGeom>
          <a:solidFill>
            <a:schemeClr val="accent1"/>
          </a:solidFill>
          <a:ln w="12700" algn="ctr">
            <a:noFill/>
            <a:miter lim="800000"/>
            <a:headEnd type="none" w="sm" len="sm"/>
            <a:tailEnd type="none" w="sm" len="sm"/>
          </a:ln>
        </p:spPr>
        <p:txBody>
          <a:bodyPr lIns="35999" tIns="91438" rIns="35999" bIns="91438" anchor="ctr"/>
          <a:lstStyle/>
          <a:p>
            <a:pPr algn="ctr" eaLnBrk="0" fontAlgn="auto" hangingPunct="0">
              <a:spcBef>
                <a:spcPts val="0"/>
              </a:spcBef>
              <a:spcAft>
                <a:spcPts val="0"/>
              </a:spcAft>
              <a:defRPr/>
            </a:pPr>
            <a:r>
              <a:rPr lang="ja-JP" altLang="en-US" sz="1400" b="1" kern="0">
                <a:solidFill>
                  <a:schemeClr val="bg1"/>
                </a:solidFill>
                <a:latin typeface="+mn-lt"/>
              </a:rPr>
              <a:t>別個とせず履行義務を結合する</a:t>
            </a:r>
            <a:endParaRPr lang="ja-JP" altLang="nl-NL" sz="1400" kern="0">
              <a:solidFill>
                <a:schemeClr val="bg1"/>
              </a:solidFill>
              <a:latin typeface="+mn-lt"/>
            </a:endParaRPr>
          </a:p>
        </p:txBody>
      </p:sp>
      <p:sp>
        <p:nvSpPr>
          <p:cNvPr id="8" name="右矢印 25">
            <a:extLst>
              <a:ext uri="{FF2B5EF4-FFF2-40B4-BE49-F238E27FC236}">
                <a16:creationId xmlns:a16="http://schemas.microsoft.com/office/drawing/2014/main" id="{B376D41F-A583-183A-39B4-882EC219D5B7}"/>
              </a:ext>
            </a:extLst>
          </p:cNvPr>
          <p:cNvSpPr/>
          <p:nvPr/>
        </p:nvSpPr>
        <p:spPr bwMode="gray">
          <a:xfrm>
            <a:off x="7863258" y="1917962"/>
            <a:ext cx="639651" cy="484337"/>
          </a:xfrm>
          <a:prstGeom prst="rightArrow">
            <a:avLst>
              <a:gd name="adj1" fmla="val 67800"/>
              <a:gd name="adj2" fmla="val 36024"/>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lIns="38297" tIns="48637" rIns="38297" bIns="48637" rtlCol="0" anchor="ctr"/>
          <a:lstStyle/>
          <a:p>
            <a:pPr algn="ctr"/>
            <a:r>
              <a:rPr kumimoji="1" lang="en-US" altLang="ja-JP" sz="1600"/>
              <a:t>Yes</a:t>
            </a:r>
            <a:endParaRPr kumimoji="1" lang="ja-JP" altLang="en-US" sz="1600"/>
          </a:p>
        </p:txBody>
      </p:sp>
      <p:sp>
        <p:nvSpPr>
          <p:cNvPr id="9" name="右矢印 18">
            <a:extLst>
              <a:ext uri="{FF2B5EF4-FFF2-40B4-BE49-F238E27FC236}">
                <a16:creationId xmlns:a16="http://schemas.microsoft.com/office/drawing/2014/main" id="{F78E94BF-7CDC-91A4-9839-FBCDAF5BE47E}"/>
              </a:ext>
            </a:extLst>
          </p:cNvPr>
          <p:cNvSpPr/>
          <p:nvPr/>
        </p:nvSpPr>
        <p:spPr bwMode="gray">
          <a:xfrm>
            <a:off x="7874341" y="2854042"/>
            <a:ext cx="639339" cy="484337"/>
          </a:xfrm>
          <a:prstGeom prst="rightArrow">
            <a:avLst>
              <a:gd name="adj1" fmla="val 67800"/>
              <a:gd name="adj2" fmla="val 36024"/>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lIns="38297" tIns="48637" rIns="38297" bIns="48637" rtlCol="0" anchor="ctr"/>
          <a:lstStyle/>
          <a:p>
            <a:pPr algn="ctr"/>
            <a:r>
              <a:rPr kumimoji="1" lang="en-US" altLang="ja-JP" sz="1600"/>
              <a:t>No</a:t>
            </a:r>
            <a:endParaRPr kumimoji="1" lang="ja-JP" altLang="en-US" sz="1600"/>
          </a:p>
        </p:txBody>
      </p:sp>
      <p:sp>
        <p:nvSpPr>
          <p:cNvPr id="12" name="正方形/長方形 11">
            <a:extLst>
              <a:ext uri="{FF2B5EF4-FFF2-40B4-BE49-F238E27FC236}">
                <a16:creationId xmlns:a16="http://schemas.microsoft.com/office/drawing/2014/main" id="{169B29BB-F27D-20A0-3F22-158EC412E559}"/>
              </a:ext>
            </a:extLst>
          </p:cNvPr>
          <p:cNvSpPr/>
          <p:nvPr/>
        </p:nvSpPr>
        <p:spPr>
          <a:xfrm>
            <a:off x="793994" y="5412783"/>
            <a:ext cx="10592526" cy="96139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indent="0" defTabSz="914400" rtl="0" eaLnBrk="1" fontAlgn="auto" latinLnBrk="0" hangingPunct="1">
              <a:lnSpc>
                <a:spcPct val="100000"/>
              </a:lnSpc>
              <a:spcBef>
                <a:spcPts val="0"/>
              </a:spcBef>
              <a:spcAft>
                <a:spcPts val="0"/>
              </a:spcAft>
              <a:buClrTx/>
              <a:buSzTx/>
              <a:buFontTx/>
              <a:buNone/>
              <a:tabLst/>
            </a:pPr>
            <a:r>
              <a:rPr lang="ja-JP" altLang="en-US" sz="1600">
                <a:solidFill>
                  <a:schemeClr val="tx1"/>
                </a:solidFill>
                <a:latin typeface="+mn-ea"/>
              </a:rPr>
              <a:t>→上記の観点から相互依存性が認められる場合は、別個の注文書が発行されていても個別の契約として認識せず、履行義務を結合して一体として会計処理を行う必要があります（実務上は相互依存性・相互関連性が認められる場合、可能な限り</a:t>
            </a:r>
            <a:r>
              <a:rPr lang="en-US" altLang="ja-JP" sz="1600">
                <a:solidFill>
                  <a:schemeClr val="tx1"/>
                </a:solidFill>
                <a:latin typeface="+mn-ea"/>
              </a:rPr>
              <a:t>1</a:t>
            </a:r>
            <a:r>
              <a:rPr lang="ja-JP" altLang="en-US" sz="1600">
                <a:solidFill>
                  <a:schemeClr val="tx1"/>
                </a:solidFill>
                <a:latin typeface="+mn-ea"/>
              </a:rPr>
              <a:t>つの契約として契約書、注文書を入手することで、上記のような判断が不要となります）。</a:t>
            </a:r>
            <a:endParaRPr kumimoji="1" lang="ja-JP" altLang="en-US" sz="1600" b="0" i="0" u="none" strike="noStrike" kern="1200" cap="none" spc="0" normalizeH="0" baseline="0" noProof="0">
              <a:ln>
                <a:noFill/>
              </a:ln>
              <a:solidFill>
                <a:schemeClr val="tx1"/>
              </a:solidFill>
              <a:effectLst/>
              <a:uLnTx/>
              <a:uFillTx/>
              <a:latin typeface="+mn-ea"/>
              <a:cs typeface="+mn-cs"/>
            </a:endParaRPr>
          </a:p>
        </p:txBody>
      </p:sp>
    </p:spTree>
    <p:extLst>
      <p:ext uri="{BB962C8B-B14F-4D97-AF65-F5344CB8AC3E}">
        <p14:creationId xmlns:p14="http://schemas.microsoft.com/office/powerpoint/2010/main" val="36756908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7B237-365E-9553-DC39-B18945598DE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1E77468-8C7A-CD27-5559-79CA42E701FC}"/>
              </a:ext>
            </a:extLst>
          </p:cNvPr>
          <p:cNvSpPr>
            <a:spLocks noGrp="1"/>
          </p:cNvSpPr>
          <p:nvPr>
            <p:ph type="title"/>
          </p:nvPr>
        </p:nvSpPr>
        <p:spPr>
          <a:xfrm>
            <a:off x="658800" y="364193"/>
            <a:ext cx="10592527" cy="371961"/>
          </a:xfrm>
        </p:spPr>
        <p:txBody>
          <a:bodyPr>
            <a:normAutofit/>
          </a:bodyPr>
          <a:lstStyle/>
          <a:p>
            <a:r>
              <a:rPr lang="en-US" altLang="ja-JP"/>
              <a:t>Appendix.</a:t>
            </a:r>
            <a:r>
              <a:rPr lang="ja-JP" altLang="en-US"/>
              <a:t>収益認識基準ーステップ</a:t>
            </a:r>
            <a:r>
              <a:rPr lang="en-US" altLang="ja-JP"/>
              <a:t>3</a:t>
            </a:r>
            <a:endParaRPr lang="ja-JP" altLang="en-US"/>
          </a:p>
        </p:txBody>
      </p:sp>
      <p:sp>
        <p:nvSpPr>
          <p:cNvPr id="81" name="タイトル 2">
            <a:extLst>
              <a:ext uri="{FF2B5EF4-FFF2-40B4-BE49-F238E27FC236}">
                <a16:creationId xmlns:a16="http://schemas.microsoft.com/office/drawing/2014/main" id="{A9DA9194-01A1-BA44-527D-88340A0E4713}"/>
              </a:ext>
            </a:extLst>
          </p:cNvPr>
          <p:cNvSpPr txBox="1">
            <a:spLocks/>
          </p:cNvSpPr>
          <p:nvPr/>
        </p:nvSpPr>
        <p:spPr>
          <a:xfrm>
            <a:off x="459865" y="923511"/>
            <a:ext cx="6656939" cy="371961"/>
          </a:xfrm>
          <a:prstGeom prst="rect">
            <a:avLst/>
          </a:prstGeom>
        </p:spPr>
        <p:txBody>
          <a:bodyPr vert="horz" lIns="0" tIns="36000" rIns="0" bIns="0" rtlCol="0" anchor="ctr">
            <a:normAutofit fontScale="52500" lnSpcReduction="20000"/>
          </a:bodyPr>
          <a:lstStyle>
            <a:lvl1pPr algn="l" defTabSz="914400" rtl="0" eaLnBrk="1" latinLnBrk="0" hangingPunct="1">
              <a:lnSpc>
                <a:spcPct val="120000"/>
              </a:lnSpc>
              <a:spcBef>
                <a:spcPct val="0"/>
              </a:spcBef>
              <a:buNone/>
              <a:defRPr kumimoji="1" sz="2000" b="1" kern="1200" spc="110" baseline="0">
                <a:solidFill>
                  <a:srgbClr val="22237D"/>
                </a:solidFill>
                <a:latin typeface="+mj-lt"/>
                <a:ea typeface="+mj-ea"/>
                <a:cs typeface="+mj-cs"/>
              </a:defRPr>
            </a:lvl1pPr>
          </a:lstStyle>
          <a:p>
            <a:br>
              <a:rPr lang="ja-JP" altLang="en-US"/>
            </a:br>
            <a:endParaRPr lang="ja-JP" altLang="en-US"/>
          </a:p>
        </p:txBody>
      </p:sp>
      <p:sp>
        <p:nvSpPr>
          <p:cNvPr id="82" name="テキスト プレースホルダー 3">
            <a:extLst>
              <a:ext uri="{FF2B5EF4-FFF2-40B4-BE49-F238E27FC236}">
                <a16:creationId xmlns:a16="http://schemas.microsoft.com/office/drawing/2014/main" id="{AB33534F-064D-8ECE-0757-D3CFFFE5F928}"/>
              </a:ext>
            </a:extLst>
          </p:cNvPr>
          <p:cNvSpPr>
            <a:spLocks noGrp="1"/>
          </p:cNvSpPr>
          <p:nvPr>
            <p:ph type="body" sz="quarter" idx="10"/>
          </p:nvPr>
        </p:nvSpPr>
        <p:spPr>
          <a:xfrm>
            <a:off x="714735" y="923510"/>
            <a:ext cx="5469237" cy="371961"/>
          </a:xfrm>
        </p:spPr>
        <p:txBody>
          <a:bodyPr/>
          <a:lstStyle/>
          <a:p>
            <a:r>
              <a:rPr lang="ja-JP" altLang="en-US" sz="1800" b="0"/>
              <a:t>取引価格を算定します。</a:t>
            </a:r>
          </a:p>
        </p:txBody>
      </p:sp>
      <p:graphicFrame>
        <p:nvGraphicFramePr>
          <p:cNvPr id="60" name="表 59">
            <a:extLst>
              <a:ext uri="{FF2B5EF4-FFF2-40B4-BE49-F238E27FC236}">
                <a16:creationId xmlns:a16="http://schemas.microsoft.com/office/drawing/2014/main" id="{E683325B-EA74-A34F-072E-0E0D770CD8BE}"/>
              </a:ext>
            </a:extLst>
          </p:cNvPr>
          <p:cNvGraphicFramePr>
            <a:graphicFrameLocks noGrp="1"/>
          </p:cNvGraphicFramePr>
          <p:nvPr/>
        </p:nvGraphicFramePr>
        <p:xfrm>
          <a:off x="714735" y="1495087"/>
          <a:ext cx="10592527" cy="4998720"/>
        </p:xfrm>
        <a:graphic>
          <a:graphicData uri="http://schemas.openxmlformats.org/drawingml/2006/table">
            <a:tbl>
              <a:tblPr bandRow="1">
                <a:tableStyleId>{F2DE63D5-997A-4646-A377-4702673A728D}</a:tableStyleId>
              </a:tblPr>
              <a:tblGrid>
                <a:gridCol w="10592527">
                  <a:extLst>
                    <a:ext uri="{9D8B030D-6E8A-4147-A177-3AD203B41FA5}">
                      <a16:colId xmlns:a16="http://schemas.microsoft.com/office/drawing/2014/main" val="20000"/>
                    </a:ext>
                  </a:extLst>
                </a:gridCol>
              </a:tblGrid>
              <a:tr h="4796543">
                <a:tc>
                  <a:txBody>
                    <a:bodyPr/>
                    <a:lstStyle/>
                    <a:p>
                      <a:pPr marL="0" indent="0">
                        <a:spcBef>
                          <a:spcPts val="0"/>
                        </a:spcBef>
                        <a:spcAft>
                          <a:spcPts val="0"/>
                        </a:spcAft>
                        <a:buFont typeface="Wingdings" pitchFamily="2" charset="2"/>
                        <a:buNone/>
                      </a:pPr>
                      <a:r>
                        <a:rPr kumimoji="1" lang="ja-JP" altLang="en-US" sz="1800" b="1"/>
                        <a:t>＜取引価格の算定＞</a:t>
                      </a:r>
                      <a:endParaRPr kumimoji="1" lang="en-US" altLang="ja-JP" sz="1800">
                        <a:latin typeface="+mn-lt"/>
                      </a:endParaRPr>
                    </a:p>
                    <a:p>
                      <a:pPr marL="285750" indent="-285750">
                        <a:spcBef>
                          <a:spcPts val="0"/>
                        </a:spcBef>
                        <a:spcAft>
                          <a:spcPts val="0"/>
                        </a:spcAft>
                        <a:buFont typeface="Wingdings" panose="05000000000000000000" pitchFamily="2" charset="2"/>
                        <a:buChar char="n"/>
                      </a:pPr>
                      <a:r>
                        <a:rPr kumimoji="1" lang="ja-JP" altLang="en-US" sz="1800">
                          <a:latin typeface="+mn-lt"/>
                        </a:rPr>
                        <a:t>取引価格とは、財又はサービスの顧客への移転と交換に、会社が受け取る対価の額をいいます。</a:t>
                      </a:r>
                      <a:endParaRPr kumimoji="1" lang="en-US" altLang="ja-JP" sz="1800">
                        <a:latin typeface="+mn-lt"/>
                      </a:endParaRPr>
                    </a:p>
                    <a:p>
                      <a:pPr marL="285750" indent="-285750">
                        <a:spcBef>
                          <a:spcPts val="0"/>
                        </a:spcBef>
                        <a:spcAft>
                          <a:spcPts val="0"/>
                        </a:spcAft>
                        <a:buFont typeface="Wingdings" panose="05000000000000000000" pitchFamily="2" charset="2"/>
                        <a:buChar char="n"/>
                      </a:pPr>
                      <a:endParaRPr kumimoji="1" lang="ja-JP" altLang="en-US" sz="1800">
                        <a:latin typeface="+mn-lt"/>
                      </a:endParaRPr>
                    </a:p>
                    <a:p>
                      <a:pPr marL="226800" indent="-226800">
                        <a:spcBef>
                          <a:spcPts val="0"/>
                        </a:spcBef>
                        <a:spcAft>
                          <a:spcPts val="0"/>
                        </a:spcAft>
                        <a:buFont typeface="Wingdings" pitchFamily="2" charset="2"/>
                        <a:buChar char="n"/>
                      </a:pPr>
                      <a:r>
                        <a:rPr kumimoji="1" lang="ja-JP" altLang="en-US" sz="1800">
                          <a:latin typeface="+mn-lt"/>
                        </a:rPr>
                        <a:t>取引価格を算定する際には、次のすべての影響を考慮する必要があります。</a:t>
                      </a:r>
                      <a:endParaRPr kumimoji="1" lang="en-US" altLang="ja-JP" sz="1800">
                        <a:latin typeface="+mn-lt"/>
                      </a:endParaRPr>
                    </a:p>
                    <a:p>
                      <a:pPr marL="212400">
                        <a:spcBef>
                          <a:spcPts val="0"/>
                        </a:spcBef>
                        <a:spcAft>
                          <a:spcPts val="0"/>
                        </a:spcAft>
                      </a:pPr>
                      <a:r>
                        <a:rPr kumimoji="1" lang="ja-JP" altLang="en-US" sz="1800">
                          <a:latin typeface="+mn-lt"/>
                        </a:rPr>
                        <a:t>（</a:t>
                      </a:r>
                      <a:r>
                        <a:rPr kumimoji="1" lang="en-US" altLang="ja-JP" sz="1800">
                          <a:latin typeface="+mn-lt"/>
                        </a:rPr>
                        <a:t>1</a:t>
                      </a:r>
                      <a:r>
                        <a:rPr kumimoji="1" lang="ja-JP" altLang="en-US" sz="1800">
                          <a:latin typeface="+mn-lt"/>
                        </a:rPr>
                        <a:t>） 変動対価</a:t>
                      </a:r>
                      <a:endParaRPr kumimoji="1" lang="en-US" altLang="ja-JP" sz="1800">
                        <a:latin typeface="+mn-lt"/>
                      </a:endParaRPr>
                    </a:p>
                    <a:p>
                      <a:pPr marL="212400">
                        <a:spcBef>
                          <a:spcPts val="0"/>
                        </a:spcBef>
                        <a:spcAft>
                          <a:spcPts val="0"/>
                        </a:spcAft>
                      </a:pPr>
                      <a:r>
                        <a:rPr kumimoji="1" lang="ja-JP" altLang="en-US" sz="1800">
                          <a:solidFill>
                            <a:schemeClr val="tx1"/>
                          </a:solidFill>
                          <a:latin typeface="+mn-lt"/>
                        </a:rPr>
                        <a:t>→</a:t>
                      </a:r>
                      <a:r>
                        <a:rPr kumimoji="1" lang="en-US" altLang="ja-JP" sz="1800">
                          <a:solidFill>
                            <a:schemeClr val="tx1"/>
                          </a:solidFill>
                          <a:latin typeface="+mn-lt"/>
                        </a:rPr>
                        <a:t>AW</a:t>
                      </a:r>
                      <a:r>
                        <a:rPr kumimoji="1" lang="ja-JP" altLang="en-US" sz="1800">
                          <a:solidFill>
                            <a:schemeClr val="tx1"/>
                          </a:solidFill>
                          <a:latin typeface="+mn-lt"/>
                        </a:rPr>
                        <a:t>防災に関してはリベート等は行っておらず該当事項なく、論点なし。</a:t>
                      </a:r>
                      <a:br>
                        <a:rPr kumimoji="1" lang="ja-JP" altLang="en-US" sz="1800">
                          <a:solidFill>
                            <a:schemeClr val="tx1"/>
                          </a:solidFill>
                          <a:latin typeface="+mn-lt"/>
                        </a:rPr>
                      </a:br>
                      <a:r>
                        <a:rPr kumimoji="1" lang="ja-JP" altLang="en-US" sz="1800">
                          <a:solidFill>
                            <a:schemeClr val="tx1"/>
                          </a:solidFill>
                          <a:latin typeface="+mn-lt"/>
                        </a:rPr>
                        <a:t>（</a:t>
                      </a:r>
                      <a:r>
                        <a:rPr kumimoji="1" lang="en-US" altLang="ja-JP" sz="1800">
                          <a:solidFill>
                            <a:schemeClr val="tx1"/>
                          </a:solidFill>
                          <a:latin typeface="+mn-lt"/>
                        </a:rPr>
                        <a:t>2</a:t>
                      </a:r>
                      <a:r>
                        <a:rPr kumimoji="1" lang="ja-JP" altLang="en-US" sz="1800">
                          <a:solidFill>
                            <a:schemeClr val="tx1"/>
                          </a:solidFill>
                          <a:latin typeface="+mn-lt"/>
                        </a:rPr>
                        <a:t>） 契約における重要な金融要素</a:t>
                      </a:r>
                      <a:endParaRPr kumimoji="1" lang="en-US" altLang="ja-JP" sz="1800">
                        <a:solidFill>
                          <a:schemeClr val="tx1"/>
                        </a:solidFill>
                        <a:latin typeface="+mn-lt"/>
                      </a:endParaRPr>
                    </a:p>
                    <a:p>
                      <a:pPr marL="212400">
                        <a:spcBef>
                          <a:spcPts val="0"/>
                        </a:spcBef>
                        <a:spcAft>
                          <a:spcPts val="0"/>
                        </a:spcAft>
                      </a:pPr>
                      <a:r>
                        <a:rPr kumimoji="1" lang="ja-JP" altLang="en-US" sz="1800">
                          <a:solidFill>
                            <a:schemeClr val="tx1"/>
                          </a:solidFill>
                          <a:latin typeface="+mn-lt"/>
                        </a:rPr>
                        <a:t>→</a:t>
                      </a:r>
                      <a:r>
                        <a:rPr kumimoji="1" lang="en-US" altLang="ja-JP" sz="1800">
                          <a:solidFill>
                            <a:schemeClr val="tx1"/>
                          </a:solidFill>
                          <a:latin typeface="+mn-lt"/>
                        </a:rPr>
                        <a:t>AW</a:t>
                      </a:r>
                      <a:r>
                        <a:rPr kumimoji="1" lang="ja-JP" altLang="en-US" sz="1800">
                          <a:solidFill>
                            <a:schemeClr val="tx1"/>
                          </a:solidFill>
                          <a:latin typeface="+mn-lt"/>
                        </a:rPr>
                        <a:t>防災に関しては売掛金回収サイトは実績ベースでも最大でも</a:t>
                      </a:r>
                      <a:r>
                        <a:rPr kumimoji="1" lang="en-US" altLang="ja-JP" sz="1800">
                          <a:solidFill>
                            <a:schemeClr val="tx1"/>
                          </a:solidFill>
                          <a:latin typeface="+mn-lt"/>
                        </a:rPr>
                        <a:t>1</a:t>
                      </a:r>
                      <a:r>
                        <a:rPr kumimoji="1" lang="ja-JP" altLang="en-US" sz="1800">
                          <a:solidFill>
                            <a:schemeClr val="tx1"/>
                          </a:solidFill>
                          <a:latin typeface="+mn-lt"/>
                        </a:rPr>
                        <a:t>年以内であり、重要な金利要素を考慮する必要はなく論点なし。</a:t>
                      </a:r>
                      <a:br>
                        <a:rPr kumimoji="1" lang="ja-JP" altLang="en-US" sz="1800">
                          <a:solidFill>
                            <a:schemeClr val="tx1"/>
                          </a:solidFill>
                          <a:latin typeface="+mn-lt"/>
                        </a:rPr>
                      </a:br>
                      <a:r>
                        <a:rPr kumimoji="1" lang="ja-JP" altLang="en-US" sz="1800">
                          <a:solidFill>
                            <a:schemeClr val="tx1"/>
                          </a:solidFill>
                          <a:latin typeface="+mn-lt"/>
                        </a:rPr>
                        <a:t>（</a:t>
                      </a:r>
                      <a:r>
                        <a:rPr kumimoji="1" lang="en-US" altLang="ja-JP" sz="1800">
                          <a:solidFill>
                            <a:schemeClr val="tx1"/>
                          </a:solidFill>
                          <a:latin typeface="+mn-lt"/>
                        </a:rPr>
                        <a:t>3</a:t>
                      </a:r>
                      <a:r>
                        <a:rPr kumimoji="1" lang="ja-JP" altLang="en-US" sz="1800">
                          <a:solidFill>
                            <a:schemeClr val="tx1"/>
                          </a:solidFill>
                          <a:latin typeface="+mn-lt"/>
                        </a:rPr>
                        <a:t>） 現金以外の対価</a:t>
                      </a:r>
                      <a:endParaRPr kumimoji="1" lang="en-US" altLang="ja-JP" sz="1800">
                        <a:solidFill>
                          <a:schemeClr val="tx1"/>
                        </a:solidFill>
                        <a:latin typeface="+mn-lt"/>
                      </a:endParaRPr>
                    </a:p>
                    <a:p>
                      <a:pPr marL="212400">
                        <a:spcBef>
                          <a:spcPts val="0"/>
                        </a:spcBef>
                        <a:spcAft>
                          <a:spcPts val="0"/>
                        </a:spcAft>
                      </a:pPr>
                      <a:r>
                        <a:rPr kumimoji="1" lang="ja-JP" altLang="en-US" sz="1800">
                          <a:solidFill>
                            <a:schemeClr val="tx1"/>
                          </a:solidFill>
                          <a:latin typeface="+mn-lt"/>
                        </a:rPr>
                        <a:t>→</a:t>
                      </a:r>
                      <a:r>
                        <a:rPr kumimoji="1" lang="en-US" altLang="ja-JP" sz="1800">
                          <a:solidFill>
                            <a:schemeClr val="tx1"/>
                          </a:solidFill>
                          <a:latin typeface="+mn-lt"/>
                        </a:rPr>
                        <a:t>AW</a:t>
                      </a:r>
                      <a:r>
                        <a:rPr kumimoji="1" lang="ja-JP" altLang="en-US" sz="1800">
                          <a:solidFill>
                            <a:schemeClr val="tx1"/>
                          </a:solidFill>
                          <a:latin typeface="+mn-lt"/>
                        </a:rPr>
                        <a:t>防災に関しては、株式やその他物品を受取対価しておらず（契約条件にそのような記載はなく）、論点なし。</a:t>
                      </a:r>
                      <a:br>
                        <a:rPr kumimoji="1" lang="en-US" altLang="ja-JP" sz="1800">
                          <a:solidFill>
                            <a:schemeClr val="tx1"/>
                          </a:solidFill>
                          <a:latin typeface="+mn-lt"/>
                        </a:rPr>
                      </a:br>
                      <a:r>
                        <a:rPr kumimoji="1" lang="ja-JP" altLang="en-US" sz="1800">
                          <a:solidFill>
                            <a:schemeClr val="tx1"/>
                          </a:solidFill>
                          <a:latin typeface="+mn-lt"/>
                        </a:rPr>
                        <a:t>（</a:t>
                      </a:r>
                      <a:r>
                        <a:rPr kumimoji="1" lang="en-US" altLang="ja-JP" sz="1800">
                          <a:solidFill>
                            <a:schemeClr val="tx1"/>
                          </a:solidFill>
                          <a:latin typeface="+mn-lt"/>
                        </a:rPr>
                        <a:t>4</a:t>
                      </a:r>
                      <a:r>
                        <a:rPr kumimoji="1" lang="ja-JP" altLang="en-US" sz="1800">
                          <a:solidFill>
                            <a:schemeClr val="tx1"/>
                          </a:solidFill>
                          <a:latin typeface="+mn-lt"/>
                        </a:rPr>
                        <a:t>） 顧客に支払われる対価</a:t>
                      </a:r>
                      <a:endParaRPr kumimoji="1" lang="en-US" altLang="ja-JP" sz="1800">
                        <a:solidFill>
                          <a:schemeClr val="tx1"/>
                        </a:solidFill>
                        <a:latin typeface="+mn-lt"/>
                      </a:endParaRPr>
                    </a:p>
                    <a:p>
                      <a:pPr marL="212400">
                        <a:spcBef>
                          <a:spcPts val="0"/>
                        </a:spcBef>
                        <a:spcAft>
                          <a:spcPts val="0"/>
                        </a:spcAft>
                      </a:pPr>
                      <a:r>
                        <a:rPr kumimoji="1" lang="ja-JP" altLang="en-US" sz="1800">
                          <a:solidFill>
                            <a:schemeClr val="tx1"/>
                          </a:solidFill>
                          <a:latin typeface="+mn-lt"/>
                        </a:rPr>
                        <a:t>→</a:t>
                      </a:r>
                      <a:r>
                        <a:rPr kumimoji="1" lang="en-US" altLang="ja-JP" sz="1800">
                          <a:solidFill>
                            <a:schemeClr val="tx1"/>
                          </a:solidFill>
                          <a:latin typeface="+mn-lt"/>
                        </a:rPr>
                        <a:t>AW</a:t>
                      </a:r>
                      <a:r>
                        <a:rPr kumimoji="1" lang="ja-JP" altLang="en-US" sz="1800">
                          <a:solidFill>
                            <a:schemeClr val="tx1"/>
                          </a:solidFill>
                          <a:latin typeface="+mn-lt"/>
                        </a:rPr>
                        <a:t>防災に関しては</a:t>
                      </a:r>
                      <a:r>
                        <a:rPr kumimoji="1" lang="en-US" altLang="ja-JP" sz="1800">
                          <a:solidFill>
                            <a:schemeClr val="tx1"/>
                          </a:solidFill>
                          <a:latin typeface="+mn-lt"/>
                        </a:rPr>
                        <a:t>BtoB</a:t>
                      </a:r>
                      <a:r>
                        <a:rPr kumimoji="1" lang="ja-JP" altLang="en-US" sz="1800">
                          <a:solidFill>
                            <a:schemeClr val="tx1"/>
                          </a:solidFill>
                          <a:latin typeface="+mn-lt"/>
                        </a:rPr>
                        <a:t>のビジネスモデルであるため、バウチャーやクーポン等は顧客に対して発行しておらず、論点なし。</a:t>
                      </a:r>
                      <a:endParaRPr kumimoji="1" lang="en-US" altLang="ja-JP" sz="1800">
                        <a:solidFill>
                          <a:schemeClr val="tx1"/>
                        </a:solidFill>
                        <a:latin typeface="+mn-lt"/>
                      </a:endParaRPr>
                    </a:p>
                    <a:p>
                      <a:pPr marL="285750" marR="0" lvl="0" indent="-285750" algn="l" defTabSz="990564"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1" lang="en-US" altLang="ja-JP" sz="1800">
                          <a:solidFill>
                            <a:schemeClr val="tx1"/>
                          </a:solidFill>
                          <a:latin typeface="+mn-lt"/>
                        </a:rPr>
                        <a:t>AW</a:t>
                      </a:r>
                      <a:r>
                        <a:rPr kumimoji="1" lang="ja-JP" altLang="en-US" sz="1800">
                          <a:solidFill>
                            <a:schemeClr val="tx1"/>
                          </a:solidFill>
                          <a:latin typeface="+mn-lt"/>
                        </a:rPr>
                        <a:t>防災においては、現状で変動対価などは</a:t>
                      </a:r>
                      <a:r>
                        <a:rPr kumimoji="1" lang="ja-JP" altLang="en-US" sz="1800">
                          <a:solidFill>
                            <a:srgbClr val="FF0000"/>
                          </a:solidFill>
                          <a:latin typeface="+mn-lt"/>
                        </a:rPr>
                        <a:t>特段論点はありません</a:t>
                      </a:r>
                      <a:r>
                        <a:rPr kumimoji="1" lang="ja-JP" altLang="en-US" sz="1800">
                          <a:solidFill>
                            <a:schemeClr val="tx1"/>
                          </a:solidFill>
                          <a:latin typeface="+mn-lt"/>
                        </a:rPr>
                        <a:t>。基本的に</a:t>
                      </a:r>
                      <a:r>
                        <a:rPr kumimoji="1" lang="en-US" altLang="ja-JP" sz="1800">
                          <a:solidFill>
                            <a:schemeClr val="tx1"/>
                          </a:solidFill>
                          <a:latin typeface="+mn-lt"/>
                        </a:rPr>
                        <a:t>STEP1</a:t>
                      </a:r>
                      <a:r>
                        <a:rPr kumimoji="1" lang="ja-JP" altLang="en-US" sz="1800">
                          <a:solidFill>
                            <a:schemeClr val="tx1"/>
                          </a:solidFill>
                          <a:latin typeface="+mn-lt"/>
                        </a:rPr>
                        <a:t>で識別された契約における</a:t>
                      </a:r>
                      <a:r>
                        <a:rPr kumimoji="1" lang="ja-JP" altLang="en-US" sz="1800">
                          <a:solidFill>
                            <a:srgbClr val="FF0000"/>
                          </a:solidFill>
                          <a:latin typeface="+mn-lt"/>
                        </a:rPr>
                        <a:t>注文書の合算（契約書の金額）をそのまま取引価格として処理</a:t>
                      </a:r>
                      <a:r>
                        <a:rPr kumimoji="1" lang="ja-JP" altLang="en-US" sz="1800">
                          <a:solidFill>
                            <a:srgbClr val="262626"/>
                          </a:solidFill>
                          <a:latin typeface="+mn-lt"/>
                        </a:rPr>
                        <a:t>します</a:t>
                      </a:r>
                      <a:r>
                        <a:rPr kumimoji="1" lang="ja-JP" altLang="en-US" sz="1800">
                          <a:solidFill>
                            <a:schemeClr val="tx1"/>
                          </a:solidFill>
                          <a:latin typeface="+mn-lt"/>
                        </a:rPr>
                        <a:t>。</a:t>
                      </a:r>
                      <a:endParaRPr kumimoji="1" lang="en-US" altLang="ja-JP" sz="1800">
                        <a:solidFill>
                          <a:schemeClr val="tx1"/>
                        </a:solidFill>
                        <a:latin typeface="+mn-lt"/>
                      </a:endParaRPr>
                    </a:p>
                    <a:p>
                      <a:pPr marL="0" marR="0" lvl="0" indent="0" algn="l" defTabSz="990564"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1600">
                        <a:solidFill>
                          <a:srgbClr val="FF0000"/>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3016796"/>
                  </a:ext>
                </a:extLst>
              </a:tr>
            </a:tbl>
          </a:graphicData>
        </a:graphic>
      </p:graphicFrame>
    </p:spTree>
    <p:extLst>
      <p:ext uri="{BB962C8B-B14F-4D97-AF65-F5344CB8AC3E}">
        <p14:creationId xmlns:p14="http://schemas.microsoft.com/office/powerpoint/2010/main" val="22245637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6E349-8944-1DA8-D448-CDC21D93ABF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05D767E-A428-A0EC-95A8-44B5947E27CE}"/>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4</a:t>
            </a:r>
            <a:endParaRPr lang="ja-JP" altLang="en-US"/>
          </a:p>
        </p:txBody>
      </p:sp>
      <p:sp>
        <p:nvSpPr>
          <p:cNvPr id="12" name="テキスト ボックス 11">
            <a:extLst>
              <a:ext uri="{FF2B5EF4-FFF2-40B4-BE49-F238E27FC236}">
                <a16:creationId xmlns:a16="http://schemas.microsoft.com/office/drawing/2014/main" id="{EEDBE84D-667C-ADBB-D8C2-D4F008355CA4}"/>
              </a:ext>
            </a:extLst>
          </p:cNvPr>
          <p:cNvSpPr txBox="1"/>
          <p:nvPr/>
        </p:nvSpPr>
        <p:spPr bwMode="gray">
          <a:xfrm>
            <a:off x="7490630" y="4866982"/>
            <a:ext cx="1438943" cy="272382"/>
          </a:xfrm>
          <a:prstGeom prst="rect">
            <a:avLst/>
          </a:prstGeom>
          <a:solidFill>
            <a:schemeClr val="bg1"/>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en-US" altLang="ja-JP">
                <a:solidFill>
                  <a:schemeClr val="tx1"/>
                </a:solidFill>
              </a:rPr>
              <a:t>72</a:t>
            </a:r>
            <a:r>
              <a:rPr kumimoji="1" lang="en-US" altLang="ja-JP">
                <a:solidFill>
                  <a:schemeClr val="tx1"/>
                </a:solidFill>
              </a:rPr>
              <a:t>,</a:t>
            </a:r>
            <a:r>
              <a:rPr lang="en-US" altLang="ja-JP">
                <a:solidFill>
                  <a:schemeClr val="tx1"/>
                </a:solidFill>
              </a:rPr>
              <a:t>0</a:t>
            </a:r>
            <a:r>
              <a:rPr kumimoji="1" lang="en-US" altLang="ja-JP">
                <a:solidFill>
                  <a:schemeClr val="tx1"/>
                </a:solidFill>
              </a:rPr>
              <a:t>00</a:t>
            </a:r>
            <a:r>
              <a:rPr kumimoji="1" lang="ja-JP" altLang="en-US">
                <a:solidFill>
                  <a:schemeClr val="tx1"/>
                </a:solidFill>
              </a:rPr>
              <a:t>円</a:t>
            </a:r>
          </a:p>
        </p:txBody>
      </p:sp>
      <p:sp>
        <p:nvSpPr>
          <p:cNvPr id="20" name="角丸四角形 43">
            <a:extLst>
              <a:ext uri="{FF2B5EF4-FFF2-40B4-BE49-F238E27FC236}">
                <a16:creationId xmlns:a16="http://schemas.microsoft.com/office/drawing/2014/main" id="{F04E7ACB-5E15-EF03-7643-DD6480BF8FAC}"/>
              </a:ext>
            </a:extLst>
          </p:cNvPr>
          <p:cNvSpPr/>
          <p:nvPr/>
        </p:nvSpPr>
        <p:spPr bwMode="gray">
          <a:xfrm>
            <a:off x="7361105" y="4081263"/>
            <a:ext cx="1765244" cy="724802"/>
          </a:xfrm>
          <a:prstGeom prst="roundRect">
            <a:avLst/>
          </a:prstGeom>
          <a:solidFill>
            <a:schemeClr val="bg2"/>
          </a:solidFill>
          <a:ln w="12700" algn="ctr">
            <a:noFill/>
            <a:miter lim="800000"/>
            <a:headEnd/>
            <a:tailEnd/>
          </a:ln>
        </p:spPr>
        <p:txBody>
          <a:bodyPr wrap="square" lIns="36000" tIns="36000" rIns="36000" bIns="36000" rtlCol="0" anchor="t"/>
          <a:lstStyle/>
          <a:p>
            <a:pPr algn="ctr"/>
            <a:r>
              <a:rPr kumimoji="1" lang="ja-JP" altLang="en-US" sz="1800">
                <a:latin typeface="+mn-lt"/>
              </a:rPr>
              <a:t>履行義務①</a:t>
            </a:r>
          </a:p>
        </p:txBody>
      </p:sp>
      <p:sp>
        <p:nvSpPr>
          <p:cNvPr id="21" name="角丸四角形 46">
            <a:extLst>
              <a:ext uri="{FF2B5EF4-FFF2-40B4-BE49-F238E27FC236}">
                <a16:creationId xmlns:a16="http://schemas.microsoft.com/office/drawing/2014/main" id="{8630BFA7-5ECF-243A-BE3B-648684B669C2}"/>
              </a:ext>
            </a:extLst>
          </p:cNvPr>
          <p:cNvSpPr/>
          <p:nvPr/>
        </p:nvSpPr>
        <p:spPr bwMode="gray">
          <a:xfrm>
            <a:off x="9279265" y="4073782"/>
            <a:ext cx="1765244" cy="724802"/>
          </a:xfrm>
          <a:prstGeom prst="roundRect">
            <a:avLst/>
          </a:prstGeom>
          <a:solidFill>
            <a:schemeClr val="bg2"/>
          </a:solidFill>
          <a:ln w="12700" algn="ctr">
            <a:noFill/>
            <a:miter lim="800000"/>
            <a:headEnd/>
            <a:tailEnd/>
          </a:ln>
        </p:spPr>
        <p:txBody>
          <a:bodyPr wrap="square" lIns="36000" tIns="36000" rIns="36000" bIns="36000" rtlCol="0" anchor="t"/>
          <a:lstStyle/>
          <a:p>
            <a:pPr algn="ctr"/>
            <a:r>
              <a:rPr kumimoji="1" lang="ja-JP" altLang="en-US" sz="1800">
                <a:latin typeface="+mn-lt"/>
              </a:rPr>
              <a:t>履行義務②</a:t>
            </a:r>
          </a:p>
        </p:txBody>
      </p:sp>
      <p:sp>
        <p:nvSpPr>
          <p:cNvPr id="27" name="Text Box 476">
            <a:extLst>
              <a:ext uri="{FF2B5EF4-FFF2-40B4-BE49-F238E27FC236}">
                <a16:creationId xmlns:a16="http://schemas.microsoft.com/office/drawing/2014/main" id="{E11B2082-DF5A-92DF-4E88-19D0A40B1677}"/>
              </a:ext>
            </a:extLst>
          </p:cNvPr>
          <p:cNvSpPr>
            <a:spLocks noChangeArrowheads="1"/>
          </p:cNvSpPr>
          <p:nvPr/>
        </p:nvSpPr>
        <p:spPr bwMode="gray">
          <a:xfrm>
            <a:off x="7389326" y="5663784"/>
            <a:ext cx="4076839" cy="546039"/>
          </a:xfrm>
          <a:prstGeom prst="roundRect">
            <a:avLst/>
          </a:prstGeom>
          <a:solidFill>
            <a:schemeClr val="bg1"/>
          </a:solidFill>
          <a:ln w="12700" algn="ctr">
            <a:solidFill>
              <a:srgbClr val="B4B4B4"/>
            </a:solidFill>
            <a:miter lim="800000"/>
            <a:headEnd type="none" w="sm" len="sm"/>
            <a:tailEnd type="none" w="sm" len="sm"/>
          </a:ln>
        </p:spPr>
        <p:txBody>
          <a:bodyPr lIns="35999" tIns="0" rIns="35999" bIns="0" anchor="ctr"/>
          <a:lstStyle/>
          <a:p>
            <a:pPr algn="ctr">
              <a:spcBef>
                <a:spcPts val="0"/>
              </a:spcBef>
            </a:pPr>
            <a:r>
              <a:rPr lang="ja-JP" altLang="en-US" sz="1600" b="1">
                <a:solidFill>
                  <a:srgbClr val="FF0000"/>
                </a:solidFill>
                <a:latin typeface="+mn-lt"/>
              </a:rPr>
              <a:t>独立販売価格の比率で</a:t>
            </a:r>
            <a:endParaRPr lang="en-US" altLang="ja-JP" sz="1600" b="1">
              <a:solidFill>
                <a:srgbClr val="FF0000"/>
              </a:solidFill>
              <a:latin typeface="+mn-lt"/>
            </a:endParaRPr>
          </a:p>
          <a:p>
            <a:pPr algn="ctr">
              <a:spcBef>
                <a:spcPts val="0"/>
              </a:spcBef>
            </a:pPr>
            <a:r>
              <a:rPr lang="ja-JP" altLang="en-US" sz="1600" b="1">
                <a:solidFill>
                  <a:srgbClr val="FF0000"/>
                </a:solidFill>
              </a:rPr>
              <a:t>セット価格</a:t>
            </a:r>
            <a:r>
              <a:rPr lang="en-US" altLang="ja-JP" sz="1600" b="1">
                <a:solidFill>
                  <a:srgbClr val="FF0000"/>
                </a:solidFill>
              </a:rPr>
              <a:t>90,000</a:t>
            </a:r>
            <a:r>
              <a:rPr lang="ja-JP" altLang="en-US" sz="1600" b="1">
                <a:solidFill>
                  <a:srgbClr val="FF0000"/>
                </a:solidFill>
              </a:rPr>
              <a:t>円を</a:t>
            </a:r>
            <a:r>
              <a:rPr lang="ja-JP" altLang="en-US" sz="1600" b="1">
                <a:solidFill>
                  <a:srgbClr val="FF0000"/>
                </a:solidFill>
                <a:latin typeface="+mn-lt"/>
              </a:rPr>
              <a:t>按分</a:t>
            </a:r>
          </a:p>
        </p:txBody>
      </p:sp>
      <p:sp>
        <p:nvSpPr>
          <p:cNvPr id="31" name="正方形/長方形 30">
            <a:extLst>
              <a:ext uri="{FF2B5EF4-FFF2-40B4-BE49-F238E27FC236}">
                <a16:creationId xmlns:a16="http://schemas.microsoft.com/office/drawing/2014/main" id="{36E0E243-B3FF-0506-2168-AB9F20AF7C8D}"/>
              </a:ext>
            </a:extLst>
          </p:cNvPr>
          <p:cNvSpPr/>
          <p:nvPr/>
        </p:nvSpPr>
        <p:spPr bwMode="gray">
          <a:xfrm>
            <a:off x="9303280" y="4463342"/>
            <a:ext cx="1732537" cy="288234"/>
          </a:xfrm>
          <a:prstGeom prst="rect">
            <a:avLst/>
          </a:prstGeom>
          <a:solidFill>
            <a:schemeClr val="accent1"/>
          </a:solidFill>
          <a:ln w="12700" algn="ctr">
            <a:solidFill>
              <a:schemeClr val="bg1"/>
            </a:solidFill>
            <a:miter lim="800000"/>
            <a:headEnd/>
            <a:tailEnd/>
          </a:ln>
        </p:spPr>
        <p:txBody>
          <a:bodyPr wrap="square" lIns="36000" tIns="36000" rIns="36000" bIns="36000" rtlCol="0" anchor="ctr"/>
          <a:lstStyle/>
          <a:p>
            <a:pPr lvl="0" algn="ctr"/>
            <a:r>
              <a:rPr kumimoji="1" lang="ja-JP" altLang="en-US" sz="1600">
                <a:solidFill>
                  <a:schemeClr val="bg1"/>
                </a:solidFill>
                <a:latin typeface="+mn-lt"/>
              </a:rPr>
              <a:t>保証サービス</a:t>
            </a:r>
          </a:p>
        </p:txBody>
      </p:sp>
      <p:sp>
        <p:nvSpPr>
          <p:cNvPr id="47" name="テキスト ボックス 46">
            <a:extLst>
              <a:ext uri="{FF2B5EF4-FFF2-40B4-BE49-F238E27FC236}">
                <a16:creationId xmlns:a16="http://schemas.microsoft.com/office/drawing/2014/main" id="{CCBE1C22-0182-6521-99D1-ED41228507B8}"/>
              </a:ext>
            </a:extLst>
          </p:cNvPr>
          <p:cNvSpPr txBox="1"/>
          <p:nvPr/>
        </p:nvSpPr>
        <p:spPr bwMode="gray">
          <a:xfrm>
            <a:off x="9451027" y="4841551"/>
            <a:ext cx="1438943" cy="272382"/>
          </a:xfrm>
          <a:prstGeom prst="rect">
            <a:avLst/>
          </a:prstGeom>
          <a:solidFill>
            <a:schemeClr val="bg1"/>
          </a:solidFill>
          <a:ln>
            <a:solidFill>
              <a:srgbClr val="FFFFFF"/>
            </a:solid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lang="en-US" altLang="ja-JP">
                <a:solidFill>
                  <a:schemeClr val="tx1"/>
                </a:solidFill>
              </a:rPr>
              <a:t>18</a:t>
            </a:r>
            <a:r>
              <a:rPr kumimoji="1" lang="en-US" altLang="ja-JP">
                <a:solidFill>
                  <a:schemeClr val="tx1"/>
                </a:solidFill>
              </a:rPr>
              <a:t>,</a:t>
            </a:r>
            <a:r>
              <a:rPr lang="en-US" altLang="ja-JP">
                <a:solidFill>
                  <a:schemeClr val="tx1"/>
                </a:solidFill>
              </a:rPr>
              <a:t>0</a:t>
            </a:r>
            <a:r>
              <a:rPr kumimoji="1" lang="en-US" altLang="ja-JP">
                <a:solidFill>
                  <a:schemeClr val="tx1"/>
                </a:solidFill>
              </a:rPr>
              <a:t>00</a:t>
            </a:r>
            <a:r>
              <a:rPr kumimoji="1" lang="ja-JP" altLang="en-US">
                <a:solidFill>
                  <a:schemeClr val="tx1"/>
                </a:solidFill>
              </a:rPr>
              <a:t>円</a:t>
            </a:r>
          </a:p>
        </p:txBody>
      </p:sp>
      <p:grpSp>
        <p:nvGrpSpPr>
          <p:cNvPr id="54" name="グループ化 53">
            <a:extLst>
              <a:ext uri="{FF2B5EF4-FFF2-40B4-BE49-F238E27FC236}">
                <a16:creationId xmlns:a16="http://schemas.microsoft.com/office/drawing/2014/main" id="{935F1893-D33B-A543-601D-45F9A8AA65C0}"/>
              </a:ext>
            </a:extLst>
          </p:cNvPr>
          <p:cNvGrpSpPr/>
          <p:nvPr/>
        </p:nvGrpSpPr>
        <p:grpSpPr>
          <a:xfrm>
            <a:off x="6822604" y="1327073"/>
            <a:ext cx="4643562" cy="1572408"/>
            <a:chOff x="6641986" y="870884"/>
            <a:chExt cx="4643562" cy="1572408"/>
          </a:xfrm>
        </p:grpSpPr>
        <p:grpSp>
          <p:nvGrpSpPr>
            <p:cNvPr id="32" name="グループ化 31">
              <a:extLst>
                <a:ext uri="{FF2B5EF4-FFF2-40B4-BE49-F238E27FC236}">
                  <a16:creationId xmlns:a16="http://schemas.microsoft.com/office/drawing/2014/main" id="{FECB1970-5684-318F-BCFF-690C240AA4C1}"/>
                </a:ext>
              </a:extLst>
            </p:cNvPr>
            <p:cNvGrpSpPr/>
            <p:nvPr/>
          </p:nvGrpSpPr>
          <p:grpSpPr>
            <a:xfrm>
              <a:off x="6641986" y="870884"/>
              <a:ext cx="4643562" cy="1572408"/>
              <a:chOff x="6131971" y="2535503"/>
              <a:chExt cx="2392881" cy="1033248"/>
            </a:xfrm>
          </p:grpSpPr>
          <p:sp>
            <p:nvSpPr>
              <p:cNvPr id="33" name="角丸四角形 33">
                <a:extLst>
                  <a:ext uri="{FF2B5EF4-FFF2-40B4-BE49-F238E27FC236}">
                    <a16:creationId xmlns:a16="http://schemas.microsoft.com/office/drawing/2014/main" id="{BC1FF00D-242C-A4DA-313F-081552DD62D9}"/>
                  </a:ext>
                </a:extLst>
              </p:cNvPr>
              <p:cNvSpPr/>
              <p:nvPr/>
            </p:nvSpPr>
            <p:spPr bwMode="gray">
              <a:xfrm>
                <a:off x="6131971" y="2535503"/>
                <a:ext cx="2392881" cy="1033248"/>
              </a:xfrm>
              <a:prstGeom prst="roundRect">
                <a:avLst/>
              </a:prstGeom>
              <a:solidFill>
                <a:schemeClr val="bg1"/>
              </a:solid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84404" tIns="42202" rIns="84404" bIns="42202" rtlCol="0" anchor="ctr"/>
              <a:lstStyle/>
              <a:p>
                <a:pPr algn="ctr"/>
                <a:endParaRPr kumimoji="1" lang="ja-JP" altLang="en-US" sz="1477"/>
              </a:p>
            </p:txBody>
          </p:sp>
          <p:cxnSp>
            <p:nvCxnSpPr>
              <p:cNvPr id="34" name="直線矢印コネクタ 70">
                <a:extLst>
                  <a:ext uri="{FF2B5EF4-FFF2-40B4-BE49-F238E27FC236}">
                    <a16:creationId xmlns:a16="http://schemas.microsoft.com/office/drawing/2014/main" id="{C061C56A-4A88-AFA7-E327-16357CA02D7E}"/>
                  </a:ext>
                </a:extLst>
              </p:cNvPr>
              <p:cNvCxnSpPr>
                <a:cxnSpLocks noChangeShapeType="1"/>
              </p:cNvCxnSpPr>
              <p:nvPr/>
            </p:nvCxnSpPr>
            <p:spPr bwMode="gray">
              <a:xfrm>
                <a:off x="6850942" y="2973611"/>
                <a:ext cx="928239" cy="1466"/>
              </a:xfrm>
              <a:prstGeom prst="straightConnector1">
                <a:avLst/>
              </a:prstGeom>
              <a:noFill/>
              <a:ln w="25400" algn="ctr">
                <a:solidFill>
                  <a:schemeClr val="tx2"/>
                </a:solidFill>
                <a:round/>
                <a:headEnd type="arrow" w="med" len="med"/>
                <a:tailEnd type="none" w="med" len="med"/>
              </a:ln>
            </p:spPr>
          </p:cxnSp>
          <p:cxnSp>
            <p:nvCxnSpPr>
              <p:cNvPr id="35" name="直線矢印コネクタ 98">
                <a:extLst>
                  <a:ext uri="{FF2B5EF4-FFF2-40B4-BE49-F238E27FC236}">
                    <a16:creationId xmlns:a16="http://schemas.microsoft.com/office/drawing/2014/main" id="{4A2B298E-123C-D7BC-BA0C-3B3C8C9FA73E}"/>
                  </a:ext>
                </a:extLst>
              </p:cNvPr>
              <p:cNvCxnSpPr>
                <a:cxnSpLocks noChangeShapeType="1"/>
              </p:cNvCxnSpPr>
              <p:nvPr/>
            </p:nvCxnSpPr>
            <p:spPr bwMode="gray">
              <a:xfrm>
                <a:off x="6850942" y="3104373"/>
                <a:ext cx="928239" cy="1466"/>
              </a:xfrm>
              <a:prstGeom prst="straightConnector1">
                <a:avLst/>
              </a:prstGeom>
              <a:noFill/>
              <a:ln w="25400" algn="ctr">
                <a:solidFill>
                  <a:schemeClr val="tx2"/>
                </a:solidFill>
                <a:round/>
                <a:headEnd/>
                <a:tailEnd type="arrow" w="med" len="med"/>
              </a:ln>
            </p:spPr>
          </p:cxnSp>
          <p:sp>
            <p:nvSpPr>
              <p:cNvPr id="36" name="Rectangle 34">
                <a:extLst>
                  <a:ext uri="{FF2B5EF4-FFF2-40B4-BE49-F238E27FC236}">
                    <a16:creationId xmlns:a16="http://schemas.microsoft.com/office/drawing/2014/main" id="{25465AC6-DD8A-C6B6-4639-1938F22CBA19}"/>
                  </a:ext>
                </a:extLst>
              </p:cNvPr>
              <p:cNvSpPr>
                <a:spLocks noChangeArrowheads="1"/>
              </p:cNvSpPr>
              <p:nvPr/>
            </p:nvSpPr>
            <p:spPr bwMode="gray">
              <a:xfrm>
                <a:off x="6170205" y="3178800"/>
                <a:ext cx="655854" cy="254464"/>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t>家電販売店</a:t>
                </a:r>
                <a:endParaRPr lang="ja-JP" altLang="nl-NL" sz="1400" kern="0">
                  <a:latin typeface="+mn-lt"/>
                </a:endParaRPr>
              </a:p>
            </p:txBody>
          </p:sp>
          <p:sp>
            <p:nvSpPr>
              <p:cNvPr id="39" name="Rectangle 34">
                <a:extLst>
                  <a:ext uri="{FF2B5EF4-FFF2-40B4-BE49-F238E27FC236}">
                    <a16:creationId xmlns:a16="http://schemas.microsoft.com/office/drawing/2014/main" id="{CBA85DFB-5BB2-83B8-801E-7D0FBE742ED6}"/>
                  </a:ext>
                </a:extLst>
              </p:cNvPr>
              <p:cNvSpPr>
                <a:spLocks noChangeArrowheads="1"/>
              </p:cNvSpPr>
              <p:nvPr/>
            </p:nvSpPr>
            <p:spPr bwMode="gray">
              <a:xfrm>
                <a:off x="7850461" y="3209881"/>
                <a:ext cx="577362" cy="229012"/>
              </a:xfrm>
              <a:prstGeom prst="roundRect">
                <a:avLst>
                  <a:gd name="adj" fmla="val 16667"/>
                </a:avLst>
              </a:prstGeom>
              <a:solidFill>
                <a:srgbClr val="FFFFFF"/>
              </a:solidFill>
              <a:ln w="19050" algn="ctr">
                <a:solidFill>
                  <a:schemeClr val="accent5"/>
                </a:solidFill>
                <a:miter lim="800000"/>
                <a:headEnd type="none" w="sm" len="sm"/>
                <a:tailEnd type="none" w="sm" len="sm"/>
              </a:ln>
            </p:spPr>
            <p:txBody>
              <a:bodyPr lIns="84404" tIns="84404" rIns="84404" bIns="84404" anchor="ctr"/>
              <a:lstStyle/>
              <a:p>
                <a:pPr algn="ctr" eaLnBrk="0" fontAlgn="auto" hangingPunct="0">
                  <a:spcBef>
                    <a:spcPts val="0"/>
                  </a:spcBef>
                  <a:spcAft>
                    <a:spcPts val="0"/>
                  </a:spcAft>
                  <a:defRPr/>
                </a:pPr>
                <a:r>
                  <a:rPr lang="ja-JP" altLang="en-US" sz="1400" kern="0">
                    <a:latin typeface="+mn-lt"/>
                  </a:rPr>
                  <a:t>顧客</a:t>
                </a:r>
                <a:endParaRPr lang="ja-JP" altLang="nl-NL" sz="1400" kern="0">
                  <a:latin typeface="+mn-lt"/>
                </a:endParaRPr>
              </a:p>
            </p:txBody>
          </p:sp>
          <p:sp>
            <p:nvSpPr>
              <p:cNvPr id="40" name="テキスト ボックス 39">
                <a:extLst>
                  <a:ext uri="{FF2B5EF4-FFF2-40B4-BE49-F238E27FC236}">
                    <a16:creationId xmlns:a16="http://schemas.microsoft.com/office/drawing/2014/main" id="{A48358D8-F736-7B2F-083F-B076CDE68DA0}"/>
                  </a:ext>
                </a:extLst>
              </p:cNvPr>
              <p:cNvSpPr txBox="1"/>
              <p:nvPr/>
            </p:nvSpPr>
            <p:spPr bwMode="gray">
              <a:xfrm>
                <a:off x="6684504" y="2644062"/>
                <a:ext cx="1163572" cy="297888"/>
              </a:xfrm>
              <a:prstGeom prst="rect">
                <a:avLst/>
              </a:prstGeom>
              <a:noFill/>
            </p:spPr>
            <p:txBody>
              <a:bodyPr wrap="square" lIns="0" tIns="0" rIns="0" bIns="0" rtlCol="0">
                <a:spAutoFit/>
              </a:bodyPr>
              <a:lstStyle/>
              <a:p>
                <a:pPr algn="ctr"/>
                <a:r>
                  <a:rPr kumimoji="1" lang="ja-JP" altLang="en-US" sz="1100" b="1">
                    <a:latin typeface="+mn-lt"/>
                    <a:cs typeface="Arial" panose="020B0604020202020204" pitchFamily="34" charset="0"/>
                  </a:rPr>
                  <a:t>保証サービスセットの特別価格</a:t>
                </a:r>
                <a:endParaRPr kumimoji="1" lang="en-US" altLang="ja-JP" sz="1100" b="1">
                  <a:latin typeface="+mn-lt"/>
                  <a:cs typeface="Arial" panose="020B0604020202020204" pitchFamily="34" charset="0"/>
                </a:endParaRPr>
              </a:p>
              <a:p>
                <a:pPr algn="ctr"/>
                <a:r>
                  <a:rPr kumimoji="1" lang="en-US" altLang="ja-JP" sz="1846" b="1">
                    <a:latin typeface="+mn-lt"/>
                    <a:cs typeface="Arial" panose="020B0604020202020204" pitchFamily="34" charset="0"/>
                  </a:rPr>
                  <a:t>\</a:t>
                </a:r>
                <a:r>
                  <a:rPr lang="en-US" altLang="ja-JP" sz="1846" b="1">
                    <a:cs typeface="Arial" panose="020B0604020202020204" pitchFamily="34" charset="0"/>
                  </a:rPr>
                  <a:t>9</a:t>
                </a:r>
                <a:r>
                  <a:rPr kumimoji="1" lang="en-US" altLang="ja-JP" sz="1846" b="1">
                    <a:latin typeface="+mn-lt"/>
                    <a:cs typeface="Arial" panose="020B0604020202020204" pitchFamily="34" charset="0"/>
                  </a:rPr>
                  <a:t>0,000</a:t>
                </a:r>
                <a:endParaRPr kumimoji="1" lang="ja-JP" altLang="en-US" sz="1846" b="1">
                  <a:latin typeface="+mn-lt"/>
                  <a:cs typeface="Arial" panose="020B0604020202020204" pitchFamily="34" charset="0"/>
                </a:endParaRPr>
              </a:p>
            </p:txBody>
          </p:sp>
          <p:grpSp>
            <p:nvGrpSpPr>
              <p:cNvPr id="41" name="Group 550">
                <a:extLst>
                  <a:ext uri="{FF2B5EF4-FFF2-40B4-BE49-F238E27FC236}">
                    <a16:creationId xmlns:a16="http://schemas.microsoft.com/office/drawing/2014/main" id="{D8E0F115-F2EB-D044-7AEB-4E49483A6A62}"/>
                  </a:ext>
                </a:extLst>
              </p:cNvPr>
              <p:cNvGrpSpPr>
                <a:grpSpLocks noChangeAspect="1"/>
              </p:cNvGrpSpPr>
              <p:nvPr/>
            </p:nvGrpSpPr>
            <p:grpSpPr bwMode="gray">
              <a:xfrm>
                <a:off x="6269447" y="2649086"/>
                <a:ext cx="503865" cy="503865"/>
                <a:chOff x="1520" y="1938"/>
                <a:chExt cx="340" cy="340"/>
              </a:xfrm>
              <a:solidFill>
                <a:schemeClr val="accent5"/>
              </a:solidFill>
            </p:grpSpPr>
            <p:sp>
              <p:nvSpPr>
                <p:cNvPr id="45" name="Freeform 551">
                  <a:extLst>
                    <a:ext uri="{FF2B5EF4-FFF2-40B4-BE49-F238E27FC236}">
                      <a16:creationId xmlns:a16="http://schemas.microsoft.com/office/drawing/2014/main" id="{11D67174-2BF0-A67F-4B0F-591CC21FF625}"/>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46" name="Freeform 552">
                  <a:extLst>
                    <a:ext uri="{FF2B5EF4-FFF2-40B4-BE49-F238E27FC236}">
                      <a16:creationId xmlns:a16="http://schemas.microsoft.com/office/drawing/2014/main" id="{B47404AE-9CF8-6D0A-3C26-ED53034B92AC}"/>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grpSp>
          <p:grpSp>
            <p:nvGrpSpPr>
              <p:cNvPr id="42" name="Group 550">
                <a:extLst>
                  <a:ext uri="{FF2B5EF4-FFF2-40B4-BE49-F238E27FC236}">
                    <a16:creationId xmlns:a16="http://schemas.microsoft.com/office/drawing/2014/main" id="{5F3B4585-9C16-E9A0-8F9C-4D29CA60B28D}"/>
                  </a:ext>
                </a:extLst>
              </p:cNvPr>
              <p:cNvGrpSpPr>
                <a:grpSpLocks noChangeAspect="1"/>
              </p:cNvGrpSpPr>
              <p:nvPr/>
            </p:nvGrpSpPr>
            <p:grpSpPr bwMode="gray">
              <a:xfrm>
                <a:off x="7887209" y="2649086"/>
                <a:ext cx="503865" cy="503865"/>
                <a:chOff x="1520" y="1938"/>
                <a:chExt cx="340" cy="340"/>
              </a:xfrm>
              <a:solidFill>
                <a:schemeClr val="accent5"/>
              </a:solidFill>
            </p:grpSpPr>
            <p:sp>
              <p:nvSpPr>
                <p:cNvPr id="43" name="Freeform 551">
                  <a:extLst>
                    <a:ext uri="{FF2B5EF4-FFF2-40B4-BE49-F238E27FC236}">
                      <a16:creationId xmlns:a16="http://schemas.microsoft.com/office/drawing/2014/main" id="{8E0D41C1-64E5-69B5-8086-3535DD16DD3E}"/>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sp>
              <p:nvSpPr>
                <p:cNvPr id="44" name="Freeform 552">
                  <a:extLst>
                    <a:ext uri="{FF2B5EF4-FFF2-40B4-BE49-F238E27FC236}">
                      <a16:creationId xmlns:a16="http://schemas.microsoft.com/office/drawing/2014/main" id="{B20B8BDC-0E5D-8EB2-7392-97F9DBAC3B63}"/>
                    </a:ext>
                  </a:extLst>
                </p:cNvPr>
                <p:cNvSpPr>
                  <a:spLocks noEditPoints="1"/>
                </p:cNvSpPr>
                <p:nvPr/>
              </p:nvSpPr>
              <p:spPr bwMode="gray">
                <a:xfrm>
                  <a:off x="1520" y="1938"/>
                  <a:ext cx="340" cy="34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13 w 512"/>
                    <a:gd name="T11" fmla="*/ 370 h 512"/>
                    <a:gd name="T12" fmla="*/ 405 w 512"/>
                    <a:gd name="T13" fmla="*/ 374 h 512"/>
                    <a:gd name="T14" fmla="*/ 398 w 512"/>
                    <a:gd name="T15" fmla="*/ 371 h 512"/>
                    <a:gd name="T16" fmla="*/ 349 w 512"/>
                    <a:gd name="T17" fmla="*/ 358 h 512"/>
                    <a:gd name="T18" fmla="*/ 316 w 512"/>
                    <a:gd name="T19" fmla="*/ 352 h 512"/>
                    <a:gd name="T20" fmla="*/ 286 w 512"/>
                    <a:gd name="T21" fmla="*/ 324 h 512"/>
                    <a:gd name="T22" fmla="*/ 290 w 512"/>
                    <a:gd name="T23" fmla="*/ 303 h 512"/>
                    <a:gd name="T24" fmla="*/ 320 w 512"/>
                    <a:gd name="T25" fmla="*/ 233 h 512"/>
                    <a:gd name="T26" fmla="*/ 311 w 512"/>
                    <a:gd name="T27" fmla="*/ 142 h 512"/>
                    <a:gd name="T28" fmla="*/ 256 w 512"/>
                    <a:gd name="T29" fmla="*/ 118 h 512"/>
                    <a:gd name="T30" fmla="*/ 256 w 512"/>
                    <a:gd name="T31" fmla="*/ 118 h 512"/>
                    <a:gd name="T32" fmla="*/ 256 w 512"/>
                    <a:gd name="T33" fmla="*/ 118 h 512"/>
                    <a:gd name="T34" fmla="*/ 256 w 512"/>
                    <a:gd name="T35" fmla="*/ 118 h 512"/>
                    <a:gd name="T36" fmla="*/ 201 w 512"/>
                    <a:gd name="T37" fmla="*/ 142 h 512"/>
                    <a:gd name="T38" fmla="*/ 192 w 512"/>
                    <a:gd name="T39" fmla="*/ 233 h 512"/>
                    <a:gd name="T40" fmla="*/ 222 w 512"/>
                    <a:gd name="T41" fmla="*/ 303 h 512"/>
                    <a:gd name="T42" fmla="*/ 225 w 512"/>
                    <a:gd name="T43" fmla="*/ 324 h 512"/>
                    <a:gd name="T44" fmla="*/ 196 w 512"/>
                    <a:gd name="T45" fmla="*/ 352 h 512"/>
                    <a:gd name="T46" fmla="*/ 163 w 512"/>
                    <a:gd name="T47" fmla="*/ 358 h 512"/>
                    <a:gd name="T48" fmla="*/ 114 w 512"/>
                    <a:gd name="T49" fmla="*/ 371 h 512"/>
                    <a:gd name="T50" fmla="*/ 107 w 512"/>
                    <a:gd name="T51" fmla="*/ 374 h 512"/>
                    <a:gd name="T52" fmla="*/ 99 w 512"/>
                    <a:gd name="T53" fmla="*/ 370 h 512"/>
                    <a:gd name="T54" fmla="*/ 100 w 512"/>
                    <a:gd name="T55" fmla="*/ 355 h 512"/>
                    <a:gd name="T56" fmla="*/ 160 w 512"/>
                    <a:gd name="T57" fmla="*/ 337 h 512"/>
                    <a:gd name="T58" fmla="*/ 188 w 512"/>
                    <a:gd name="T59" fmla="*/ 332 h 512"/>
                    <a:gd name="T60" fmla="*/ 205 w 512"/>
                    <a:gd name="T61" fmla="*/ 318 h 512"/>
                    <a:gd name="T62" fmla="*/ 205 w 512"/>
                    <a:gd name="T63" fmla="*/ 316 h 512"/>
                    <a:gd name="T64" fmla="*/ 171 w 512"/>
                    <a:gd name="T65" fmla="*/ 237 h 512"/>
                    <a:gd name="T66" fmla="*/ 184 w 512"/>
                    <a:gd name="T67" fmla="*/ 128 h 512"/>
                    <a:gd name="T68" fmla="*/ 256 w 512"/>
                    <a:gd name="T69" fmla="*/ 96 h 512"/>
                    <a:gd name="T70" fmla="*/ 256 w 512"/>
                    <a:gd name="T71" fmla="*/ 96 h 512"/>
                    <a:gd name="T72" fmla="*/ 328 w 512"/>
                    <a:gd name="T73" fmla="*/ 128 h 512"/>
                    <a:gd name="T74" fmla="*/ 341 w 512"/>
                    <a:gd name="T75" fmla="*/ 237 h 512"/>
                    <a:gd name="T76" fmla="*/ 307 w 512"/>
                    <a:gd name="T77" fmla="*/ 316 h 512"/>
                    <a:gd name="T78" fmla="*/ 307 w 512"/>
                    <a:gd name="T79" fmla="*/ 318 h 512"/>
                    <a:gd name="T80" fmla="*/ 324 w 512"/>
                    <a:gd name="T81" fmla="*/ 332 h 512"/>
                    <a:gd name="T82" fmla="*/ 352 w 512"/>
                    <a:gd name="T83" fmla="*/ 337 h 512"/>
                    <a:gd name="T84" fmla="*/ 412 w 512"/>
                    <a:gd name="T85" fmla="*/ 355 h 512"/>
                    <a:gd name="T86" fmla="*/ 413 w 512"/>
                    <a:gd name="T87" fmla="*/ 37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2" h="512">
                      <a:moveTo>
                        <a:pt x="256" y="0"/>
                      </a:moveTo>
                      <a:cubicBezTo>
                        <a:pt x="115" y="0"/>
                        <a:pt x="0" y="115"/>
                        <a:pt x="0" y="256"/>
                      </a:cubicBezTo>
                      <a:cubicBezTo>
                        <a:pt x="0" y="398"/>
                        <a:pt x="115" y="512"/>
                        <a:pt x="256" y="512"/>
                      </a:cubicBezTo>
                      <a:cubicBezTo>
                        <a:pt x="397" y="512"/>
                        <a:pt x="512" y="398"/>
                        <a:pt x="512" y="256"/>
                      </a:cubicBezTo>
                      <a:cubicBezTo>
                        <a:pt x="512" y="115"/>
                        <a:pt x="397" y="0"/>
                        <a:pt x="256" y="0"/>
                      </a:cubicBezTo>
                      <a:close/>
                      <a:moveTo>
                        <a:pt x="413" y="370"/>
                      </a:moveTo>
                      <a:cubicBezTo>
                        <a:pt x="411" y="372"/>
                        <a:pt x="408" y="374"/>
                        <a:pt x="405" y="374"/>
                      </a:cubicBezTo>
                      <a:cubicBezTo>
                        <a:pt x="403" y="374"/>
                        <a:pt x="400" y="373"/>
                        <a:pt x="398" y="371"/>
                      </a:cubicBezTo>
                      <a:cubicBezTo>
                        <a:pt x="391" y="364"/>
                        <a:pt x="366" y="361"/>
                        <a:pt x="349" y="358"/>
                      </a:cubicBezTo>
                      <a:cubicBezTo>
                        <a:pt x="335" y="356"/>
                        <a:pt x="324" y="355"/>
                        <a:pt x="316" y="352"/>
                      </a:cubicBezTo>
                      <a:cubicBezTo>
                        <a:pt x="301" y="346"/>
                        <a:pt x="290" y="336"/>
                        <a:pt x="286" y="324"/>
                      </a:cubicBezTo>
                      <a:cubicBezTo>
                        <a:pt x="284" y="317"/>
                        <a:pt x="285" y="310"/>
                        <a:pt x="290" y="303"/>
                      </a:cubicBezTo>
                      <a:cubicBezTo>
                        <a:pt x="301" y="288"/>
                        <a:pt x="314" y="258"/>
                        <a:pt x="320" y="233"/>
                      </a:cubicBezTo>
                      <a:cubicBezTo>
                        <a:pt x="330" y="192"/>
                        <a:pt x="327" y="162"/>
                        <a:pt x="311" y="142"/>
                      </a:cubicBezTo>
                      <a:cubicBezTo>
                        <a:pt x="291" y="117"/>
                        <a:pt x="257" y="118"/>
                        <a:pt x="256" y="118"/>
                      </a:cubicBezTo>
                      <a:cubicBezTo>
                        <a:pt x="256" y="118"/>
                        <a:pt x="256" y="118"/>
                        <a:pt x="256" y="118"/>
                      </a:cubicBezTo>
                      <a:cubicBezTo>
                        <a:pt x="256" y="118"/>
                        <a:pt x="256" y="118"/>
                        <a:pt x="256" y="118"/>
                      </a:cubicBezTo>
                      <a:cubicBezTo>
                        <a:pt x="256" y="118"/>
                        <a:pt x="256" y="118"/>
                        <a:pt x="256" y="118"/>
                      </a:cubicBezTo>
                      <a:cubicBezTo>
                        <a:pt x="255" y="118"/>
                        <a:pt x="220" y="117"/>
                        <a:pt x="201" y="142"/>
                      </a:cubicBezTo>
                      <a:cubicBezTo>
                        <a:pt x="185" y="162"/>
                        <a:pt x="182" y="192"/>
                        <a:pt x="192" y="233"/>
                      </a:cubicBezTo>
                      <a:cubicBezTo>
                        <a:pt x="198" y="258"/>
                        <a:pt x="211" y="288"/>
                        <a:pt x="222" y="303"/>
                      </a:cubicBezTo>
                      <a:cubicBezTo>
                        <a:pt x="226" y="310"/>
                        <a:pt x="228" y="317"/>
                        <a:pt x="225" y="324"/>
                      </a:cubicBezTo>
                      <a:cubicBezTo>
                        <a:pt x="222" y="336"/>
                        <a:pt x="211" y="346"/>
                        <a:pt x="196" y="352"/>
                      </a:cubicBezTo>
                      <a:cubicBezTo>
                        <a:pt x="188" y="355"/>
                        <a:pt x="177" y="356"/>
                        <a:pt x="163" y="358"/>
                      </a:cubicBezTo>
                      <a:cubicBezTo>
                        <a:pt x="145" y="361"/>
                        <a:pt x="121" y="364"/>
                        <a:pt x="114" y="371"/>
                      </a:cubicBezTo>
                      <a:cubicBezTo>
                        <a:pt x="112" y="373"/>
                        <a:pt x="109" y="374"/>
                        <a:pt x="107" y="374"/>
                      </a:cubicBezTo>
                      <a:cubicBezTo>
                        <a:pt x="104" y="374"/>
                        <a:pt x="101" y="372"/>
                        <a:pt x="99" y="370"/>
                      </a:cubicBezTo>
                      <a:cubicBezTo>
                        <a:pt x="95" y="366"/>
                        <a:pt x="95" y="359"/>
                        <a:pt x="100" y="355"/>
                      </a:cubicBezTo>
                      <a:cubicBezTo>
                        <a:pt x="112" y="344"/>
                        <a:pt x="136" y="341"/>
                        <a:pt x="160" y="337"/>
                      </a:cubicBezTo>
                      <a:cubicBezTo>
                        <a:pt x="171" y="335"/>
                        <a:pt x="183" y="334"/>
                        <a:pt x="188" y="332"/>
                      </a:cubicBezTo>
                      <a:cubicBezTo>
                        <a:pt x="198" y="328"/>
                        <a:pt x="204" y="322"/>
                        <a:pt x="205" y="318"/>
                      </a:cubicBezTo>
                      <a:cubicBezTo>
                        <a:pt x="205" y="317"/>
                        <a:pt x="205" y="317"/>
                        <a:pt x="205" y="316"/>
                      </a:cubicBezTo>
                      <a:cubicBezTo>
                        <a:pt x="192" y="298"/>
                        <a:pt x="178" y="265"/>
                        <a:pt x="171" y="237"/>
                      </a:cubicBezTo>
                      <a:cubicBezTo>
                        <a:pt x="160" y="190"/>
                        <a:pt x="164" y="153"/>
                        <a:pt x="184" y="128"/>
                      </a:cubicBezTo>
                      <a:cubicBezTo>
                        <a:pt x="210" y="96"/>
                        <a:pt x="252" y="96"/>
                        <a:pt x="256" y="96"/>
                      </a:cubicBezTo>
                      <a:cubicBezTo>
                        <a:pt x="256" y="96"/>
                        <a:pt x="256" y="96"/>
                        <a:pt x="256" y="96"/>
                      </a:cubicBezTo>
                      <a:cubicBezTo>
                        <a:pt x="258" y="96"/>
                        <a:pt x="301" y="96"/>
                        <a:pt x="328" y="128"/>
                      </a:cubicBezTo>
                      <a:cubicBezTo>
                        <a:pt x="348" y="153"/>
                        <a:pt x="352" y="190"/>
                        <a:pt x="341" y="237"/>
                      </a:cubicBezTo>
                      <a:cubicBezTo>
                        <a:pt x="334" y="265"/>
                        <a:pt x="320" y="298"/>
                        <a:pt x="307" y="316"/>
                      </a:cubicBezTo>
                      <a:cubicBezTo>
                        <a:pt x="307" y="317"/>
                        <a:pt x="306" y="317"/>
                        <a:pt x="307" y="318"/>
                      </a:cubicBezTo>
                      <a:cubicBezTo>
                        <a:pt x="308" y="322"/>
                        <a:pt x="314" y="328"/>
                        <a:pt x="324" y="332"/>
                      </a:cubicBezTo>
                      <a:cubicBezTo>
                        <a:pt x="329" y="334"/>
                        <a:pt x="341" y="335"/>
                        <a:pt x="352" y="337"/>
                      </a:cubicBezTo>
                      <a:cubicBezTo>
                        <a:pt x="375" y="341"/>
                        <a:pt x="400" y="344"/>
                        <a:pt x="412" y="355"/>
                      </a:cubicBezTo>
                      <a:cubicBezTo>
                        <a:pt x="417" y="359"/>
                        <a:pt x="417" y="366"/>
                        <a:pt x="413" y="37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none" lIns="0" tIns="0" rIns="0" bIns="0" numCol="1" anchor="ctr" anchorCtr="0" compatLnSpc="1">
                  <a:prstTxWarp prst="textNoShape">
                    <a:avLst/>
                  </a:prstTxWarp>
                </a:bodyPr>
                <a:lstStyle/>
                <a:p>
                  <a:pPr algn="ctr">
                    <a:spcBef>
                      <a:spcPts val="0"/>
                    </a:spcBef>
                  </a:pPr>
                  <a:endParaRPr lang="en-GB" sz="1108"/>
                </a:p>
              </p:txBody>
            </p:sp>
          </p:grpSp>
        </p:grpSp>
        <p:sp>
          <p:nvSpPr>
            <p:cNvPr id="49" name="角丸四角形 43">
              <a:extLst>
                <a:ext uri="{FF2B5EF4-FFF2-40B4-BE49-F238E27FC236}">
                  <a16:creationId xmlns:a16="http://schemas.microsoft.com/office/drawing/2014/main" id="{602A5320-AF5D-047F-8956-2DF8B97D06DD}"/>
                </a:ext>
              </a:extLst>
            </p:cNvPr>
            <p:cNvSpPr/>
            <p:nvPr/>
          </p:nvSpPr>
          <p:spPr bwMode="gray">
            <a:xfrm>
              <a:off x="8063109" y="1828996"/>
              <a:ext cx="1801316" cy="551052"/>
            </a:xfrm>
            <a:prstGeom prst="roundRect">
              <a:avLst/>
            </a:prstGeom>
            <a:ln/>
          </p:spPr>
          <p:style>
            <a:lnRef idx="3">
              <a:schemeClr val="lt1"/>
            </a:lnRef>
            <a:fillRef idx="1">
              <a:schemeClr val="accent2"/>
            </a:fillRef>
            <a:effectRef idx="1">
              <a:schemeClr val="accent2"/>
            </a:effectRef>
            <a:fontRef idx="minor">
              <a:schemeClr val="lt1"/>
            </a:fontRef>
          </p:style>
          <p:txBody>
            <a:bodyPr lIns="84404" tIns="42202" rIns="84404" bIns="42202" rtlCol="0" anchor="ctr"/>
            <a:lstStyle/>
            <a:p>
              <a:pPr algn="ctr"/>
              <a:r>
                <a:rPr lang="ja-JP" altLang="en-US" sz="1200" b="1">
                  <a:solidFill>
                    <a:schemeClr val="tx1"/>
                  </a:solidFill>
                </a:rPr>
                <a:t>・</a:t>
              </a:r>
              <a:r>
                <a:rPr lang="en-US" altLang="ja-JP" sz="1200" b="1">
                  <a:solidFill>
                    <a:schemeClr val="tx1"/>
                  </a:solidFill>
                </a:rPr>
                <a:t>TV</a:t>
              </a:r>
              <a:r>
                <a:rPr lang="ja-JP" altLang="en-US" sz="1200" b="1">
                  <a:solidFill>
                    <a:schemeClr val="tx1"/>
                  </a:solidFill>
                </a:rPr>
                <a:t>の引き渡し</a:t>
              </a:r>
              <a:endParaRPr lang="en-US" altLang="ja-JP" sz="1200" b="1">
                <a:solidFill>
                  <a:schemeClr val="tx1"/>
                </a:solidFill>
              </a:endParaRPr>
            </a:p>
            <a:p>
              <a:pPr algn="ctr"/>
              <a:r>
                <a:rPr kumimoji="1" lang="ja-JP" altLang="en-US" sz="1200" b="1">
                  <a:solidFill>
                    <a:schemeClr val="tx1"/>
                  </a:solidFill>
                </a:rPr>
                <a:t>・</a:t>
              </a:r>
              <a:r>
                <a:rPr lang="ja-JP" altLang="en-US" sz="1200" b="1">
                  <a:solidFill>
                    <a:schemeClr val="tx1"/>
                  </a:solidFill>
                </a:rPr>
                <a:t>保証</a:t>
              </a:r>
              <a:r>
                <a:rPr kumimoji="1" lang="ja-JP" altLang="en-US" sz="1200" b="1">
                  <a:solidFill>
                    <a:schemeClr val="tx1"/>
                  </a:solidFill>
                </a:rPr>
                <a:t>サービス</a:t>
              </a:r>
              <a:endParaRPr kumimoji="1" lang="en-US" altLang="ja-JP" sz="1200" b="1">
                <a:solidFill>
                  <a:schemeClr val="tx1"/>
                </a:solidFill>
              </a:endParaRPr>
            </a:p>
          </p:txBody>
        </p:sp>
      </p:grpSp>
      <p:sp>
        <p:nvSpPr>
          <p:cNvPr id="50" name="正方形/長方形 49">
            <a:extLst>
              <a:ext uri="{FF2B5EF4-FFF2-40B4-BE49-F238E27FC236}">
                <a16:creationId xmlns:a16="http://schemas.microsoft.com/office/drawing/2014/main" id="{8A1CB3AF-217D-C826-1A18-9A683DE99C8F}"/>
              </a:ext>
            </a:extLst>
          </p:cNvPr>
          <p:cNvSpPr/>
          <p:nvPr/>
        </p:nvSpPr>
        <p:spPr bwMode="gray">
          <a:xfrm>
            <a:off x="7407339" y="4470527"/>
            <a:ext cx="1719010" cy="288234"/>
          </a:xfrm>
          <a:prstGeom prst="rect">
            <a:avLst/>
          </a:prstGeom>
          <a:solidFill>
            <a:schemeClr val="accent1"/>
          </a:solidFill>
          <a:ln w="12700" algn="ctr">
            <a:solidFill>
              <a:schemeClr val="bg1"/>
            </a:solidFill>
            <a:miter lim="800000"/>
            <a:headEnd/>
            <a:tailEnd/>
          </a:ln>
        </p:spPr>
        <p:txBody>
          <a:bodyPr wrap="square" lIns="36000" tIns="36000" rIns="36000" bIns="36000" rtlCol="0" anchor="ctr"/>
          <a:lstStyle/>
          <a:p>
            <a:pPr lvl="0" algn="ctr"/>
            <a:r>
              <a:rPr kumimoji="1" lang="en-US" altLang="ja-JP" sz="1600">
                <a:solidFill>
                  <a:schemeClr val="bg1"/>
                </a:solidFill>
                <a:latin typeface="+mn-lt"/>
              </a:rPr>
              <a:t>TV</a:t>
            </a:r>
            <a:r>
              <a:rPr lang="ja-JP" altLang="en-US" sz="1600">
                <a:solidFill>
                  <a:schemeClr val="bg1"/>
                </a:solidFill>
              </a:rPr>
              <a:t>の引き渡し</a:t>
            </a:r>
            <a:endParaRPr kumimoji="1" lang="ja-JP" altLang="en-US" sz="1600">
              <a:solidFill>
                <a:schemeClr val="bg1"/>
              </a:solidFill>
              <a:latin typeface="+mn-lt"/>
            </a:endParaRPr>
          </a:p>
        </p:txBody>
      </p:sp>
      <p:sp>
        <p:nvSpPr>
          <p:cNvPr id="11" name="テキスト ボックス 10">
            <a:extLst>
              <a:ext uri="{FF2B5EF4-FFF2-40B4-BE49-F238E27FC236}">
                <a16:creationId xmlns:a16="http://schemas.microsoft.com/office/drawing/2014/main" id="{65AD3631-5199-2556-CAFC-79654770190D}"/>
              </a:ext>
            </a:extLst>
          </p:cNvPr>
          <p:cNvSpPr txBox="1"/>
          <p:nvPr/>
        </p:nvSpPr>
        <p:spPr bwMode="gray">
          <a:xfrm>
            <a:off x="6822604" y="1096595"/>
            <a:ext cx="1578000" cy="246221"/>
          </a:xfrm>
          <a:prstGeom prst="rect">
            <a:avLst/>
          </a:prstGeom>
          <a:solidFill>
            <a:schemeClr val="accent6"/>
          </a:solid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sz="1600">
                <a:solidFill>
                  <a:schemeClr val="bg1"/>
                </a:solidFill>
              </a:rPr>
              <a:t>契約</a:t>
            </a:r>
          </a:p>
        </p:txBody>
      </p:sp>
      <p:sp>
        <p:nvSpPr>
          <p:cNvPr id="72" name="角丸四角形 43">
            <a:extLst>
              <a:ext uri="{FF2B5EF4-FFF2-40B4-BE49-F238E27FC236}">
                <a16:creationId xmlns:a16="http://schemas.microsoft.com/office/drawing/2014/main" id="{EC83417E-6AFF-45AD-3E57-D3339C62269B}"/>
              </a:ext>
            </a:extLst>
          </p:cNvPr>
          <p:cNvSpPr/>
          <p:nvPr/>
        </p:nvSpPr>
        <p:spPr bwMode="gray">
          <a:xfrm>
            <a:off x="6822604" y="2995580"/>
            <a:ext cx="4643561" cy="930177"/>
          </a:xfrm>
          <a:prstGeom prst="roundRect">
            <a:avLst/>
          </a:prstGeom>
          <a:solidFill>
            <a:schemeClr val="bg2"/>
          </a:solidFill>
          <a:ln w="12700" algn="ctr">
            <a:noFill/>
            <a:miter lim="800000"/>
            <a:headEnd/>
            <a:tailEnd/>
          </a:ln>
        </p:spPr>
        <p:txBody>
          <a:bodyPr wrap="square" lIns="36000" tIns="36000" rIns="36000" bIns="36000" rtlCol="0" anchor="ctr"/>
          <a:lstStyle/>
          <a:p>
            <a:r>
              <a:rPr lang="ja-JP" altLang="en-US" sz="1600"/>
              <a:t>セット売りでない別売りでの価格</a:t>
            </a:r>
            <a:r>
              <a:rPr kumimoji="1" lang="ja-JP" altLang="en-US" sz="1600">
                <a:solidFill>
                  <a:srgbClr val="FF0000"/>
                </a:solidFill>
                <a:latin typeface="+mn-lt"/>
              </a:rPr>
              <a:t>（独立販売価格）</a:t>
            </a:r>
            <a:endParaRPr kumimoji="1" lang="en-US" altLang="ja-JP" sz="1600">
              <a:solidFill>
                <a:srgbClr val="FF0000"/>
              </a:solidFill>
              <a:latin typeface="+mn-lt"/>
            </a:endParaRPr>
          </a:p>
          <a:p>
            <a:r>
              <a:rPr kumimoji="1" lang="ja-JP" altLang="en-US" sz="1600">
                <a:latin typeface="+mn-lt"/>
              </a:rPr>
              <a:t>①</a:t>
            </a:r>
            <a:r>
              <a:rPr kumimoji="1" lang="en-US" altLang="ja-JP" sz="1600">
                <a:latin typeface="+mn-lt"/>
              </a:rPr>
              <a:t>TV</a:t>
            </a:r>
            <a:r>
              <a:rPr kumimoji="1" lang="ja-JP" altLang="en-US" sz="1600">
                <a:latin typeface="+mn-lt"/>
              </a:rPr>
              <a:t>の価格：</a:t>
            </a:r>
            <a:r>
              <a:rPr kumimoji="1" lang="en-US" altLang="ja-JP" sz="1600">
                <a:latin typeface="+mn-lt"/>
              </a:rPr>
              <a:t>80,000</a:t>
            </a:r>
            <a:r>
              <a:rPr kumimoji="1" lang="ja-JP" altLang="en-US" sz="1600">
                <a:latin typeface="+mn-lt"/>
              </a:rPr>
              <a:t>円</a:t>
            </a:r>
            <a:endParaRPr kumimoji="1" lang="en-US" altLang="ja-JP" sz="1600">
              <a:latin typeface="+mn-lt"/>
            </a:endParaRPr>
          </a:p>
          <a:p>
            <a:r>
              <a:rPr lang="ja-JP" altLang="en-US" sz="1600"/>
              <a:t>②保証サービスの価格：</a:t>
            </a:r>
            <a:r>
              <a:rPr lang="en-US" altLang="ja-JP" sz="1600"/>
              <a:t>20,000</a:t>
            </a:r>
            <a:r>
              <a:rPr lang="ja-JP" altLang="en-US" sz="1600"/>
              <a:t>円</a:t>
            </a:r>
            <a:endParaRPr kumimoji="1" lang="ja-JP" altLang="en-US" sz="1600">
              <a:latin typeface="+mn-lt"/>
            </a:endParaRPr>
          </a:p>
        </p:txBody>
      </p:sp>
      <p:sp>
        <p:nvSpPr>
          <p:cNvPr id="73" name="テキスト ボックス 72">
            <a:extLst>
              <a:ext uri="{FF2B5EF4-FFF2-40B4-BE49-F238E27FC236}">
                <a16:creationId xmlns:a16="http://schemas.microsoft.com/office/drawing/2014/main" id="{87201096-3A64-1A01-2852-2A95396B8DF3}"/>
              </a:ext>
            </a:extLst>
          </p:cNvPr>
          <p:cNvSpPr txBox="1"/>
          <p:nvPr/>
        </p:nvSpPr>
        <p:spPr bwMode="gray">
          <a:xfrm>
            <a:off x="8067173" y="5292580"/>
            <a:ext cx="2371889" cy="272382"/>
          </a:xfrm>
          <a:prstGeom prst="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wrap="square" lIns="0" tIns="36576" rIns="0" bIns="0" rtlCol="0">
            <a:spAutoFit/>
          </a:bodyPr>
          <a:lstStyle/>
          <a:p>
            <a:pPr algn="ctr">
              <a:lnSpc>
                <a:spcPct val="85000"/>
              </a:lnSpc>
              <a:spcAft>
                <a:spcPts val="600"/>
              </a:spcAft>
              <a:buClr>
                <a:schemeClr val="accent2"/>
              </a:buClr>
              <a:buSzPct val="70000"/>
            </a:pPr>
            <a:r>
              <a:rPr kumimoji="1" lang="ja-JP" altLang="en-US">
                <a:solidFill>
                  <a:srgbClr val="FF0000"/>
                </a:solidFill>
              </a:rPr>
              <a:t>８　　：　　２</a:t>
            </a:r>
          </a:p>
        </p:txBody>
      </p:sp>
      <p:sp>
        <p:nvSpPr>
          <p:cNvPr id="82" name="テキスト プレースホルダー 3">
            <a:extLst>
              <a:ext uri="{FF2B5EF4-FFF2-40B4-BE49-F238E27FC236}">
                <a16:creationId xmlns:a16="http://schemas.microsoft.com/office/drawing/2014/main" id="{D536EDDB-9128-2E6E-236A-E3AFECD53568}"/>
              </a:ext>
            </a:extLst>
          </p:cNvPr>
          <p:cNvSpPr>
            <a:spLocks noGrp="1"/>
          </p:cNvSpPr>
          <p:nvPr>
            <p:ph type="body" sz="quarter" idx="10"/>
          </p:nvPr>
        </p:nvSpPr>
        <p:spPr>
          <a:xfrm>
            <a:off x="566802" y="861891"/>
            <a:ext cx="5469237" cy="469407"/>
          </a:xfrm>
        </p:spPr>
        <p:txBody>
          <a:bodyPr/>
          <a:lstStyle/>
          <a:p>
            <a:r>
              <a:rPr lang="ja-JP" altLang="en-US" sz="1800" b="0"/>
              <a:t>取引価格を履行義務に配分します。</a:t>
            </a:r>
          </a:p>
        </p:txBody>
      </p:sp>
      <p:graphicFrame>
        <p:nvGraphicFramePr>
          <p:cNvPr id="60" name="表 59">
            <a:extLst>
              <a:ext uri="{FF2B5EF4-FFF2-40B4-BE49-F238E27FC236}">
                <a16:creationId xmlns:a16="http://schemas.microsoft.com/office/drawing/2014/main" id="{59219532-DE2D-3D51-9852-1DF2214C1A5C}"/>
              </a:ext>
            </a:extLst>
          </p:cNvPr>
          <p:cNvGraphicFramePr>
            <a:graphicFrameLocks noGrp="1"/>
          </p:cNvGraphicFramePr>
          <p:nvPr/>
        </p:nvGraphicFramePr>
        <p:xfrm>
          <a:off x="602796" y="1454317"/>
          <a:ext cx="5870915" cy="4206240"/>
        </p:xfrm>
        <a:graphic>
          <a:graphicData uri="http://schemas.openxmlformats.org/drawingml/2006/table">
            <a:tbl>
              <a:tblPr bandRow="1">
                <a:tableStyleId>{F2DE63D5-997A-4646-A377-4702673A728D}</a:tableStyleId>
              </a:tblPr>
              <a:tblGrid>
                <a:gridCol w="5870915">
                  <a:extLst>
                    <a:ext uri="{9D8B030D-6E8A-4147-A177-3AD203B41FA5}">
                      <a16:colId xmlns:a16="http://schemas.microsoft.com/office/drawing/2014/main" val="20000"/>
                    </a:ext>
                  </a:extLst>
                </a:gridCol>
              </a:tblGrid>
              <a:tr h="4046920">
                <a:tc>
                  <a:txBody>
                    <a:bodyPr/>
                    <a:lstStyle/>
                    <a:p>
                      <a:pPr marL="0" indent="0">
                        <a:spcBef>
                          <a:spcPts val="0"/>
                        </a:spcBef>
                        <a:spcAft>
                          <a:spcPts val="0"/>
                        </a:spcAft>
                        <a:buFont typeface="Wingdings" pitchFamily="2" charset="2"/>
                        <a:buNone/>
                      </a:pPr>
                      <a:r>
                        <a:rPr kumimoji="1" lang="en-US" altLang="ja-JP" sz="1800">
                          <a:solidFill>
                            <a:schemeClr val="tx1"/>
                          </a:solidFill>
                          <a:latin typeface="+mn-lt"/>
                        </a:rPr>
                        <a:t>&lt;</a:t>
                      </a:r>
                      <a:r>
                        <a:rPr kumimoji="1" lang="ja-JP" altLang="en-US" sz="1800">
                          <a:solidFill>
                            <a:schemeClr val="tx1"/>
                          </a:solidFill>
                          <a:latin typeface="+mn-lt"/>
                        </a:rPr>
                        <a:t>取引価格の配分</a:t>
                      </a:r>
                      <a:r>
                        <a:rPr kumimoji="1" lang="en-US" altLang="ja-JP" sz="1800">
                          <a:solidFill>
                            <a:schemeClr val="tx1"/>
                          </a:solidFill>
                          <a:latin typeface="+mn-lt"/>
                        </a:rPr>
                        <a:t>&gt;</a:t>
                      </a:r>
                    </a:p>
                    <a:p>
                      <a:pPr marL="226800" indent="-226800">
                        <a:spcBef>
                          <a:spcPts val="0"/>
                        </a:spcBef>
                        <a:buFont typeface="Wingdings" pitchFamily="2" charset="2"/>
                        <a:buChar char="n"/>
                      </a:pPr>
                      <a:r>
                        <a:rPr kumimoji="1" lang="ja-JP" altLang="en-US" sz="1800">
                          <a:solidFill>
                            <a:srgbClr val="000000"/>
                          </a:solidFill>
                          <a:latin typeface="+mn-lt"/>
                        </a:rPr>
                        <a:t>それぞれの履行義務（別個の財又はサービス）に対する取引価格は、会社が得られる対価の額を反映するように配分します。</a:t>
                      </a:r>
                      <a:endParaRPr kumimoji="1" lang="en-US" altLang="ja-JP" sz="1800">
                        <a:solidFill>
                          <a:srgbClr val="000000"/>
                        </a:solidFill>
                        <a:latin typeface="+mn-lt"/>
                      </a:endParaRPr>
                    </a:p>
                    <a:p>
                      <a:pPr marL="226800" indent="-226800">
                        <a:spcBef>
                          <a:spcPts val="0"/>
                        </a:spcBef>
                        <a:buFont typeface="Wingdings" pitchFamily="2" charset="2"/>
                        <a:buChar char="n"/>
                      </a:pPr>
                      <a:endParaRPr kumimoji="1" lang="en-US" altLang="ja-JP" sz="1800">
                        <a:solidFill>
                          <a:srgbClr val="000000"/>
                        </a:solidFill>
                        <a:latin typeface="+mn-lt"/>
                      </a:endParaRPr>
                    </a:p>
                    <a:p>
                      <a:pPr marL="226800" indent="-226800">
                        <a:spcBef>
                          <a:spcPts val="0"/>
                        </a:spcBef>
                        <a:buFont typeface="Wingdings" pitchFamily="2" charset="2"/>
                        <a:buChar char="n"/>
                      </a:pPr>
                      <a:r>
                        <a:rPr kumimoji="1" lang="ja-JP" altLang="en-US" sz="1800">
                          <a:solidFill>
                            <a:srgbClr val="000000"/>
                          </a:solidFill>
                        </a:rPr>
                        <a:t>財又はサービスの</a:t>
                      </a:r>
                      <a:r>
                        <a:rPr kumimoji="1" lang="ja-JP" altLang="en-US" sz="1800" b="1" u="sng">
                          <a:solidFill>
                            <a:srgbClr val="FF0000"/>
                          </a:solidFill>
                          <a:latin typeface="+mn-lt"/>
                        </a:rPr>
                        <a:t>独立販売価格の比率</a:t>
                      </a:r>
                      <a:r>
                        <a:rPr kumimoji="1" lang="ja-JP" altLang="en-US" sz="1800">
                          <a:solidFill>
                            <a:srgbClr val="000000"/>
                          </a:solidFill>
                          <a:latin typeface="+mn-lt"/>
                        </a:rPr>
                        <a:t>に基づき、契約において識別したそれぞれの履行義務に取引価格を配分します。</a:t>
                      </a:r>
                      <a:endParaRPr kumimoji="1" lang="en-US" altLang="ja-JP" sz="1800">
                        <a:solidFill>
                          <a:srgbClr val="000000"/>
                        </a:solidFill>
                        <a:latin typeface="+mn-lt"/>
                      </a:endParaRPr>
                    </a:p>
                    <a:p>
                      <a:pPr marL="226800" indent="-226800">
                        <a:spcBef>
                          <a:spcPts val="0"/>
                        </a:spcBef>
                        <a:buFont typeface="Wingdings" pitchFamily="2" charset="2"/>
                        <a:buChar char="n"/>
                      </a:pPr>
                      <a:endParaRPr kumimoji="1" lang="en-US" altLang="ja-JP" sz="1800">
                        <a:solidFill>
                          <a:srgbClr val="000000"/>
                        </a:solidFill>
                        <a:latin typeface="+mn-lt"/>
                      </a:endParaRPr>
                    </a:p>
                    <a:p>
                      <a:pPr marL="226800" indent="-226800">
                        <a:spcBef>
                          <a:spcPts val="0"/>
                        </a:spcBef>
                        <a:buFont typeface="Wingdings" pitchFamily="2" charset="2"/>
                        <a:buChar char="n"/>
                      </a:pPr>
                      <a:r>
                        <a:rPr kumimoji="1" lang="ja-JP" altLang="en-US" sz="1800" b="0" u="none">
                          <a:solidFill>
                            <a:schemeClr val="tx1"/>
                          </a:solidFill>
                          <a:latin typeface="+mn-lt"/>
                        </a:rPr>
                        <a:t>上記の</a:t>
                      </a:r>
                      <a:r>
                        <a:rPr kumimoji="1" lang="ja-JP" altLang="en-US" sz="1800" b="1" u="sng">
                          <a:solidFill>
                            <a:srgbClr val="FF0000"/>
                          </a:solidFill>
                          <a:latin typeface="+mn-lt"/>
                        </a:rPr>
                        <a:t>独立販売価格</a:t>
                      </a:r>
                      <a:r>
                        <a:rPr kumimoji="1" lang="ja-JP" altLang="en-US" sz="1800" b="0">
                          <a:solidFill>
                            <a:schemeClr val="tx1"/>
                          </a:solidFill>
                          <a:latin typeface="+mn-lt"/>
                        </a:rPr>
                        <a:t>とは、財又はサービスを独立して企業が顧客に販売する場合の価格をいいます。</a:t>
                      </a:r>
                      <a:endParaRPr kumimoji="1" lang="en-US" altLang="ja-JP" sz="1800" b="0">
                        <a:solidFill>
                          <a:schemeClr val="tx1"/>
                        </a:solidFill>
                        <a:latin typeface="+mn-lt"/>
                      </a:endParaRPr>
                    </a:p>
                    <a:p>
                      <a:pPr marL="242888" lvl="1" indent="0">
                        <a:spcBef>
                          <a:spcPts val="0"/>
                        </a:spcBef>
                        <a:buFont typeface="Wingdings" panose="05000000000000000000" pitchFamily="2" charset="2"/>
                        <a:buNone/>
                      </a:pPr>
                      <a:r>
                        <a:rPr kumimoji="1" lang="ja-JP" altLang="en-US" sz="1800">
                          <a:latin typeface="+mn-lt"/>
                        </a:rPr>
                        <a:t>→</a:t>
                      </a:r>
                      <a:r>
                        <a:rPr kumimoji="1" lang="ja-JP" altLang="en-US" sz="1800">
                          <a:solidFill>
                            <a:schemeClr val="tx1"/>
                          </a:solidFill>
                          <a:latin typeface="+mn-lt"/>
                        </a:rPr>
                        <a:t>単発の注文書自体が独立販売価格であるため、その比率で履行義務へ配分します。</a:t>
                      </a:r>
                      <a:endParaRPr kumimoji="1" lang="en-US" altLang="ja-JP" sz="1800">
                        <a:solidFill>
                          <a:schemeClr val="tx1"/>
                        </a:solidFill>
                        <a:latin typeface="+mn-lt"/>
                      </a:endParaRPr>
                    </a:p>
                    <a:p>
                      <a:pPr marL="242888" lvl="1" indent="0">
                        <a:spcBef>
                          <a:spcPts val="0"/>
                        </a:spcBef>
                        <a:buFont typeface="Wingdings" panose="05000000000000000000" pitchFamily="2" charset="2"/>
                        <a:buNone/>
                      </a:pPr>
                      <a:r>
                        <a:rPr kumimoji="1" lang="ja-JP" altLang="en-US" sz="1800">
                          <a:solidFill>
                            <a:schemeClr val="tx1"/>
                          </a:solidFill>
                          <a:latin typeface="+mn-lt"/>
                        </a:rPr>
                        <a:t>→契約書の中に履行義務が複数あるケースは、分割検収内訳書に記載の金額を独立販売価格とします。</a:t>
                      </a:r>
                      <a:endParaRPr kumimoji="1" lang="en-US" altLang="ja-JP" sz="180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43016796"/>
                  </a:ext>
                </a:extLst>
              </a:tr>
            </a:tbl>
          </a:graphicData>
        </a:graphic>
      </p:graphicFrame>
    </p:spTree>
    <p:extLst>
      <p:ext uri="{BB962C8B-B14F-4D97-AF65-F5344CB8AC3E}">
        <p14:creationId xmlns:p14="http://schemas.microsoft.com/office/powerpoint/2010/main" val="30058671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EE703-383F-C945-94BA-CEC220D4755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B74D6B5-3305-6E3D-D94F-F44625D0F338}"/>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5(1/2)</a:t>
            </a:r>
            <a:endParaRPr lang="ja-JP" altLang="en-US"/>
          </a:p>
        </p:txBody>
      </p:sp>
      <p:sp>
        <p:nvSpPr>
          <p:cNvPr id="82" name="テキスト プレースホルダー 3">
            <a:extLst>
              <a:ext uri="{FF2B5EF4-FFF2-40B4-BE49-F238E27FC236}">
                <a16:creationId xmlns:a16="http://schemas.microsoft.com/office/drawing/2014/main" id="{BB09BEB7-937E-B7C5-458F-99805B77F2B7}"/>
              </a:ext>
            </a:extLst>
          </p:cNvPr>
          <p:cNvSpPr>
            <a:spLocks noGrp="1"/>
          </p:cNvSpPr>
          <p:nvPr>
            <p:ph type="body" sz="quarter" idx="10"/>
          </p:nvPr>
        </p:nvSpPr>
        <p:spPr>
          <a:xfrm>
            <a:off x="542678" y="930131"/>
            <a:ext cx="10809500" cy="723590"/>
          </a:xfrm>
        </p:spPr>
        <p:txBody>
          <a:bodyPr/>
          <a:lstStyle/>
          <a:p>
            <a:r>
              <a:rPr lang="ja-JP" altLang="en-US" sz="1800" b="0"/>
              <a:t>判断①　一定の期間にわたり充足される履行義務かの判断は下記のフローに従って実施します。</a:t>
            </a:r>
          </a:p>
        </p:txBody>
      </p:sp>
      <p:sp>
        <p:nvSpPr>
          <p:cNvPr id="62" name="角丸四角形 21">
            <a:extLst>
              <a:ext uri="{FF2B5EF4-FFF2-40B4-BE49-F238E27FC236}">
                <a16:creationId xmlns:a16="http://schemas.microsoft.com/office/drawing/2014/main" id="{E852064F-0AE0-C6D8-D0A7-3096BC695562}"/>
              </a:ext>
            </a:extLst>
          </p:cNvPr>
          <p:cNvSpPr/>
          <p:nvPr/>
        </p:nvSpPr>
        <p:spPr>
          <a:xfrm>
            <a:off x="614318" y="1471880"/>
            <a:ext cx="5238758" cy="5021923"/>
          </a:xfrm>
          <a:prstGeom prst="roundRect">
            <a:avLst/>
          </a:prstGeom>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en-US" altLang="ja-JP" sz="1400">
              <a:solidFill>
                <a:schemeClr val="tx1"/>
              </a:solidFill>
            </a:endParaRPr>
          </a:p>
          <a:p>
            <a:pPr algn="ctr"/>
            <a:endParaRPr kumimoji="1" lang="ja-JP" altLang="en-US" sz="1400">
              <a:solidFill>
                <a:schemeClr val="tx1"/>
              </a:solidFill>
            </a:endParaRPr>
          </a:p>
        </p:txBody>
      </p:sp>
      <p:sp>
        <p:nvSpPr>
          <p:cNvPr id="64" name="正方形/長方形 63">
            <a:extLst>
              <a:ext uri="{FF2B5EF4-FFF2-40B4-BE49-F238E27FC236}">
                <a16:creationId xmlns:a16="http://schemas.microsoft.com/office/drawing/2014/main" id="{25A26249-4BDA-FFF1-EE66-5B869682A632}"/>
              </a:ext>
            </a:extLst>
          </p:cNvPr>
          <p:cNvSpPr/>
          <p:nvPr/>
        </p:nvSpPr>
        <p:spPr>
          <a:xfrm>
            <a:off x="6600247" y="1761146"/>
            <a:ext cx="4977426" cy="831912"/>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u="sng">
                <a:solidFill>
                  <a:schemeClr val="tx1"/>
                </a:solidFill>
              </a:rPr>
              <a:t>一時点</a:t>
            </a:r>
            <a:r>
              <a:rPr kumimoji="1" lang="ja-JP" altLang="en-US" sz="1600" b="1">
                <a:solidFill>
                  <a:schemeClr val="tx1"/>
                </a:solidFill>
              </a:rPr>
              <a:t>の収益（完成基準、検収基準）</a:t>
            </a:r>
          </a:p>
          <a:p>
            <a:pPr algn="ctr"/>
            <a:r>
              <a:rPr kumimoji="1" lang="ja-JP" altLang="en-US" sz="1600" b="1">
                <a:solidFill>
                  <a:schemeClr val="tx1"/>
                </a:solidFill>
              </a:rPr>
              <a:t>→先方の検収日、工事完了報告書日に一括で売上計上</a:t>
            </a:r>
            <a:endParaRPr kumimoji="1" lang="en-US" altLang="ja-JP" sz="1600" b="1">
              <a:solidFill>
                <a:schemeClr val="tx1"/>
              </a:solidFill>
            </a:endParaRPr>
          </a:p>
        </p:txBody>
      </p:sp>
      <p:cxnSp>
        <p:nvCxnSpPr>
          <p:cNvPr id="65" name="直線矢印コネクタ 64">
            <a:extLst>
              <a:ext uri="{FF2B5EF4-FFF2-40B4-BE49-F238E27FC236}">
                <a16:creationId xmlns:a16="http://schemas.microsoft.com/office/drawing/2014/main" id="{EBB55F28-2743-A67B-DDC6-B1D9E61EC258}"/>
              </a:ext>
            </a:extLst>
          </p:cNvPr>
          <p:cNvCxnSpPr>
            <a:cxnSpLocks/>
          </p:cNvCxnSpPr>
          <p:nvPr/>
        </p:nvCxnSpPr>
        <p:spPr>
          <a:xfrm>
            <a:off x="5846961" y="2198089"/>
            <a:ext cx="759027"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37F896DA-5A5C-0C5F-A2FB-8205C921AE35}"/>
              </a:ext>
            </a:extLst>
          </p:cNvPr>
          <p:cNvSpPr txBox="1"/>
          <p:nvPr/>
        </p:nvSpPr>
        <p:spPr>
          <a:xfrm>
            <a:off x="5997457" y="1782754"/>
            <a:ext cx="419520"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No</a:t>
            </a:r>
            <a:endParaRPr kumimoji="1" lang="ja-JP" altLang="en-US" sz="1600">
              <a:latin typeface="+mn-lt"/>
              <a:ea typeface="+mn-ea"/>
            </a:endParaRPr>
          </a:p>
        </p:txBody>
      </p:sp>
      <p:sp>
        <p:nvSpPr>
          <p:cNvPr id="68" name="テキスト ボックス 67">
            <a:extLst>
              <a:ext uri="{FF2B5EF4-FFF2-40B4-BE49-F238E27FC236}">
                <a16:creationId xmlns:a16="http://schemas.microsoft.com/office/drawing/2014/main" id="{4A91768E-34AE-6428-1871-713B18A9A569}"/>
              </a:ext>
            </a:extLst>
          </p:cNvPr>
          <p:cNvSpPr txBox="1"/>
          <p:nvPr/>
        </p:nvSpPr>
        <p:spPr>
          <a:xfrm>
            <a:off x="5980892" y="3042841"/>
            <a:ext cx="435166" cy="391628"/>
          </a:xfrm>
          <a:prstGeom prst="rect">
            <a:avLst/>
          </a:prstGeom>
          <a:noFill/>
        </p:spPr>
        <p:txBody>
          <a:bodyPr wrap="none" lIns="72000" tIns="72000" rIns="72000" bIns="72000" rtlCol="0" anchor="ctr" anchorCtr="0">
            <a:spAutoFit/>
          </a:bodyPr>
          <a:lstStyle/>
          <a:p>
            <a:r>
              <a:rPr kumimoji="1" lang="en-US" altLang="ja-JP" sz="1600">
                <a:latin typeface="+mn-lt"/>
              </a:rPr>
              <a:t>Yes</a:t>
            </a:r>
            <a:endParaRPr kumimoji="1" lang="ja-JP" altLang="en-US" sz="1600">
              <a:latin typeface="+mn-lt"/>
              <a:ea typeface="+mn-ea"/>
            </a:endParaRPr>
          </a:p>
        </p:txBody>
      </p:sp>
      <p:sp>
        <p:nvSpPr>
          <p:cNvPr id="69" name="角丸四角形 40">
            <a:extLst>
              <a:ext uri="{FF2B5EF4-FFF2-40B4-BE49-F238E27FC236}">
                <a16:creationId xmlns:a16="http://schemas.microsoft.com/office/drawing/2014/main" id="{68B1165B-471E-4784-599C-CFFCF1403D4C}"/>
              </a:ext>
            </a:extLst>
          </p:cNvPr>
          <p:cNvSpPr/>
          <p:nvPr/>
        </p:nvSpPr>
        <p:spPr>
          <a:xfrm>
            <a:off x="853282" y="2281819"/>
            <a:ext cx="1481194" cy="3754144"/>
          </a:xfrm>
          <a:prstGeom prst="roundRect">
            <a:avLst>
              <a:gd name="adj" fmla="val 8058"/>
            </a:avLst>
          </a:prstGeom>
          <a:solidFill>
            <a:schemeClr val="accent4">
              <a:lumMod val="20000"/>
              <a:lumOff val="80000"/>
            </a:schemeClr>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a:spcBef>
                <a:spcPts val="300"/>
              </a:spcBef>
            </a:pPr>
            <a:r>
              <a:rPr lang="en-US" altLang="ja-JP" sz="1400">
                <a:solidFill>
                  <a:schemeClr val="tx1"/>
                </a:solidFill>
                <a:latin typeface="+mn-ea"/>
              </a:rPr>
              <a:t>(a)</a:t>
            </a:r>
            <a:r>
              <a:rPr lang="ja-JP" altLang="en-US" sz="1400">
                <a:solidFill>
                  <a:schemeClr val="tx1"/>
                </a:solidFill>
                <a:latin typeface="+mn-ea"/>
              </a:rPr>
              <a:t>会社がサービスを提供</a:t>
            </a:r>
            <a:r>
              <a:rPr lang="ja-JP" altLang="en-US" sz="1400" b="1" u="sng">
                <a:solidFill>
                  <a:schemeClr val="tx1"/>
                </a:solidFill>
                <a:latin typeface="+mn-ea"/>
              </a:rPr>
              <a:t>するにつれて</a:t>
            </a:r>
            <a:r>
              <a:rPr lang="ja-JP" altLang="en-US" sz="1400">
                <a:solidFill>
                  <a:schemeClr val="tx1"/>
                </a:solidFill>
                <a:latin typeface="+mn-ea"/>
              </a:rPr>
              <a:t>、顧客が当該サービスを享受する。</a:t>
            </a:r>
            <a:endParaRPr lang="en-US" altLang="ja-JP" sz="1400">
              <a:solidFill>
                <a:schemeClr val="tx1"/>
              </a:solidFill>
              <a:latin typeface="+mn-ea"/>
            </a:endParaRPr>
          </a:p>
          <a:p>
            <a:pPr>
              <a:spcBef>
                <a:spcPts val="300"/>
              </a:spcBef>
            </a:pPr>
            <a:endParaRPr kumimoji="1" lang="en-US" altLang="ja-JP" sz="1400">
              <a:solidFill>
                <a:schemeClr val="tx1"/>
              </a:solidFill>
              <a:latin typeface="+mn-ea"/>
            </a:endParaRPr>
          </a:p>
          <a:p>
            <a:pPr>
              <a:spcBef>
                <a:spcPts val="300"/>
              </a:spcBef>
            </a:pPr>
            <a:r>
              <a:rPr kumimoji="1" lang="en-US" altLang="ja-JP" sz="1400" b="1">
                <a:solidFill>
                  <a:schemeClr val="tx1"/>
                </a:solidFill>
                <a:latin typeface="+mn-ea"/>
              </a:rPr>
              <a:t>【</a:t>
            </a:r>
            <a:r>
              <a:rPr kumimoji="1" lang="ja-JP" altLang="en-US" sz="1400" b="1">
                <a:solidFill>
                  <a:schemeClr val="tx1"/>
                </a:solidFill>
                <a:latin typeface="+mn-ea"/>
              </a:rPr>
              <a:t>該当例</a:t>
            </a:r>
            <a:r>
              <a:rPr kumimoji="1" lang="en-US" altLang="ja-JP" sz="1400" b="1">
                <a:solidFill>
                  <a:schemeClr val="tx1"/>
                </a:solidFill>
                <a:latin typeface="+mn-ea"/>
              </a:rPr>
              <a:t>】</a:t>
            </a:r>
          </a:p>
          <a:p>
            <a:pPr>
              <a:spcBef>
                <a:spcPts val="300"/>
              </a:spcBef>
            </a:pPr>
            <a:r>
              <a:rPr kumimoji="1" lang="en-US" altLang="ja-JP" sz="1400" b="1">
                <a:solidFill>
                  <a:schemeClr val="tx1"/>
                </a:solidFill>
                <a:latin typeface="+mn-ea"/>
              </a:rPr>
              <a:t>SV</a:t>
            </a:r>
          </a:p>
          <a:p>
            <a:pPr>
              <a:spcBef>
                <a:spcPts val="300"/>
              </a:spcBef>
            </a:pPr>
            <a:r>
              <a:rPr kumimoji="1" lang="ja-JP" altLang="en-US" sz="1400" b="1">
                <a:solidFill>
                  <a:schemeClr val="tx1"/>
                </a:solidFill>
                <a:latin typeface="+mn-ea"/>
              </a:rPr>
              <a:t>保守サービス</a:t>
            </a:r>
            <a:endParaRPr kumimoji="1" lang="en-US" altLang="ja-JP" sz="1400" b="1">
              <a:solidFill>
                <a:schemeClr val="tx1"/>
              </a:solidFill>
              <a:latin typeface="+mn-ea"/>
            </a:endParaRPr>
          </a:p>
          <a:p>
            <a:pPr>
              <a:spcBef>
                <a:spcPts val="300"/>
              </a:spcBef>
            </a:pPr>
            <a:r>
              <a:rPr kumimoji="1" lang="ja-JP" altLang="en-US" sz="1400" b="1">
                <a:solidFill>
                  <a:schemeClr val="tx1"/>
                </a:solidFill>
                <a:latin typeface="+mn-ea"/>
              </a:rPr>
              <a:t>コンサルティングサービス</a:t>
            </a:r>
            <a:endParaRPr kumimoji="1" lang="en-US" altLang="ja-JP" sz="1400" b="1">
              <a:solidFill>
                <a:schemeClr val="tx1"/>
              </a:solidFill>
              <a:latin typeface="+mn-ea"/>
            </a:endParaRPr>
          </a:p>
          <a:p>
            <a:pPr>
              <a:spcBef>
                <a:spcPts val="300"/>
              </a:spcBef>
            </a:pPr>
            <a:r>
              <a:rPr kumimoji="1" lang="ja-JP" altLang="en-US" sz="1400" b="1">
                <a:solidFill>
                  <a:schemeClr val="tx1"/>
                </a:solidFill>
                <a:latin typeface="+mn-ea"/>
              </a:rPr>
              <a:t>詳細設計業務</a:t>
            </a:r>
            <a:endParaRPr kumimoji="1" lang="en-US" altLang="ja-JP" sz="1400" b="1">
              <a:solidFill>
                <a:schemeClr val="tx1"/>
              </a:solidFill>
              <a:latin typeface="+mn-ea"/>
            </a:endParaRPr>
          </a:p>
          <a:p>
            <a:pPr>
              <a:spcBef>
                <a:spcPts val="300"/>
              </a:spcBef>
            </a:pPr>
            <a:r>
              <a:rPr kumimoji="1" lang="ja-JP" altLang="en-US" sz="1400" b="1">
                <a:solidFill>
                  <a:schemeClr val="tx1"/>
                </a:solidFill>
                <a:latin typeface="+mn-ea"/>
              </a:rPr>
              <a:t>試験調整</a:t>
            </a:r>
          </a:p>
        </p:txBody>
      </p:sp>
      <p:sp>
        <p:nvSpPr>
          <p:cNvPr id="70" name="角丸四角形 37">
            <a:extLst>
              <a:ext uri="{FF2B5EF4-FFF2-40B4-BE49-F238E27FC236}">
                <a16:creationId xmlns:a16="http://schemas.microsoft.com/office/drawing/2014/main" id="{B1501924-5BA9-EC60-D550-119C01C97B13}"/>
              </a:ext>
            </a:extLst>
          </p:cNvPr>
          <p:cNvSpPr/>
          <p:nvPr/>
        </p:nvSpPr>
        <p:spPr>
          <a:xfrm>
            <a:off x="2391606" y="2286145"/>
            <a:ext cx="1468753" cy="3754144"/>
          </a:xfrm>
          <a:prstGeom prst="roundRect">
            <a:avLst>
              <a:gd name="adj" fmla="val 8058"/>
            </a:avLst>
          </a:prstGeom>
          <a:solidFill>
            <a:schemeClr val="accent4">
              <a:lumMod val="20000"/>
              <a:lumOff val="80000"/>
            </a:schemeClr>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a:spcBef>
                <a:spcPts val="300"/>
              </a:spcBef>
            </a:pPr>
            <a:r>
              <a:rPr lang="en-US" altLang="ja-JP" sz="1400">
                <a:solidFill>
                  <a:schemeClr val="tx1"/>
                </a:solidFill>
              </a:rPr>
              <a:t>(b)</a:t>
            </a:r>
            <a:r>
              <a:rPr lang="ja-JP" altLang="en-US" sz="1400">
                <a:solidFill>
                  <a:schemeClr val="tx1"/>
                </a:solidFill>
              </a:rPr>
              <a:t>会社が顧客にサービスを提供することにより、</a:t>
            </a:r>
            <a:r>
              <a:rPr lang="ja-JP" altLang="en-US" sz="1400" b="1" u="sng">
                <a:solidFill>
                  <a:schemeClr val="tx1"/>
                </a:solidFill>
              </a:rPr>
              <a:t>資産が発生又は資産価値が増加</a:t>
            </a:r>
            <a:r>
              <a:rPr lang="ja-JP" altLang="en-US" sz="1400">
                <a:solidFill>
                  <a:schemeClr val="tx1"/>
                </a:solidFill>
              </a:rPr>
              <a:t>し、顧客が当該資産を</a:t>
            </a:r>
            <a:r>
              <a:rPr lang="ja-JP" altLang="en-US" sz="1400" b="1" u="sng">
                <a:solidFill>
                  <a:schemeClr val="tx1"/>
                </a:solidFill>
              </a:rPr>
              <a:t>支配</a:t>
            </a:r>
            <a:r>
              <a:rPr lang="ja-JP" altLang="en-US" sz="1400">
                <a:solidFill>
                  <a:schemeClr val="tx1"/>
                </a:solidFill>
              </a:rPr>
              <a:t>する。</a:t>
            </a:r>
            <a:endParaRPr lang="en-US" altLang="ja-JP" sz="1400">
              <a:solidFill>
                <a:schemeClr val="tx1"/>
              </a:solidFill>
            </a:endParaRPr>
          </a:p>
          <a:p>
            <a:pPr>
              <a:spcBef>
                <a:spcPts val="300"/>
              </a:spcBef>
            </a:pPr>
            <a:endParaRPr kumimoji="1" lang="en-US" altLang="ja-JP" sz="1400">
              <a:solidFill>
                <a:schemeClr val="tx1"/>
              </a:solidFill>
              <a:latin typeface="+mn-ea"/>
            </a:endParaRPr>
          </a:p>
          <a:p>
            <a:pPr>
              <a:spcBef>
                <a:spcPts val="300"/>
              </a:spcBef>
            </a:pPr>
            <a:r>
              <a:rPr kumimoji="1" lang="en-US" altLang="ja-JP" sz="1400" b="1">
                <a:solidFill>
                  <a:schemeClr val="tx1"/>
                </a:solidFill>
                <a:latin typeface="+mn-ea"/>
              </a:rPr>
              <a:t>【</a:t>
            </a:r>
            <a:r>
              <a:rPr kumimoji="1" lang="ja-JP" altLang="en-US" sz="1400" b="1">
                <a:solidFill>
                  <a:schemeClr val="tx1"/>
                </a:solidFill>
                <a:latin typeface="+mn-ea"/>
              </a:rPr>
              <a:t>該当例</a:t>
            </a:r>
            <a:r>
              <a:rPr kumimoji="1" lang="en-US" altLang="ja-JP" sz="1400" b="1">
                <a:solidFill>
                  <a:schemeClr val="tx1"/>
                </a:solidFill>
                <a:latin typeface="+mn-ea"/>
              </a:rPr>
              <a:t>】</a:t>
            </a:r>
          </a:p>
          <a:p>
            <a:pPr>
              <a:spcBef>
                <a:spcPts val="300"/>
              </a:spcBef>
            </a:pPr>
            <a:r>
              <a:rPr kumimoji="1" lang="ja-JP" altLang="en-US" sz="1400" b="1">
                <a:solidFill>
                  <a:schemeClr val="tx1"/>
                </a:solidFill>
                <a:latin typeface="+mn-ea"/>
              </a:rPr>
              <a:t>工事建設</a:t>
            </a:r>
            <a:endParaRPr kumimoji="1" lang="en-US" altLang="ja-JP" sz="1400" b="1">
              <a:solidFill>
                <a:schemeClr val="tx1"/>
              </a:solidFill>
              <a:latin typeface="+mn-ea"/>
            </a:endParaRPr>
          </a:p>
          <a:p>
            <a:pPr>
              <a:spcBef>
                <a:spcPts val="300"/>
              </a:spcBef>
            </a:pPr>
            <a:r>
              <a:rPr kumimoji="1" lang="ja-JP" altLang="en-US" sz="1400" b="1">
                <a:solidFill>
                  <a:schemeClr val="tx1"/>
                </a:solidFill>
                <a:latin typeface="+mn-ea"/>
              </a:rPr>
              <a:t>（工事完成につれて時価が向上し、顧客は資産を支配できる）</a:t>
            </a:r>
          </a:p>
        </p:txBody>
      </p:sp>
      <p:sp>
        <p:nvSpPr>
          <p:cNvPr id="71" name="角丸四角形 47">
            <a:extLst>
              <a:ext uri="{FF2B5EF4-FFF2-40B4-BE49-F238E27FC236}">
                <a16:creationId xmlns:a16="http://schemas.microsoft.com/office/drawing/2014/main" id="{6BA39EC8-84F9-3211-5BCE-E7399D658142}"/>
              </a:ext>
            </a:extLst>
          </p:cNvPr>
          <p:cNvSpPr/>
          <p:nvPr/>
        </p:nvSpPr>
        <p:spPr>
          <a:xfrm>
            <a:off x="3917489" y="2292730"/>
            <a:ext cx="1625989" cy="3746450"/>
          </a:xfrm>
          <a:prstGeom prst="roundRect">
            <a:avLst>
              <a:gd name="adj" fmla="val 8058"/>
            </a:avLst>
          </a:prstGeom>
          <a:solidFill>
            <a:schemeClr val="accent4">
              <a:lumMod val="20000"/>
              <a:lumOff val="80000"/>
            </a:schemeClr>
          </a:solid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noAutofit/>
          </a:bodyPr>
          <a:lstStyle/>
          <a:p>
            <a:pPr>
              <a:spcBef>
                <a:spcPts val="300"/>
              </a:spcBef>
            </a:pPr>
            <a:r>
              <a:rPr lang="en-US" altLang="ja-JP" sz="1400">
                <a:solidFill>
                  <a:schemeClr val="tx1"/>
                </a:solidFill>
              </a:rPr>
              <a:t>(c)</a:t>
            </a:r>
            <a:r>
              <a:rPr lang="ja-JP" altLang="en-US" sz="1400">
                <a:solidFill>
                  <a:schemeClr val="tx1"/>
                </a:solidFill>
              </a:rPr>
              <a:t>会社の提供したサービスが他の会社に</a:t>
            </a:r>
            <a:r>
              <a:rPr lang="ja-JP" altLang="en-US" sz="1400" b="1" u="sng">
                <a:solidFill>
                  <a:schemeClr val="tx1"/>
                </a:solidFill>
              </a:rPr>
              <a:t>転用できない</a:t>
            </a:r>
            <a:endParaRPr lang="en-US" altLang="ja-JP" sz="1400" b="1" u="sng">
              <a:solidFill>
                <a:schemeClr val="tx1"/>
              </a:solidFill>
            </a:endParaRPr>
          </a:p>
          <a:p>
            <a:pPr>
              <a:spcBef>
                <a:spcPts val="300"/>
              </a:spcBef>
            </a:pPr>
            <a:r>
              <a:rPr lang="ja-JP" altLang="ja-JP" sz="1400">
                <a:solidFill>
                  <a:schemeClr val="tx1"/>
                </a:solidFill>
              </a:rPr>
              <a:t>かつ</a:t>
            </a:r>
            <a:endParaRPr lang="en-US" altLang="ja-JP" sz="1400">
              <a:solidFill>
                <a:schemeClr val="tx1"/>
              </a:solidFill>
            </a:endParaRPr>
          </a:p>
          <a:p>
            <a:pPr>
              <a:spcBef>
                <a:spcPts val="300"/>
              </a:spcBef>
            </a:pPr>
            <a:r>
              <a:rPr lang="ja-JP" altLang="ja-JP" sz="1400">
                <a:solidFill>
                  <a:schemeClr val="tx1"/>
                </a:solidFill>
              </a:rPr>
              <a:t>完了</a:t>
            </a:r>
            <a:r>
              <a:rPr lang="ja-JP" altLang="en-US" sz="1400">
                <a:solidFill>
                  <a:schemeClr val="tx1"/>
                </a:solidFill>
              </a:rPr>
              <a:t>工事等</a:t>
            </a:r>
            <a:r>
              <a:rPr lang="ja-JP" altLang="ja-JP" sz="1400">
                <a:solidFill>
                  <a:schemeClr val="tx1"/>
                </a:solidFill>
              </a:rPr>
              <a:t>に対する</a:t>
            </a:r>
            <a:r>
              <a:rPr lang="ja-JP" altLang="ja-JP" sz="1400" b="1" u="sng">
                <a:solidFill>
                  <a:schemeClr val="tx1"/>
                </a:solidFill>
              </a:rPr>
              <a:t>支払を受ける強制可能な権利</a:t>
            </a:r>
            <a:r>
              <a:rPr lang="ja-JP" altLang="ja-JP" sz="1400">
                <a:solidFill>
                  <a:schemeClr val="tx1"/>
                </a:solidFill>
              </a:rPr>
              <a:t>を有する</a:t>
            </a:r>
            <a:r>
              <a:rPr lang="ja-JP" altLang="en-US" sz="1400">
                <a:solidFill>
                  <a:schemeClr val="tx1"/>
                </a:solidFill>
              </a:rPr>
              <a:t>。</a:t>
            </a:r>
            <a:endParaRPr lang="en-US" altLang="ja-JP" sz="1400">
              <a:solidFill>
                <a:schemeClr val="tx1"/>
              </a:solidFill>
            </a:endParaRPr>
          </a:p>
          <a:p>
            <a:pPr>
              <a:spcBef>
                <a:spcPts val="300"/>
              </a:spcBef>
            </a:pPr>
            <a:r>
              <a:rPr lang="en-US" altLang="ja-JP" sz="1400" b="1">
                <a:solidFill>
                  <a:schemeClr val="tx1"/>
                </a:solidFill>
              </a:rPr>
              <a:t>【</a:t>
            </a:r>
            <a:r>
              <a:rPr lang="ja-JP" altLang="en-US" sz="1400" b="1">
                <a:solidFill>
                  <a:schemeClr val="tx1"/>
                </a:solidFill>
              </a:rPr>
              <a:t>該当例</a:t>
            </a:r>
            <a:r>
              <a:rPr lang="en-US" altLang="ja-JP" sz="1400" b="1">
                <a:solidFill>
                  <a:schemeClr val="tx1"/>
                </a:solidFill>
              </a:rPr>
              <a:t>】</a:t>
            </a:r>
          </a:p>
          <a:p>
            <a:pPr>
              <a:spcBef>
                <a:spcPts val="300"/>
              </a:spcBef>
            </a:pPr>
            <a:r>
              <a:rPr lang="ja-JP" altLang="en-US" sz="1400" b="1">
                <a:solidFill>
                  <a:schemeClr val="tx1"/>
                </a:solidFill>
              </a:rPr>
              <a:t>顧客専用のオーダーメイドの製品製造をしていて、製造期間が長期間にわたる、かつ、契約により支払が確定している。</a:t>
            </a:r>
            <a:endParaRPr lang="en-US" altLang="ja-JP" sz="1400" b="1">
              <a:solidFill>
                <a:schemeClr val="tx1"/>
              </a:solidFill>
            </a:endParaRPr>
          </a:p>
        </p:txBody>
      </p:sp>
      <p:sp>
        <p:nvSpPr>
          <p:cNvPr id="74" name="テキスト プレースホルダー 5">
            <a:extLst>
              <a:ext uri="{FF2B5EF4-FFF2-40B4-BE49-F238E27FC236}">
                <a16:creationId xmlns:a16="http://schemas.microsoft.com/office/drawing/2014/main" id="{35F09C61-FCFA-1880-D4E4-03EFDDF88B22}"/>
              </a:ext>
            </a:extLst>
          </p:cNvPr>
          <p:cNvSpPr txBox="1">
            <a:spLocks/>
          </p:cNvSpPr>
          <p:nvPr/>
        </p:nvSpPr>
        <p:spPr>
          <a:xfrm>
            <a:off x="583476" y="1358900"/>
            <a:ext cx="5269601" cy="376118"/>
          </a:xfrm>
          <a:prstGeom prst="rect">
            <a:avLst/>
          </a:prstGeom>
        </p:spPr>
        <p:txBody>
          <a:bodyPr vert="horz" wrap="none" lIns="72000" tIns="72000" rIns="72000" bIns="72000" rtlCol="0" anchor="ctr">
            <a:noAutofit/>
          </a:bodyPr>
          <a:lstStyle>
            <a:lvl1pPr marL="0" indent="0" eaLnBrk="1" hangingPunct="1">
              <a:lnSpc>
                <a:spcPct val="106000"/>
              </a:lnSpc>
              <a:spcBef>
                <a:spcPts val="1056"/>
              </a:spcBef>
              <a:defRPr kumimoji="1" sz="1400" b="1">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a:solidFill>
                  <a:schemeClr val="tx1"/>
                </a:solidFill>
                <a:latin typeface="Arial" pitchFamily="34" charset="0"/>
                <a:ea typeface="+mn-ea"/>
                <a:cs typeface="Arial" pitchFamily="34" charset="0"/>
              </a:defRPr>
            </a:lvl4pPr>
          </a:lstStyle>
          <a:p>
            <a:pPr fontAlgn="auto">
              <a:spcAft>
                <a:spcPts val="0"/>
              </a:spcAft>
            </a:pPr>
            <a:endParaRPr lang="ja-JP" altLang="en-US" kern="0">
              <a:solidFill>
                <a:schemeClr val="tx1"/>
              </a:solidFill>
            </a:endParaRPr>
          </a:p>
        </p:txBody>
      </p:sp>
      <p:sp>
        <p:nvSpPr>
          <p:cNvPr id="77" name="テキスト ボックス 76">
            <a:extLst>
              <a:ext uri="{FF2B5EF4-FFF2-40B4-BE49-F238E27FC236}">
                <a16:creationId xmlns:a16="http://schemas.microsoft.com/office/drawing/2014/main" id="{45B2D2B0-CF19-19E2-A160-E9872AACD602}"/>
              </a:ext>
            </a:extLst>
          </p:cNvPr>
          <p:cNvSpPr txBox="1"/>
          <p:nvPr/>
        </p:nvSpPr>
        <p:spPr>
          <a:xfrm>
            <a:off x="762000" y="1822719"/>
            <a:ext cx="5121918" cy="318924"/>
          </a:xfrm>
          <a:prstGeom prst="rect">
            <a:avLst/>
          </a:prstGeom>
          <a:noFill/>
        </p:spPr>
        <p:txBody>
          <a:bodyPr wrap="square" lIns="36000" tIns="36000" rIns="36000" bIns="36000" rtlCol="0" anchor="ctr" anchorCtr="0">
            <a:spAutoFit/>
          </a:bodyPr>
          <a:lstStyle/>
          <a:p>
            <a:r>
              <a:rPr kumimoji="1" lang="ja-JP" altLang="en-US" sz="1600"/>
              <a:t>（</a:t>
            </a:r>
            <a:r>
              <a:rPr kumimoji="1" lang="en-US" altLang="ja-JP" sz="1600"/>
              <a:t>a</a:t>
            </a:r>
            <a:r>
              <a:rPr kumimoji="1" lang="ja-JP" altLang="en-US" sz="1600"/>
              <a:t>）～（</a:t>
            </a:r>
            <a:r>
              <a:rPr kumimoji="1" lang="en-US" altLang="ja-JP" sz="1600"/>
              <a:t>c</a:t>
            </a:r>
            <a:r>
              <a:rPr kumimoji="1" lang="ja-JP" altLang="en-US" sz="1600"/>
              <a:t>）のいずれかに該当すれば、一定期間で認識する</a:t>
            </a:r>
            <a:endParaRPr kumimoji="1" lang="en-US" altLang="ja-JP" sz="1600"/>
          </a:p>
        </p:txBody>
      </p:sp>
      <p:sp>
        <p:nvSpPr>
          <p:cNvPr id="78" name="角丸四角形 22">
            <a:extLst>
              <a:ext uri="{FF2B5EF4-FFF2-40B4-BE49-F238E27FC236}">
                <a16:creationId xmlns:a16="http://schemas.microsoft.com/office/drawing/2014/main" id="{A50CF9E3-581F-E8C9-84B4-0AE820170E50}"/>
              </a:ext>
            </a:extLst>
          </p:cNvPr>
          <p:cNvSpPr/>
          <p:nvPr/>
        </p:nvSpPr>
        <p:spPr>
          <a:xfrm>
            <a:off x="6586232" y="2830064"/>
            <a:ext cx="4991448" cy="1227408"/>
          </a:xfrm>
          <a:prstGeom prst="round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r>
              <a:rPr kumimoji="1" lang="ja-JP" altLang="en-US" sz="1600" b="1">
                <a:solidFill>
                  <a:schemeClr val="tx1"/>
                </a:solidFill>
              </a:rPr>
              <a:t>工事期間がごく短い場合には、例外的に工事が完了した一時点で収益を認識することができる。</a:t>
            </a:r>
            <a:endParaRPr kumimoji="1" lang="en-US" altLang="ja-JP" sz="1600" b="1">
              <a:solidFill>
                <a:schemeClr val="tx1"/>
              </a:solidFill>
            </a:endParaRPr>
          </a:p>
          <a:p>
            <a:r>
              <a:rPr lang="ja-JP" altLang="en-US" sz="1600" b="1">
                <a:solidFill>
                  <a:srgbClr val="FF0000"/>
                </a:solidFill>
              </a:rPr>
              <a:t>①工期が半年を超え、かつ、</a:t>
            </a:r>
            <a:endParaRPr lang="en-US" altLang="ja-JP" sz="1600" b="1">
              <a:solidFill>
                <a:srgbClr val="FF0000"/>
              </a:solidFill>
            </a:endParaRPr>
          </a:p>
          <a:p>
            <a:r>
              <a:rPr lang="ja-JP" altLang="en-US" sz="1600" b="1">
                <a:solidFill>
                  <a:srgbClr val="FF0000"/>
                </a:solidFill>
              </a:rPr>
              <a:t>②受注金額が</a:t>
            </a:r>
            <a:r>
              <a:rPr lang="en-US" altLang="ja-JP" sz="1600" b="1">
                <a:solidFill>
                  <a:srgbClr val="FF0000"/>
                </a:solidFill>
              </a:rPr>
              <a:t>50</a:t>
            </a:r>
            <a:r>
              <a:rPr lang="ja-JP" altLang="en-US" sz="1600" b="1">
                <a:solidFill>
                  <a:srgbClr val="FF0000"/>
                </a:solidFill>
              </a:rPr>
              <a:t>百万円を超える</a:t>
            </a:r>
            <a:endParaRPr lang="en-US" altLang="ja-JP" sz="1600" b="1">
              <a:solidFill>
                <a:srgbClr val="FF0000"/>
              </a:solidFill>
            </a:endParaRPr>
          </a:p>
          <a:p>
            <a:r>
              <a:rPr lang="en-US" altLang="ja-JP" sz="1600">
                <a:solidFill>
                  <a:schemeClr val="tx1"/>
                </a:solidFill>
              </a:rPr>
              <a:t>※</a:t>
            </a:r>
            <a:r>
              <a:rPr lang="ja-JP" altLang="en-US" sz="1600">
                <a:solidFill>
                  <a:schemeClr val="tx1"/>
                </a:solidFill>
              </a:rPr>
              <a:t>工期は着工～完納までの実態ベースで測定</a:t>
            </a:r>
            <a:endParaRPr kumimoji="1" lang="ja-JP" altLang="en-US" sz="1600">
              <a:solidFill>
                <a:schemeClr val="tx1"/>
              </a:solidFill>
            </a:endParaRPr>
          </a:p>
        </p:txBody>
      </p:sp>
      <p:cxnSp>
        <p:nvCxnSpPr>
          <p:cNvPr id="83" name="直線矢印コネクタ 82">
            <a:extLst>
              <a:ext uri="{FF2B5EF4-FFF2-40B4-BE49-F238E27FC236}">
                <a16:creationId xmlns:a16="http://schemas.microsoft.com/office/drawing/2014/main" id="{617ECBCF-242E-C4D6-0FB6-9262A0F19F1B}"/>
              </a:ext>
            </a:extLst>
          </p:cNvPr>
          <p:cNvCxnSpPr>
            <a:cxnSpLocks/>
            <a:endCxn id="78" idx="1"/>
          </p:cNvCxnSpPr>
          <p:nvPr/>
        </p:nvCxnSpPr>
        <p:spPr>
          <a:xfrm>
            <a:off x="5827205" y="3443768"/>
            <a:ext cx="759027"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7" name="正方形/長方形 86">
            <a:extLst>
              <a:ext uri="{FF2B5EF4-FFF2-40B4-BE49-F238E27FC236}">
                <a16:creationId xmlns:a16="http://schemas.microsoft.com/office/drawing/2014/main" id="{1F113DCA-C3A4-2486-5B87-FD476C94F9A0}"/>
              </a:ext>
            </a:extLst>
          </p:cNvPr>
          <p:cNvSpPr/>
          <p:nvPr/>
        </p:nvSpPr>
        <p:spPr>
          <a:xfrm>
            <a:off x="8752470" y="4426244"/>
            <a:ext cx="2825203" cy="387930"/>
          </a:xfrm>
          <a:prstGeom prst="rect">
            <a:avLst/>
          </a:prstGeom>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a:solidFill>
                  <a:schemeClr val="tx1"/>
                </a:solidFill>
              </a:rPr>
              <a:t>収益を</a:t>
            </a:r>
            <a:r>
              <a:rPr kumimoji="1" lang="ja-JP" altLang="en-US" sz="1600" b="1" u="sng">
                <a:solidFill>
                  <a:schemeClr val="tx1"/>
                </a:solidFill>
              </a:rPr>
              <a:t>一定期間</a:t>
            </a:r>
            <a:r>
              <a:rPr kumimoji="1" lang="ja-JP" altLang="en-US" sz="1600" b="1">
                <a:solidFill>
                  <a:schemeClr val="tx1"/>
                </a:solidFill>
              </a:rPr>
              <a:t>で認識</a:t>
            </a:r>
          </a:p>
        </p:txBody>
      </p:sp>
      <p:cxnSp>
        <p:nvCxnSpPr>
          <p:cNvPr id="89" name="直線矢印コネクタ 88">
            <a:extLst>
              <a:ext uri="{FF2B5EF4-FFF2-40B4-BE49-F238E27FC236}">
                <a16:creationId xmlns:a16="http://schemas.microsoft.com/office/drawing/2014/main" id="{8BF58767-D042-91BD-4F95-EE731ED6860E}"/>
              </a:ext>
            </a:extLst>
          </p:cNvPr>
          <p:cNvCxnSpPr>
            <a:cxnSpLocks/>
          </p:cNvCxnSpPr>
          <p:nvPr/>
        </p:nvCxnSpPr>
        <p:spPr>
          <a:xfrm>
            <a:off x="7391400" y="4075025"/>
            <a:ext cx="0" cy="33487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0" name="テキスト ボックス 89">
            <a:extLst>
              <a:ext uri="{FF2B5EF4-FFF2-40B4-BE49-F238E27FC236}">
                <a16:creationId xmlns:a16="http://schemas.microsoft.com/office/drawing/2014/main" id="{08A4FEE1-353F-F952-E0C5-334DDF0645B6}"/>
              </a:ext>
            </a:extLst>
          </p:cNvPr>
          <p:cNvSpPr txBox="1"/>
          <p:nvPr/>
        </p:nvSpPr>
        <p:spPr>
          <a:xfrm>
            <a:off x="10269721" y="4051181"/>
            <a:ext cx="435166"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Yes</a:t>
            </a:r>
            <a:endParaRPr kumimoji="1" lang="ja-JP" altLang="en-US" sz="1600">
              <a:latin typeface="+mn-lt"/>
              <a:ea typeface="+mn-ea"/>
            </a:endParaRPr>
          </a:p>
        </p:txBody>
      </p:sp>
      <p:cxnSp>
        <p:nvCxnSpPr>
          <p:cNvPr id="91" name="直線矢印コネクタ 90">
            <a:extLst>
              <a:ext uri="{FF2B5EF4-FFF2-40B4-BE49-F238E27FC236}">
                <a16:creationId xmlns:a16="http://schemas.microsoft.com/office/drawing/2014/main" id="{D64A0B94-5AE6-2E6B-B05B-30A55EF71FCB}"/>
              </a:ext>
            </a:extLst>
          </p:cNvPr>
          <p:cNvCxnSpPr>
            <a:cxnSpLocks/>
          </p:cNvCxnSpPr>
          <p:nvPr/>
        </p:nvCxnSpPr>
        <p:spPr>
          <a:xfrm flipH="1">
            <a:off x="10149150" y="4050543"/>
            <a:ext cx="1" cy="38793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2" name="テキスト ボックス 91">
            <a:extLst>
              <a:ext uri="{FF2B5EF4-FFF2-40B4-BE49-F238E27FC236}">
                <a16:creationId xmlns:a16="http://schemas.microsoft.com/office/drawing/2014/main" id="{900692DD-B258-89B2-53FE-015D4E6D2891}"/>
              </a:ext>
            </a:extLst>
          </p:cNvPr>
          <p:cNvSpPr txBox="1"/>
          <p:nvPr/>
        </p:nvSpPr>
        <p:spPr>
          <a:xfrm>
            <a:off x="7459877" y="4001155"/>
            <a:ext cx="419520"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No</a:t>
            </a:r>
            <a:endParaRPr kumimoji="1" lang="ja-JP" altLang="en-US" sz="1600">
              <a:latin typeface="+mn-lt"/>
              <a:ea typeface="+mn-ea"/>
            </a:endParaRPr>
          </a:p>
        </p:txBody>
      </p:sp>
      <p:cxnSp>
        <p:nvCxnSpPr>
          <p:cNvPr id="93" name="直線矢印コネクタ 92">
            <a:extLst>
              <a:ext uri="{FF2B5EF4-FFF2-40B4-BE49-F238E27FC236}">
                <a16:creationId xmlns:a16="http://schemas.microsoft.com/office/drawing/2014/main" id="{8399BC10-AA4B-BE22-7F0E-182AEC65D245}"/>
              </a:ext>
            </a:extLst>
          </p:cNvPr>
          <p:cNvCxnSpPr>
            <a:cxnSpLocks/>
            <a:stCxn id="87" idx="2"/>
            <a:endCxn id="94" idx="0"/>
          </p:cNvCxnSpPr>
          <p:nvPr/>
        </p:nvCxnSpPr>
        <p:spPr>
          <a:xfrm>
            <a:off x="10165072" y="4814174"/>
            <a:ext cx="4" cy="348763"/>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4" name="角丸四角形 22">
            <a:extLst>
              <a:ext uri="{FF2B5EF4-FFF2-40B4-BE49-F238E27FC236}">
                <a16:creationId xmlns:a16="http://schemas.microsoft.com/office/drawing/2014/main" id="{91AC608E-7197-CDB1-71C5-5A77823AA795}"/>
              </a:ext>
            </a:extLst>
          </p:cNvPr>
          <p:cNvSpPr/>
          <p:nvPr/>
        </p:nvSpPr>
        <p:spPr>
          <a:xfrm>
            <a:off x="8752471" y="5162937"/>
            <a:ext cx="2825210" cy="480998"/>
          </a:xfrm>
          <a:prstGeom prst="roundRect">
            <a:avLst/>
          </a:prstGeom>
          <a:solidFill>
            <a:schemeClr val="bg1"/>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r>
              <a:rPr kumimoji="1" lang="ja-JP" altLang="en-US" sz="1600" b="1">
                <a:solidFill>
                  <a:schemeClr val="tx1"/>
                </a:solidFill>
              </a:rPr>
              <a:t>合理的に進捗度を見積もることができるか？ （次項）</a:t>
            </a:r>
            <a:endParaRPr kumimoji="1" lang="ja-JP" altLang="en-US" sz="1600">
              <a:solidFill>
                <a:schemeClr val="tx1"/>
              </a:solidFill>
            </a:endParaRPr>
          </a:p>
        </p:txBody>
      </p:sp>
      <p:sp>
        <p:nvSpPr>
          <p:cNvPr id="109" name="正方形/長方形 108">
            <a:extLst>
              <a:ext uri="{FF2B5EF4-FFF2-40B4-BE49-F238E27FC236}">
                <a16:creationId xmlns:a16="http://schemas.microsoft.com/office/drawing/2014/main" id="{9EA8C883-D64F-8A3C-6B59-8635213CCA21}"/>
              </a:ext>
            </a:extLst>
          </p:cNvPr>
          <p:cNvSpPr/>
          <p:nvPr/>
        </p:nvSpPr>
        <p:spPr>
          <a:xfrm>
            <a:off x="6559865" y="4410336"/>
            <a:ext cx="1922088" cy="1246153"/>
          </a:xfrm>
          <a:prstGeom prst="rect">
            <a:avLst/>
          </a:prstGeom>
          <a:solidFill>
            <a:schemeClr val="bg1"/>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u="sng">
                <a:solidFill>
                  <a:schemeClr val="tx1"/>
                </a:solidFill>
              </a:rPr>
              <a:t>一時点</a:t>
            </a:r>
            <a:r>
              <a:rPr kumimoji="1" lang="ja-JP" altLang="en-US" sz="1600" b="1">
                <a:solidFill>
                  <a:schemeClr val="tx1"/>
                </a:solidFill>
              </a:rPr>
              <a:t>の収益（完成基準、検収基準）</a:t>
            </a:r>
          </a:p>
          <a:p>
            <a:pPr algn="ctr"/>
            <a:r>
              <a:rPr kumimoji="1" lang="ja-JP" altLang="en-US" sz="1600" b="1">
                <a:solidFill>
                  <a:schemeClr val="tx1"/>
                </a:solidFill>
              </a:rPr>
              <a:t>→先方の検収日、工事完了報告書日に一括で売上計上</a:t>
            </a:r>
            <a:endParaRPr kumimoji="1" lang="en-US" altLang="ja-JP" sz="1600" b="1">
              <a:solidFill>
                <a:schemeClr val="tx1"/>
              </a:solidFill>
            </a:endParaRPr>
          </a:p>
        </p:txBody>
      </p:sp>
    </p:spTree>
    <p:extLst>
      <p:ext uri="{BB962C8B-B14F-4D97-AF65-F5344CB8AC3E}">
        <p14:creationId xmlns:p14="http://schemas.microsoft.com/office/powerpoint/2010/main" val="39878988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049C7-F804-22E2-6E4A-151DE87FE2A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BDA001C-A4EA-6F45-3FB7-8177688D28B5}"/>
              </a:ext>
            </a:extLst>
          </p:cNvPr>
          <p:cNvSpPr>
            <a:spLocks noGrp="1"/>
          </p:cNvSpPr>
          <p:nvPr>
            <p:ph type="title"/>
          </p:nvPr>
        </p:nvSpPr>
        <p:spPr>
          <a:xfrm>
            <a:off x="658800" y="367200"/>
            <a:ext cx="10592527" cy="371961"/>
          </a:xfrm>
        </p:spPr>
        <p:txBody>
          <a:bodyPr>
            <a:normAutofit/>
          </a:bodyPr>
          <a:lstStyle/>
          <a:p>
            <a:r>
              <a:rPr lang="en-US" altLang="ja-JP"/>
              <a:t>Appendix.</a:t>
            </a:r>
            <a:r>
              <a:rPr lang="ja-JP" altLang="en-US"/>
              <a:t>収益認識基準ーステップ</a:t>
            </a:r>
            <a:r>
              <a:rPr lang="en-US" altLang="ja-JP"/>
              <a:t>5(2/2)</a:t>
            </a:r>
            <a:endParaRPr lang="ja-JP" altLang="en-US"/>
          </a:p>
        </p:txBody>
      </p:sp>
      <p:sp>
        <p:nvSpPr>
          <p:cNvPr id="82" name="テキスト プレースホルダー 3">
            <a:extLst>
              <a:ext uri="{FF2B5EF4-FFF2-40B4-BE49-F238E27FC236}">
                <a16:creationId xmlns:a16="http://schemas.microsoft.com/office/drawing/2014/main" id="{281FDF8B-444A-C965-8084-A547A2A98CB4}"/>
              </a:ext>
            </a:extLst>
          </p:cNvPr>
          <p:cNvSpPr>
            <a:spLocks noGrp="1"/>
          </p:cNvSpPr>
          <p:nvPr>
            <p:ph type="body" sz="quarter" idx="10"/>
          </p:nvPr>
        </p:nvSpPr>
        <p:spPr>
          <a:xfrm>
            <a:off x="614800" y="940366"/>
            <a:ext cx="11410749" cy="498029"/>
          </a:xfrm>
        </p:spPr>
        <p:txBody>
          <a:bodyPr/>
          <a:lstStyle/>
          <a:p>
            <a:r>
              <a:rPr lang="ja-JP" altLang="en-US" sz="1800" b="0"/>
              <a:t>判断②　合理的な進捗度を見積もることができるか否かの判断は下記のフローに従って実施します。</a:t>
            </a:r>
          </a:p>
        </p:txBody>
      </p:sp>
      <p:sp>
        <p:nvSpPr>
          <p:cNvPr id="2" name="角丸四角形 21">
            <a:extLst>
              <a:ext uri="{FF2B5EF4-FFF2-40B4-BE49-F238E27FC236}">
                <a16:creationId xmlns:a16="http://schemas.microsoft.com/office/drawing/2014/main" id="{D5D1FD9B-F3A8-7D35-7453-B5D2E247CD9B}"/>
              </a:ext>
            </a:extLst>
          </p:cNvPr>
          <p:cNvSpPr/>
          <p:nvPr/>
        </p:nvSpPr>
        <p:spPr>
          <a:xfrm>
            <a:off x="555120" y="1444152"/>
            <a:ext cx="4799523" cy="5221590"/>
          </a:xfrm>
          <a:prstGeom prst="roundRect">
            <a:avLst/>
          </a:prstGeom>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en-US" altLang="ja-JP" sz="1200">
              <a:solidFill>
                <a:schemeClr val="tx1"/>
              </a:solidFill>
            </a:endParaRPr>
          </a:p>
          <a:p>
            <a:pPr algn="ctr"/>
            <a:endParaRPr kumimoji="1" lang="ja-JP" altLang="en-US" sz="1200">
              <a:solidFill>
                <a:schemeClr val="tx1"/>
              </a:solidFill>
            </a:endParaRPr>
          </a:p>
        </p:txBody>
      </p:sp>
      <p:sp>
        <p:nvSpPr>
          <p:cNvPr id="4" name="テキスト プレースホルダー 5">
            <a:extLst>
              <a:ext uri="{FF2B5EF4-FFF2-40B4-BE49-F238E27FC236}">
                <a16:creationId xmlns:a16="http://schemas.microsoft.com/office/drawing/2014/main" id="{BEA9AACD-821D-3BD4-1ED4-ABECD22C9FC2}"/>
              </a:ext>
            </a:extLst>
          </p:cNvPr>
          <p:cNvSpPr txBox="1">
            <a:spLocks/>
          </p:cNvSpPr>
          <p:nvPr/>
        </p:nvSpPr>
        <p:spPr>
          <a:xfrm>
            <a:off x="864597" y="1571864"/>
            <a:ext cx="3251346" cy="591333"/>
          </a:xfrm>
          <a:prstGeom prst="rect">
            <a:avLst/>
          </a:prstGeom>
        </p:spPr>
        <p:txBody>
          <a:bodyPr vert="horz" wrap="none" lIns="72000" tIns="72000" rIns="72000" bIns="72000" rtlCol="0" anchor="ctr">
            <a:noAutofit/>
          </a:bodyPr>
          <a:lstStyle>
            <a:lvl1pPr marL="0" indent="0" eaLnBrk="1" hangingPunct="1">
              <a:lnSpc>
                <a:spcPct val="106000"/>
              </a:lnSpc>
              <a:spcBef>
                <a:spcPts val="1056"/>
              </a:spcBef>
              <a:defRPr kumimoji="1" sz="1400" b="1">
                <a:solidFill>
                  <a:schemeClr val="accent2"/>
                </a:solidFill>
                <a:latin typeface="Arial" pitchFamily="34" charset="0"/>
                <a:ea typeface="+mn-ea"/>
                <a:cs typeface="Arial" pitchFamily="34" charset="0"/>
              </a:defRPr>
            </a:lvl1pPr>
            <a:lvl2pPr marL="169200" indent="-169200" algn="l" eaLnBrk="1" hangingPunct="1">
              <a:lnSpc>
                <a:spcPct val="106000"/>
              </a:lnSpc>
              <a:spcBef>
                <a:spcPts val="1056"/>
              </a:spcBef>
              <a:buFont typeface="Wingdings" pitchFamily="2" charset="2"/>
              <a:buChar char="n"/>
              <a:defRPr kumimoji="1" sz="1200">
                <a:solidFill>
                  <a:schemeClr val="tx1"/>
                </a:solidFill>
                <a:latin typeface="Arial" pitchFamily="34" charset="0"/>
                <a:ea typeface="+mn-ea"/>
                <a:cs typeface="Arial" pitchFamily="34" charset="0"/>
              </a:defRPr>
            </a:lvl2pPr>
            <a:lvl3pPr marL="345600" indent="-172800" algn="l" eaLnBrk="1" hangingPunct="1">
              <a:lnSpc>
                <a:spcPct val="106000"/>
              </a:lnSpc>
              <a:spcBef>
                <a:spcPts val="480"/>
              </a:spcBef>
              <a:buFont typeface="Wingdings" pitchFamily="2" charset="2"/>
              <a:buChar char="Ø"/>
              <a:defRPr kumimoji="1" sz="1200">
                <a:solidFill>
                  <a:schemeClr val="tx1"/>
                </a:solidFill>
                <a:latin typeface="Arial" pitchFamily="34" charset="0"/>
                <a:ea typeface="+mn-ea"/>
                <a:cs typeface="Arial" pitchFamily="34" charset="0"/>
              </a:defRPr>
            </a:lvl3pPr>
            <a:lvl4pPr marL="518400" indent="-172800" algn="l" eaLnBrk="1" hangingPunct="1">
              <a:lnSpc>
                <a:spcPct val="106000"/>
              </a:lnSpc>
              <a:spcBef>
                <a:spcPts val="240"/>
              </a:spcBef>
              <a:buFont typeface="Arial" pitchFamily="34" charset="0"/>
              <a:buChar char="•"/>
              <a:defRPr kumimoji="1" sz="1200">
                <a:solidFill>
                  <a:schemeClr val="tx1"/>
                </a:solidFill>
                <a:latin typeface="Arial" pitchFamily="34" charset="0"/>
                <a:ea typeface="+mn-ea"/>
                <a:cs typeface="Arial" pitchFamily="34" charset="0"/>
              </a:defRPr>
            </a:lvl4pPr>
          </a:lstStyle>
          <a:p>
            <a:pPr algn="ctr" fontAlgn="auto">
              <a:spcBef>
                <a:spcPts val="0"/>
              </a:spcBef>
              <a:spcAft>
                <a:spcPts val="0"/>
              </a:spcAft>
            </a:pPr>
            <a:r>
              <a:rPr lang="ja-JP" altLang="en-US" sz="1600">
                <a:solidFill>
                  <a:schemeClr val="tx1"/>
                </a:solidFill>
              </a:rPr>
              <a:t>進捗度を合理的に測定できるか</a:t>
            </a:r>
            <a:endParaRPr lang="en-US" altLang="ja-JP" sz="1600">
              <a:solidFill>
                <a:schemeClr val="tx1"/>
              </a:solidFill>
            </a:endParaRPr>
          </a:p>
          <a:p>
            <a:pPr algn="ctr" fontAlgn="auto">
              <a:spcBef>
                <a:spcPts val="0"/>
              </a:spcBef>
              <a:spcAft>
                <a:spcPts val="0"/>
              </a:spcAft>
            </a:pPr>
            <a:r>
              <a:rPr lang="ja-JP" altLang="en-US" sz="1600">
                <a:solidFill>
                  <a:schemeClr val="tx1"/>
                </a:solidFill>
              </a:rPr>
              <a:t>（以下の</a:t>
            </a:r>
            <a:r>
              <a:rPr lang="en-US" altLang="ja-JP" sz="1600">
                <a:solidFill>
                  <a:schemeClr val="tx1"/>
                </a:solidFill>
              </a:rPr>
              <a:t>3</a:t>
            </a:r>
            <a:r>
              <a:rPr lang="ja-JP" altLang="en-US" sz="1600">
                <a:solidFill>
                  <a:schemeClr val="tx1"/>
                </a:solidFill>
              </a:rPr>
              <a:t>要件を全て満たすか）</a:t>
            </a:r>
          </a:p>
        </p:txBody>
      </p:sp>
      <p:sp>
        <p:nvSpPr>
          <p:cNvPr id="5" name="四角形吹き出し 46">
            <a:extLst>
              <a:ext uri="{FF2B5EF4-FFF2-40B4-BE49-F238E27FC236}">
                <a16:creationId xmlns:a16="http://schemas.microsoft.com/office/drawing/2014/main" id="{7782EBFE-AF82-ED01-7C99-BD86E90C37E6}"/>
              </a:ext>
            </a:extLst>
          </p:cNvPr>
          <p:cNvSpPr/>
          <p:nvPr/>
        </p:nvSpPr>
        <p:spPr>
          <a:xfrm>
            <a:off x="8830449" y="4327266"/>
            <a:ext cx="1612089" cy="1215074"/>
          </a:xfrm>
          <a:prstGeom prst="wedgeRectCallout">
            <a:avLst>
              <a:gd name="adj1" fmla="val -24462"/>
              <a:gd name="adj2" fmla="val -69939"/>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kumimoji="1" lang="ja-JP" altLang="en-US" sz="1400">
                <a:solidFill>
                  <a:schemeClr val="tx1"/>
                </a:solidFill>
              </a:rPr>
              <a:t>受注金額の範囲内で、工事にかかったコスト分と同額を</a:t>
            </a:r>
            <a:r>
              <a:rPr lang="ja-JP" altLang="en-US" sz="1400">
                <a:solidFill>
                  <a:schemeClr val="tx1"/>
                </a:solidFill>
              </a:rPr>
              <a:t>売上</a:t>
            </a:r>
            <a:r>
              <a:rPr kumimoji="1" lang="ja-JP" altLang="en-US" sz="1400">
                <a:solidFill>
                  <a:schemeClr val="tx1"/>
                </a:solidFill>
              </a:rPr>
              <a:t>に計上する</a:t>
            </a:r>
            <a:endParaRPr kumimoji="1" lang="en-US" altLang="ja-JP" sz="1400">
              <a:solidFill>
                <a:schemeClr val="tx1"/>
              </a:solidFill>
            </a:endParaRPr>
          </a:p>
        </p:txBody>
      </p:sp>
      <p:sp>
        <p:nvSpPr>
          <p:cNvPr id="6" name="角丸四角形 47">
            <a:extLst>
              <a:ext uri="{FF2B5EF4-FFF2-40B4-BE49-F238E27FC236}">
                <a16:creationId xmlns:a16="http://schemas.microsoft.com/office/drawing/2014/main" id="{CA2ED3F5-27F2-B06D-B6E9-EC2E27867F4F}"/>
              </a:ext>
            </a:extLst>
          </p:cNvPr>
          <p:cNvSpPr/>
          <p:nvPr/>
        </p:nvSpPr>
        <p:spPr>
          <a:xfrm>
            <a:off x="791240" y="2173942"/>
            <a:ext cx="4346257" cy="4306648"/>
          </a:xfrm>
          <a:prstGeom prst="roundRect">
            <a:avLst>
              <a:gd name="adj" fmla="val 8058"/>
            </a:avLst>
          </a:prstGeom>
          <a:noFill/>
          <a:ln w="19050" cap="sq">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Autofit/>
          </a:bodyPr>
          <a:lstStyle/>
          <a:p>
            <a:pPr>
              <a:spcBef>
                <a:spcPts val="300"/>
              </a:spcBef>
            </a:pPr>
            <a:r>
              <a:rPr kumimoji="1" lang="ja-JP" altLang="en-US" sz="1600" b="1">
                <a:solidFill>
                  <a:schemeClr val="tx1"/>
                </a:solidFill>
                <a:latin typeface="+mn-ea"/>
              </a:rPr>
              <a:t>進捗度＝工事の進捗度（＝実際原価</a:t>
            </a:r>
            <a:r>
              <a:rPr kumimoji="1" lang="en-US" altLang="ja-JP" sz="1600" b="1">
                <a:solidFill>
                  <a:schemeClr val="tx1"/>
                </a:solidFill>
                <a:latin typeface="+mn-ea"/>
              </a:rPr>
              <a:t>/</a:t>
            </a:r>
            <a:r>
              <a:rPr kumimoji="1" lang="ja-JP" altLang="en-US" sz="1600" b="1">
                <a:solidFill>
                  <a:schemeClr val="tx1"/>
                </a:solidFill>
                <a:latin typeface="+mn-ea"/>
              </a:rPr>
              <a:t>実行予算で進捗度を算出）</a:t>
            </a:r>
            <a:endParaRPr kumimoji="1" lang="en-US" altLang="ja-JP" sz="1600" b="1">
              <a:solidFill>
                <a:schemeClr val="tx1"/>
              </a:solidFill>
              <a:latin typeface="+mn-ea"/>
            </a:endParaRPr>
          </a:p>
          <a:p>
            <a:pPr marL="171450" indent="-171450">
              <a:spcBef>
                <a:spcPts val="300"/>
              </a:spcBef>
              <a:buFont typeface="Arial" panose="020B0604020202020204" pitchFamily="34" charset="0"/>
              <a:buChar char="•"/>
            </a:pPr>
            <a:r>
              <a:rPr kumimoji="1" lang="ja-JP" altLang="en-US" sz="1600" b="1">
                <a:solidFill>
                  <a:srgbClr val="FF0000"/>
                </a:solidFill>
                <a:latin typeface="+mn-ea"/>
              </a:rPr>
              <a:t>①工期が固まっている。</a:t>
            </a:r>
            <a:endParaRPr kumimoji="1" lang="en-US" altLang="ja-JP" sz="1600" b="1">
              <a:solidFill>
                <a:srgbClr val="FF0000"/>
              </a:solidFill>
              <a:latin typeface="+mn-ea"/>
            </a:endParaRPr>
          </a:p>
          <a:p>
            <a:pPr>
              <a:spcBef>
                <a:spcPts val="300"/>
              </a:spcBef>
            </a:pPr>
            <a:r>
              <a:rPr lang="ja-JP" altLang="en-US" sz="1600" b="1">
                <a:solidFill>
                  <a:schemeClr val="tx1"/>
                </a:solidFill>
                <a:latin typeface="+mn-ea"/>
              </a:rPr>
              <a:t>→工期が確実に見えない場合、正確な予算を作成することが困難であり、進捗度を合理的に見積もることができないため。</a:t>
            </a:r>
            <a:endParaRPr kumimoji="1" lang="en-US" altLang="ja-JP" sz="1600" b="1">
              <a:solidFill>
                <a:schemeClr val="tx1"/>
              </a:solidFill>
              <a:latin typeface="+mn-ea"/>
            </a:endParaRPr>
          </a:p>
          <a:p>
            <a:pPr marL="171450" indent="-171450">
              <a:spcBef>
                <a:spcPts val="300"/>
              </a:spcBef>
              <a:buFont typeface="Arial" panose="020B0604020202020204" pitchFamily="34" charset="0"/>
              <a:buChar char="•"/>
            </a:pPr>
            <a:r>
              <a:rPr kumimoji="1" lang="ja-JP" altLang="en-US" sz="1600" b="1">
                <a:solidFill>
                  <a:srgbClr val="FF0000"/>
                </a:solidFill>
                <a:latin typeface="+mn-ea"/>
              </a:rPr>
              <a:t>②注文内容に対して実行予算（原価管理表）、工程表が作成されており、上長の承認を得ている。</a:t>
            </a:r>
            <a:endParaRPr lang="en-US" altLang="ja-JP" sz="1600" b="1">
              <a:solidFill>
                <a:srgbClr val="FF0000"/>
              </a:solidFill>
              <a:latin typeface="+mn-ea"/>
            </a:endParaRPr>
          </a:p>
          <a:p>
            <a:pPr>
              <a:spcBef>
                <a:spcPts val="300"/>
              </a:spcBef>
            </a:pPr>
            <a:r>
              <a:rPr lang="ja-JP" altLang="en-US" sz="1600" b="1">
                <a:solidFill>
                  <a:schemeClr val="tx1"/>
                </a:solidFill>
                <a:latin typeface="+mn-ea"/>
              </a:rPr>
              <a:t>→適切な承認プロセスを経た予算が進捗度の見積もりに必要であり、また、エビデンス資料ないと十分な計画が策定できないと考えられるため。</a:t>
            </a:r>
            <a:endParaRPr kumimoji="1" lang="en-US" altLang="ja-JP" sz="1600" b="1">
              <a:solidFill>
                <a:schemeClr val="tx1"/>
              </a:solidFill>
              <a:latin typeface="+mn-ea"/>
            </a:endParaRPr>
          </a:p>
          <a:p>
            <a:pPr marL="171450" indent="-171450">
              <a:spcBef>
                <a:spcPts val="300"/>
              </a:spcBef>
              <a:buFont typeface="Arial" panose="020B0604020202020204" pitchFamily="34" charset="0"/>
              <a:buChar char="•"/>
            </a:pPr>
            <a:r>
              <a:rPr kumimoji="1" lang="ja-JP" altLang="en-US" sz="1600" b="1">
                <a:solidFill>
                  <a:srgbClr val="FF0000"/>
                </a:solidFill>
                <a:latin typeface="+mn-ea"/>
              </a:rPr>
              <a:t>③原価が集計可能である。</a:t>
            </a:r>
            <a:endParaRPr kumimoji="1" lang="en-US" altLang="ja-JP" sz="1600" b="1">
              <a:solidFill>
                <a:srgbClr val="FF0000"/>
              </a:solidFill>
              <a:latin typeface="+mn-ea"/>
            </a:endParaRPr>
          </a:p>
          <a:p>
            <a:pPr>
              <a:spcBef>
                <a:spcPts val="300"/>
              </a:spcBef>
            </a:pPr>
            <a:r>
              <a:rPr lang="ja-JP" altLang="en-US" sz="1600" b="1">
                <a:solidFill>
                  <a:schemeClr val="tx1"/>
                </a:solidFill>
                <a:latin typeface="+mn-ea"/>
              </a:rPr>
              <a:t>→原価の情報が証憑に基づいて注文内容ごとに管理されている必要があるため。</a:t>
            </a:r>
            <a:endParaRPr kumimoji="1" lang="en-US" altLang="ja-JP" sz="1600" b="1">
              <a:solidFill>
                <a:schemeClr val="tx1"/>
              </a:solidFill>
              <a:latin typeface="+mn-ea"/>
            </a:endParaRPr>
          </a:p>
        </p:txBody>
      </p:sp>
      <p:sp>
        <p:nvSpPr>
          <p:cNvPr id="7" name="角丸四角形 23">
            <a:extLst>
              <a:ext uri="{FF2B5EF4-FFF2-40B4-BE49-F238E27FC236}">
                <a16:creationId xmlns:a16="http://schemas.microsoft.com/office/drawing/2014/main" id="{DD784542-D1A0-B271-7B63-3CB60F40D3C3}"/>
              </a:ext>
            </a:extLst>
          </p:cNvPr>
          <p:cNvSpPr/>
          <p:nvPr/>
        </p:nvSpPr>
        <p:spPr>
          <a:xfrm>
            <a:off x="6320175" y="3182173"/>
            <a:ext cx="1837581" cy="981028"/>
          </a:xfrm>
          <a:prstGeom prst="roundRect">
            <a:avLst/>
          </a:prstGeom>
          <a:solidFill>
            <a:schemeClr val="accent4">
              <a:lumMod val="20000"/>
              <a:lumOff val="80000"/>
            </a:schemeClr>
          </a:solid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a:solidFill>
                  <a:schemeClr val="tx1"/>
                </a:solidFill>
              </a:rPr>
              <a:t>工事で発生する</a:t>
            </a:r>
            <a:r>
              <a:rPr lang="ja-JP" altLang="en-US" sz="1600" b="1">
                <a:solidFill>
                  <a:schemeClr val="tx1"/>
                </a:solidFill>
              </a:rPr>
              <a:t>費用</a:t>
            </a:r>
            <a:r>
              <a:rPr kumimoji="1" lang="ja-JP" altLang="en-US" sz="1600" b="1">
                <a:solidFill>
                  <a:schemeClr val="tx1"/>
                </a:solidFill>
              </a:rPr>
              <a:t>を回収すると見込めるか</a:t>
            </a:r>
            <a:endParaRPr kumimoji="1" lang="en-US" altLang="ja-JP" sz="1600" b="1">
              <a:solidFill>
                <a:schemeClr val="tx1"/>
              </a:solidFill>
            </a:endParaRPr>
          </a:p>
        </p:txBody>
      </p:sp>
      <p:sp>
        <p:nvSpPr>
          <p:cNvPr id="8" name="正方形/長方形 7">
            <a:extLst>
              <a:ext uri="{FF2B5EF4-FFF2-40B4-BE49-F238E27FC236}">
                <a16:creationId xmlns:a16="http://schemas.microsoft.com/office/drawing/2014/main" id="{530C2F56-B957-F73B-B587-CD2938FAAEC0}"/>
              </a:ext>
            </a:extLst>
          </p:cNvPr>
          <p:cNvSpPr/>
          <p:nvPr/>
        </p:nvSpPr>
        <p:spPr>
          <a:xfrm>
            <a:off x="6355012" y="4549240"/>
            <a:ext cx="1751366" cy="571400"/>
          </a:xfrm>
          <a:prstGeom prst="rect">
            <a:avLst/>
          </a:prstGeom>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a:solidFill>
                  <a:schemeClr val="tx1"/>
                </a:solidFill>
              </a:rPr>
              <a:t>収益を認識しない</a:t>
            </a:r>
          </a:p>
        </p:txBody>
      </p:sp>
      <p:cxnSp>
        <p:nvCxnSpPr>
          <p:cNvPr id="10" name="直線矢印コネクタ 9">
            <a:extLst>
              <a:ext uri="{FF2B5EF4-FFF2-40B4-BE49-F238E27FC236}">
                <a16:creationId xmlns:a16="http://schemas.microsoft.com/office/drawing/2014/main" id="{EC17F4CF-8DBF-C6EE-7709-9DF1C3E74F8A}"/>
              </a:ext>
            </a:extLst>
          </p:cNvPr>
          <p:cNvCxnSpPr>
            <a:cxnSpLocks/>
            <a:stCxn id="7" idx="2"/>
            <a:endCxn id="8" idx="0"/>
          </p:cNvCxnSpPr>
          <p:nvPr/>
        </p:nvCxnSpPr>
        <p:spPr>
          <a:xfrm flipH="1">
            <a:off x="7230695" y="4163201"/>
            <a:ext cx="8271" cy="386039"/>
          </a:xfrm>
          <a:prstGeom prst="straightConnector1">
            <a:avLst/>
          </a:prstGeom>
          <a:ln w="12700">
            <a:solidFill>
              <a:schemeClr val="tx2"/>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2899318E-8FCE-F36D-8594-CEF6F5F459C5}"/>
              </a:ext>
            </a:extLst>
          </p:cNvPr>
          <p:cNvCxnSpPr>
            <a:cxnSpLocks/>
            <a:stCxn id="7" idx="3"/>
            <a:endCxn id="12" idx="1"/>
          </p:cNvCxnSpPr>
          <p:nvPr/>
        </p:nvCxnSpPr>
        <p:spPr>
          <a:xfrm>
            <a:off x="8157756" y="3672687"/>
            <a:ext cx="672693"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F1A2B4ED-E1E9-D343-39BA-7D2D20C2439C}"/>
              </a:ext>
            </a:extLst>
          </p:cNvPr>
          <p:cNvSpPr/>
          <p:nvPr/>
        </p:nvSpPr>
        <p:spPr>
          <a:xfrm>
            <a:off x="8830449" y="3290427"/>
            <a:ext cx="1612089" cy="764520"/>
          </a:xfrm>
          <a:prstGeom prst="rect">
            <a:avLst/>
          </a:prstGeom>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a:solidFill>
                  <a:schemeClr val="tx1"/>
                </a:solidFill>
              </a:rPr>
              <a:t>原価回収基準</a:t>
            </a:r>
            <a:endParaRPr kumimoji="1" lang="en-US" altLang="ja-JP" sz="1600" b="1">
              <a:solidFill>
                <a:schemeClr val="tx1"/>
              </a:solidFill>
            </a:endParaRPr>
          </a:p>
        </p:txBody>
      </p:sp>
      <p:sp>
        <p:nvSpPr>
          <p:cNvPr id="13" name="テキスト ボックス 12">
            <a:extLst>
              <a:ext uri="{FF2B5EF4-FFF2-40B4-BE49-F238E27FC236}">
                <a16:creationId xmlns:a16="http://schemas.microsoft.com/office/drawing/2014/main" id="{B661E881-F7E3-9685-53F6-386D02728358}"/>
              </a:ext>
            </a:extLst>
          </p:cNvPr>
          <p:cNvSpPr txBox="1"/>
          <p:nvPr/>
        </p:nvSpPr>
        <p:spPr>
          <a:xfrm>
            <a:off x="7431729" y="4175381"/>
            <a:ext cx="419520"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No</a:t>
            </a:r>
            <a:endParaRPr kumimoji="1" lang="ja-JP" altLang="en-US" sz="1600">
              <a:latin typeface="+mn-lt"/>
              <a:ea typeface="+mn-ea"/>
            </a:endParaRPr>
          </a:p>
        </p:txBody>
      </p:sp>
      <p:sp>
        <p:nvSpPr>
          <p:cNvPr id="14" name="正方形/長方形 13">
            <a:extLst>
              <a:ext uri="{FF2B5EF4-FFF2-40B4-BE49-F238E27FC236}">
                <a16:creationId xmlns:a16="http://schemas.microsoft.com/office/drawing/2014/main" id="{484F6529-4D32-140C-9571-9F00EAE7B329}"/>
              </a:ext>
            </a:extLst>
          </p:cNvPr>
          <p:cNvSpPr/>
          <p:nvPr/>
        </p:nvSpPr>
        <p:spPr>
          <a:xfrm>
            <a:off x="6343628" y="2035012"/>
            <a:ext cx="1814128" cy="751117"/>
          </a:xfrm>
          <a:prstGeom prst="rect">
            <a:avLst/>
          </a:prstGeom>
          <a:noFill/>
          <a:ln/>
        </p:spPr>
        <p:style>
          <a:lnRef idx="2">
            <a:schemeClr val="dk1"/>
          </a:lnRef>
          <a:fillRef idx="1">
            <a:schemeClr val="lt1"/>
          </a:fillRef>
          <a:effectRef idx="0">
            <a:schemeClr val="dk1"/>
          </a:effectRef>
          <a:fontRef idx="minor">
            <a:schemeClr val="dk1"/>
          </a:fontRef>
        </p:style>
        <p:txBody>
          <a:bodyPr lIns="72000" tIns="72000" rIns="72000" bIns="72000" rtlCol="0" anchor="ctr" anchorCtr="0"/>
          <a:lstStyle/>
          <a:p>
            <a:pPr algn="ctr"/>
            <a:r>
              <a:rPr kumimoji="1" lang="ja-JP" altLang="en-US" sz="1600" b="1">
                <a:solidFill>
                  <a:schemeClr val="tx1"/>
                </a:solidFill>
              </a:rPr>
              <a:t>工事進行基準</a:t>
            </a:r>
            <a:endParaRPr kumimoji="1" lang="en-US" altLang="ja-JP" sz="1600" b="1">
              <a:solidFill>
                <a:schemeClr val="tx1"/>
              </a:solidFill>
            </a:endParaRPr>
          </a:p>
        </p:txBody>
      </p:sp>
      <p:cxnSp>
        <p:nvCxnSpPr>
          <p:cNvPr id="15" name="直線矢印コネクタ 14">
            <a:extLst>
              <a:ext uri="{FF2B5EF4-FFF2-40B4-BE49-F238E27FC236}">
                <a16:creationId xmlns:a16="http://schemas.microsoft.com/office/drawing/2014/main" id="{680AC8B1-9DF9-594C-2791-D8011188608E}"/>
              </a:ext>
            </a:extLst>
          </p:cNvPr>
          <p:cNvCxnSpPr>
            <a:cxnSpLocks/>
            <a:endCxn id="14" idx="1"/>
          </p:cNvCxnSpPr>
          <p:nvPr/>
        </p:nvCxnSpPr>
        <p:spPr>
          <a:xfrm>
            <a:off x="5354643" y="2410571"/>
            <a:ext cx="988985"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a:extLst>
              <a:ext uri="{FF2B5EF4-FFF2-40B4-BE49-F238E27FC236}">
                <a16:creationId xmlns:a16="http://schemas.microsoft.com/office/drawing/2014/main" id="{D461AC7B-0835-F96B-D466-33EB755C6D38}"/>
              </a:ext>
            </a:extLst>
          </p:cNvPr>
          <p:cNvSpPr txBox="1"/>
          <p:nvPr/>
        </p:nvSpPr>
        <p:spPr>
          <a:xfrm>
            <a:off x="5662978" y="1967383"/>
            <a:ext cx="435166"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Yes</a:t>
            </a:r>
            <a:endParaRPr kumimoji="1" lang="ja-JP" altLang="en-US" sz="1600">
              <a:latin typeface="+mn-lt"/>
              <a:ea typeface="+mn-ea"/>
            </a:endParaRPr>
          </a:p>
        </p:txBody>
      </p:sp>
      <p:sp>
        <p:nvSpPr>
          <p:cNvPr id="17" name="テキスト ボックス 16">
            <a:extLst>
              <a:ext uri="{FF2B5EF4-FFF2-40B4-BE49-F238E27FC236}">
                <a16:creationId xmlns:a16="http://schemas.microsoft.com/office/drawing/2014/main" id="{50F45CFE-BFC2-1178-FD17-BFBBE0763605}"/>
              </a:ext>
            </a:extLst>
          </p:cNvPr>
          <p:cNvSpPr txBox="1"/>
          <p:nvPr/>
        </p:nvSpPr>
        <p:spPr>
          <a:xfrm>
            <a:off x="8276082" y="3372769"/>
            <a:ext cx="435166"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Yes</a:t>
            </a:r>
            <a:endParaRPr kumimoji="1" lang="ja-JP" altLang="en-US" sz="1600">
              <a:latin typeface="+mn-lt"/>
              <a:ea typeface="+mn-ea"/>
            </a:endParaRPr>
          </a:p>
        </p:txBody>
      </p:sp>
      <p:sp>
        <p:nvSpPr>
          <p:cNvPr id="18" name="テキスト ボックス 17">
            <a:extLst>
              <a:ext uri="{FF2B5EF4-FFF2-40B4-BE49-F238E27FC236}">
                <a16:creationId xmlns:a16="http://schemas.microsoft.com/office/drawing/2014/main" id="{807B3CEB-7919-194B-3A3B-7E7452DAF82D}"/>
              </a:ext>
            </a:extLst>
          </p:cNvPr>
          <p:cNvSpPr txBox="1"/>
          <p:nvPr/>
        </p:nvSpPr>
        <p:spPr>
          <a:xfrm>
            <a:off x="5662978" y="3286281"/>
            <a:ext cx="419520" cy="391628"/>
          </a:xfrm>
          <a:prstGeom prst="rect">
            <a:avLst/>
          </a:prstGeom>
          <a:noFill/>
        </p:spPr>
        <p:txBody>
          <a:bodyPr wrap="none" lIns="72000" tIns="72000" rIns="72000" bIns="72000" rtlCol="0" anchor="ctr" anchorCtr="0">
            <a:spAutoFit/>
          </a:bodyPr>
          <a:lstStyle/>
          <a:p>
            <a:r>
              <a:rPr kumimoji="1" lang="en-US" altLang="ja-JP" sz="1600">
                <a:latin typeface="+mn-lt"/>
                <a:ea typeface="+mn-ea"/>
              </a:rPr>
              <a:t>No</a:t>
            </a:r>
            <a:endParaRPr kumimoji="1" lang="ja-JP" altLang="en-US" sz="1600">
              <a:latin typeface="+mn-lt"/>
              <a:ea typeface="+mn-ea"/>
            </a:endParaRPr>
          </a:p>
        </p:txBody>
      </p:sp>
      <p:cxnSp>
        <p:nvCxnSpPr>
          <p:cNvPr id="19" name="直線矢印コネクタ 18">
            <a:extLst>
              <a:ext uri="{FF2B5EF4-FFF2-40B4-BE49-F238E27FC236}">
                <a16:creationId xmlns:a16="http://schemas.microsoft.com/office/drawing/2014/main" id="{E3A83242-844E-AEEB-38FD-64ADDA70F55B}"/>
              </a:ext>
            </a:extLst>
          </p:cNvPr>
          <p:cNvCxnSpPr>
            <a:cxnSpLocks/>
            <a:stCxn id="12" idx="0"/>
            <a:endCxn id="14" idx="3"/>
          </p:cNvCxnSpPr>
          <p:nvPr/>
        </p:nvCxnSpPr>
        <p:spPr>
          <a:xfrm flipH="1" flipV="1">
            <a:off x="8157756" y="2410571"/>
            <a:ext cx="1478738" cy="87985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C09D9447-8B10-81CC-5FE9-1A87925D8F20}"/>
              </a:ext>
            </a:extLst>
          </p:cNvPr>
          <p:cNvSpPr txBox="1"/>
          <p:nvPr/>
        </p:nvSpPr>
        <p:spPr>
          <a:xfrm>
            <a:off x="8931701" y="1990850"/>
            <a:ext cx="1814128" cy="1007181"/>
          </a:xfrm>
          <a:prstGeom prst="rect">
            <a:avLst/>
          </a:prstGeom>
          <a:noFill/>
        </p:spPr>
        <p:txBody>
          <a:bodyPr wrap="square" lIns="72000" tIns="72000" rIns="72000" bIns="72000" rtlCol="0" anchor="ctr" anchorCtr="0">
            <a:spAutoFit/>
          </a:bodyPr>
          <a:lstStyle/>
          <a:p>
            <a:r>
              <a:rPr kumimoji="1" lang="ja-JP" altLang="en-US" sz="1400">
                <a:latin typeface="+mn-lt"/>
                <a:ea typeface="+mn-ea"/>
              </a:rPr>
              <a:t>進捗度を合理的に見積もることができるようになったら進行基準へ移行</a:t>
            </a:r>
          </a:p>
        </p:txBody>
      </p:sp>
      <p:cxnSp>
        <p:nvCxnSpPr>
          <p:cNvPr id="27" name="直線矢印コネクタ 26">
            <a:extLst>
              <a:ext uri="{FF2B5EF4-FFF2-40B4-BE49-F238E27FC236}">
                <a16:creationId xmlns:a16="http://schemas.microsoft.com/office/drawing/2014/main" id="{8499157C-3407-A9BD-17B0-A21DA84486FB}"/>
              </a:ext>
            </a:extLst>
          </p:cNvPr>
          <p:cNvCxnSpPr>
            <a:cxnSpLocks/>
            <a:endCxn id="7" idx="1"/>
          </p:cNvCxnSpPr>
          <p:nvPr/>
        </p:nvCxnSpPr>
        <p:spPr>
          <a:xfrm>
            <a:off x="5354643" y="3672687"/>
            <a:ext cx="965532" cy="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39261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72332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8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1&quot;&gt;&lt;elem m_fUsage=&quot;1.00000000000000000000E+00&quot;&gt;&lt;m_msothmcolidx val=&quot;0&quot;/&gt;&lt;m_rgb r=&quot;92&quot; g=&quot;92&quot; b=&quot;92&quot;/&gt;&lt;/elem&gt;&lt;/m_vecMRU&gt;&lt;/m_mruColor&gt;&lt;m_eweekdayFirstOfWeek val=&quot;1&quot;/&gt;&lt;m_eweekdayFirstOfWorkweek val=&quot;2&quot;/&gt;&lt;m_eweekdayFirstOfWeekend val=&quot;7&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XDN1.tQXOdywLuwxFGYwu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BD98KO483U7G9gsiOeIBL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BD98KO483U7G9gsiOeIB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BD98KO483U7G9gsiOeIBLQ"/>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BD98KO483U7G9gsiOeIBL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青空（本文装飾入り）ver">
  <a:themeElements>
    <a:clrScheme name="ユーザー定義AX">
      <a:dk1>
        <a:srgbClr val="262626"/>
      </a:dk1>
      <a:lt1>
        <a:srgbClr val="FFFFFF"/>
      </a:lt1>
      <a:dk2>
        <a:srgbClr val="AEB3CA"/>
      </a:dk2>
      <a:lt2>
        <a:srgbClr val="E1E3EB"/>
      </a:lt2>
      <a:accent1>
        <a:srgbClr val="22237D"/>
      </a:accent1>
      <a:accent2>
        <a:srgbClr val="00B0F0"/>
      </a:accent2>
      <a:accent3>
        <a:srgbClr val="AEB3CA"/>
      </a:accent3>
      <a:accent4>
        <a:srgbClr val="9192E1"/>
      </a:accent4>
      <a:accent5>
        <a:srgbClr val="C9F1FF"/>
      </a:accent5>
      <a:accent6>
        <a:srgbClr val="22237D"/>
      </a:accent6>
      <a:hlink>
        <a:srgbClr val="9192E1"/>
      </a:hlink>
      <a:folHlink>
        <a:srgbClr val="22237D"/>
      </a:folHlink>
    </a:clrScheme>
    <a:fontScheme name="ユーザー定義 22">
      <a:majorFont>
        <a:latin typeface="Segoe UI"/>
        <a:ea typeface="BIZ UDPゴシック"/>
        <a:cs typeface=""/>
      </a:majorFont>
      <a:minorFont>
        <a:latin typeface="Segoe UI"/>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a:gsLst>
            <a:gs pos="0">
              <a:srgbClr val="00B0F0"/>
            </a:gs>
            <a:gs pos="12000">
              <a:schemeClr val="accent2">
                <a:lumMod val="75000"/>
              </a:schemeClr>
            </a:gs>
            <a:gs pos="47000">
              <a:schemeClr val="accent6">
                <a:lumMod val="75000"/>
              </a:schemeClr>
            </a:gs>
            <a:gs pos="100000">
              <a:srgbClr val="22237D"/>
            </a:gs>
          </a:gsLst>
          <a:lin ang="10800000" scaled="1"/>
        </a:gradFill>
        <a:ln w="9525">
          <a:noFill/>
        </a:ln>
      </a:spPr>
      <a:bodyPr lIns="36000" tIns="36000" rIns="36000" bIns="36000" rtlCol="0" anchor="ctr"/>
      <a:lstStyle>
        <a:defPPr marL="0" marR="0" indent="0" algn="ctr" defTabSz="914400" rtl="0" eaLnBrk="1" fontAlgn="auto" latinLnBrk="0" hangingPunct="1">
          <a:lnSpc>
            <a:spcPct val="100000"/>
          </a:lnSpc>
          <a:spcBef>
            <a:spcPts val="0"/>
          </a:spcBef>
          <a:spcAft>
            <a:spcPts val="0"/>
          </a:spcAft>
          <a:buClrTx/>
          <a:buSzTx/>
          <a:buFontTx/>
          <a:buNone/>
          <a:tabLst/>
          <a:defRPr kumimoji="1" sz="1800" b="0" i="0" u="none" strike="noStrike" kern="1200" cap="none" spc="0" normalizeH="0" baseline="0" noProof="0" dirty="0">
            <a:ln>
              <a:noFill/>
            </a:ln>
            <a:solidFill>
              <a:srgbClr val="FFFFFF"/>
            </a:solidFill>
            <a:effectLst/>
            <a:uLnTx/>
            <a:uFillTx/>
            <a:latin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ln w="12700" cap="rnd">
          <a:solidFill>
            <a:schemeClr val="accent1"/>
          </a:solidFill>
          <a:roun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20000"/>
          </a:lnSpc>
          <a:defRPr kumimoji="1" spc="110" baseline="0" dirty="0" smtClean="0"/>
        </a:defPPr>
      </a:lstStyle>
    </a:txDef>
  </a:objectDefaults>
  <a:extraClrSchemeLst/>
  <a:extLst>
    <a:ext uri="{05A4C25C-085E-4340-85A3-A5531E510DB2}">
      <thm15:themeFamily xmlns:thm15="http://schemas.microsoft.com/office/thememl/2012/main" name="【マスタ3】PPTフォーマット_v.4.2.potx" id="{ED1E1D23-4B6A-4DD1-B821-5E1EFCFDE950}" vid="{6D2EDA02-C667-4F16-85C2-66CCCDF3A7C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ユーザー定義AX">
    <a:dk1>
      <a:srgbClr val="262626"/>
    </a:dk1>
    <a:lt1>
      <a:srgbClr val="FFFFFF"/>
    </a:lt1>
    <a:dk2>
      <a:srgbClr val="AEB3CA"/>
    </a:dk2>
    <a:lt2>
      <a:srgbClr val="E1E3EB"/>
    </a:lt2>
    <a:accent1>
      <a:srgbClr val="22237D"/>
    </a:accent1>
    <a:accent2>
      <a:srgbClr val="00B0F0"/>
    </a:accent2>
    <a:accent3>
      <a:srgbClr val="AEB3CA"/>
    </a:accent3>
    <a:accent4>
      <a:srgbClr val="9192E1"/>
    </a:accent4>
    <a:accent5>
      <a:srgbClr val="C9F1FF"/>
    </a:accent5>
    <a:accent6>
      <a:srgbClr val="22237D"/>
    </a:accent6>
    <a:hlink>
      <a:srgbClr val="9192E1"/>
    </a:hlink>
    <a:folHlink>
      <a:srgbClr val="22237D"/>
    </a:folHlink>
  </a:clrScheme>
</a:themeOverride>
</file>

<file path=ppt/theme/themeOverride2.xml><?xml version="1.0" encoding="utf-8"?>
<a:themeOverride xmlns:a="http://schemas.openxmlformats.org/drawingml/2006/main">
  <a:clrScheme name="ユーザー定義AX">
    <a:dk1>
      <a:srgbClr val="262626"/>
    </a:dk1>
    <a:lt1>
      <a:srgbClr val="FFFFFF"/>
    </a:lt1>
    <a:dk2>
      <a:srgbClr val="AEB3CA"/>
    </a:dk2>
    <a:lt2>
      <a:srgbClr val="E1E3EB"/>
    </a:lt2>
    <a:accent1>
      <a:srgbClr val="22237D"/>
    </a:accent1>
    <a:accent2>
      <a:srgbClr val="00B0F0"/>
    </a:accent2>
    <a:accent3>
      <a:srgbClr val="AEB3CA"/>
    </a:accent3>
    <a:accent4>
      <a:srgbClr val="9192E1"/>
    </a:accent4>
    <a:accent5>
      <a:srgbClr val="C9F1FF"/>
    </a:accent5>
    <a:accent6>
      <a:srgbClr val="22237D"/>
    </a:accent6>
    <a:hlink>
      <a:srgbClr val="9192E1"/>
    </a:hlink>
    <a:folHlink>
      <a:srgbClr val="22237D"/>
    </a:folHlink>
  </a:clrScheme>
</a:themeOverride>
</file>

<file path=ppt/theme/themeOverride3.xml><?xml version="1.0" encoding="utf-8"?>
<a:themeOverride xmlns:a="http://schemas.openxmlformats.org/drawingml/2006/main">
  <a:clrScheme name="ユーザー定義AX">
    <a:dk1>
      <a:srgbClr val="262626"/>
    </a:dk1>
    <a:lt1>
      <a:srgbClr val="FFFFFF"/>
    </a:lt1>
    <a:dk2>
      <a:srgbClr val="AEB3CA"/>
    </a:dk2>
    <a:lt2>
      <a:srgbClr val="E1E3EB"/>
    </a:lt2>
    <a:accent1>
      <a:srgbClr val="22237D"/>
    </a:accent1>
    <a:accent2>
      <a:srgbClr val="00B0F0"/>
    </a:accent2>
    <a:accent3>
      <a:srgbClr val="AEB3CA"/>
    </a:accent3>
    <a:accent4>
      <a:srgbClr val="9192E1"/>
    </a:accent4>
    <a:accent5>
      <a:srgbClr val="C9F1FF"/>
    </a:accent5>
    <a:accent6>
      <a:srgbClr val="22237D"/>
    </a:accent6>
    <a:hlink>
      <a:srgbClr val="9192E1"/>
    </a:hlink>
    <a:folHlink>
      <a:srgbClr val="22237D"/>
    </a:folHlink>
  </a:clrScheme>
</a:themeOverride>
</file>

<file path=ppt/theme/themeOverride4.xml><?xml version="1.0" encoding="utf-8"?>
<a:themeOverride xmlns:a="http://schemas.openxmlformats.org/drawingml/2006/main">
  <a:clrScheme name="ユーザー定義AX">
    <a:dk1>
      <a:srgbClr val="262626"/>
    </a:dk1>
    <a:lt1>
      <a:srgbClr val="FFFFFF"/>
    </a:lt1>
    <a:dk2>
      <a:srgbClr val="AEB3CA"/>
    </a:dk2>
    <a:lt2>
      <a:srgbClr val="E1E3EB"/>
    </a:lt2>
    <a:accent1>
      <a:srgbClr val="22237D"/>
    </a:accent1>
    <a:accent2>
      <a:srgbClr val="00B0F0"/>
    </a:accent2>
    <a:accent3>
      <a:srgbClr val="AEB3CA"/>
    </a:accent3>
    <a:accent4>
      <a:srgbClr val="9192E1"/>
    </a:accent4>
    <a:accent5>
      <a:srgbClr val="C9F1FF"/>
    </a:accent5>
    <a:accent6>
      <a:srgbClr val="22237D"/>
    </a:accent6>
    <a:hlink>
      <a:srgbClr val="9192E1"/>
    </a:hlink>
    <a:folHlink>
      <a:srgbClr val="22237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x91cd__x8981__x5ea6_ xmlns="703ed930-eda9-4c5b-9b49-c31c3bc53e9d" xsi:nil="true"/>
    <_x516c__x958b__x72b6__x6cc1_ xmlns="703ed930-eda9-4c5b-9b49-c31c3bc53e9d">公開中</_x516c__x958b__x72b6__x6cc1_>
    <_x7a2e__x5225_ xmlns="703ed930-eda9-4c5b-9b49-c31c3bc53e9d" xsi:nil="true"/>
    <_x66f4__x65b0__x65e5_0 xmlns="703ed930-eda9-4c5b-9b49-c31c3bc53e9d">2026-04-30T05:24:30+00:00</_x66f4__x65b0__x65e5_0>
    <_x66f4__x65b0__x65e5_ xmlns="703ed930-eda9-4c5b-9b49-c31c3bc53e9d" xsi:nil="true"/>
    <_x516c__x958b__x7d42__x4e86__x65e5_ xmlns="703ed930-eda9-4c5b-9b49-c31c3bc53e9d" xsi:nil="true"/>
    <_x516c__x958b__x65e5_ xmlns="703ed930-eda9-4c5b-9b49-c31c3bc53e9d" xsi:nil="true"/>
    <_x516c__x958b__x7bc4__x56f2_ xmlns="703ed930-eda9-4c5b-9b49-c31c3bc53e9d">全社(M365導入会社)</_x516c__x958b__x7bc4__x56f2_>
    <_x767a__x4fe1__x90e8__x7f72_ xmlns="703ed930-eda9-4c5b-9b49-c31c3bc53e9d" xsi:nil="true"/>
    <_x516c__x958b_ xmlns="703ed930-eda9-4c5b-9b49-c31c3bc53e9d">公開中</_x516c__x958b_>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C268B436EB18E442973B581CF6E2589A" ma:contentTypeVersion="13" ma:contentTypeDescription="新しいドキュメントを作成します。" ma:contentTypeScope="" ma:versionID="a70ef983454851aff18eee0209645a60">
  <xsd:schema xmlns:xsd="http://www.w3.org/2001/XMLSchema" xmlns:xs="http://www.w3.org/2001/XMLSchema" xmlns:p="http://schemas.microsoft.com/office/2006/metadata/properties" xmlns:ns2="703ed930-eda9-4c5b-9b49-c31c3bc53e9d" targetNamespace="http://schemas.microsoft.com/office/2006/metadata/properties" ma:root="true" ma:fieldsID="8e3dc4bdb419183c51411d79852c4f8a" ns2:_="">
    <xsd:import namespace="703ed930-eda9-4c5b-9b49-c31c3bc53e9d"/>
    <xsd:element name="properties">
      <xsd:complexType>
        <xsd:sequence>
          <xsd:element name="documentManagement">
            <xsd:complexType>
              <xsd:all>
                <xsd:element ref="ns2:_x516c__x958b_" minOccurs="0"/>
                <xsd:element ref="ns2:_x516c__x958b__x7d42__x4e86__x65e5_" minOccurs="0"/>
                <xsd:element ref="ns2:_x767a__x4fe1__x90e8__x7f72_" minOccurs="0"/>
                <xsd:element ref="ns2:_x7a2e__x5225_" minOccurs="0"/>
                <xsd:element ref="ns2:_x91cd__x8981__x5ea6_" minOccurs="0"/>
                <xsd:element ref="ns2:_x516c__x958b__x65e5_" minOccurs="0"/>
                <xsd:element ref="ns2:_x516c__x958b__x72b6__x6cc1_" minOccurs="0"/>
                <xsd:element ref="ns2:_x516c__x958b__x7bc4__x56f2_" minOccurs="0"/>
                <xsd:element ref="ns2:_x66f4__x65b0__x65e5_" minOccurs="0"/>
                <xsd:element ref="ns2:_x66f4__x65b0__x65e5_0" minOccurs="0"/>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3ed930-eda9-4c5b-9b49-c31c3bc53e9d" elementFormDefault="qualified">
    <xsd:import namespace="http://schemas.microsoft.com/office/2006/documentManagement/types"/>
    <xsd:import namespace="http://schemas.microsoft.com/office/infopath/2007/PartnerControls"/>
    <xsd:element name="_x516c__x958b_" ma:index="8" nillable="true" ma:displayName="公開状態" ma:default="公開中" ma:format="Dropdown" ma:internalName="_x516c__x958b_">
      <xsd:simpleType>
        <xsd:restriction base="dms:Choice">
          <xsd:enumeration value="公開中"/>
          <xsd:enumeration value="公開停止"/>
          <xsd:enumeration value="AW単体"/>
        </xsd:restriction>
      </xsd:simpleType>
    </xsd:element>
    <xsd:element name="_x516c__x958b__x7d42__x4e86__x65e5_" ma:index="9" nillable="true" ma:displayName="公開終了日" ma:format="DateOnly" ma:internalName="_x516c__x958b__x7d42__x4e86__x65e5_">
      <xsd:simpleType>
        <xsd:restriction base="dms:DateTime"/>
      </xsd:simpleType>
    </xsd:element>
    <xsd:element name="_x767a__x4fe1__x90e8__x7f72_" ma:index="10" nillable="true" ma:displayName="発信部署" ma:format="Dropdown" ma:internalName="_x767a__x4fe1__x90e8__x7f72_">
      <xsd:simpleType>
        <xsd:restriction base="dms:Text">
          <xsd:maxLength value="255"/>
        </xsd:restriction>
      </xsd:simpleType>
    </xsd:element>
    <xsd:element name="_x7a2e__x5225_" ma:index="11" nillable="true" ma:displayName="種別" ma:format="Dropdown" ma:internalName="_x7a2e__x5225_">
      <xsd:simpleType>
        <xsd:restriction base="dms:Choice">
          <xsd:enumeration value="グループ通達"/>
          <xsd:enumeration value="グループお知らせ"/>
          <xsd:enumeration value="社内通達"/>
          <xsd:enumeration value="社内お知らせ"/>
          <xsd:enumeration value="メール配信"/>
        </xsd:restriction>
      </xsd:simpleType>
    </xsd:element>
    <xsd:element name="_x91cd__x8981__x5ea6_" ma:index="12" nillable="true" ma:displayName="重要度" ma:format="Dropdown" ma:internalName="_x91cd__x8981__x5ea6_">
      <xsd:simpleType>
        <xsd:restriction base="dms:Choice">
          <xsd:enumeration value="緊急"/>
          <xsd:enumeration value="重要"/>
          <xsd:enumeration value="標準"/>
        </xsd:restriction>
      </xsd:simpleType>
    </xsd:element>
    <xsd:element name="_x516c__x958b__x65e5_" ma:index="13" nillable="true" ma:displayName="公開日" ma:format="DateOnly" ma:internalName="_x516c__x958b__x65e5_">
      <xsd:simpleType>
        <xsd:restriction base="dms:DateTime"/>
      </xsd:simpleType>
    </xsd:element>
    <xsd:element name="_x516c__x958b__x72b6__x6cc1_" ma:index="14" nillable="true" ma:displayName="公開状況" ma:default="公開中" ma:format="Dropdown" ma:internalName="_x516c__x958b__x72b6__x6cc1_">
      <xsd:simpleType>
        <xsd:restriction base="dms:Text">
          <xsd:maxLength value="255"/>
        </xsd:restriction>
      </xsd:simpleType>
    </xsd:element>
    <xsd:element name="_x516c__x958b__x7bc4__x56f2_" ma:index="15" nillable="true" ma:displayName="公開範囲" ma:default="全社(M365導入会社)" ma:format="Dropdown" ma:internalName="_x516c__x958b__x7bc4__x56f2_">
      <xsd:simpleType>
        <xsd:restriction base="dms:Choice">
          <xsd:enumeration value="全社(M365導入会社)"/>
          <xsd:enumeration value="エア・ウォーター"/>
        </xsd:restriction>
      </xsd:simpleType>
    </xsd:element>
    <xsd:element name="_x66f4__x65b0__x65e5_" ma:index="16" nillable="true" ma:displayName="memo" ma:format="Dropdown" ma:internalName="_x66f4__x65b0__x65e5_">
      <xsd:simpleType>
        <xsd:restriction base="dms:Text">
          <xsd:maxLength value="255"/>
        </xsd:restriction>
      </xsd:simpleType>
    </xsd:element>
    <xsd:element name="_x66f4__x65b0__x65e5_0" ma:index="17" nillable="true" ma:displayName="更新日" ma:default="[today]" ma:format="DateTime" ma:internalName="_x66f4__x65b0__x65e5_0">
      <xsd:simpleType>
        <xsd:restriction base="dms:DateTime"/>
      </xsd:simpleType>
    </xsd:element>
    <xsd:element name="MediaServiceMetadata" ma:index="18" nillable="true" ma:displayName="MediaServiceMetadata" ma:hidden="true" ma:internalName="MediaServiceMetadata" ma:readOnly="true">
      <xsd:simpleType>
        <xsd:restriction base="dms:Note"/>
      </xsd:simpleType>
    </xsd:element>
    <xsd:element name="MediaServiceFastMetadata" ma:index="19" nillable="true" ma:displayName="MediaServiceFastMetadata" ma:hidden="true" ma:internalName="MediaServiceFastMetadata" ma:readOnly="true">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A3DC109-2F26-4DD3-8F09-8373D72AAF06}">
  <ds:schemaRefs>
    <ds:schemaRef ds:uri="http://purl.org/dc/dcmitype/"/>
    <ds:schemaRef ds:uri="http://schemas.microsoft.com/office/2006/documentManagement/types"/>
    <ds:schemaRef ds:uri="http://purl.org/dc/elements/1.1/"/>
    <ds:schemaRef ds:uri="http://schemas.microsoft.com/office/2006/metadata/properties"/>
    <ds:schemaRef ds:uri="4f8cc251-5c03-423a-af24-731bf9847965"/>
    <ds:schemaRef ds:uri="http://purl.org/dc/terms/"/>
    <ds:schemaRef ds:uri="http://schemas.openxmlformats.org/package/2006/metadata/core-properties"/>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53EA9D19-9EC7-4AAB-9A1F-C802D463A28F}"/>
</file>

<file path=customXml/itemProps3.xml><?xml version="1.0" encoding="utf-8"?>
<ds:datastoreItem xmlns:ds="http://schemas.openxmlformats.org/officeDocument/2006/customXml" ds:itemID="{8BF44742-525E-4359-A5D7-3E9B6BB5C0A3}">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【マスタ3】PPTフォーマット_v.4.2</Template>
  <TotalTime>0</TotalTime>
  <Words>16346</Words>
  <Application>Microsoft Office PowerPoint</Application>
  <PresentationFormat>ワイド画面</PresentationFormat>
  <Paragraphs>1731</Paragraphs>
  <Slides>62</Slides>
  <Notes>35</Notes>
  <HiddenSlides>0</HiddenSlides>
  <MMClips>0</MMClips>
  <ScaleCrop>false</ScaleCrop>
  <HeadingPairs>
    <vt:vector size="8" baseType="variant">
      <vt:variant>
        <vt:lpstr>使用されているフォント</vt:lpstr>
      </vt:variant>
      <vt:variant>
        <vt:i4>11</vt:i4>
      </vt:variant>
      <vt:variant>
        <vt:lpstr>テーマ</vt:lpstr>
      </vt:variant>
      <vt:variant>
        <vt:i4>1</vt:i4>
      </vt:variant>
      <vt:variant>
        <vt:lpstr>埋め込まれた OLE サーバー</vt:lpstr>
      </vt:variant>
      <vt:variant>
        <vt:i4>1</vt:i4>
      </vt:variant>
      <vt:variant>
        <vt:lpstr>スライド タイトル</vt:lpstr>
      </vt:variant>
      <vt:variant>
        <vt:i4>62</vt:i4>
      </vt:variant>
    </vt:vector>
  </HeadingPairs>
  <TitlesOfParts>
    <vt:vector size="75" baseType="lpstr">
      <vt:lpstr>Arial,Sans-Serif</vt:lpstr>
      <vt:lpstr>BIZ UDPゴシック</vt:lpstr>
      <vt:lpstr>BIZ UDPゴシック (太字)</vt:lpstr>
      <vt:lpstr>Meiryo UI</vt:lpstr>
      <vt:lpstr>ＭＳ Ｐゴシック</vt:lpstr>
      <vt:lpstr>Segoe Sans</vt:lpstr>
      <vt:lpstr>Meiryo</vt:lpstr>
      <vt:lpstr>游ゴシック</vt:lpstr>
      <vt:lpstr>Arial</vt:lpstr>
      <vt:lpstr>Segoe UI</vt:lpstr>
      <vt:lpstr>Wingdings</vt:lpstr>
      <vt:lpstr>3_青空（本文装飾入り）ver</vt:lpstr>
      <vt:lpstr>think-cellスライド</vt:lpstr>
      <vt:lpstr>PowerPoint プレゼンテーション</vt:lpstr>
      <vt:lpstr>目次　（3/6説明資料への補足追記と自主点検チェックリストとの対応）</vt:lpstr>
      <vt:lpstr>3-1.二重取引による売上の過大計上</vt:lpstr>
      <vt:lpstr>3-1.二重取引による売上の過大計上</vt:lpstr>
      <vt:lpstr>3-1.二重取引による売上の過大計上</vt:lpstr>
      <vt:lpstr>3-1.二重取引による売上の過大計上</vt:lpstr>
      <vt:lpstr>3-1.二重取引による売上の過大計上</vt:lpstr>
      <vt:lpstr>3-1.二重取引による売上の過大計上</vt:lpstr>
      <vt:lpstr>3-2.スルー取引による売上の過大計上</vt:lpstr>
      <vt:lpstr>3-2.スルー取引による売上の過大計上</vt:lpstr>
      <vt:lpstr>3-2.スルー取引による売上の過大計上</vt:lpstr>
      <vt:lpstr>3-2.スルー取引による売上の過大計上</vt:lpstr>
      <vt:lpstr>3-3.検収未完了や分割検収による売上の前倒し計上</vt:lpstr>
      <vt:lpstr>3-4.既完了案件の売上の後倒し計上</vt:lpstr>
      <vt:lpstr>3-5.未出荷取引による売上の過大計上</vt:lpstr>
      <vt:lpstr>3-5.未出荷取引による売上の過大計上</vt:lpstr>
      <vt:lpstr>3-5.未出荷取引による売上の過大計上</vt:lpstr>
      <vt:lpstr>3-5.未出荷取引による売上の過大計上</vt:lpstr>
      <vt:lpstr>3-6.工事進行基準の適用①（要件）</vt:lpstr>
      <vt:lpstr>3-6.工事進行基準の適用②（進捗度の測定方法）</vt:lpstr>
      <vt:lpstr>3-6.工事進行基準の適用③（原価の見積もり・集計漏れの影響）</vt:lpstr>
      <vt:lpstr>3-6.AWグループにおける工事進行基準の適用について</vt:lpstr>
      <vt:lpstr>3-6.工事案件に係る不適切会計事案</vt:lpstr>
      <vt:lpstr>3-6.工事案件に係る再発防止策</vt:lpstr>
      <vt:lpstr>3-6.赤字案件、部門間や工事案件等の原価付替</vt:lpstr>
      <vt:lpstr>3-6.原価の付替手法</vt:lpstr>
      <vt:lpstr>3-7.部門等の費用付替</vt:lpstr>
      <vt:lpstr>3-7.部門等の費用付替</vt:lpstr>
      <vt:lpstr>3-8.費用の前倒し・後倒し</vt:lpstr>
      <vt:lpstr>3-9.在庫過大計上・過少計上、在庫評価損の計上漏れ・先送り</vt:lpstr>
      <vt:lpstr>3-10.減損損失の先送り・計上漏れ</vt:lpstr>
      <vt:lpstr>3-10.減損損失の兆候</vt:lpstr>
      <vt:lpstr>3-10.減損損失の兆候</vt:lpstr>
      <vt:lpstr>3-11.固定資産の除却損漏れ</vt:lpstr>
      <vt:lpstr>3-11.固定資産の除却損漏れ</vt:lpstr>
      <vt:lpstr>3-12.資産性のない支出の固定資産計上</vt:lpstr>
      <vt:lpstr>3-12.資産性のない支出の固定資産計上</vt:lpstr>
      <vt:lpstr>3-12.資産性のない支出の固定資産計上</vt:lpstr>
      <vt:lpstr>3-12.資産性のない支出の固定資産計上(研究開発費)</vt:lpstr>
      <vt:lpstr>PowerPoint プレゼンテーション</vt:lpstr>
      <vt:lpstr>PowerPoint プレゼンテーション</vt:lpstr>
      <vt:lpstr>3-13.のれんの減損漏れ</vt:lpstr>
      <vt:lpstr>3-14.賞与引当金の計上時期操作</vt:lpstr>
      <vt:lpstr>3-15.資産除去債務の計上漏れ</vt:lpstr>
      <vt:lpstr>3-15.資産除去債務の計上漏れ</vt:lpstr>
      <vt:lpstr>PowerPoint プレゼンテーション</vt:lpstr>
      <vt:lpstr>Appendix.収益認識基準ー全体像(1/3)ー</vt:lpstr>
      <vt:lpstr>Appendix.収益認識基準ー全体像(2/3)ー</vt:lpstr>
      <vt:lpstr>Appendix.収益認識基準ー全体像(3/3)ー</vt:lpstr>
      <vt:lpstr>Appendix.収益認識基準ーステップ1</vt:lpstr>
      <vt:lpstr>Appendix.収益認識基準ーステップ1(契約の結合)</vt:lpstr>
      <vt:lpstr>Appendix.収益認識基準ーステップ1(契約の結合の例)</vt:lpstr>
      <vt:lpstr>Appendix.収益認識基準ーステップ1(契約の変更)</vt:lpstr>
      <vt:lpstr>Appendix.収益認識基準ーステップ1(契約の変更の例)</vt:lpstr>
      <vt:lpstr>Appendix.収益認識基準ーステップ2(1/3)</vt:lpstr>
      <vt:lpstr>Appendix.収益認識基準ーステップ2(2/3)</vt:lpstr>
      <vt:lpstr>Appendix.収益認識基準ーステップ2(3/3)</vt:lpstr>
      <vt:lpstr>Appendix.収益認識基準ーステップ3</vt:lpstr>
      <vt:lpstr>Appendix.収益認識基準ーステップ4</vt:lpstr>
      <vt:lpstr>Appendix.収益認識基準ーステップ5(1/2)</vt:lpstr>
      <vt:lpstr>Appendix.収益認識基準ーステップ5(2/2)</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丸末 理詠子</dc:creator>
  <cp:lastModifiedBy>平本 皓太朗</cp:lastModifiedBy>
  <cp:revision>3</cp:revision>
  <dcterms:created xsi:type="dcterms:W3CDTF">2025-07-07T04:58:39Z</dcterms:created>
  <dcterms:modified xsi:type="dcterms:W3CDTF">2026-04-30T04:33:33Z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0x010100C268B436EB18E442973B581CF6E2589A</vt:lpwstr>
  </property>
  <property fmtid="{D5CDD505-2E9C-101B-9397-08002B2CF9AE}" pid="3" name="MediaServiceImageTags">
    <vt:lpwstr/>
  </property>
  <property fmtid="{D5CDD505-2E9C-101B-9397-08002B2CF9AE}" pid="4" name="ComplianceAssetId">
    <vt:lpwstr/>
  </property>
  <property fmtid="{D5CDD505-2E9C-101B-9397-08002B2CF9AE}" pid="5" name="_ExtendedDescription">
    <vt:lpwstr/>
  </property>
  <property fmtid="{D5CDD505-2E9C-101B-9397-08002B2CF9AE}" pid="6" name="_activity">
    <vt:lpwstr>{"FileActivityType":"6","FileActivityTimeStamp":"2026-02-24T09:18:57.650Z","FileActivityUsersOnPage":[{"DisplayName":"Nagai, Shin","Id":"shin.nagai@tohmatsu.co.jp"}],"FileActivityNavigationId":null}</vt:lpwstr>
  </property>
  <property fmtid="{D5CDD505-2E9C-101B-9397-08002B2CF9AE}" pid="7" name="TriggerFlowInfo">
    <vt:lpwstr/>
  </property>
</Properties>
</file>